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59" r:id="rId27"/>
    <p:sldId id="426" r:id="rId28"/>
    <p:sldId id="453" r:id="rId29"/>
    <p:sldId id="441" r:id="rId30"/>
    <p:sldId id="442" r:id="rId31"/>
    <p:sldId id="443" r:id="rId32"/>
    <p:sldId id="435" r:id="rId33"/>
    <p:sldId id="436" r:id="rId34"/>
    <p:sldId id="437" r:id="rId35"/>
    <p:sldId id="438" r:id="rId36"/>
    <p:sldId id="446" r:id="rId37"/>
    <p:sldId id="447" r:id="rId38"/>
    <p:sldId id="450" r:id="rId39"/>
    <p:sldId id="451" r:id="rId40"/>
    <p:sldId id="452" r:id="rId41"/>
    <p:sldId id="448" r:id="rId42"/>
    <p:sldId id="449" r:id="rId43"/>
    <p:sldId id="439" r:id="rId44"/>
    <p:sldId id="458" r:id="rId45"/>
    <p:sldId id="421" r:id="rId46"/>
    <p:sldId id="427" r:id="rId47"/>
    <p:sldId id="431" r:id="rId48"/>
    <p:sldId id="428" r:id="rId49"/>
    <p:sldId id="429" r:id="rId50"/>
    <p:sldId id="432" r:id="rId51"/>
    <p:sldId id="430" r:id="rId52"/>
    <p:sldId id="433" r:id="rId53"/>
    <p:sldId id="434" r:id="rId5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Show only the starting nominal homogeneous ODE-PDE and the final PIE, with no derivation or substitution on screen. Set w=0 and u=0 in the nominal STN-GPe block: tau_S xdot_S=-x_S, tau_G xdot_G=-x_G; partial_t phi_ij=-tau_ij^{-1}partial_s phi_ij and phi_ij(t,0)=x_i(t). Channels are GS,SG,GG. The final compact form is T xdot_f=A x_f. Boundary conditions are built into T. For technical reference only: x_f=(x,partial_s phi), T reconstructs the compatible PDE state. Initial histories must match.</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Extract8" Type="http://schemas.openxmlformats.org/officeDocument/2006/relationships/image" Target="../media/revised_lfr19_image102.png"/><Relationship Id="rId3" Type="http://schemas.openxmlformats.org/officeDocument/2006/relationships/image" Target="../media/image1.png"/><Relationship Id="rIdExtract3" Type="http://schemas.openxmlformats.org/officeDocument/2006/relationships/image" Target="../media/revised_lfr19_image96.png"/><Relationship Id="rIdExtract7" Type="http://schemas.openxmlformats.org/officeDocument/2006/relationships/image" Target="../media/revised_lfr19_image101.png"/><Relationship Id="rId2" Type="http://schemas.openxmlformats.org/officeDocument/2006/relationships/notesSlide" Target="../notesSlides/notesSlide14.xml"/><Relationship Id="rId1" Type="http://schemas.openxmlformats.org/officeDocument/2006/relationships/slideLayout" Target="../slideLayouts/slideLayout6.xml"/><Relationship Id="rIdExtract6" Type="http://schemas.openxmlformats.org/officeDocument/2006/relationships/image" Target="../media/revised_lfr19_image100.png"/><Relationship Id="rIdExtract5" Type="http://schemas.openxmlformats.org/officeDocument/2006/relationships/image" Target="../media/revised_lfr19_image74.png"/><Relationship Id="rIdExtract4" Type="http://schemas.openxmlformats.org/officeDocument/2006/relationships/image" Target="../media/revised_lfr19_image97.png"/><Relationship Id="rIdExtract9" Type="http://schemas.openxmlformats.org/officeDocument/2006/relationships/image" Target="../media/image70.png"/></Relationships>
</file>

<file path=ppt/slides/_rels/slide21.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png"/><Relationship Id="rId7"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3.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85.png"/><Relationship Id="rId4" Type="http://schemas.openxmlformats.org/officeDocument/2006/relationships/image" Target="../media/image8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87.png"/><Relationship Id="rId4" Type="http://schemas.openxmlformats.org/officeDocument/2006/relationships/image" Target="../media/image86.pn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8.jpeg"/><Relationship Id="rIdRevisedLFR129" Type="http://schemas.openxmlformats.org/officeDocument/2006/relationships/image" Target="../media/revised_lfr19_image96.png"/><Relationship Id="rId3" Type="http://schemas.openxmlformats.org/officeDocument/2006/relationships/image" Target="../media/image722.png"/><Relationship Id="rId7" Type="http://schemas.openxmlformats.org/officeDocument/2006/relationships/image" Target="../media/image760.png"/><Relationship Id="rId12" Type="http://schemas.openxmlformats.org/officeDocument/2006/relationships/image" Target="../media/image81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6"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751.png"/><Relationship Id="rId11" Type="http://schemas.openxmlformats.org/officeDocument/2006/relationships/image" Target="../media/image800.png"/><Relationship Id="rId5" Type="http://schemas.openxmlformats.org/officeDocument/2006/relationships/image" Target="../media/image740.png"/><Relationship Id="rId15" Type="http://schemas.openxmlformats.org/officeDocument/2006/relationships/image" Target="../media/image54.png"/><Relationship Id="rId10" Type="http://schemas.openxmlformats.org/officeDocument/2006/relationships/image" Target="../media/image790.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7.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9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91.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2.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3.png"/><Relationship Id="rId12" Type="http://schemas.openxmlformats.org/officeDocument/2006/relationships/image" Target="../media/image34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3.xml.rels><?xml version="1.0" encoding="UTF-8" standalone="yes"?>
<Relationships xmlns="http://schemas.openxmlformats.org/package/2006/relationships"><Relationship Id="rId3" Type="http://schemas.openxmlformats.org/officeDocument/2006/relationships/image" Target="../media/image93.png"/><Relationship Id="rId12" Type="http://schemas.openxmlformats.org/officeDocument/2006/relationships/image" Target="../media/image38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3.png"/><Relationship Id="rId12" Type="http://schemas.openxmlformats.org/officeDocument/2006/relationships/image" Target="../media/image40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6.png"/></Relationships>
</file>

<file path=ppt/slides/_rels/slide3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8.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9.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1.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0.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102.png"/></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3.png"/></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5"/>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7"/>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8"/>
                  <a:stretch>
                    <a:fillRect/>
                  </a:stretch>
                </a:blipFill>
                <a:ln>
                  <a:noFill/>
                </a:ln>
              </p:spPr>
              <p:txBody>
                <a:bodyPr/>
                <a:lstStyle/>
                <a:p>
                  <a:r>
                    <a:rPr lang="en-NL">
                      <a:noFill/>
                    </a:rPr>
                    <a:t> </a:t>
                  </a:r>
                </a:p>
              </p:txBody>
            </p:sp>
          </mc:Fallback>
        </mc:AlternateContent>
      </p:grpSp>
      <p:grpSp>
        <p:nvGrpSpPr>
          <p:cNvPr id="5019" name="Extracted PDE block"/>
          <p:cNvGrpSpPr/>
          <p:nvPr/>
        </p:nvGrpSpPr>
        <p:grpSpPr>
          <a:xfrm>
            <a:off x="3963860" y="2188260"/>
            <a:ext cx="1192431" cy="1192297"/>
            <a:chOff x="3086100" y="2514600"/>
            <a:chExt cx="939800" cy="939800"/>
          </a:xfrm>
        </p:grpSpPr>
        <p:sp>
          <p:nvSpPr>
            <p:cNvPr id="5020"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21"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5021"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accel="50000" decel="50000" fill="hold" nodeType="clickEffect">
                                  <p:stCondLst>
                                    <p:cond delay="0"/>
                                  </p:stCondLst>
                                  <p:childTnLst>
                                    <p:set>
                                      <p:cBhvr>
                                        <p:cTn id="6" dur="1" fill="hold">
                                          <p:stCondLst>
                                            <p:cond delay="999"/>
                                          </p:stCondLst>
                                        </p:cTn>
                                        <p:tgtEl>
                                          <p:spTgt spid="5019"/>
                                        </p:tgtEl>
                                        <p:attrNameLst>
                                          <p:attrName>style.visibility</p:attrName>
                                        </p:attrNameLst>
                                      </p:cBhvr>
                                      <p:to>
                                        <p:strVal val="visible"/>
                                      </p:to>
                                    </p:set>
                                    <p:animMotion origin="layout" path="M 0 0 L 0.00060964 -0.25245621 E" pathEditMode="relative">
                                      <p:cBhvr from="" to="">
                                        <p:cTn id="7" dur="1000" fill="hold">
                                          <p:stCondLst>
                                            <p:cond delay="0"/>
                                          </p:stCondLst>
                                        </p:cTn>
                                        <p:tgtEl>
                                          <p:spTgt spid="5019"/>
                                        </p:tgtEl>
                                        <p:attrNameLst>
                                          <p:attrName>ppt_x</p:attrName>
                                          <p:attrName>ppt_y</p:attrName>
                                        </p:attrNameLst>
                                      </p:cBhvr>
                                    </p:animMotion>
                                    <p:animScale>
                                      <p:cBhvr>
                                        <p:cTn id="8" dur="1000" fill="hold">
                                          <p:stCondLst>
                                            <p:cond delay="0"/>
                                          </p:stCondLst>
                                        </p:cTn>
                                        <p:tgtEl>
                                          <p:spTgt spid="5019"/>
                                        </p:tgtEl>
                                      </p:cBhvr>
                                      <p:from x="100000" y="100000"/>
                                      <p:to x="60000" y="60000"/>
                                    </p:animScale>
                                  </p:childTnLst>
                                </p:cTn>
                              </p:par>
                              <p:par>
                                <p:cTn id="9" presetID="10" presetClass="exit" presetSubtype="0" fill="hold" nodeType="withEffect">
                                  <p:stCondLst>
                                    <p:cond delay="0"/>
                                  </p:stCondLst>
                                  <p:childTnLst>
                                    <p:animEffect transition="out" filter="fade">
                                      <p:cBhvr>
                                        <p:cTn id="10" dur="550"/>
                                        <p:tgtEl>
                                          <p:spTgt spid="5001"/>
                                        </p:tgtEl>
                                      </p:cBhvr>
                                    </p:animEffect>
                                    <p:set>
                                      <p:cBhvr>
                                        <p:cTn id="11" dur="1" fill="hold">
                                          <p:stCondLst>
                                            <p:cond delay="549"/>
                                          </p:stCondLst>
                                        </p:cTn>
                                        <p:tgtEl>
                                          <p:spTgt spid="5001"/>
                                        </p:tgtEl>
                                        <p:attrNameLst>
                                          <p:attrName>style.visibility</p:attrName>
                                        </p:attrNameLst>
                                      </p:cBhvr>
                                      <p:to>
                                        <p:strVal val="hidden"/>
                                      </p:to>
                                    </p:set>
                                  </p:childTnLst>
                                </p:cTn>
                              </p:par>
                              <p:par>
                                <p:cTn id="12" presetID="10" presetClass="exit" presetSubtype="0" fill="hold" nodeType="withEffect">
                                  <p:stCondLst>
                                    <p:cond delay="850"/>
                                  </p:stCondLst>
                                  <p:childTnLst>
                                    <p:animEffect transition="out" filter="fade">
                                      <p:cBhvr>
                                        <p:cTn id="13" dur="250"/>
                                        <p:tgtEl>
                                          <p:spTgt spid="5019"/>
                                        </p:tgtEl>
                                      </p:cBhvr>
                                    </p:animEffect>
                                    <p:set>
                                      <p:cBhvr>
                                        <p:cTn id="14" dur="1" fill="hold">
                                          <p:stCondLst>
                                            <p:cond delay="249"/>
                                          </p:stCondLst>
                                        </p:cTn>
                                        <p:tgtEl>
                                          <p:spTgt spid="5019"/>
                                        </p:tgtEl>
                                        <p:attrNameLst>
                                          <p:attrName>style.visibility</p:attrName>
                                        </p:attrNameLst>
                                      </p:cBhvr>
                                      <p:to>
                                        <p:strVal val="hidden"/>
                                      </p:to>
                                    </p:set>
                                  </p:childTnLst>
                                </p:cTn>
                              </p:par>
                              <p:par>
                                <p:cTn id="15" presetID="10" presetClass="entr" presetSubtype="0" fill="hold" grpId="0" nodeType="withEffect">
                                  <p:stCondLst>
                                    <p:cond delay="8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10" presetClass="entr" presetSubtype="0" fill="hold" grpId="0" nodeType="withEffect">
                                  <p:stCondLst>
                                    <p:cond delay="65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400"/>
                                        <p:tgtEl>
                                          <p:spTgt spid="3"/>
                                        </p:tgtEl>
                                      </p:cBhvr>
                                    </p:animEffect>
                                  </p:childTnLst>
                                </p:cTn>
                              </p:par>
                              <p:par>
                                <p:cTn id="21" presetID="10" presetClass="entr" presetSubtype="0" fill="hold" grpId="0" nodeType="withEffect">
                                  <p:stCondLst>
                                    <p:cond delay="9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grpId="0" nodeType="withEffect">
                                  <p:stCondLst>
                                    <p:cond delay="9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95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animBg="1"/>
      <p:bldP spid="14"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Homogeneous scope"/>
          <p:cNvSpPr/>
          <p:nvPr/>
        </p:nvSpPr>
        <p:spPr>
          <a:xfrm>
            <a:off x="3619500" y="2143125"/>
            <a:ext cx="5080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Nominal STN–GPe · w = 0, u = 0</a:t>
            </a:r>
            <a:endParaRPr sz="1100"/>
          </a:p>
        </p:txBody>
      </p:sp>
      <mc:AlternateContent xmlns:mc="http://schemas.openxmlformats.org/markup-compatibility/2006">
        <mc:Choice xmlns:a14="http://schemas.microsoft.com/office/drawing/2010/main" Requires="a14">
          <p:sp>
            <p:nvSpPr>
              <p:cNvPr id="1002" name="Nominal ODE S"/>
              <p:cNvSpPr/>
              <p:nvPr/>
            </p:nvSpPr>
            <p:spPr>
              <a:xfrm>
                <a:off x="3194050" y="2506980"/>
                <a:ext cx="27305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𝜏</m:t>
                          </m:r>
                        </m:e>
                        <m:sub>
                          <m:r>
                            <m:rPr>
                              <m:sty m:val="p"/>
                            </m:rPr>
                            <a:rPr sz="1600">
                              <a:solidFill>
                                <a:srgbClr val="252529"/>
                              </a:solidFill>
                              <a:latin typeface="Cambria Math"/>
                            </a:rPr>
                            <m:t>S</m:t>
                          </m:r>
                        </m:sub>
                      </m:sSub>
                      <m:acc>
                        <m:accPr>
                          <m:chr m:val="̇"/>
                          <m:ctrlPr>
                            <a:rPr sz="1600" i="1">
                              <a:solidFill>
                                <a:srgbClr val="252529"/>
                              </a:solidFill>
                              <a:latin typeface="Cambria Math" panose="02040503050406030204" pitchFamily="18" charset="0"/>
                            </a:rPr>
                          </m:ctrlPr>
                        </m:accPr>
                        <m:e>
                          <m:sSub>
                            <m:sSubPr>
                              <m:ctrlPr>
                                <a:rPr sz="1600">
                                  <a:solidFill>
                                    <a:srgbClr val="252529"/>
                                  </a:solidFill>
                                  <a:latin typeface="Cambria Math"/>
                                </a:rPr>
                              </m:ctrlPr>
                            </m:sSubPr>
                            <m:e>
                              <m:r>
                                <a:rPr sz="1600">
                                  <a:solidFill>
                                    <a:srgbClr val="252529"/>
                                  </a:solidFill>
                                  <a:latin typeface="Cambria Math"/>
                                </a:rPr>
                                <m:t>𝑥</m:t>
                              </m:r>
                            </m:e>
                            <m:sub>
                              <m:r>
                                <m:rPr>
                                  <m:sty m:val="p"/>
                                </m:rPr>
                                <a:rPr sz="1600">
                                  <a:solidFill>
                                    <a:srgbClr val="252529"/>
                                  </a:solidFill>
                                  <a:latin typeface="Cambria Math"/>
                                </a:rPr>
                                <m:t>S</m:t>
                              </m:r>
                            </m:sub>
                          </m:sSub>
                        </m:e>
                      </m:acc>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b>
                        <m:sSubPr>
                          <m:ctrlPr>
                            <a:rPr sz="1600">
                              <a:solidFill>
                                <a:srgbClr val="252529"/>
                              </a:solidFill>
                              <a:latin typeface="Cambria Math"/>
                            </a:rPr>
                          </m:ctrlPr>
                        </m:sSubPr>
                        <m:e>
                          <m:r>
                            <a:rPr sz="1600">
                              <a:solidFill>
                                <a:srgbClr val="252529"/>
                              </a:solidFill>
                              <a:latin typeface="Cambria Math"/>
                            </a:rPr>
                            <m:t>𝑥</m:t>
                          </m:r>
                        </m:e>
                        <m:sub>
                          <m:r>
                            <m:rPr>
                              <m:sty m:val="p"/>
                            </m:rPr>
                            <a:rPr sz="1600">
                              <a:solidFill>
                                <a:srgbClr val="252529"/>
                              </a:solidFill>
                              <a:latin typeface="Cambria Math"/>
                            </a:rPr>
                            <m:t>S</m:t>
                          </m:r>
                        </m:sub>
                      </m:sSub>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p:sp>
            <p:nvSpPr>
              <p:cNvPr id="1002" name="Nominal ODE S"/>
              <p:cNvSpPr>
                <a:spLocks noRot="1" noChangeAspect="1" noMove="1" noResize="1" noEditPoints="1" noAdjustHandles="1" noChangeArrowheads="1" noChangeShapeType="1" noTextEdit="1"/>
              </p:cNvSpPr>
              <p:nvPr/>
            </p:nvSpPr>
            <p:spPr>
              <a:xfrm>
                <a:off x="3194050" y="2506980"/>
                <a:ext cx="2730500" cy="44704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Nominal ODE G"/>
              <p:cNvSpPr/>
              <p:nvPr/>
            </p:nvSpPr>
            <p:spPr>
              <a:xfrm>
                <a:off x="3194050" y="2875280"/>
                <a:ext cx="27305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𝜏</m:t>
                          </m:r>
                        </m:e>
                        <m:sub>
                          <m:r>
                            <m:rPr>
                              <m:sty m:val="p"/>
                            </m:rPr>
                            <a:rPr sz="1600">
                              <a:solidFill>
                                <a:srgbClr val="252529"/>
                              </a:solidFill>
                              <a:latin typeface="Cambria Math"/>
                            </a:rPr>
                            <m:t>G</m:t>
                          </m:r>
                        </m:sub>
                      </m:sSub>
                      <m:acc>
                        <m:accPr>
                          <m:chr m:val="̇"/>
                          <m:ctrlPr>
                            <a:rPr sz="1600" i="1">
                              <a:solidFill>
                                <a:srgbClr val="252529"/>
                              </a:solidFill>
                              <a:latin typeface="Cambria Math" panose="02040503050406030204" pitchFamily="18" charset="0"/>
                            </a:rPr>
                          </m:ctrlPr>
                        </m:accPr>
                        <m:e>
                          <m:sSub>
                            <m:sSubPr>
                              <m:ctrlPr>
                                <a:rPr sz="1600">
                                  <a:solidFill>
                                    <a:srgbClr val="252529"/>
                                  </a:solidFill>
                                  <a:latin typeface="Cambria Math"/>
                                </a:rPr>
                              </m:ctrlPr>
                            </m:sSubPr>
                            <m:e>
                              <m:r>
                                <a:rPr sz="1600">
                                  <a:solidFill>
                                    <a:srgbClr val="252529"/>
                                  </a:solidFill>
                                  <a:latin typeface="Cambria Math"/>
                                </a:rPr>
                                <m:t>𝑥</m:t>
                              </m:r>
                            </m:e>
                            <m:sub>
                              <m:r>
                                <m:rPr>
                                  <m:sty m:val="p"/>
                                </m:rPr>
                                <a:rPr sz="1600">
                                  <a:solidFill>
                                    <a:srgbClr val="252529"/>
                                  </a:solidFill>
                                  <a:latin typeface="Cambria Math"/>
                                </a:rPr>
                                <m:t>G</m:t>
                              </m:r>
                            </m:sub>
                          </m:sSub>
                        </m:e>
                      </m:acc>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b>
                        <m:sSubPr>
                          <m:ctrlPr>
                            <a:rPr sz="1600">
                              <a:solidFill>
                                <a:srgbClr val="252529"/>
                              </a:solidFill>
                              <a:latin typeface="Cambria Math"/>
                            </a:rPr>
                          </m:ctrlPr>
                        </m:sSubPr>
                        <m:e>
                          <m:r>
                            <a:rPr sz="1600">
                              <a:solidFill>
                                <a:srgbClr val="252529"/>
                              </a:solidFill>
                              <a:latin typeface="Cambria Math"/>
                            </a:rPr>
                            <m:t>𝑥</m:t>
                          </m:r>
                        </m:e>
                        <m:sub>
                          <m:r>
                            <m:rPr>
                              <m:sty m:val="p"/>
                            </m:rPr>
                            <a:rPr sz="1600">
                              <a:solidFill>
                                <a:srgbClr val="252529"/>
                              </a:solidFill>
                              <a:latin typeface="Cambria Math"/>
                            </a:rPr>
                            <m:t>G</m:t>
                          </m:r>
                        </m:sub>
                      </m:sSub>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p:sp>
            <p:nvSpPr>
              <p:cNvPr id="1003" name="Nominal ODE G"/>
              <p:cNvSpPr>
                <a:spLocks noRot="1" noChangeAspect="1" noMove="1" noResize="1" noEditPoints="1" noAdjustHandles="1" noChangeArrowheads="1" noChangeShapeType="1" noTextEdit="1"/>
              </p:cNvSpPr>
              <p:nvPr/>
            </p:nvSpPr>
            <p:spPr>
              <a:xfrm>
                <a:off x="3194050" y="2875280"/>
                <a:ext cx="2730500" cy="44704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Nominal transport PDE"/>
              <p:cNvSpPr/>
              <p:nvPr/>
            </p:nvSpPr>
            <p:spPr>
              <a:xfrm>
                <a:off x="3130550" y="3374390"/>
                <a:ext cx="28575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252529"/>
                              </a:solidFill>
                              <a:latin typeface="Cambria Math"/>
                            </a:rPr>
                          </m:ctrlPr>
                        </m:sSubPr>
                        <m:e>
                          <m:r>
                            <a:rPr sz="1300">
                              <a:solidFill>
                                <a:srgbClr val="252529"/>
                              </a:solidFill>
                              <a:latin typeface="Cambria Math"/>
                            </a:rPr>
                            <m:t>𝜕</m:t>
                          </m:r>
                        </m:e>
                        <m:sub>
                          <m:r>
                            <a:rPr sz="1300">
                              <a:solidFill>
                                <a:srgbClr val="252529"/>
                              </a:solidFill>
                              <a:latin typeface="Cambria Math"/>
                            </a:rPr>
                            <m:t>𝑡</m:t>
                          </m:r>
                        </m:sub>
                      </m:sSub>
                      <m:sSub>
                        <m:sSubPr>
                          <m:ctrlPr>
                            <a:rPr sz="1300">
                              <a:solidFill>
                                <a:srgbClr val="252529"/>
                              </a:solidFill>
                              <a:latin typeface="Cambria Math"/>
                            </a:rPr>
                          </m:ctrlPr>
                        </m:sSubPr>
                        <m:e>
                          <m:r>
                            <a:rPr sz="1300">
                              <a:solidFill>
                                <a:srgbClr val="252529"/>
                              </a:solidFill>
                              <a:latin typeface="Cambria Math"/>
                            </a:rPr>
                            <m:t>𝜑</m:t>
                          </m:r>
                        </m:e>
                        <m:sub>
                          <m:r>
                            <a:rPr sz="1300">
                              <a:solidFill>
                                <a:srgbClr val="252529"/>
                              </a:solidFill>
                              <a:latin typeface="Cambria Math"/>
                            </a:rPr>
                            <m:t>𝑖𝑗</m:t>
                          </m:r>
                        </m:sub>
                      </m:sSub>
                      <m:d>
                        <m:dPr>
                          <m:ctrlPr>
                            <a:rPr sz="1300">
                              <a:solidFill>
                                <a:srgbClr val="252529"/>
                              </a:solidFill>
                              <a:latin typeface="Cambria Math"/>
                            </a:rPr>
                          </m:ctrlPr>
                        </m:dPr>
                        <m:e>
                          <m:r>
                            <a:rPr sz="1300">
                              <a:solidFill>
                                <a:srgbClr val="252529"/>
                              </a:solidFill>
                              <a:latin typeface="Cambria Math"/>
                            </a:rPr>
                            <m:t>𝑡</m:t>
                          </m:r>
                          <m:r>
                            <a:rPr sz="1300">
                              <a:solidFill>
                                <a:srgbClr val="252529"/>
                              </a:solidFill>
                              <a:latin typeface="Cambria Math"/>
                            </a:rPr>
                            <m:t>,</m:t>
                          </m:r>
                          <m:r>
                            <a:rPr sz="1300">
                              <a:solidFill>
                                <a:srgbClr val="252529"/>
                              </a:solidFill>
                              <a:latin typeface="Cambria Math"/>
                            </a:rPr>
                            <m:t>𝑠</m:t>
                          </m:r>
                        </m:e>
                      </m:d>
                      <m:r>
                        <a:rPr sz="1300">
                          <a:solidFill>
                            <a:srgbClr val="252529"/>
                          </a:solidFill>
                          <a:latin typeface="Cambria Math"/>
                        </a:rPr>
                        <m:t>=−</m:t>
                      </m:r>
                      <m:f>
                        <m:fPr>
                          <m:ctrlPr>
                            <a:rPr sz="1300">
                              <a:solidFill>
                                <a:srgbClr val="252529"/>
                              </a:solidFill>
                              <a:latin typeface="Cambria Math"/>
                            </a:rPr>
                          </m:ctrlPr>
                        </m:fPr>
                        <m:num>
                          <m:r>
                            <a:rPr sz="1300">
                              <a:solidFill>
                                <a:srgbClr val="252529"/>
                              </a:solidFill>
                              <a:latin typeface="Cambria Math"/>
                            </a:rPr>
                            <m:t>1</m:t>
                          </m:r>
                        </m:num>
                        <m:den>
                          <m:sSub>
                            <m:sSubPr>
                              <m:ctrlPr>
                                <a:rPr sz="1300">
                                  <a:solidFill>
                                    <a:srgbClr val="252529"/>
                                  </a:solidFill>
                                  <a:latin typeface="Cambria Math"/>
                                </a:rPr>
                              </m:ctrlPr>
                            </m:sSubPr>
                            <m:e>
                              <m:r>
                                <a:rPr sz="1300">
                                  <a:solidFill>
                                    <a:srgbClr val="252529"/>
                                  </a:solidFill>
                                  <a:latin typeface="Cambria Math"/>
                                </a:rPr>
                                <m:t>𝜏</m:t>
                              </m:r>
                            </m:e>
                            <m:sub>
                              <m:r>
                                <a:rPr sz="1300">
                                  <a:solidFill>
                                    <a:srgbClr val="252529"/>
                                  </a:solidFill>
                                  <a:latin typeface="Cambria Math"/>
                                </a:rPr>
                                <m:t>𝑖𝑗</m:t>
                              </m:r>
                            </m:sub>
                          </m:sSub>
                        </m:den>
                      </m:f>
                      <m:sSub>
                        <m:sSubPr>
                          <m:ctrlPr>
                            <a:rPr sz="1300">
                              <a:solidFill>
                                <a:srgbClr val="252529"/>
                              </a:solidFill>
                              <a:latin typeface="Cambria Math"/>
                            </a:rPr>
                          </m:ctrlPr>
                        </m:sSubPr>
                        <m:e>
                          <m:r>
                            <a:rPr sz="1300">
                              <a:solidFill>
                                <a:srgbClr val="252529"/>
                              </a:solidFill>
                              <a:latin typeface="Cambria Math"/>
                            </a:rPr>
                            <m:t>𝜕</m:t>
                          </m:r>
                        </m:e>
                        <m:sub>
                          <m:r>
                            <a:rPr sz="1300">
                              <a:solidFill>
                                <a:srgbClr val="252529"/>
                              </a:solidFill>
                              <a:latin typeface="Cambria Math"/>
                            </a:rPr>
                            <m:t>𝑠</m:t>
                          </m:r>
                        </m:sub>
                      </m:sSub>
                      <m:sSub>
                        <m:sSubPr>
                          <m:ctrlPr>
                            <a:rPr sz="1300">
                              <a:solidFill>
                                <a:srgbClr val="252529"/>
                              </a:solidFill>
                              <a:latin typeface="Cambria Math"/>
                            </a:rPr>
                          </m:ctrlPr>
                        </m:sSubPr>
                        <m:e>
                          <m:r>
                            <a:rPr sz="1300">
                              <a:solidFill>
                                <a:srgbClr val="252529"/>
                              </a:solidFill>
                              <a:latin typeface="Cambria Math"/>
                            </a:rPr>
                            <m:t>𝜑</m:t>
                          </m:r>
                        </m:e>
                        <m:sub>
                          <m:r>
                            <a:rPr sz="1300">
                              <a:solidFill>
                                <a:srgbClr val="252529"/>
                              </a:solidFill>
                              <a:latin typeface="Cambria Math"/>
                            </a:rPr>
                            <m:t>𝑖𝑗</m:t>
                          </m:r>
                        </m:sub>
                      </m:sSub>
                      <m:d>
                        <m:dPr>
                          <m:ctrlPr>
                            <a:rPr sz="1300">
                              <a:solidFill>
                                <a:srgbClr val="252529"/>
                              </a:solidFill>
                              <a:latin typeface="Cambria Math"/>
                            </a:rPr>
                          </m:ctrlPr>
                        </m:dPr>
                        <m:e>
                          <m:r>
                            <a:rPr sz="1300">
                              <a:solidFill>
                                <a:srgbClr val="252529"/>
                              </a:solidFill>
                              <a:latin typeface="Cambria Math"/>
                            </a:rPr>
                            <m:t>𝑡</m:t>
                          </m:r>
                          <m:r>
                            <a:rPr sz="1300">
                              <a:solidFill>
                                <a:srgbClr val="252529"/>
                              </a:solidFill>
                              <a:latin typeface="Cambria Math"/>
                            </a:rPr>
                            <m:t>,</m:t>
                          </m:r>
                          <m:r>
                            <a:rPr sz="1300">
                              <a:solidFill>
                                <a:srgbClr val="252529"/>
                              </a:solidFill>
                              <a:latin typeface="Cambria Math"/>
                            </a:rPr>
                            <m:t>𝑠</m:t>
                          </m:r>
                        </m:e>
                      </m:d>
                    </m:oMath>
                  </m:oMathPara>
                </a14:m>
                <a:endParaRPr sz="1300"/>
              </a:p>
            </p:txBody>
          </p:sp>
        </mc:Choice>
        <mc:Fallback>
          <p:sp>
            <p:nvSpPr>
              <p:cNvPr id="1004" name="Nominal transport PDE"/>
              <p:cNvSpPr>
                <a:spLocks noRot="1" noChangeAspect="1" noMove="1" noResize="1" noEditPoints="1" noAdjustHandles="1" noChangeArrowheads="1" noChangeShapeType="1" noTextEdit="1"/>
              </p:cNvSpPr>
              <p:nvPr/>
            </p:nvSpPr>
            <p:spPr>
              <a:xfrm>
                <a:off x="3130550" y="3374390"/>
                <a:ext cx="2857500" cy="363220"/>
              </a:xfrm>
              <a:prstGeom prst="rect">
                <a:avLst/>
              </a:prstGeom>
              <a:blipFill>
                <a:blip r:embed="rId6"/>
                <a:stretch>
                  <a:fillRect t="-10169" b="-2711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Boundary condition"/>
              <p:cNvSpPr/>
              <p:nvPr/>
            </p:nvSpPr>
            <p:spPr>
              <a:xfrm>
                <a:off x="3194050" y="3789680"/>
                <a:ext cx="27305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𝜑</m:t>
                          </m:r>
                        </m:e>
                        <m:sub>
                          <m:r>
                            <a:rPr sz="1600">
                              <a:solidFill>
                                <a:srgbClr val="252529"/>
                              </a:solidFill>
                              <a:latin typeface="Cambria Math"/>
                            </a:rPr>
                            <m:t>𝑖𝑗</m:t>
                          </m:r>
                        </m:sub>
                      </m:sSub>
                      <m:d>
                        <m:dPr>
                          <m:ctrlPr>
                            <a:rPr sz="1600">
                              <a:solidFill>
                                <a:srgbClr val="252529"/>
                              </a:solidFill>
                              <a:latin typeface="Cambria Math"/>
                            </a:rPr>
                          </m:ctrlPr>
                        </m:dPr>
                        <m:e>
                          <m:r>
                            <a:rPr sz="1600">
                              <a:solidFill>
                                <a:srgbClr val="252529"/>
                              </a:solidFill>
                              <a:latin typeface="Cambria Math"/>
                            </a:rPr>
                            <m:t>𝑡</m:t>
                          </m:r>
                          <m:r>
                            <a:rPr sz="1600">
                              <a:solidFill>
                                <a:srgbClr val="252529"/>
                              </a:solidFill>
                              <a:latin typeface="Cambria Math"/>
                            </a:rPr>
                            <m:t>,0</m:t>
                          </m:r>
                        </m:e>
                      </m:d>
                      <m:r>
                        <a:rPr sz="1600">
                          <a:solidFill>
                            <a:srgbClr val="252529"/>
                          </a:solidFill>
                          <a:latin typeface="Cambria Math"/>
                        </a:rPr>
                        <m:t>=</m:t>
                      </m:r>
                      <m:sSub>
                        <m:sSubPr>
                          <m:ctrlPr>
                            <a:rPr sz="1600">
                              <a:solidFill>
                                <a:srgbClr val="252529"/>
                              </a:solidFill>
                              <a:latin typeface="Cambria Math"/>
                            </a:rPr>
                          </m:ctrlPr>
                        </m:sSubPr>
                        <m:e>
                          <m:r>
                            <a:rPr sz="1600">
                              <a:solidFill>
                                <a:srgbClr val="252529"/>
                              </a:solidFill>
                              <a:latin typeface="Cambria Math"/>
                            </a:rPr>
                            <m:t>𝑥</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p:sp>
            <p:nvSpPr>
              <p:cNvPr id="1005" name="Boundary condition"/>
              <p:cNvSpPr>
                <a:spLocks noRot="1" noChangeAspect="1" noMove="1" noResize="1" noEditPoints="1" noAdjustHandles="1" noChangeArrowheads="1" noChangeShapeType="1" noTextEdit="1"/>
              </p:cNvSpPr>
              <p:nvPr/>
            </p:nvSpPr>
            <p:spPr>
              <a:xfrm>
                <a:off x="3194050" y="3789680"/>
                <a:ext cx="2730500" cy="4470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Final homogeneous PIE"/>
              <p:cNvSpPr/>
              <p:nvPr/>
            </p:nvSpPr>
            <p:spPr>
              <a:xfrm>
                <a:off x="6604000" y="2984500"/>
                <a:ext cx="23876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𝒯</m:t>
                      </m:r>
                      <m:acc>
                        <m:accPr>
                          <m:chr m:val="̇"/>
                          <m:ctrlPr>
                            <a:rPr sz="2000" i="1">
                              <a:solidFill>
                                <a:srgbClr val="252529"/>
                              </a:solidFill>
                              <a:latin typeface="Cambria Math" panose="02040503050406030204" pitchFamily="18" charset="0"/>
                            </a:rPr>
                          </m:ctrlPr>
                        </m:accPr>
                        <m:e>
                          <m:sSub>
                            <m:sSubPr>
                              <m:ctrlPr>
                                <a:rPr sz="2000">
                                  <a:solidFill>
                                    <a:srgbClr val="252529"/>
                                  </a:solidFill>
                                  <a:latin typeface="Cambria Math"/>
                                </a:rPr>
                              </m:ctrlPr>
                            </m:sSubPr>
                            <m:e>
                              <m:r>
                                <a:rPr sz="2000">
                                  <a:solidFill>
                                    <a:srgbClr val="252529"/>
                                  </a:solidFill>
                                  <a:latin typeface="Cambria Math"/>
                                </a:rPr>
                                <m:t>𝒙</m:t>
                              </m:r>
                            </m:e>
                            <m:sub>
                              <m:r>
                                <m:rPr>
                                  <m:sty m:val="p"/>
                                </m:rPr>
                                <a:rPr sz="2000">
                                  <a:solidFill>
                                    <a:srgbClr val="252529"/>
                                  </a:solidFill>
                                  <a:latin typeface="Cambria Math"/>
                                </a:rPr>
                                <m:t>f</m:t>
                              </m:r>
                            </m:sub>
                          </m:sSub>
                        </m:e>
                      </m:acc>
                      <m:d>
                        <m:dPr>
                          <m:ctrlPr>
                            <a:rPr sz="2000">
                              <a:solidFill>
                                <a:srgbClr val="252529"/>
                              </a:solidFill>
                              <a:latin typeface="Cambria Math"/>
                            </a:rPr>
                          </m:ctrlPr>
                        </m:dPr>
                        <m:e>
                          <m:r>
                            <a:rPr sz="2000">
                              <a:solidFill>
                                <a:srgbClr val="252529"/>
                              </a:solidFill>
                              <a:latin typeface="Cambria Math"/>
                            </a:rPr>
                            <m:t>𝑡</m:t>
                          </m:r>
                        </m:e>
                      </m:d>
                      <m:r>
                        <a:rPr sz="2000">
                          <a:solidFill>
                            <a:srgbClr val="252529"/>
                          </a:solidFill>
                          <a:latin typeface="Cambria Math"/>
                        </a:rPr>
                        <m:t>=</m:t>
                      </m:r>
                      <m:r>
                        <a:rPr sz="2000">
                          <a:solidFill>
                            <a:srgbClr val="252529"/>
                          </a:solidFill>
                          <a:latin typeface="Cambria Math"/>
                        </a:rPr>
                        <m:t>𝒜</m:t>
                      </m:r>
                      <m:sSub>
                        <m:sSubPr>
                          <m:ctrlPr>
                            <a:rPr sz="2000">
                              <a:solidFill>
                                <a:srgbClr val="252529"/>
                              </a:solidFill>
                              <a:latin typeface="Cambria Math"/>
                            </a:rPr>
                          </m:ctrlPr>
                        </m:sSubPr>
                        <m:e>
                          <m:r>
                            <a:rPr sz="2000">
                              <a:solidFill>
                                <a:srgbClr val="252529"/>
                              </a:solidFill>
                              <a:latin typeface="Cambria Math"/>
                            </a:rPr>
                            <m:t>𝒙</m:t>
                          </m:r>
                        </m:e>
                        <m:sub>
                          <m:r>
                            <m:rPr>
                              <m:sty m:val="p"/>
                            </m:rPr>
                            <a:rPr sz="2000">
                              <a:solidFill>
                                <a:srgbClr val="252529"/>
                              </a:solidFill>
                              <a:latin typeface="Cambria Math"/>
                            </a:rPr>
                            <m:t>f</m:t>
                          </m:r>
                        </m:sub>
                      </m:sSub>
                      <m:d>
                        <m:dPr>
                          <m:ctrlPr>
                            <a:rPr sz="2000">
                              <a:solidFill>
                                <a:srgbClr val="252529"/>
                              </a:solidFill>
                              <a:latin typeface="Cambria Math"/>
                            </a:rPr>
                          </m:ctrlPr>
                        </m:dPr>
                        <m:e>
                          <m:r>
                            <a:rPr sz="2000">
                              <a:solidFill>
                                <a:srgbClr val="252529"/>
                              </a:solidFill>
                              <a:latin typeface="Cambria Math"/>
                            </a:rPr>
                            <m:t>𝑡</m:t>
                          </m:r>
                        </m:e>
                      </m:d>
                    </m:oMath>
                  </m:oMathPara>
                </a14:m>
                <a:endParaRPr sz="2000"/>
              </a:p>
            </p:txBody>
          </p:sp>
        </mc:Choice>
        <mc:Fallback>
          <p:sp>
            <p:nvSpPr>
              <p:cNvPr id="1006" name="Final homogeneous PIE"/>
              <p:cNvSpPr>
                <a:spLocks noRot="1" noChangeAspect="1" noMove="1" noResize="1" noEditPoints="1" noAdjustHandles="1" noChangeArrowheads="1" noChangeShapeType="1" noTextEdit="1"/>
              </p:cNvSpPr>
              <p:nvPr/>
            </p:nvSpPr>
            <p:spPr>
              <a:xfrm>
                <a:off x="6604000" y="2984500"/>
                <a:ext cx="2387600" cy="5588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Delay channels"/>
              <p:cNvSpPr/>
              <p:nvPr/>
            </p:nvSpPr>
            <p:spPr>
              <a:xfrm>
                <a:off x="3448050" y="4291330"/>
                <a:ext cx="5397500" cy="3073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m:t>
                      </m:r>
                      <m:r>
                        <a:rPr sz="1100">
                          <a:solidFill>
                            <a:srgbClr val="252529"/>
                          </a:solidFill>
                          <a:latin typeface="Cambria Math"/>
                        </a:rPr>
                        <m:t>𝑖</m:t>
                      </m:r>
                      <m:r>
                        <a:rPr sz="1100">
                          <a:solidFill>
                            <a:srgbClr val="252529"/>
                          </a:solidFill>
                          <a:latin typeface="Cambria Math"/>
                        </a:rPr>
                        <m:t>,</m:t>
                      </m:r>
                      <m:r>
                        <a:rPr sz="1100">
                          <a:solidFill>
                            <a:srgbClr val="252529"/>
                          </a:solidFill>
                          <a:latin typeface="Cambria Math"/>
                        </a:rPr>
                        <m:t>𝑗</m:t>
                      </m:r>
                      <m:r>
                        <a:rPr sz="1100">
                          <a:solidFill>
                            <a:srgbClr val="252529"/>
                          </a:solidFill>
                          <a:latin typeface="Cambria Math"/>
                        </a:rPr>
                        <m:t>)∈</m:t>
                      </m:r>
                      <m:d>
                        <m:dPr>
                          <m:begChr m:val="{"/>
                          <m:endChr m:val="}"/>
                          <m:ctrlPr>
                            <a:rPr sz="1100">
                              <a:solidFill>
                                <a:srgbClr val="252529"/>
                              </a:solidFill>
                              <a:latin typeface="Cambria Math"/>
                            </a:rPr>
                          </m:ctrlPr>
                        </m:dPr>
                        <m:e>
                          <m:r>
                            <a:rPr sz="1100">
                              <a:solidFill>
                                <a:srgbClr val="252529"/>
                              </a:solidFill>
                              <a:latin typeface="Cambria Math"/>
                            </a:rPr>
                            <m:t>(</m:t>
                          </m:r>
                          <m:r>
                            <m:rPr>
                              <m:sty m:val="p"/>
                            </m:rPr>
                            <a:rPr sz="1100">
                              <a:solidFill>
                                <a:srgbClr val="252529"/>
                              </a:solidFill>
                              <a:latin typeface="Cambria Math"/>
                            </a:rPr>
                            <m:t>G</m:t>
                          </m:r>
                          <m:r>
                            <a:rPr sz="1100">
                              <a:solidFill>
                                <a:srgbClr val="252529"/>
                              </a:solidFill>
                              <a:latin typeface="Cambria Math"/>
                            </a:rPr>
                            <m:t>,</m:t>
                          </m:r>
                          <m:r>
                            <m:rPr>
                              <m:sty m:val="p"/>
                            </m:rPr>
                            <a:rPr sz="1100">
                              <a:solidFill>
                                <a:srgbClr val="252529"/>
                              </a:solidFill>
                              <a:latin typeface="Cambria Math"/>
                            </a:rPr>
                            <m:t>S</m:t>
                          </m:r>
                          <m:r>
                            <a:rPr sz="1100">
                              <a:solidFill>
                                <a:srgbClr val="252529"/>
                              </a:solidFill>
                              <a:latin typeface="Cambria Math"/>
                            </a:rPr>
                            <m:t>),(</m:t>
                          </m:r>
                          <m:r>
                            <m:rPr>
                              <m:sty m:val="p"/>
                            </m:rPr>
                            <a:rPr sz="1100">
                              <a:solidFill>
                                <a:srgbClr val="252529"/>
                              </a:solidFill>
                              <a:latin typeface="Cambria Math"/>
                            </a:rPr>
                            <m:t>S</m:t>
                          </m:r>
                          <m:r>
                            <a:rPr sz="1100">
                              <a:solidFill>
                                <a:srgbClr val="252529"/>
                              </a:solidFill>
                              <a:latin typeface="Cambria Math"/>
                            </a:rPr>
                            <m:t>,</m:t>
                          </m:r>
                          <m:r>
                            <m:rPr>
                              <m:sty m:val="p"/>
                            </m:rPr>
                            <a:rPr sz="1100">
                              <a:solidFill>
                                <a:srgbClr val="252529"/>
                              </a:solidFill>
                              <a:latin typeface="Cambria Math"/>
                            </a:rPr>
                            <m:t>G</m:t>
                          </m:r>
                          <m:r>
                            <a:rPr sz="1100">
                              <a:solidFill>
                                <a:srgbClr val="252529"/>
                              </a:solidFill>
                              <a:latin typeface="Cambria Math"/>
                            </a:rPr>
                            <m:t>),(</m:t>
                          </m:r>
                          <m:r>
                            <m:rPr>
                              <m:sty m:val="p"/>
                            </m:rPr>
                            <a:rPr sz="1100">
                              <a:solidFill>
                                <a:srgbClr val="252529"/>
                              </a:solidFill>
                              <a:latin typeface="Cambria Math"/>
                            </a:rPr>
                            <m:t>G</m:t>
                          </m:r>
                          <m:r>
                            <a:rPr sz="1100">
                              <a:solidFill>
                                <a:srgbClr val="252529"/>
                              </a:solidFill>
                              <a:latin typeface="Cambria Math"/>
                            </a:rPr>
                            <m:t>,</m:t>
                          </m:r>
                          <m:r>
                            <m:rPr>
                              <m:sty m:val="p"/>
                            </m:rPr>
                            <a:rPr sz="1100">
                              <a:solidFill>
                                <a:srgbClr val="252529"/>
                              </a:solidFill>
                              <a:latin typeface="Cambria Math"/>
                            </a:rPr>
                            <m:t>G</m:t>
                          </m:r>
                          <m:r>
                            <a:rPr sz="1100">
                              <a:solidFill>
                                <a:srgbClr val="252529"/>
                              </a:solidFill>
                              <a:latin typeface="Cambria Math"/>
                            </a:rPr>
                            <m:t>)</m:t>
                          </m:r>
                        </m:e>
                      </m:d>
                      <m:r>
                        <a:rPr sz="1100">
                          <a:solidFill>
                            <a:srgbClr val="252529"/>
                          </a:solidFill>
                          <a:latin typeface="Cambria Math"/>
                        </a:rPr>
                        <m:t>,  </m:t>
                      </m:r>
                      <m:r>
                        <a:rPr sz="1100">
                          <a:solidFill>
                            <a:srgbClr val="252529"/>
                          </a:solidFill>
                          <a:latin typeface="Cambria Math"/>
                        </a:rPr>
                        <m:t>𝑠</m:t>
                      </m:r>
                      <m:r>
                        <a:rPr sz="1100">
                          <a:solidFill>
                            <a:srgbClr val="252529"/>
                          </a:solidFill>
                          <a:latin typeface="Cambria Math"/>
                        </a:rPr>
                        <m:t>∈[0,1]</m:t>
                      </m:r>
                    </m:oMath>
                  </m:oMathPara>
                </a14:m>
                <a:endParaRPr sz="1100"/>
              </a:p>
            </p:txBody>
          </p:sp>
        </mc:Choice>
        <mc:Fallback>
          <p:sp>
            <p:nvSpPr>
              <p:cNvPr id="1007" name="Delay channels"/>
              <p:cNvSpPr>
                <a:spLocks noRot="1" noChangeAspect="1" noMove="1" noResize="1" noEditPoints="1" noAdjustHandles="1" noChangeArrowheads="1" noChangeShapeType="1" noTextEdit="1"/>
              </p:cNvSpPr>
              <p:nvPr/>
            </p:nvSpPr>
            <p:spPr>
              <a:xfrm>
                <a:off x="3448050" y="4291330"/>
                <a:ext cx="5397500" cy="307340"/>
              </a:xfrm>
              <a:prstGeom prst="rect">
                <a:avLst/>
              </a:prstGeom>
              <a:blipFill>
                <a:blip r:embed="rId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m:t>
                      </m:r>
                      <m:r>
                        <a:rPr sz="2400">
                          <a:solidFill>
                            <a:srgbClr val="252529"/>
                          </a:solidFill>
                          <a:latin typeface="Cambria Math"/>
                        </a:rPr>
                        <m:t>+</m:t>
                      </m:r>
                      <m:r>
                        <a:rPr sz="2400">
                          <a:solidFill>
                            <a:srgbClr val="252529"/>
                          </a:solidFill>
                          <a:latin typeface="Cambria Math"/>
                        </a:rPr>
                        <m:t>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52529"/>
                          </a:solidFill>
                          <a:latin typeface="Cambria Math"/>
                        </a:rPr>
                        <m:t>𝒜ℬ</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𝒜</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252529"/>
                              </a:solidFill>
                              <a:latin typeface="Cambria Math"/>
                            </a:rPr>
                          </m:ctrlPr>
                        </m:dPr>
                        <m:e>
                          <m:r>
                            <a:rPr sz="2400">
                              <a:solidFill>
                                <a:srgbClr val="252529"/>
                              </a:solidFill>
                              <a:latin typeface="Cambria Math"/>
                            </a:rPr>
                            <m:t>𝒜</m:t>
                          </m:r>
                          <m:r>
                            <a:rPr sz="2400">
                              <a:solidFill>
                                <a:srgbClr val="252529"/>
                              </a:solidFill>
                              <a:latin typeface="Cambria Math"/>
                            </a:rPr>
                            <m:t>  </m:t>
                          </m:r>
                          <m:r>
                            <a:rPr sz="2400">
                              <a:solidFill>
                                <a:srgbClr val="252529"/>
                              </a:solidFill>
                              <a:latin typeface="Cambria Math"/>
                            </a:rPr>
                            <m:t>ℬ</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𝒫</m:t>
                      </m:r>
                      <m:r>
                        <a:rPr sz="2000">
                          <a:solidFill>
                            <a:srgbClr val="252529"/>
                          </a:solidFill>
                          <a:latin typeface="Cambria Math"/>
                        </a:rPr>
                        <m:t>≽</m:t>
                      </m:r>
                      <m:r>
                        <a:rPr sz="2000">
                          <a:solidFill>
                            <a:srgbClr val="252529"/>
                          </a:solidFill>
                          <a:latin typeface="Cambria Math"/>
                        </a:rPr>
                        <m:t>𝜀</m:t>
                      </m:r>
                      <m:r>
                        <a:rPr sz="2000">
                          <a:solidFill>
                            <a:srgbClr val="252529"/>
                          </a:solidFill>
                          <a:latin typeface="Cambria Math"/>
                        </a:rPr>
                        <m:t>ℐ</m:t>
                      </m:r>
                      <m:r>
                        <a:rPr sz="2000">
                          <a:solidFill>
                            <a:srgbClr val="252529"/>
                          </a:solidFill>
                          <a:latin typeface="Cambria Math"/>
                        </a:rPr>
                        <m:t>,   </m:t>
                      </m:r>
                      <m:r>
                        <a:rPr sz="2000">
                          <a:solidFill>
                            <a:srgbClr val="252529"/>
                          </a:solidFill>
                          <a:latin typeface="Cambria Math"/>
                        </a:rPr>
                        <m:t>𝜀</m:t>
                      </m:r>
                      <m:r>
                        <a:rPr sz="2000">
                          <a:solidFill>
                            <a:srgbClr val="252529"/>
                          </a:solidFill>
                          <a:latin typeface="Cambria Math"/>
                        </a:rPr>
                        <m:t>&gt;0</m:t>
                      </m:r>
                    </m:oMath>
                  </m:oMathPara>
                </a14:m>
                <a:endParaRPr sz="200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𝒫𝒜</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𝒜</m:t>
                          </m:r>
                        </m:e>
                        <m:sup>
                          <m:r>
                            <a:rPr sz="1900">
                              <a:solidFill>
                                <a:srgbClr val="252529"/>
                              </a:solidFill>
                              <a:latin typeface="Cambria Math"/>
                            </a:rPr>
                            <m:t>∗</m:t>
                          </m:r>
                        </m:sup>
                      </m:sSup>
                      <m:r>
                        <a:rPr sz="1900">
                          <a:solidFill>
                            <a:srgbClr val="252529"/>
                          </a:solidFill>
                          <a:latin typeface="Cambria Math"/>
                        </a:rPr>
                        <m:t>𝒫𝒯</m:t>
                      </m:r>
                      <m:r>
                        <a:rPr sz="1900">
                          <a:solidFill>
                            <a:srgbClr val="252529"/>
                          </a:solidFill>
                          <a:latin typeface="Cambria Math"/>
                        </a:rPr>
                        <m:t>≼−</m:t>
                      </m:r>
                      <m:r>
                        <a:rPr sz="1900">
                          <a:solidFill>
                            <a:srgbClr val="252529"/>
                          </a:solidFill>
                          <a:latin typeface="Cambria Math"/>
                        </a:rPr>
                        <m:t>𝛼</m:t>
                      </m:r>
                      <m:sSup>
                        <m:sSupPr>
                          <m:ctrlPr>
                            <a:rPr sz="1900">
                              <a:solidFill>
                                <a:srgbClr val="252529"/>
                              </a:solidFill>
                              <a:latin typeface="Cambria Math"/>
                            </a:rPr>
                          </m:ctrlPr>
                        </m:sSupPr>
                        <m:e>
                          <m:r>
                            <a:rPr sz="1900">
                              <a:solidFill>
                                <a:srgbClr val="252529"/>
                              </a:solidFill>
                              <a:latin typeface="Cambria Math"/>
                            </a:rPr>
                            <m:t>𝒯</m:t>
                          </m:r>
                        </m:e>
                        <m:sup>
                          <m:r>
                            <a:rPr sz="1900">
                              <a:solidFill>
                                <a:srgbClr val="252529"/>
                              </a:solidFill>
                              <a:latin typeface="Cambria Math"/>
                            </a:rPr>
                            <m:t>∗</m:t>
                          </m:r>
                        </m:sup>
                      </m:sSup>
                      <m:r>
                        <a:rPr sz="1900">
                          <a:solidFill>
                            <a:srgbClr val="252529"/>
                          </a:solidFill>
                          <a:latin typeface="Cambria Math"/>
                        </a:rPr>
                        <m:t>𝒯</m:t>
                      </m:r>
                    </m:oMath>
                  </m:oMathPara>
                </a14:m>
                <a:endParaRPr sz="190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PI operator parameterization → LMIs</a:t>
            </a:r>
            <a:endParaRPr sz="1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1" name="Controlled linear PIE"/>
              <p:cNvSpPr>
                <a:spLocks noRot="1" noChangeAspect="1" noMove="1" noResize="1" noEditPoints="1" noAdjustHandles="1" noChangeArrowheads="1" noChangeShapeType="1" noTextEdit="1"/>
              </p:cNvSpPr>
              <p:nvPr/>
            </p:nvSpPr>
            <p:spPr>
              <a:xfrm>
                <a:off x="3543300" y="24726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𝑢</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𝐾𝑦</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p:sp>
            <p:nvSpPr>
              <p:cNvPr id="1002" name="Feedback controller"/>
              <p:cNvSpPr>
                <a:spLocks noRot="1" noChangeAspect="1" noMove="1" noResize="1" noEditPoints="1" noAdjustHandles="1" noChangeArrowheads="1" noChangeShapeType="1" noTextEdit="1"/>
              </p:cNvSpPr>
              <p:nvPr/>
            </p:nvSpPr>
            <p:spPr>
              <a:xfrm>
                <a:off x="3543300" y="3082290"/>
                <a:ext cx="5207000" cy="642620"/>
              </a:xfrm>
              <a:prstGeom prst="rect">
                <a:avLst/>
              </a:prstGeom>
              <a:blipFill>
                <a:blip r:embed="rId5"/>
                <a:stretch>
                  <a:fillRect/>
                </a:stretch>
              </a:blipFill>
              <a:ln>
                <a:noFill/>
              </a:ln>
            </p:spPr>
            <p:txBody>
              <a:bodyPr/>
              <a:lstStyle/>
              <a:p>
                <a:r>
                  <a:rPr lang="en-NL">
                    <a:noFill/>
                  </a:rPr>
                  <a:t> </a:t>
                </a:r>
              </a:p>
            </p:txBody>
          </p:sp>
        </mc:Fallback>
      </mc:AlternateContent>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Synthesize in PIE coordinates</a:t>
            </a:r>
            <a:endParaRPr sz="16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Partial Integral Equations</a:t>
            </a:r>
            <a:endParaRPr sz="2500"/>
          </a:p>
        </p:txBody>
      </p:sp>
      <p:sp>
        <p:nvSpPr>
          <p:cNvPr id="1002" name="Physical model pillar"/>
          <p:cNvSpPr/>
          <p:nvPr/>
        </p:nvSpPr>
        <p:spPr>
          <a:xfrm>
            <a:off x="457200" y="1079500"/>
            <a:ext cx="3175000" cy="3606800"/>
          </a:xfrm>
          <a:prstGeom prst="rect">
            <a:avLst/>
          </a:prstGeom>
          <a:solidFill>
            <a:srgbClr val="C9141A"/>
          </a:solidFill>
          <a:ln>
            <a:noFill/>
          </a:ln>
        </p:spPr>
      </p:sp>
      <p:sp>
        <p:nvSpPr>
          <p:cNvPr id="1003" name="PIE solution pillar"/>
          <p:cNvSpPr/>
          <p:nvPr/>
        </p:nvSpPr>
        <p:spPr>
          <a:xfrm>
            <a:off x="5511800" y="1079500"/>
            <a:ext cx="3175000" cy="3606800"/>
          </a:xfrm>
          <a:prstGeom prst="rect">
            <a:avLst/>
          </a:prstGeom>
          <a:solidFill>
            <a:srgbClr val="C9141A"/>
          </a:solidFill>
          <a:ln>
            <a:noFill/>
          </a:ln>
        </p:spPr>
      </p:sp>
      <p:sp>
        <p:nvSpPr>
          <p:cNvPr id="1004" name="Physical heading"/>
          <p:cNvSpPr/>
          <p:nvPr/>
        </p:nvSpPr>
        <p:spPr>
          <a:xfrm>
            <a:off x="584200" y="1171575"/>
            <a:ext cx="2921000" cy="323850"/>
          </a:xfrm>
          <a:prstGeom prst="rect">
            <a:avLst/>
          </a:prstGeom>
          <a:noFill/>
          <a:ln>
            <a:noFill/>
          </a:ln>
        </p:spPr>
        <p:txBody>
          <a:bodyPr wrap="none" lIns="0" tIns="0" rIns="0" bIns="0" anchor="ctr">
            <a:noAutofit/>
          </a:bodyPr>
          <a:lstStyle/>
          <a:p>
            <a:pPr algn="ctr">
              <a:buNone/>
            </a:pPr>
            <a:r>
              <a:rPr lang="en-GB" sz="1700" b="1" i="0" u="none" baseline="0">
                <a:solidFill>
                  <a:srgbClr val="FFFFFF"/>
                </a:solidFill>
                <a:latin typeface="Aptos"/>
                <a:ea typeface="Aptos"/>
                <a:cs typeface="Aptos"/>
              </a:rPr>
              <a:t>Distributed models</a:t>
            </a:r>
            <a:endParaRPr sz="1700"/>
          </a:p>
        </p:txBody>
      </p:sp>
      <p:sp>
        <p:nvSpPr>
          <p:cNvPr id="1005" name="First pillar heading"/>
          <p:cNvSpPr/>
          <p:nvPr/>
        </p:nvSpPr>
        <p:spPr>
          <a:xfrm>
            <a:off x="5638800" y="1152525"/>
            <a:ext cx="2921000" cy="361950"/>
          </a:xfrm>
          <a:prstGeom prst="rect">
            <a:avLst/>
          </a:prstGeom>
          <a:noFill/>
          <a:ln>
            <a:noFill/>
          </a:ln>
        </p:spPr>
        <p:txBody>
          <a:bodyPr wrap="none" lIns="0" tIns="0" rIns="0" bIns="0" anchor="ctr">
            <a:noAutofit/>
          </a:bodyPr>
          <a:lstStyle/>
          <a:p>
            <a:pPr algn="ctr">
              <a:buNone/>
            </a:pPr>
            <a:r>
              <a:rPr lang="en-GB" sz="1900" b="1" i="0" u="none" baseline="0">
                <a:solidFill>
                  <a:srgbClr val="FFFFFF"/>
                </a:solidFill>
                <a:latin typeface="Aptos"/>
                <a:ea typeface="Aptos"/>
                <a:cs typeface="Aptos"/>
              </a:rPr>
              <a:t>Pillar 1: PIEs</a:t>
            </a:r>
            <a:endParaRPr sz="1900"/>
          </a:p>
        </p:txBody>
      </p:sp>
      <p:sp>
        <p:nvSpPr>
          <p:cNvPr id="1006" name="Tractability arrow"/>
          <p:cNvSpPr/>
          <p:nvPr/>
        </p:nvSpPr>
        <p:spPr>
          <a:xfrm>
            <a:off x="3886200" y="2374900"/>
            <a:ext cx="1358900" cy="25400"/>
          </a:xfrm>
          <a:custGeom>
            <a:avLst/>
            <a:gdLst/>
            <a:ahLst/>
            <a:cxnLst/>
            <a:rect l="0" t="0" r="r" b="b"/>
            <a:pathLst>
              <a:path w="1358900" h="25400" fill="none">
                <a:moveTo>
                  <a:pt x="12700" y="12700"/>
                </a:moveTo>
                <a:lnTo>
                  <a:pt x="1346200" y="12700"/>
                </a:lnTo>
              </a:path>
            </a:pathLst>
          </a:custGeom>
          <a:noFill/>
          <a:ln w="16510">
            <a:solidFill>
              <a:srgbClr val="252529"/>
            </a:solidFill>
            <a:round/>
            <a:tailEnd type="triangle" w="sm" len="sm"/>
          </a:ln>
        </p:spPr>
      </p:sp>
      <p:sp>
        <p:nvSpPr>
          <p:cNvPr id="1007" name="Tractability label"/>
          <p:cNvSpPr/>
          <p:nvPr/>
        </p:nvSpPr>
        <p:spPr>
          <a:xfrm>
            <a:off x="3746500" y="2025650"/>
            <a:ext cx="1651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Tractability</a:t>
            </a:r>
            <a:endParaRPr sz="1400"/>
          </a:p>
        </p:txBody>
      </p:sp>
      <p:sp>
        <p:nvSpPr>
          <p:cNvPr id="1008" name="Solutions arrow"/>
          <p:cNvSpPr/>
          <p:nvPr/>
        </p:nvSpPr>
        <p:spPr>
          <a:xfrm>
            <a:off x="3886200" y="3403600"/>
            <a:ext cx="1358900" cy="25400"/>
          </a:xfrm>
          <a:custGeom>
            <a:avLst/>
            <a:gdLst/>
            <a:ahLst/>
            <a:cxnLst/>
            <a:rect l="0" t="0" r="r" b="b"/>
            <a:pathLst>
              <a:path w="1358900" h="25400" fill="none">
                <a:moveTo>
                  <a:pt x="1346200" y="12700"/>
                </a:moveTo>
                <a:lnTo>
                  <a:pt x="12700" y="12700"/>
                </a:lnTo>
              </a:path>
            </a:pathLst>
          </a:custGeom>
          <a:noFill/>
          <a:ln w="16510">
            <a:solidFill>
              <a:srgbClr val="252529"/>
            </a:solidFill>
            <a:round/>
            <a:tailEnd type="triangle" w="sm" len="sm"/>
          </a:ln>
        </p:spPr>
      </p:sp>
      <p:sp>
        <p:nvSpPr>
          <p:cNvPr id="1009" name="Solutions label"/>
          <p:cNvSpPr/>
          <p:nvPr/>
        </p:nvSpPr>
        <p:spPr>
          <a:xfrm>
            <a:off x="3746500" y="3549650"/>
            <a:ext cx="1651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Solutions</a:t>
            </a:r>
            <a:endParaRPr sz="1400"/>
          </a:p>
        </p:txBody>
      </p:sp>
      <p:sp>
        <p:nvSpPr>
          <p:cNvPr id="1010" name="Pillar conclusion"/>
          <p:cNvSpPr/>
          <p:nvPr/>
        </p:nvSpPr>
        <p:spPr>
          <a:xfrm>
            <a:off x="5638800" y="4013200"/>
            <a:ext cx="2921000" cy="304800"/>
          </a:xfrm>
          <a:prstGeom prst="rect">
            <a:avLst/>
          </a:prstGeom>
          <a:noFill/>
          <a:ln>
            <a:noFill/>
          </a:ln>
        </p:spPr>
        <p:txBody>
          <a:bodyPr wrap="none" lIns="0" tIns="0" rIns="0" bIns="0" anchor="ctr">
            <a:noAutofit/>
          </a:bodyPr>
          <a:lstStyle/>
          <a:p>
            <a:pPr algn="ctr">
              <a:buNone/>
            </a:pPr>
            <a:r>
              <a:rPr lang="en-GB" sz="1600" b="1" i="0" u="none" baseline="0">
                <a:solidFill>
                  <a:srgbClr val="FFFFFF"/>
                </a:solidFill>
                <a:latin typeface="Aptos"/>
                <a:ea typeface="Aptos"/>
                <a:cs typeface="Aptos"/>
              </a:rPr>
              <a:t>Analysis and synthesis</a:t>
            </a:r>
            <a:endParaRPr sz="1600"/>
          </a:p>
        </p:txBody>
      </p:sp>
      <p:sp>
        <p:nvSpPr>
          <p:cNvPr id="1011" name="Pillar computation"/>
          <p:cNvSpPr/>
          <p:nvPr/>
        </p:nvSpPr>
        <p:spPr>
          <a:xfrm>
            <a:off x="5638800" y="4279900"/>
            <a:ext cx="2921000" cy="304800"/>
          </a:xfrm>
          <a:prstGeom prst="rect">
            <a:avLst/>
          </a:prstGeom>
          <a:noFill/>
          <a:ln>
            <a:noFill/>
          </a:ln>
        </p:spPr>
        <p:txBody>
          <a:bodyPr wrap="none" lIns="0" tIns="0" rIns="0" bIns="0" anchor="ctr">
            <a:noAutofit/>
          </a:bodyPr>
          <a:lstStyle/>
          <a:p>
            <a:pPr algn="ctr">
              <a:buNone/>
            </a:pPr>
            <a:r>
              <a:rPr lang="en-GB" sz="1600" b="0" i="0" u="none" baseline="0">
                <a:solidFill>
                  <a:srgbClr val="FFFFFF"/>
                </a:solidFill>
                <a:latin typeface="Aptos"/>
                <a:ea typeface="Aptos"/>
                <a:cs typeface="Aptos"/>
              </a:rPr>
              <a:t>using LMIs</a:t>
            </a:r>
            <a:endParaRPr sz="1600"/>
          </a:p>
        </p:txBody>
      </p:sp>
      <p:grpSp>
        <p:nvGrpSpPr>
          <p:cNvPr id="6001" name="Physical PDE LFR">
            <a:extLst>
              <a:ext uri="{FF2B5EF4-FFF2-40B4-BE49-F238E27FC236}">
                <a16:creationId xmlns:a16="http://schemas.microsoft.com/office/drawing/2014/main" id="{9ABA1CC7-950B-27AA-22AE-FF6B70D69927}"/>
              </a:ext>
            </a:extLst>
          </p:cNvPr>
          <p:cNvGrpSpPr/>
          <p:nvPr/>
        </p:nvGrpSpPr>
        <p:grpSpPr>
          <a:xfrm>
            <a:off x="723900" y="1625600"/>
            <a:ext cx="2641600" cy="2024380"/>
            <a:chOff x="1995932" y="1819148"/>
            <a:chExt cx="3138932" cy="2405888"/>
          </a:xfrm>
        </p:grpSpPr>
        <p:sp>
          <p:nvSpPr>
            <p:cNvPr id="6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6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xmlns:m="http://schemas.openxmlformats.org/officeDocument/2006/math" xmlns="">
            <p:sp>
              <p:nvSpPr>
                <p:cNvPr id="6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xmlns:m="http://schemas.openxmlformats.org/officeDocument/2006/math" xmlns="">
            <p:sp>
              <p:nvSpPr>
                <p:cNvPr id="6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4"/>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xmlns:m="http://schemas.openxmlformats.org/officeDocument/2006/math" xmlns="">
            <p:sp>
              <p:nvSpPr>
                <p:cNvPr id="6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xmlns:m="http://schemas.openxmlformats.org/officeDocument/2006/math" xmlns="">
            <p:sp>
              <p:nvSpPr>
                <p:cNvPr id="6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6"/>
                  <a:stretch>
                    <a:fillRect/>
                  </a:stretch>
                </a:blipFill>
                <a:ln>
                  <a:noFill/>
                </a:ln>
              </p:spPr>
              <p:txBody>
                <a:bodyPr/>
                <a:lstStyle/>
                <a:p>
                  <a:r>
                    <a:rPr lang="en-NL">
                      <a:noFill/>
                    </a:rPr>
                    <a:t> </a:t>
                  </a:r>
                </a:p>
              </p:txBody>
            </p:sp>
          </mc:Fallback>
        </mc:AlternateContent>
        <p:sp>
          <p:nvSpPr>
            <p:cNvPr id="6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6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16"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17"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6017"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grpSp>
        <p:nvGrpSpPr>
          <p:cNvPr id="6018" name="PIE LFR">
            <a:extLst>
              <a:ext uri="{FF2B5EF4-FFF2-40B4-BE49-F238E27FC236}">
                <a16:creationId xmlns:a16="http://schemas.microsoft.com/office/drawing/2014/main" id="{694DB2D1-3979-BD73-6C1C-EDA0A861169B}"/>
              </a:ext>
            </a:extLst>
          </p:cNvPr>
          <p:cNvGrpSpPr/>
          <p:nvPr/>
        </p:nvGrpSpPr>
        <p:grpSpPr>
          <a:xfrm>
            <a:off x="5778500" y="1625600"/>
            <a:ext cx="2641600" cy="2024380"/>
            <a:chOff x="1995932" y="1819148"/>
            <a:chExt cx="3138932" cy="2405888"/>
          </a:xfrm>
        </p:grpSpPr>
        <p:sp>
          <p:nvSpPr>
            <p:cNvPr id="6019"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20"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21"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22"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23"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24"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602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6"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xmlns:m="http://schemas.openxmlformats.org/officeDocument/2006/math" xmlns="">
            <p:sp>
              <p:nvSpPr>
                <p:cNvPr id="6026"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7"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xmlns:m="http://schemas.openxmlformats.org/officeDocument/2006/math" xmlns="">
            <p:sp>
              <p:nvSpPr>
                <p:cNvPr id="6027"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8"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xmlns:m="http://schemas.openxmlformats.org/officeDocument/2006/math" xmlns="">
            <p:sp>
              <p:nvSpPr>
                <p:cNvPr id="6028"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29"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xmlns:m="http://schemas.openxmlformats.org/officeDocument/2006/math" xmlns="">
            <p:sp>
              <p:nvSpPr>
                <p:cNvPr id="6029"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6030"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31"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6032"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33"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34"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6034"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2"/>
                  <a:stretch>
                    <a:fillRect/>
                  </a:stretch>
                </a:blipFill>
                <a:ln>
                  <a:noFill/>
                </a:ln>
              </p:spPr>
              <p:txBody>
                <a:bodyPr/>
                <a:lstStyle/>
                <a:p>
                  <a:r>
                    <a:rPr lang="en-NL">
                      <a:noFill/>
                    </a:rPr>
                    <a:t> </a:t>
                  </a:r>
                </a:p>
              </p:txBody>
            </p:sp>
          </mc:Fallback>
        </mc:AlternateContent>
      </p:grpSp>
      <p:pic>
        <p:nvPicPr>
          <p:cNvPr id="6035" name="ASML image">
            <a:extLst>
              <a:ext uri="{FF2B5EF4-FFF2-40B4-BE49-F238E27FC236}">
                <a16:creationId xmlns:a16="http://schemas.microsoft.com/office/drawing/2014/main" id="{64CB8C8F-9F39-474B-5CE8-8336FF80DF46}"/>
              </a:ext>
            </a:extLst>
          </p:cNvPr>
          <p:cNvPicPr>
            <a:picLocks noChangeAspect="1"/>
          </p:cNvPicPr>
          <p:nvPr/>
        </p:nvPicPr>
        <p:blipFill>
          <a:blip r:embed="rId13" cstate="print">
            <a:extLst>
              <a:ext uri="{28A0092B-C50C-407E-A947-70E740481C1C}">
                <a14:useLocalDpi xmlns:a14="http://schemas.microsoft.com/office/drawing/2010/main" val="0"/>
              </a:ext>
            </a:extLst>
          </a:blip>
          <a:srcRect l="6208" r="6507" b="12822"/>
          <a:stretch>
            <a:fillRect/>
          </a:stretch>
        </p:blipFill>
        <p:spPr>
          <a:xfrm>
            <a:off x="1651000" y="4013200"/>
            <a:ext cx="863600" cy="449580"/>
          </a:xfrm>
          <a:prstGeom prst="rect">
            <a:avLst/>
          </a:prstGeom>
        </p:spPr>
      </p:pic>
      <p:pic>
        <p:nvPicPr>
          <p:cNvPr id="603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4"/>
          <a:stretch>
            <a:fillRect/>
          </a:stretch>
        </p:blipFill>
        <p:spPr>
          <a:xfrm>
            <a:off x="2628900" y="4025900"/>
            <a:ext cx="838200" cy="410210"/>
          </a:xfrm>
          <a:prstGeom prst="rect">
            <a:avLst/>
          </a:prstGeom>
        </p:spPr>
      </p:pic>
      <p:sp>
        <p:nvSpPr>
          <p:cNvPr id="6998" name="Neural image background"/>
          <p:cNvSpPr/>
          <p:nvPr/>
        </p:nvSpPr>
        <p:spPr>
          <a:xfrm>
            <a:off x="622300" y="3962400"/>
            <a:ext cx="952500" cy="571500"/>
          </a:xfrm>
          <a:prstGeom prst="rect">
            <a:avLst/>
          </a:prstGeom>
          <a:solidFill>
            <a:srgbClr val="FFFFFF"/>
          </a:solidFill>
          <a:ln>
            <a:noFill/>
          </a:ln>
        </p:spPr>
      </p:sp>
      <p:grpSp>
        <p:nvGrpSpPr>
          <p:cNvPr id="6037" name="STN-GPe image">
            <a:extLst>
              <a:ext uri="{FF2B5EF4-FFF2-40B4-BE49-F238E27FC236}">
                <a16:creationId xmlns:a16="http://schemas.microsoft.com/office/drawing/2014/main" id="{C1E5EDF8-39B7-BFFC-C737-CA4AA387F766}"/>
              </a:ext>
            </a:extLst>
          </p:cNvPr>
          <p:cNvGrpSpPr/>
          <p:nvPr/>
        </p:nvGrpSpPr>
        <p:grpSpPr>
          <a:xfrm>
            <a:off x="660400" y="4025900"/>
            <a:ext cx="876300" cy="421640"/>
            <a:chOff x="1879600" y="241300"/>
            <a:chExt cx="5597595" cy="2692400"/>
          </a:xfrm>
        </p:grpSpPr>
        <p:pic>
          <p:nvPicPr>
            <p:cNvPr id="6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sp>
        <p:nvSpPr>
          <p:cNvPr id="6999" name="Physical examples"/>
          <p:cNvSpPr/>
          <p:nvPr/>
        </p:nvSpPr>
        <p:spPr>
          <a:xfrm>
            <a:off x="584200" y="3708400"/>
            <a:ext cx="2921000" cy="203200"/>
          </a:xfrm>
          <a:prstGeom prst="rect">
            <a:avLst/>
          </a:prstGeom>
          <a:noFill/>
          <a:ln>
            <a:noFill/>
          </a:ln>
        </p:spPr>
        <p:txBody>
          <a:bodyPr wrap="none" lIns="0" tIns="0" rIns="0" bIns="0" anchor="ctr">
            <a:noAutofit/>
          </a:bodyPr>
          <a:lstStyle/>
          <a:p>
            <a:pPr algn="ctr">
              <a:buNone/>
            </a:pPr>
            <a:r>
              <a:rPr lang="en-GB" sz="1100" b="0" i="0" u="none" baseline="0">
                <a:solidFill>
                  <a:srgbClr val="FFFFFF"/>
                </a:solidFill>
                <a:latin typeface="Aptos"/>
                <a:ea typeface="Aptos"/>
                <a:cs typeface="Aptos"/>
              </a:rPr>
              <a:t>STN–GPe · ASML · Canon</a:t>
            </a:r>
            <a:endParaRPr sz="1100"/>
          </a:p>
        </p:txBody>
      </p:sp>
      <p:pic>
        <p:nvPicPr>
          <p:cNvPr id="6039" name="Original TUe logo"/>
          <p:cNvPicPr>
            <a:picLocks noChangeAspect="1"/>
          </p:cNvPicPr>
          <p:nvPr/>
        </p:nvPicPr>
        <p:blipFill>
          <a:blip r:embed="rId16"/>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909451713"/>
      </p:ext>
    </p:extLst>
  </p:cSld>
  <p:clrMapOvr>
    <a:masterClrMapping/>
  </p:clrMapOvr>
  <mc:AlternateContent xmlns:mc="http://schemas.openxmlformats.org/markup-compatibility/2006">
    <mc:Choice xmlns:p14="http://schemas.microsoft.com/office/powerpoint/2010/main" Requires="p14">
      <p:transition spd="slow" p14:dur="800">
        <p:fade thruBlk="1"/>
      </p:transition>
    </mc:Choice>
    <mc:Fallback>
      <p:transition spd="slow">
        <p:fade thruBlk="1"/>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979</Paragraphs>
  <Slides>53</Slides>
  <Notes>37</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30</cp:revision>
  <dcterms:created xsi:type="dcterms:W3CDTF">2019-11-27T15:26:32Z</dcterms:created>
  <dcterms:modified xsi:type="dcterms:W3CDTF">2026-09-27T10:54:45Z</dcterms:modified>
</cp:coreProperties>
</file>