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notesSlides/notesSlide37.xml" ContentType="application/vnd.openxmlformats-officedocument.presentationml.notesSlide+xml"/>
  <Override PartName="/ppt/notesSlides/notesSlide38.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5"/>
  </p:notesMasterIdLst>
  <p:sldIdLst>
    <p:sldId id="404" r:id="rId21"/>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81919"/>
    <a:srgbClr val="530505"/>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8" autoAdjust="0"/>
    <p:restoredTop sz="85122" autoAdjust="0"/>
  </p:normalViewPr>
  <p:slideViewPr>
    <p:cSldViewPr snapToGrid="0" showGuides="1">
      <p:cViewPr varScale="1">
        <p:scale>
          <a:sx n="108" d="100"/>
          <a:sy n="108" d="100"/>
        </p:scale>
        <p:origin x="588" y="64"/>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Show only the starting nominal homogeneous ODE-PDE and the final PIE, with no derivation or substitution on screen. Set w=0 and u=0 in the nominal STN-GPe block: tau_S xdot_S=-x_S, tau_G xdot_G=-x_G; partial_t phi_ij=-tau_ij^{-1}partial_s phi_ij and phi_ij(t,0)=x_i(t). Channels are GS,SG,GG. The final compact form is T xdot_f=A x_f. Boundary conditions are built into T. For technical reference only: x_f=(x,partial_s phi), T reconstructs the compatible PDE state. Initial histories must match.</a:t>
            </a:r>
            <a:endParaRPr sz="1200"/>
          </a:p>
        </p:txBody>
      </p:sp>
    </p:spTree>
  </p:cSld>
  <p:clrMapOvr>
    <a:masterClrMapping/>
  </p:clrMapOvr>
</p:notes>
</file>

<file path=ppt/notesSlides/notesSlide16.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7.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Highlight the original controller-synthesis property. Synthesis is carried out in PIE coordinates; the corresponding controller is implemented in the original system. The displayed K is a generic controller block, not a claim that arbitrary output-feedback synthesis is convex.</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27</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33</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34</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35</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48</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49</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50</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53</a:t>
            </a:fld>
            <a:endParaRPr lang="en-GB"/>
          </a:p>
        </p:txBody>
      </p:sp>
    </p:spTree>
    <p:extLst>
      <p:ext uri="{BB962C8B-B14F-4D97-AF65-F5344CB8AC3E}">
        <p14:creationId xmlns:p14="http://schemas.microsoft.com/office/powerpoint/2010/main" val="4039284536"/>
      </p:ext>
    </p:extLst>
  </p:cSld>
  <p:clrMapOvr>
    <a:masterClrMapping/>
  </p:clrMapOvr>
</p:notes>
</file>

<file path=ppt/notesSlides/notesSlide37.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First pillar: exact PIE modeling plus PI-operator optimization provides tractability for the nominal distributed dynamics. The two diagrams and three application images keep exactly the same positions as slide 25. Morph preserves this visual bridge while the first-pillar conclusion appears and Delta becomes the next focus. Next we need a way to account for the nonlinearity/uncertainty and robust stability/performance; later duality enables the synthesis argument. This is not a claim that replacing PDE by PIE already solves the full uncertain nonlinear control problem.</a:t>
            </a:r>
            <a:endParaRPr sz="1200"/>
          </a:p>
        </p:txBody>
      </p:sp>
    </p:spTree>
  </p:cSld>
  <p:clrMapOvr>
    <a:masterClrMapping/>
  </p:clrMapOvr>
</p:notes>
</file>

<file path=ppt/notesSlides/notesSlide38.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RevisedLFR120" Type="http://schemas.openxmlformats.org/officeDocument/2006/relationships/image" Target="../media/revised_lfr19_lfr19_image76.png"/><Relationship Id="rIdRevisedLFR125" Type="http://schemas.openxmlformats.org/officeDocument/2006/relationships/image" Target="../media/revised_lfr19_image97.png"/><Relationship Id="rId3" Type="http://schemas.openxmlformats.org/officeDocument/2006/relationships/image" Target="../media/image1.png"/><Relationship Id="rIdRevisedLFR108" Type="http://schemas.openxmlformats.org/officeDocument/2006/relationships/image" Target="../media/revised_lfr19_lfr19_image55.png"/><Relationship Id="rIdRevisedLFR124" Type="http://schemas.openxmlformats.org/officeDocument/2006/relationships/image" Target="../media/revised_lfr19_lfr19_image78.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RevisedLFR107" Type="http://schemas.openxmlformats.org/officeDocument/2006/relationships/image" Target="../media/revised_lfr19_lfr19_image81.png"/><Relationship Id="rId7" Type="http://schemas.openxmlformats.org/officeDocument/2006/relationships/image" Target="../media/image7.jp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RevisedLFR101" Type="http://schemas.openxmlformats.org/officeDocument/2006/relationships/image" Target="../media/revised_lfr19_lfr19_image35.png"/><Relationship Id="rIdRevisedLFR127" Type="http://schemas.openxmlformats.org/officeDocument/2006/relationships/image" Target="../media/revised_lfr19_lfr19_image74.png"/><Relationship Id="rIdRevisedLFR106" Type="http://schemas.openxmlformats.org/officeDocument/2006/relationships/image" Target="../media/revised_lfr19_lfr19_image75.png"/><Relationship Id="rIdRevisedLFR114" Type="http://schemas.openxmlformats.org/officeDocument/2006/relationships/image" Target="../media/revised_lfr19_lfr19_image80.png"/><Relationship Id="rIdRevisedLFR119" Type="http://schemas.openxmlformats.org/officeDocument/2006/relationships/image" Target="../media/revised_lfr19_image74.png"/><Relationship Id="rId6" Type="http://schemas.openxmlformats.org/officeDocument/2006/relationships/image" Target="../media/image71.jpeg"/><Relationship Id="rIdRevisedLFR122" Type="http://schemas.openxmlformats.org/officeDocument/2006/relationships/image" Target="../media/revised_lfr19_lfr19_image71.png"/><Relationship Id="rId5" Type="http://schemas.openxmlformats.org/officeDocument/2006/relationships/image" Target="../media/image70.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RevisedLFR121" Type="http://schemas.openxmlformats.org/officeDocument/2006/relationships/image" Target="../media/revised_lfr19_image103.png"/><Relationship Id="rId4" Type="http://schemas.openxmlformats.org/officeDocument/2006/relationships/image" Target="../media/image54.png"/><Relationship Id="rIdRevisedLFR117" Type="http://schemas.openxmlformats.org/officeDocument/2006/relationships/image" Target="../media/revised_lfr19_lfr19_image70.png"/><Relationship Id="rIdRevisedLFR109" Type="http://schemas.openxmlformats.org/officeDocument/2006/relationships/image" Target="../media/revised_lfr19_lfr19_image79.png"/><Relationship Id="rIdRevisedLFR104" Type="http://schemas.openxmlformats.org/officeDocument/2006/relationships/image" Target="../media/revised_lfr19_image70.png"/></Relationships>
</file>

<file path=ppt/slides/_rels/slide20.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6.xml"/><Relationship Id="rIdExtract3" Type="http://schemas.openxmlformats.org/officeDocument/2006/relationships/image" Target="../media/revised_lfr19_image96.png"/><Relationship Id="rIdExtract4" Type="http://schemas.openxmlformats.org/officeDocument/2006/relationships/image" Target="../media/revised_lfr19_image97.png"/><Relationship Id="rIdExtract5" Type="http://schemas.openxmlformats.org/officeDocument/2006/relationships/image" Target="../media/revised_lfr19_image74.png"/><Relationship Id="rIdExtract6" Type="http://schemas.openxmlformats.org/officeDocument/2006/relationships/image" Target="../media/revised_lfr19_image100.png"/><Relationship Id="rIdExtract7" Type="http://schemas.openxmlformats.org/officeDocument/2006/relationships/image" Target="../media/revised_lfr19_image101.png"/><Relationship Id="rIdExtract8" Type="http://schemas.openxmlformats.org/officeDocument/2006/relationships/image" Target="../media/revised_lfr19_image102.png"/><Relationship Id="rIdExtract9" Type="http://schemas.openxmlformats.org/officeDocument/2006/relationships/image" Target="../media/image70.png"/><Relationship Id="rIdExtractFinal100" Type="http://schemas.openxmlformats.org/officeDocument/2006/relationships/image" Target="../media/extraction20_revised_lfr19_image102.png"/><Relationship Id="rIdExtractFinal101" Type="http://schemas.openxmlformats.org/officeDocument/2006/relationships/image" Target="../media/extraction20_image1.png"/><Relationship Id="rIdExtractFinal102" Type="http://schemas.openxmlformats.org/officeDocument/2006/relationships/image" Target="../media/extraction20_revised_lfr19_image96.png"/><Relationship Id="rIdExtractFinal103" Type="http://schemas.openxmlformats.org/officeDocument/2006/relationships/image" Target="../media/extraction20_revised_lfr19_image101.png"/><Relationship Id="rIdExtractFinal106" Type="http://schemas.openxmlformats.org/officeDocument/2006/relationships/image" Target="../media/extraction20_revised_lfr19_image100.png"/><Relationship Id="rIdExtractFinal107" Type="http://schemas.openxmlformats.org/officeDocument/2006/relationships/image" Target="../media/extraction20_revised_lfr19_image74.png"/><Relationship Id="rIdExtractFinal108" Type="http://schemas.openxmlformats.org/officeDocument/2006/relationships/image" Target="../media/extraction20_revised_lfr19_image97.png"/><Relationship Id="rIdExtractFinal109" Type="http://schemas.openxmlformats.org/officeDocument/2006/relationships/image" Target="../media/extraction20_image70.png"/></Relationships>
</file>

<file path=ppt/slides/_rels/slide21.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5.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6.xml.rels><?xml version="1.0" encoding="utf-8"?><Relationships xmlns="http://schemas.openxmlformats.org/package/2006/relationships"><Relationship Id="rId8" Type="http://schemas.openxmlformats.org/officeDocument/2006/relationships/image" Target="../media/image78.png"/><Relationship Id="rId13" Type="http://schemas.openxmlformats.org/officeDocument/2006/relationships/image" Target="../media/image83.png"/><Relationship Id="rIdRevisedLFR129" Type="http://schemas.openxmlformats.org/officeDocument/2006/relationships/image" Target="../media/revised_lfr19_image96.png"/><Relationship Id="rId3" Type="http://schemas.openxmlformats.org/officeDocument/2006/relationships/image" Target="../media/image73.png"/><Relationship Id="rIdRevisedLFR108" Type="http://schemas.openxmlformats.org/officeDocument/2006/relationships/image" Target="../media/revised_lfr19_lfr19_image55.png"/><Relationship Id="rId7" Type="http://schemas.openxmlformats.org/officeDocument/2006/relationships/image" Target="../media/image77.png"/><Relationship Id="rId12" Type="http://schemas.openxmlformats.org/officeDocument/2006/relationships/image" Target="../media/image82.png"/><Relationship Id="rId2" Type="http://schemas.openxmlformats.org/officeDocument/2006/relationships/image" Target="../media/image72.png"/><Relationship Id="rIdRevisedLFR128" Type="http://schemas.openxmlformats.org/officeDocument/2006/relationships/image" Target="../media/revised_lfr19_image102.png"/><Relationship Id="rId16" Type="http://schemas.openxmlformats.org/officeDocument/2006/relationships/image" Target="../media/image7.jpg"/><Relationship Id="rId1" Type="http://schemas.openxmlformats.org/officeDocument/2006/relationships/slideLayout" Target="../slideLayouts/slideLayout6.xml"/><Relationship Id="rId6" Type="http://schemas.openxmlformats.org/officeDocument/2006/relationships/image" Target="../media/image76.png"/><Relationship Id="rId11" Type="http://schemas.openxmlformats.org/officeDocument/2006/relationships/image" Target="../media/image81.png"/><Relationship Id="rIdRevisedLFR101" Type="http://schemas.openxmlformats.org/officeDocument/2006/relationships/image" Target="../media/revised_lfr19_lfr19_image35.png"/><Relationship Id="rId5" Type="http://schemas.openxmlformats.org/officeDocument/2006/relationships/image" Target="../media/image75.png"/><Relationship Id="rId15" Type="http://schemas.openxmlformats.org/officeDocument/2006/relationships/image" Target="../media/image85.jpeg"/><Relationship Id="rId10" Type="http://schemas.openxmlformats.org/officeDocument/2006/relationships/image" Target="../media/image80.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4" Type="http://schemas.openxmlformats.org/officeDocument/2006/relationships/image" Target="../media/image74.png"/><Relationship Id="rId9" Type="http://schemas.openxmlformats.org/officeDocument/2006/relationships/image" Target="../media/image79.png"/><Relationship Id="rId14" Type="http://schemas.openxmlformats.org/officeDocument/2006/relationships/image" Target="../media/image84.png"/><Relationship Id="rIdPillar22" Type="http://schemas.openxmlformats.org/officeDocument/2006/relationships/image" Target="../media/image54.png"/><Relationship Id="rIdPillar23" Type="http://schemas.openxmlformats.org/officeDocument/2006/relationships/image" Target="../media/image1.png"/><Relationship Id="rIdHeatNotes" Type="http://schemas.openxmlformats.org/officeDocument/2006/relationships/notesSlide" Target="../notesSlides/notesSlide3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6.mp4"/><Relationship Id="rId16" Type="http://schemas.openxmlformats.org/officeDocument/2006/relationships/image" Target="../media/image701.png"/><Relationship Id="rId1" Type="http://schemas.microsoft.com/office/2007/relationships/media" Target="../media/media6.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86.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29.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7.mp4"/><Relationship Id="rIdEditable107" Type="http://schemas.openxmlformats.org/officeDocument/2006/relationships/image" Target="../media/editable_385_image159.png"/><Relationship Id="rId1" Type="http://schemas.microsoft.com/office/2007/relationships/media" Target="../media/media7.mp4"/><Relationship Id="rIdEditable102" Type="http://schemas.openxmlformats.org/officeDocument/2006/relationships/image" Target="../media/editable_380_image155.png"/><Relationship Id="rId6" Type="http://schemas.openxmlformats.org/officeDocument/2006/relationships/image" Target="../media/image721.png"/><Relationship Id="rId5" Type="http://schemas.openxmlformats.org/officeDocument/2006/relationships/image" Target="../media/image87.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21.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30.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8.mp4"/><Relationship Id="rId1" Type="http://schemas.microsoft.com/office/2007/relationships/media" Target="../media/media8.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88.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22.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31.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89.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23.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32.xml.rels><?xml version="1.0" encoding="UTF-8" standalone="yes"?>
<Relationships xmlns="http://schemas.openxmlformats.org/package/2006/relationships"><Relationship Id="rId3" Type="http://schemas.openxmlformats.org/officeDocument/2006/relationships/image" Target="../media/image90.png"/><Relationship Id="rId12" Type="http://schemas.openxmlformats.org/officeDocument/2006/relationships/image" Target="../media/image341.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91.png"/></Relationships>
</file>

<file path=ppt/slides/_rels/slide33.xml.rels><?xml version="1.0" encoding="UTF-8" standalone="yes"?>
<Relationships xmlns="http://schemas.openxmlformats.org/package/2006/relationships"><Relationship Id="rId3" Type="http://schemas.openxmlformats.org/officeDocument/2006/relationships/image" Target="../media/image90.png"/><Relationship Id="rId12" Type="http://schemas.openxmlformats.org/officeDocument/2006/relationships/image" Target="../media/image381.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92.png"/></Relationships>
</file>

<file path=ppt/slides/_rels/slide34.xml.rels><?xml version="1.0" encoding="UTF-8" standalone="yes"?>
<Relationships xmlns="http://schemas.openxmlformats.org/package/2006/relationships"><Relationship Id="rId3" Type="http://schemas.openxmlformats.org/officeDocument/2006/relationships/image" Target="../media/image90.png"/><Relationship Id="rId12" Type="http://schemas.openxmlformats.org/officeDocument/2006/relationships/image" Target="../media/image40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93.png"/></Relationships>
</file>

<file path=ppt/slides/_rels/slide35.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94.png"/></Relationships>
</file>

<file path=ppt/slides/_rels/slide36.xml.rels><?xml version="1.0" encoding="UTF-8" standalone="yes"?>
<Relationships xmlns="http://schemas.openxmlformats.org/package/2006/relationships"><Relationship Id="rId13" Type="http://schemas.openxmlformats.org/officeDocument/2006/relationships/image" Target="../media/image342.png"/><Relationship Id="rId12" Type="http://schemas.openxmlformats.org/officeDocument/2006/relationships/image" Target="../media/image331.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4" Type="http://schemas.openxmlformats.org/officeDocument/2006/relationships/image" Target="../media/image960.png"/><Relationship Id="rId14" Type="http://schemas.openxmlformats.org/officeDocument/2006/relationships/image" Target="../media/image352.png"/></Relationships>
</file>

<file path=ppt/slides/_rels/slide37.xml.rels><?xml version="1.0" encoding="UTF-8" standalone="yes"?>
<Relationships xmlns="http://schemas.openxmlformats.org/package/2006/relationships"><Relationship Id="rId8" Type="http://schemas.openxmlformats.org/officeDocument/2006/relationships/image" Target="../media/image460.png"/><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38.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39.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11" Type="http://schemas.openxmlformats.org/officeDocument/2006/relationships/image" Target="../media/image95.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0.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1.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2.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96.png"/><Relationship Id="rIdClosing4" Type="http://schemas.openxmlformats.org/officeDocument/2006/relationships/image" Target="../media/image33.png"/><Relationship Id="rId4" Type="http://schemas.openxmlformats.org/officeDocument/2006/relationships/image" Target="../media/image7.jpg"/></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6.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47.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48.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49.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0.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33.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98.png"/></Relationships>
</file>

<file path=ppt/slides/_rels/slide51.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97.png"/><Relationship Id="rId2" Type="http://schemas.openxmlformats.org/officeDocument/2006/relationships/notesSlide" Target="../notesSlides/notesSlide34.xml"/><Relationship Id="rId1" Type="http://schemas.openxmlformats.org/officeDocument/2006/relationships/slideLayout" Target="../slideLayouts/slideLayout12.xml"/><Relationship Id="rId4" Type="http://schemas.openxmlformats.org/officeDocument/2006/relationships/image" Target="../media/image99.png"/></Relationships>
</file>

<file path=ppt/slides/_rels/slide5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35.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00.png"/></Relationships>
</file>

<file path=ppt/slides/_rels/slide53.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36.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01.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xmlns:m="http://schemas.openxmlformats.org/officeDocument/2006/math">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3"/>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38200" y="2743200"/>
            <a:ext cx="7467600" cy="1524000"/>
            <a:chOff x="838200" y="2743200"/>
            <a:chExt cx="7467600" cy="1524000"/>
          </a:xfrm>
        </p:grpSpPr>
        <mc:AlternateContent xmlns:mc="http://schemas.openxmlformats.org/markup-compatibility/2006" xmlns:a14="http://schemas.microsoft.com/office/drawing/2010/main">
          <mc:Choice Requires="a14">
            <p:sp>
              <p:nvSpPr>
                <p:cNvPr id="20010" name="Delay dynamics S"/>
                <p:cNvSpPr/>
                <p:nvPr/>
              </p:nvSpPr>
              <p:spPr>
                <a:xfrm>
                  <a:off x="1333500" y="2759710"/>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m="http://schemas.openxmlformats.org/officeDocument/2006/math" xmlns="">
            <p:sp>
              <p:nvSpPr>
                <p:cNvPr id="20010" name="Delay dynamics S"/>
                <p:cNvSpPr>
                  <a:spLocks noRot="1" noChangeAspect="1" noMove="1" noResize="1" noEditPoints="1" noAdjustHandles="1" noChangeArrowheads="1" noChangeShapeType="1" noTextEdit="1"/>
                </p:cNvSpPr>
                <p:nvPr/>
              </p:nvSpPr>
              <p:spPr>
                <a:xfrm>
                  <a:off x="1333500" y="2759710"/>
                  <a:ext cx="6477000" cy="525780"/>
                </a:xfrm>
                <a:prstGeom prst="rect">
                  <a:avLst/>
                </a:prstGeom>
                <a:blipFill>
                  <a:blip r:embed="rIdRevisedLFR1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952500" y="303911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m="http://schemas.openxmlformats.org/officeDocument/2006/math" xmlns="">
            <p:sp>
              <p:nvSpPr>
                <p:cNvPr id="20011" name="Delay dynamics G"/>
                <p:cNvSpPr>
                  <a:spLocks noRot="1" noChangeAspect="1" noMove="1" noResize="1" noEditPoints="1" noAdjustHandles="1" noChangeArrowheads="1" noChangeShapeType="1" noTextEdit="1"/>
                </p:cNvSpPr>
                <p:nvPr/>
              </p:nvSpPr>
              <p:spPr>
                <a:xfrm>
                  <a:off x="952500" y="3039110"/>
                  <a:ext cx="7239000" cy="525780"/>
                </a:xfrm>
                <a:prstGeom prst="rect">
                  <a:avLst/>
                </a:prstGeom>
                <a:blipFill>
                  <a:blip r:embed="rIdRevisedLFR1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7810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4" name="State dynamics left G"/>
                <p:cNvSpPr>
                  <a:spLocks noRot="1" noChangeAspect="1" noMove="1" noResize="1" noEditPoints="1" noAdjustHandles="1" noChangeArrowheads="1" noChangeShapeType="1" noTextEdit="1"/>
                </p:cNvSpPr>
                <p:nvPr/>
              </p:nvSpPr>
              <p:spPr>
                <a:xfrm>
                  <a:off x="2578100" y="3699510"/>
                  <a:ext cx="1371600" cy="525780"/>
                </a:xfrm>
                <a:prstGeom prst="rect">
                  <a:avLst/>
                </a:prstGeom>
                <a:blipFill>
                  <a:blip r:embed="rIdRevisedLFR1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711700" y="3086100"/>
            <a:ext cx="3937000" cy="1117600"/>
            <a:chOff x="330200" y="3048000"/>
            <a:chExt cx="3937000" cy="1117600"/>
          </a:xfrm>
        </p:grpSpPr>
        <mc:AlternateContent xmlns:mc="http://schemas.openxmlformats.org/markup-compatibility/2006" xmlns:a14="http://schemas.microsoft.com/office/drawing/2010/main">
          <mc:Choice Requires="a14">
            <p:sp>
              <p:nvSpPr>
                <p:cNvPr id="20019" name="Nominal delay relation S"/>
                <p:cNvSpPr/>
                <p:nvPr/>
              </p:nvSpPr>
              <p:spPr>
                <a:xfrm>
                  <a:off x="330200" y="3063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m="http://schemas.openxmlformats.org/officeDocument/2006/math" xmlns="">
            <p:sp>
              <p:nvSpPr>
                <p:cNvPr id="20019" name="Nominal delay relation S"/>
                <p:cNvSpPr>
                  <a:spLocks noRot="1" noChangeAspect="1" noMove="1" noResize="1" noEditPoints="1" noAdjustHandles="1" noChangeArrowheads="1" noChangeShapeType="1" noTextEdit="1"/>
                </p:cNvSpPr>
                <p:nvPr/>
              </p:nvSpPr>
              <p:spPr>
                <a:xfrm>
                  <a:off x="330200" y="3063240"/>
                  <a:ext cx="3937000" cy="350520"/>
                </a:xfrm>
                <a:prstGeom prst="rect">
                  <a:avLst/>
                </a:prstGeom>
                <a:blipFill>
                  <a:blip r:embed="rIdRevisedLFR1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30200" y="32918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m="http://schemas.openxmlformats.org/officeDocument/2006/math" xmlns="">
            <p:sp>
              <p:nvSpPr>
                <p:cNvPr id="20020" name="Nominal delay relation G"/>
                <p:cNvSpPr>
                  <a:spLocks noRot="1" noChangeAspect="1" noMove="1" noResize="1" noEditPoints="1" noAdjustHandles="1" noChangeArrowheads="1" noChangeShapeType="1" noTextEdit="1"/>
                </p:cNvSpPr>
                <p:nvPr/>
              </p:nvSpPr>
              <p:spPr>
                <a:xfrm>
                  <a:off x="330200" y="3291840"/>
                  <a:ext cx="3937000" cy="350520"/>
                </a:xfrm>
                <a:prstGeom prst="rect">
                  <a:avLst/>
                </a:prstGeom>
                <a:blipFill>
                  <a:blip r:embed="rIdRevisedLFR10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330200" y="3571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m="http://schemas.openxmlformats.org/officeDocument/2006/math" xmlns="">
            <p:sp>
              <p:nvSpPr>
                <p:cNvPr id="20021" name="Nominal state equation S"/>
                <p:cNvSpPr>
                  <a:spLocks noRot="1" noChangeAspect="1" noMove="1" noResize="1" noEditPoints="1" noAdjustHandles="1" noChangeArrowheads="1" noChangeShapeType="1" noTextEdit="1"/>
                </p:cNvSpPr>
                <p:nvPr/>
              </p:nvSpPr>
              <p:spPr>
                <a:xfrm>
                  <a:off x="330200" y="3571240"/>
                  <a:ext cx="3937000" cy="350520"/>
                </a:xfrm>
                <a:prstGeom prst="rect">
                  <a:avLst/>
                </a:prstGeom>
                <a:blipFill>
                  <a:blip r:embed="rIdRevisedLFR1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330200" y="38125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m="http://schemas.openxmlformats.org/officeDocument/2006/math" xmlns="">
            <p:sp>
              <p:nvSpPr>
                <p:cNvPr id="20022" name="Nominal state equation G"/>
                <p:cNvSpPr>
                  <a:spLocks noRot="1" noChangeAspect="1" noMove="1" noResize="1" noEditPoints="1" noAdjustHandles="1" noChangeArrowheads="1" noChangeShapeType="1" noTextEdit="1"/>
                </p:cNvSpPr>
                <p:nvPr/>
              </p:nvSpPr>
              <p:spPr>
                <a:xfrm>
                  <a:off x="330200" y="3812540"/>
                  <a:ext cx="3937000" cy="350520"/>
                </a:xfrm>
                <a:prstGeom prst="rect">
                  <a:avLst/>
                </a:prstGeom>
                <a:blipFill>
                  <a:blip r:embed="rIdRevisedLFR107"/>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RevisedLFR121"/>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20076"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a:t>
            </a:r>
            <a:endParaRPr sz="2500" dirty="0"/>
          </a:p>
        </p:txBody>
      </p:sp>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6"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7"/>
          <a:stretch>
            <a:fillRect/>
          </a:stretch>
        </p:blipFill>
        <p:spPr>
          <a:xfrm>
            <a:off x="6896100" y="3302000"/>
            <a:ext cx="1778000" cy="871220"/>
          </a:xfrm>
          <a:prstGeom prst="rect">
            <a:avLst/>
          </a:prstGeom>
        </p:spPr>
      </p:pic>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animEffect transition="in" filter="fade">
                                      <p:cBhvr>
                                        <p:cTn id="86" dur="600"/>
                                        <p:tgtEl>
                                          <p:spTgt spid="20079"/>
                                        </p:tgtEl>
                                      </p:cBhvr>
                                    </p:animEffect>
                                  </p:childTnLst>
                                </p:cTn>
                              </p:par>
                              <p:par>
                                <p:cTn id="87" presetID="10" presetClass="entr" presetSubtype="0" fill="hold" nodeType="withEffect">
                                  <p:stCondLst>
                                    <p:cond delay="150"/>
                                  </p:stCondLst>
                                  <p:childTnLst>
                                    <p:set>
                                      <p:cBhvr>
                                        <p:cTn id="88" dur="1" fill="hold">
                                          <p:stCondLst>
                                            <p:cond delay="0"/>
                                          </p:stCondLst>
                                        </p:cTn>
                                        <p:tgtEl>
                                          <p:spTgt spid="20080"/>
                                        </p:tgtEl>
                                        <p:attrNameLst>
                                          <p:attrName>style.visibility</p:attrName>
                                        </p:attrNameLst>
                                      </p:cBhvr>
                                      <p:to>
                                        <p:strVal val="visible"/>
                                      </p:to>
                                    </p:set>
                                    <p:animEffect transition="in" filter="fade">
                                      <p:cBhvr>
                                        <p:cTn id="89" dur="600"/>
                                        <p:tgtEl>
                                          <p:spTgt spid="20080"/>
                                        </p:tgtEl>
                                      </p:cBhvr>
                                    </p:animEffect>
                                  </p:childTnLst>
                                </p:cTn>
                              </p:par>
                              <p:par>
                                <p:cTn id="90" presetID="10" presetClass="entr" presetSubtype="0" fill="hold" grpId="0" nodeType="withEffect">
                                  <p:stCondLst>
                                    <p:cond delay="150"/>
                                  </p:stCondLst>
                                  <p:childTnLst>
                                    <p:set>
                                      <p:cBhvr>
                                        <p:cTn id="91" dur="1" fill="hold">
                                          <p:stCondLst>
                                            <p:cond delay="0"/>
                                          </p:stCondLst>
                                        </p:cTn>
                                        <p:tgtEl>
                                          <p:spTgt spid="20081"/>
                                        </p:tgtEl>
                                        <p:attrNameLst>
                                          <p:attrName>style.visibility</p:attrName>
                                        </p:attrNameLst>
                                      </p:cBhvr>
                                      <p:to>
                                        <p:strVal val="visible"/>
                                      </p:to>
                                    </p:set>
                                    <p:animEffect transition="in" filter="fade">
                                      <p:cBhvr>
                                        <p:cTn id="92" dur="600"/>
                                        <p:tgtEl>
                                          <p:spTgt spid="20081"/>
                                        </p:tgtEl>
                                      </p:cBhvr>
                                    </p:animEffect>
                                  </p:childTnLst>
                                </p:cTn>
                              </p:par>
                              <p:par>
                                <p:cTn id="93" presetID="10" presetClass="entr" presetSubtype="0" fill="hold" grpId="0" nodeType="withEffect">
                                  <p:stCondLst>
                                    <p:cond delay="150"/>
                                  </p:stCondLst>
                                  <p:childTnLst>
                                    <p:set>
                                      <p:cBhvr>
                                        <p:cTn id="94" dur="1" fill="hold">
                                          <p:stCondLst>
                                            <p:cond delay="0"/>
                                          </p:stCondLst>
                                        </p:cTn>
                                        <p:tgtEl>
                                          <p:spTgt spid="20082"/>
                                        </p:tgtEl>
                                        <p:attrNameLst>
                                          <p:attrName>style.visibility</p:attrName>
                                        </p:attrNameLst>
                                      </p:cBhvr>
                                      <p:to>
                                        <p:strVal val="visible"/>
                                      </p:to>
                                    </p:set>
                                    <p:animEffect transition="in" filter="fade">
                                      <p:cBhvr>
                                        <p:cTn id="95" dur="600"/>
                                        <p:tgtEl>
                                          <p:spTgt spid="20082"/>
                                        </p:tgtEl>
                                      </p:cBhvr>
                                    </p:animEffect>
                                  </p:childTnLst>
                                </p:cTn>
                              </p:par>
                              <p:par>
                                <p:cTn id="96" presetID="10" presetClass="entr" presetSubtype="0" fill="hold" grpId="0" nodeType="withEffect">
                                  <p:stCondLst>
                                    <p:cond delay="150"/>
                                  </p:stCondLst>
                                  <p:childTnLst>
                                    <p:set>
                                      <p:cBhvr>
                                        <p:cTn id="97" dur="1" fill="hold">
                                          <p:stCondLst>
                                            <p:cond delay="0"/>
                                          </p:stCondLst>
                                        </p:cTn>
                                        <p:tgtEl>
                                          <p:spTgt spid="20083"/>
                                        </p:tgtEl>
                                        <p:attrNameLst>
                                          <p:attrName>style.visibility</p:attrName>
                                        </p:attrNameLst>
                                      </p:cBhvr>
                                      <p:to>
                                        <p:strVal val="visible"/>
                                      </p:to>
                                    </p:set>
                                    <p:animEffect transition="in" filter="fade">
                                      <p:cBhvr>
                                        <p:cTn id="98" dur="600"/>
                                        <p:tgtEl>
                                          <p:spTgt spid="20083"/>
                                        </p:tgtEl>
                                      </p:cBhvr>
                                    </p:animEffect>
                                  </p:childTnLst>
                                </p:cTn>
                              </p:par>
                              <p:par>
                                <p:cTn id="99" presetID="10" presetClass="entr" presetSubtype="0" fill="hold" nodeType="withEffect">
                                  <p:stCondLst>
                                    <p:cond delay="150"/>
                                  </p:stCondLst>
                                  <p:childTnLst>
                                    <p:set>
                                      <p:cBhvr>
                                        <p:cTn id="100" dur="1" fill="hold">
                                          <p:stCondLst>
                                            <p:cond delay="0"/>
                                          </p:stCondLst>
                                        </p:cTn>
                                        <p:tgtEl>
                                          <p:spTgt spid="20088"/>
                                        </p:tgtEl>
                                        <p:attrNameLst>
                                          <p:attrName>style.visibility</p:attrName>
                                        </p:attrNameLst>
                                      </p:cBhvr>
                                      <p:to>
                                        <p:strVal val="visible"/>
                                      </p:to>
                                    </p:set>
                                    <p:animEffect transition="in" filter="fade">
                                      <p:cBhvr>
                                        <p:cTn id="101" dur="600"/>
                                        <p:tgtEl>
                                          <p:spTgt spid="20088"/>
                                        </p:tgtEl>
                                      </p:cBhvr>
                                    </p:animEffect>
                                  </p:childTnLst>
                                </p:cTn>
                              </p:par>
                              <p:par>
                                <p:cTn id="102" presetID="10" presetClass="exit" presetSubtype="0" fill="hold" grpId="1" nodeType="withEffect">
                                  <p:stCondLst>
                                    <p:cond delay="0"/>
                                  </p:stCondLst>
                                  <p:childTnLst>
                                    <p:animEffect transition="out" filter="fade">
                                      <p:cBhvr>
                                        <p:cTn id="103" dur="300"/>
                                        <p:tgtEl>
                                          <p:spTgt spid="20098"/>
                                        </p:tgtEl>
                                      </p:cBhvr>
                                    </p:animEffect>
                                    <p:set>
                                      <p:cBhvr>
                                        <p:cTn id="104" dur="1" fill="hold">
                                          <p:stCondLst>
                                            <p:cond delay="299"/>
                                          </p:stCondLst>
                                        </p:cTn>
                                        <p:tgtEl>
                                          <p:spTgt spid="20098"/>
                                        </p:tgtEl>
                                        <p:attrNameLst>
                                          <p:attrName>style.visibility</p:attrName>
                                        </p:attrNameLst>
                                      </p:cBhvr>
                                      <p:to>
                                        <p:strVal val="hidden"/>
                                      </p:to>
                                    </p:set>
                                  </p:childTnLst>
                                </p:cTn>
                              </p:par>
                            </p:childTnLst>
                          </p:cTn>
                        </p:par>
                      </p:childTnLst>
                    </p:cTn>
                  </p:par>
                  <p:par>
                    <p:cTn id="105" fill="hold">
                      <p:stCondLst>
                        <p:cond delay="indefinite"/>
                      </p:stCondLst>
                      <p:childTnLst>
                        <p:par>
                          <p:cTn id="106" fill="hold">
                            <p:stCondLst>
                              <p:cond delay="0"/>
                            </p:stCondLst>
                            <p:childTnLst>
                              <p:par>
                                <p:cTn id="107" presetID="10" presetClass="exit" presetSubtype="0" fill="hold" nodeType="clickEffect">
                                  <p:stCondLst>
                                    <p:cond delay="0"/>
                                  </p:stCondLst>
                                  <p:childTnLst>
                                    <p:animEffect transition="out" filter="fade">
                                      <p:cBhvr>
                                        <p:cTn id="108" dur="500"/>
                                        <p:tgtEl>
                                          <p:spTgt spid="20001"/>
                                        </p:tgtEl>
                                      </p:cBhvr>
                                    </p:animEffect>
                                    <p:set>
                                      <p:cBhvr>
                                        <p:cTn id="109" dur="1" fill="hold">
                                          <p:stCondLst>
                                            <p:cond delay="499"/>
                                          </p:stCondLst>
                                        </p:cTn>
                                        <p:tgtEl>
                                          <p:spTgt spid="20001"/>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500"/>
                                        <p:tgtEl>
                                          <p:spTgt spid="20079"/>
                                        </p:tgtEl>
                                      </p:cBhvr>
                                    </p:animEffect>
                                    <p:set>
                                      <p:cBhvr>
                                        <p:cTn id="112" dur="1" fill="hold">
                                          <p:stCondLst>
                                            <p:cond delay="499"/>
                                          </p:stCondLst>
                                        </p:cTn>
                                        <p:tgtEl>
                                          <p:spTgt spid="20079"/>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500"/>
                                        <p:tgtEl>
                                          <p:spTgt spid="20080"/>
                                        </p:tgtEl>
                                      </p:cBhvr>
                                    </p:animEffect>
                                    <p:set>
                                      <p:cBhvr>
                                        <p:cTn id="115" dur="1" fill="hold">
                                          <p:stCondLst>
                                            <p:cond delay="499"/>
                                          </p:stCondLst>
                                        </p:cTn>
                                        <p:tgtEl>
                                          <p:spTgt spid="20080"/>
                                        </p:tgtEl>
                                        <p:attrNameLst>
                                          <p:attrName>style.visibility</p:attrName>
                                        </p:attrNameLst>
                                      </p:cBhvr>
                                      <p:to>
                                        <p:strVal val="hidden"/>
                                      </p:to>
                                    </p:set>
                                  </p:childTnLst>
                                </p:cTn>
                              </p:par>
                              <p:par>
                                <p:cTn id="116" presetID="10" presetClass="exit" presetSubtype="0" fill="hold" grpId="1" nodeType="withEffect">
                                  <p:stCondLst>
                                    <p:cond delay="0"/>
                                  </p:stCondLst>
                                  <p:childTnLst>
                                    <p:animEffect transition="out" filter="fade">
                                      <p:cBhvr>
                                        <p:cTn id="117" dur="500"/>
                                        <p:tgtEl>
                                          <p:spTgt spid="20081"/>
                                        </p:tgtEl>
                                      </p:cBhvr>
                                    </p:animEffect>
                                    <p:set>
                                      <p:cBhvr>
                                        <p:cTn id="118" dur="1" fill="hold">
                                          <p:stCondLst>
                                            <p:cond delay="499"/>
                                          </p:stCondLst>
                                        </p:cTn>
                                        <p:tgtEl>
                                          <p:spTgt spid="20081"/>
                                        </p:tgtEl>
                                        <p:attrNameLst>
                                          <p:attrName>style.visibility</p:attrName>
                                        </p:attrNameLst>
                                      </p:cBhvr>
                                      <p:to>
                                        <p:strVal val="hidden"/>
                                      </p:to>
                                    </p:set>
                                  </p:childTnLst>
                                </p:cTn>
                              </p:par>
                              <p:par>
                                <p:cTn id="119" presetID="10" presetClass="exit" presetSubtype="0" fill="hold" grpId="1" nodeType="withEffect">
                                  <p:stCondLst>
                                    <p:cond delay="0"/>
                                  </p:stCondLst>
                                  <p:childTnLst>
                                    <p:animEffect transition="out" filter="fade">
                                      <p:cBhvr>
                                        <p:cTn id="120" dur="500"/>
                                        <p:tgtEl>
                                          <p:spTgt spid="20082"/>
                                        </p:tgtEl>
                                      </p:cBhvr>
                                    </p:animEffect>
                                    <p:set>
                                      <p:cBhvr>
                                        <p:cTn id="121" dur="1" fill="hold">
                                          <p:stCondLst>
                                            <p:cond delay="499"/>
                                          </p:stCondLst>
                                        </p:cTn>
                                        <p:tgtEl>
                                          <p:spTgt spid="20082"/>
                                        </p:tgtEl>
                                        <p:attrNameLst>
                                          <p:attrName>style.visibility</p:attrName>
                                        </p:attrNameLst>
                                      </p:cBhvr>
                                      <p:to>
                                        <p:strVal val="hidden"/>
                                      </p:to>
                                    </p:set>
                                  </p:childTnLst>
                                </p:cTn>
                              </p:par>
                              <p:par>
                                <p:cTn id="122" presetID="10" presetClass="exit" presetSubtype="0" fill="hold" grpId="1" nodeType="withEffect">
                                  <p:stCondLst>
                                    <p:cond delay="0"/>
                                  </p:stCondLst>
                                  <p:childTnLst>
                                    <p:animEffect transition="out" filter="fade">
                                      <p:cBhvr>
                                        <p:cTn id="123" dur="500"/>
                                        <p:tgtEl>
                                          <p:spTgt spid="20083"/>
                                        </p:tgtEl>
                                      </p:cBhvr>
                                    </p:animEffect>
                                    <p:set>
                                      <p:cBhvr>
                                        <p:cTn id="124" dur="1" fill="hold">
                                          <p:stCondLst>
                                            <p:cond delay="499"/>
                                          </p:stCondLst>
                                        </p:cTn>
                                        <p:tgtEl>
                                          <p:spTgt spid="20083"/>
                                        </p:tgtEl>
                                        <p:attrNameLst>
                                          <p:attrName>style.visibility</p:attrName>
                                        </p:attrNameLst>
                                      </p:cBhvr>
                                      <p:to>
                                        <p:strVal val="hidden"/>
                                      </p:to>
                                    </p:set>
                                  </p:childTnLst>
                                </p:cTn>
                              </p:par>
                              <p:par>
                                <p:cTn id="125" presetID="10" presetClass="exit" presetSubtype="0" fill="hold" nodeType="withEffect">
                                  <p:stCondLst>
                                    <p:cond delay="0"/>
                                  </p:stCondLst>
                                  <p:childTnLst>
                                    <p:animEffect transition="out" filter="fade">
                                      <p:cBhvr>
                                        <p:cTn id="126" dur="500"/>
                                        <p:tgtEl>
                                          <p:spTgt spid="20088"/>
                                        </p:tgtEl>
                                      </p:cBhvr>
                                    </p:animEffect>
                                    <p:set>
                                      <p:cBhvr>
                                        <p:cTn id="127" dur="1" fill="hold">
                                          <p:stCondLst>
                                            <p:cond delay="499"/>
                                          </p:stCondLst>
                                        </p:cTn>
                                        <p:tgtEl>
                                          <p:spTgt spid="20088"/>
                                        </p:tgtEl>
                                        <p:attrNameLst>
                                          <p:attrName>style.visibility</p:attrName>
                                        </p:attrNameLst>
                                      </p:cBhvr>
                                      <p:to>
                                        <p:strVal val="hidden"/>
                                      </p:to>
                                    </p:set>
                                  </p:childTnLst>
                                </p:cTn>
                              </p:par>
                              <p:par>
                                <p:cTn id="128" presetID="10" presetClass="exit" presetSubtype="0" fill="hold" nodeType="withEffect">
                                  <p:stCondLst>
                                    <p:cond delay="0"/>
                                  </p:stCondLst>
                                  <p:childTnLst>
                                    <p:animEffect transition="out" filter="fade">
                                      <p:cBhvr>
                                        <p:cTn id="129" dur="500"/>
                                        <p:tgtEl>
                                          <p:spTgt spid="20094"/>
                                        </p:tgtEl>
                                      </p:cBhvr>
                                    </p:animEffect>
                                    <p:set>
                                      <p:cBhvr>
                                        <p:cTn id="130" dur="1" fill="hold">
                                          <p:stCondLst>
                                            <p:cond delay="499"/>
                                          </p:stCondLst>
                                        </p:cTn>
                                        <p:tgtEl>
                                          <p:spTgt spid="20094"/>
                                        </p:tgtEl>
                                        <p:attrNameLst>
                                          <p:attrName>style.visibility</p:attrName>
                                        </p:attrNameLst>
                                      </p:cBhvr>
                                      <p:to>
                                        <p:strVal val="hidden"/>
                                      </p:to>
                                    </p:set>
                                  </p:childTnLst>
                                </p:cTn>
                              </p:par>
                              <p:par>
                                <p:cTn id="131" presetID="10" presetClass="exit" presetSubtype="0" fill="hold" grpId="0" nodeType="withEffect">
                                  <p:stCondLst>
                                    <p:cond delay="0"/>
                                  </p:stCondLst>
                                  <p:childTnLst>
                                    <p:animEffect transition="out" filter="fade">
                                      <p:cBhvr>
                                        <p:cTn id="132" dur="500"/>
                                        <p:tgtEl>
                                          <p:spTgt spid="3"/>
                                        </p:tgtEl>
                                      </p:cBhvr>
                                    </p:animEffect>
                                    <p:set>
                                      <p:cBhvr>
                                        <p:cTn id="133" dur="1" fill="hold">
                                          <p:stCondLst>
                                            <p:cond delay="499"/>
                                          </p:stCondLst>
                                        </p:cTn>
                                        <p:tgtEl>
                                          <p:spTgt spid="3"/>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23"/>
                                        </p:tgtEl>
                                      </p:cBhvr>
                                    </p:animEffect>
                                    <p:set>
                                      <p:cBhvr>
                                        <p:cTn id="136" dur="1" fill="hold">
                                          <p:stCondLst>
                                            <p:cond delay="49"/>
                                          </p:stCondLst>
                                        </p:cTn>
                                        <p:tgtEl>
                                          <p:spTgt spid="20023"/>
                                        </p:tgtEl>
                                        <p:attrNameLst>
                                          <p:attrName>style.visibility</p:attrName>
                                        </p:attrNameLst>
                                      </p:cBhvr>
                                      <p:to>
                                        <p:strVal val="hidden"/>
                                      </p:to>
                                    </p:set>
                                  </p:childTnLst>
                                </p:cTn>
                              </p:par>
                              <p:par>
                                <p:cTn id="137" presetID="10" presetClass="exit" presetSubtype="0" fill="hold" nodeType="withEffect">
                                  <p:stCondLst>
                                    <p:cond delay="50"/>
                                  </p:stCondLst>
                                  <p:childTnLst>
                                    <p:animEffect transition="out" filter="fade">
                                      <p:cBhvr>
                                        <p:cTn id="138" dur="50"/>
                                        <p:tgtEl>
                                          <p:spTgt spid="20027"/>
                                        </p:tgtEl>
                                      </p:cBhvr>
                                    </p:animEffect>
                                    <p:set>
                                      <p:cBhvr>
                                        <p:cTn id="139" dur="1" fill="hold">
                                          <p:stCondLst>
                                            <p:cond delay="49"/>
                                          </p:stCondLst>
                                        </p:cTn>
                                        <p:tgtEl>
                                          <p:spTgt spid="20027"/>
                                        </p:tgtEl>
                                        <p:attrNameLst>
                                          <p:attrName>style.visibility</p:attrName>
                                        </p:attrNameLst>
                                      </p:cBhvr>
                                      <p:to>
                                        <p:strVal val="hidden"/>
                                      </p:to>
                                    </p:set>
                                  </p:childTnLst>
                                </p:cTn>
                              </p:par>
                              <p:par>
                                <p:cTn id="140" presetID="10" presetClass="exit" presetSubtype="0" fill="hold" nodeType="withEffect">
                                  <p:stCondLst>
                                    <p:cond delay="50"/>
                                  </p:stCondLst>
                                  <p:childTnLst>
                                    <p:animEffect transition="out" filter="fade">
                                      <p:cBhvr>
                                        <p:cTn id="141" dur="50"/>
                                        <p:tgtEl>
                                          <p:spTgt spid="20031"/>
                                        </p:tgtEl>
                                      </p:cBhvr>
                                    </p:animEffect>
                                    <p:set>
                                      <p:cBhvr>
                                        <p:cTn id="142" dur="1" fill="hold">
                                          <p:stCondLst>
                                            <p:cond delay="49"/>
                                          </p:stCondLst>
                                        </p:cTn>
                                        <p:tgtEl>
                                          <p:spTgt spid="20031"/>
                                        </p:tgtEl>
                                        <p:attrNameLst>
                                          <p:attrName>style.visibility</p:attrName>
                                        </p:attrNameLst>
                                      </p:cBhvr>
                                      <p:to>
                                        <p:strVal val="hidden"/>
                                      </p:to>
                                    </p:set>
                                  </p:childTnLst>
                                </p:cTn>
                              </p:par>
                              <p:par>
                                <p:cTn id="143" presetID="10" presetClass="exit" presetSubtype="0" fill="hold" nodeType="withEffect">
                                  <p:stCondLst>
                                    <p:cond delay="50"/>
                                  </p:stCondLst>
                                  <p:childTnLst>
                                    <p:animEffect transition="out" filter="fade">
                                      <p:cBhvr>
                                        <p:cTn id="144" dur="50"/>
                                        <p:tgtEl>
                                          <p:spTgt spid="20038"/>
                                        </p:tgtEl>
                                      </p:cBhvr>
                                    </p:animEffect>
                                    <p:set>
                                      <p:cBhvr>
                                        <p:cTn id="145" dur="1" fill="hold">
                                          <p:stCondLst>
                                            <p:cond delay="49"/>
                                          </p:stCondLst>
                                        </p:cTn>
                                        <p:tgtEl>
                                          <p:spTgt spid="20038"/>
                                        </p:tgtEl>
                                        <p:attrNameLst>
                                          <p:attrName>style.visibility</p:attrName>
                                        </p:attrNameLst>
                                      </p:cBhvr>
                                      <p:to>
                                        <p:strVal val="hidden"/>
                                      </p:to>
                                    </p:set>
                                  </p:childTnLst>
                                </p:cTn>
                              </p:par>
                              <p:par>
                                <p:cTn id="146" presetID="10" presetClass="exit" presetSubtype="0" fill="hold" nodeType="withEffect">
                                  <p:stCondLst>
                                    <p:cond delay="50"/>
                                  </p:stCondLst>
                                  <p:childTnLst>
                                    <p:animEffect transition="out" filter="fade">
                                      <p:cBhvr>
                                        <p:cTn id="147" dur="50"/>
                                        <p:tgtEl>
                                          <p:spTgt spid="20042"/>
                                        </p:tgtEl>
                                      </p:cBhvr>
                                    </p:animEffect>
                                    <p:set>
                                      <p:cBhvr>
                                        <p:cTn id="148" dur="1" fill="hold">
                                          <p:stCondLst>
                                            <p:cond delay="49"/>
                                          </p:stCondLst>
                                        </p:cTn>
                                        <p:tgtEl>
                                          <p:spTgt spid="20042"/>
                                        </p:tgtEl>
                                        <p:attrNameLst>
                                          <p:attrName>style.visibility</p:attrName>
                                        </p:attrNameLst>
                                      </p:cBhvr>
                                      <p:to>
                                        <p:strVal val="hidden"/>
                                      </p:to>
                                    </p:set>
                                  </p:childTnLst>
                                </p:cTn>
                              </p:par>
                              <p:par>
                                <p:cTn id="149" presetID="10" presetClass="exit" presetSubtype="0" fill="hold" nodeType="withEffect">
                                  <p:stCondLst>
                                    <p:cond delay="50"/>
                                  </p:stCondLst>
                                  <p:childTnLst>
                                    <p:animEffect transition="out" filter="fade">
                                      <p:cBhvr>
                                        <p:cTn id="150" dur="50"/>
                                        <p:tgtEl>
                                          <p:spTgt spid="20046"/>
                                        </p:tgtEl>
                                      </p:cBhvr>
                                    </p:animEffect>
                                    <p:set>
                                      <p:cBhvr>
                                        <p:cTn id="151" dur="1" fill="hold">
                                          <p:stCondLst>
                                            <p:cond delay="49"/>
                                          </p:stCondLst>
                                        </p:cTn>
                                        <p:tgtEl>
                                          <p:spTgt spid="20046"/>
                                        </p:tgtEl>
                                        <p:attrNameLst>
                                          <p:attrName>style.visibility</p:attrName>
                                        </p:attrNameLst>
                                      </p:cBhvr>
                                      <p:to>
                                        <p:strVal val="hidden"/>
                                      </p:to>
                                    </p:set>
                                  </p:childTnLst>
                                </p:cTn>
                              </p:par>
                              <p:par>
                                <p:cTn id="152" presetID="10" presetClass="entr" presetSubtype="0" fill="hold" nodeType="withEffect">
                                  <p:stCondLst>
                                    <p:cond delay="0"/>
                                  </p:stCondLst>
                                  <p:childTnLst>
                                    <p:set>
                                      <p:cBhvr>
                                        <p:cTn id="153" dur="1" fill="hold">
                                          <p:stCondLst>
                                            <p:cond delay="0"/>
                                          </p:stCondLst>
                                        </p:cTn>
                                        <p:tgtEl>
                                          <p:spTgt spid="20057"/>
                                        </p:tgtEl>
                                        <p:attrNameLst>
                                          <p:attrName>style.visibility</p:attrName>
                                        </p:attrNameLst>
                                      </p:cBhvr>
                                      <p:to>
                                        <p:strVal val="visible"/>
                                      </p:to>
                                    </p:set>
                                    <p:animEffect transition="in" filter="fade">
                                      <p:cBhvr>
                                        <p:cTn id="154" dur="50"/>
                                        <p:tgtEl>
                                          <p:spTgt spid="20057"/>
                                        </p:tgtEl>
                                      </p:cBhvr>
                                    </p:animEffect>
                                  </p:childTnLst>
                                </p:cTn>
                              </p:par>
                              <p:par>
                                <p:cTn id="155" presetID="0" presetClass="path" presetSubtype="0" accel="50000" decel="50000" fill="hold" nodeType="withEffect">
                                  <p:stCondLst>
                                    <p:cond delay="100"/>
                                  </p:stCondLst>
                                  <p:childTnLst>
                                    <p:set>
                                      <p:cBhvr>
                                        <p:cTn id="156" dur="1" fill="hold">
                                          <p:stCondLst>
                                            <p:cond delay="1099"/>
                                          </p:stCondLst>
                                        </p:cTn>
                                        <p:tgtEl>
                                          <p:spTgt spid="20057"/>
                                        </p:tgtEl>
                                        <p:attrNameLst>
                                          <p:attrName>style.visibility</p:attrName>
                                        </p:attrNameLst>
                                      </p:cBhvr>
                                      <p:to>
                                        <p:strVal val="visible"/>
                                      </p:to>
                                    </p:set>
                                    <p:animMotion origin="layout" path="M 0 0 L 0.25138889 0.05109779 E" pathEditMode="relative">
                                      <p:cBhvr from="" to="">
                                        <p:cTn id="157" dur="1100" fill="hold">
                                          <p:stCondLst>
                                            <p:cond delay="0"/>
                                          </p:stCondLst>
                                        </p:cTn>
                                        <p:tgtEl>
                                          <p:spTgt spid="20057"/>
                                        </p:tgtEl>
                                        <p:attrNameLst>
                                          <p:attrName>ppt_x</p:attrName>
                                          <p:attrName>ppt_y</p:attrName>
                                        </p:attrNameLst>
                                      </p:cBhvr>
                                    </p:animMotion>
                                    <p:animScale>
                                      <p:cBhvr>
                                        <p:cTn id="158" dur="1100" fill="hold">
                                          <p:stCondLst>
                                            <p:cond delay="0"/>
                                          </p:stCondLst>
                                        </p:cTn>
                                        <p:tgtEl>
                                          <p:spTgt spid="20057"/>
                                        </p:tgtEl>
                                      </p:cBhvr>
                                      <p:from x="100000" y="100000"/>
                                      <p:to x="112000" y="112000"/>
                                    </p:animScale>
                                  </p:childTnLst>
                                </p:cTn>
                              </p:par>
                              <p:par>
                                <p:cTn id="159" presetID="10" presetClass="entr" presetSubtype="0" fill="hold" grpId="0" nodeType="withEffect">
                                  <p:stCondLst>
                                    <p:cond delay="800"/>
                                  </p:stCondLst>
                                  <p:childTnLst>
                                    <p:set>
                                      <p:cBhvr>
                                        <p:cTn id="160" dur="1" fill="hold">
                                          <p:stCondLst>
                                            <p:cond delay="0"/>
                                          </p:stCondLst>
                                        </p:cTn>
                                        <p:tgtEl>
                                          <p:spTgt spid="20078"/>
                                        </p:tgtEl>
                                        <p:attrNameLst>
                                          <p:attrName>style.visibility</p:attrName>
                                        </p:attrNameLst>
                                      </p:cBhvr>
                                      <p:to>
                                        <p:strVal val="visible"/>
                                      </p:to>
                                    </p:set>
                                    <p:animEffect transition="in" filter="fade">
                                      <p:cBhvr>
                                        <p:cTn id="161" dur="500"/>
                                        <p:tgtEl>
                                          <p:spTgt spid="20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ExtractFinal101"/>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ExtractFinal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ExtractFinal10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ExtractFinal10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ExtractFinal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ExtractFinal103"/>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ExtractFinal100"/>
                  <a:stretch>
                    <a:fillRect/>
                  </a:stretch>
                </a:blipFill>
                <a:ln>
                  <a:noFill/>
                </a:ln>
              </p:spPr>
              <p:txBody>
                <a:bodyPr/>
                <a:lstStyle/>
                <a:p>
                  <a:r>
                    <a:rPr lang="en-NL">
                      <a:noFill/>
                    </a:rPr>
                    <a:t> </a:t>
                  </a:r>
                </a:p>
              </p:txBody>
            </p:sp>
          </mc:Fallback>
        </mc:AlternateContent>
      </p:grpSp>
      <p:grpSp>
        <p:nvGrpSpPr>
          <p:cNvPr id="5019" name="Extracted PDE block"/>
          <p:cNvGrpSpPr/>
          <p:nvPr/>
        </p:nvGrpSpPr>
        <p:grpSpPr>
          <a:xfrm>
            <a:off x="3963860" y="2188260"/>
            <a:ext cx="1192431" cy="1192297"/>
            <a:chOff x="3086100" y="2514600"/>
            <a:chExt cx="939800" cy="939800"/>
          </a:xfrm>
        </p:grpSpPr>
        <p:sp>
          <p:nvSpPr>
            <p:cNvPr id="5020"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21"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5021"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ExtractFinal10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999"/>
                                          </p:stCondLst>
                                        </p:cTn>
                                        <p:tgtEl>
                                          <p:spTgt spid="5019"/>
                                        </p:tgtEl>
                                        <p:attrNameLst>
                                          <p:attrName>style.visibility</p:attrName>
                                        </p:attrNameLst>
                                      </p:cBhvr>
                                      <p:to>
                                        <p:strVal val="visible"/>
                                      </p:to>
                                    </p:set>
                                    <p:animMotion origin="layout" path="M 0 0 L 0.00060964 -0.25245621 E" pathEditMode="relative">
                                      <p:cBhvr from="" to="">
                                        <p:cTn id="7" dur="1000" fill="hold">
                                          <p:stCondLst>
                                            <p:cond delay="0"/>
                                          </p:stCondLst>
                                        </p:cTn>
                                        <p:tgtEl>
                                          <p:spTgt spid="5019"/>
                                        </p:tgtEl>
                                        <p:attrNameLst>
                                          <p:attrName>ppt_x</p:attrName>
                                          <p:attrName>ppt_y</p:attrName>
                                        </p:attrNameLst>
                                      </p:cBhvr>
                                    </p:animMotion>
                                    <p:animScale>
                                      <p:cBhvr>
                                        <p:cTn id="8" dur="1000" fill="hold">
                                          <p:stCondLst>
                                            <p:cond delay="0"/>
                                          </p:stCondLst>
                                        </p:cTn>
                                        <p:tgtEl>
                                          <p:spTgt spid="5019"/>
                                        </p:tgtEl>
                                      </p:cBhvr>
                                      <p:from x="100000" y="100000"/>
                                      <p:to x="60000" y="60000"/>
                                    </p:animScale>
                                  </p:childTnLst>
                                </p:cTn>
                              </p:par>
                              <p:par>
                                <p:cTn id="9" presetID="10" presetClass="exit" presetSubtype="0" fill="hold" nodeType="withEffect">
                                  <p:stCondLst>
                                    <p:cond delay="0"/>
                                  </p:stCondLst>
                                  <p:childTnLst>
                                    <p:animEffect transition="out" filter="fade">
                                      <p:cBhvr>
                                        <p:cTn id="10" dur="550"/>
                                        <p:tgtEl>
                                          <p:spTgt spid="5001"/>
                                        </p:tgtEl>
                                      </p:cBhvr>
                                    </p:animEffect>
                                    <p:set>
                                      <p:cBhvr>
                                        <p:cTn id="11" dur="1" fill="hold">
                                          <p:stCondLst>
                                            <p:cond delay="549"/>
                                          </p:stCondLst>
                                        </p:cTn>
                                        <p:tgtEl>
                                          <p:spTgt spid="5001"/>
                                        </p:tgtEl>
                                        <p:attrNameLst>
                                          <p:attrName>style.visibility</p:attrName>
                                        </p:attrNameLst>
                                      </p:cBhvr>
                                      <p:to>
                                        <p:strVal val="hidden"/>
                                      </p:to>
                                    </p:set>
                                  </p:childTnLst>
                                </p:cTn>
                              </p:par>
                              <p:par>
                                <p:cTn id="12" presetID="10" presetClass="exit" presetSubtype="0" fill="hold" nodeType="withEffect">
                                  <p:stCondLst>
                                    <p:cond delay="850"/>
                                  </p:stCondLst>
                                  <p:childTnLst>
                                    <p:animEffect transition="out" filter="fade">
                                      <p:cBhvr>
                                        <p:cTn id="13" dur="250"/>
                                        <p:tgtEl>
                                          <p:spTgt spid="5019"/>
                                        </p:tgtEl>
                                      </p:cBhvr>
                                    </p:animEffect>
                                    <p:set>
                                      <p:cBhvr>
                                        <p:cTn id="14" dur="1" fill="hold">
                                          <p:stCondLst>
                                            <p:cond delay="249"/>
                                          </p:stCondLst>
                                        </p:cTn>
                                        <p:tgtEl>
                                          <p:spTgt spid="5019"/>
                                        </p:tgtEl>
                                        <p:attrNameLst>
                                          <p:attrName>style.visibility</p:attrName>
                                        </p:attrNameLst>
                                      </p:cBhvr>
                                      <p:to>
                                        <p:strVal val="hidden"/>
                                      </p:to>
                                    </p:set>
                                  </p:childTnLst>
                                </p:cTn>
                              </p:par>
                              <p:par>
                                <p:cTn id="15" presetID="10" presetClass="entr" presetSubtype="0" fill="hold" grpId="0" nodeType="withEffect">
                                  <p:stCondLst>
                                    <p:cond delay="85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par>
                                <p:cTn id="18" presetID="10" presetClass="entr" presetSubtype="0" fill="hold" grpId="0" nodeType="withEffect">
                                  <p:stCondLst>
                                    <p:cond delay="650"/>
                                  </p:stCondLst>
                                  <p:childTnLst>
                                    <p:set>
                                      <p:cBhvr>
                                        <p:cTn id="19" dur="1" fill="hold">
                                          <p:stCondLst>
                                            <p:cond delay="0"/>
                                          </p:stCondLst>
                                        </p:cTn>
                                        <p:tgtEl>
                                          <p:spTgt spid="3"/>
                                        </p:tgtEl>
                                        <p:attrNameLst>
                                          <p:attrName>style.visibility</p:attrName>
                                        </p:attrNameLst>
                                      </p:cBhvr>
                                      <p:to>
                                        <p:strVal val="visible"/>
                                      </p:to>
                                    </p:set>
                                    <p:animEffect transition="in" filter="fade">
                                      <p:cBhvr>
                                        <p:cTn id="20" dur="400"/>
                                        <p:tgtEl>
                                          <p:spTgt spid="3"/>
                                        </p:tgtEl>
                                      </p:cBhvr>
                                    </p:animEffect>
                                  </p:childTnLst>
                                </p:cTn>
                              </p:par>
                              <p:par>
                                <p:cTn id="21" presetID="10" presetClass="entr" presetSubtype="0" fill="hold" grpId="0" nodeType="withEffect">
                                  <p:stCondLst>
                                    <p:cond delay="95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400"/>
                                        <p:tgtEl>
                                          <p:spTgt spid="13"/>
                                        </p:tgtEl>
                                      </p:cBhvr>
                                    </p:animEffect>
                                  </p:childTnLst>
                                </p:cTn>
                              </p:par>
                              <p:par>
                                <p:cTn id="24" presetID="10" presetClass="entr" presetSubtype="0" fill="hold" grpId="0" nodeType="withEffect">
                                  <p:stCondLst>
                                    <p:cond delay="95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400"/>
                                        <p:tgtEl>
                                          <p:spTgt spid="14"/>
                                        </p:tgtEl>
                                      </p:cBhvr>
                                    </p:animEffect>
                                  </p:childTnLst>
                                </p:cTn>
                              </p:par>
                              <p:par>
                                <p:cTn id="27" presetID="10" presetClass="entr" presetSubtype="0" fill="hold" grpId="0" nodeType="withEffect">
                                  <p:stCondLst>
                                    <p:cond delay="95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1" grpId="0" animBg="1"/>
      <p:bldP spid="13" grpId="0" animBg="1"/>
      <p:bldP spid="14" grpId="0" animBg="1"/>
      <p:bldP spid="15" grpId="0"/>
    </p:bldLst>
  </p:timing>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1001" name="Homogeneous scope"/>
          <p:cNvSpPr/>
          <p:nvPr/>
        </p:nvSpPr>
        <p:spPr>
          <a:xfrm>
            <a:off x="3619500" y="2143125"/>
            <a:ext cx="5080000" cy="209550"/>
          </a:xfrm>
          <a:prstGeom prst="rect">
            <a:avLst/>
          </a:prstGeom>
          <a:noFill/>
          <a:ln>
            <a:noFill/>
          </a:ln>
        </p:spPr>
        <p:txBody>
          <a:bodyPr wrap="none" lIns="0" tIns="0" rIns="0" bIns="0" anchor="ctr">
            <a:noAutofit/>
          </a:bodyPr>
          <a:lstStyle/>
          <a:p>
            <a:pPr algn="ctr">
              <a:buNone/>
            </a:pPr>
            <a:r>
              <a:rPr lang="en-GB" sz="1100" baseline="0" b="0" i="0" u="none">
                <a:solidFill>
                  <a:srgbClr val="747B82"/>
                </a:solidFill>
                <a:latin typeface="Aptos"/>
                <a:ea typeface="Aptos"/>
                <a:cs typeface="Aptos"/>
              </a:rPr>
              <a:t xml:space="preserve">Nominal STN–GPe · w = 0, u = 0</a:t>
            </a:r>
            <a:endParaRPr sz="1100"/>
          </a:p>
        </p:txBody>
      </p:sp>
      <p:sp>
        <p:nvSpPr>
          <p:cNvPr id="1002" name="Nominal ODE S"/>
          <p:cNvSpPr/>
          <p:nvPr/>
        </p:nvSpPr>
        <p:spPr>
          <a:xfrm>
            <a:off x="3194050" y="2506980"/>
            <a:ext cx="2730500" cy="44704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600">
                          <a:solidFill>
                            <a:srgbClr val="252529"/>
                          </a:solidFill>
                          <a:latin typeface="Cambria Math"/>
                        </a:rPr>
                      </m:ctrlPr>
                    </m:sSubPr>
                    <m:e>
                      <m:r>
                        <m:rPr>
                          <m:sty m:val="i"/>
                        </m:rPr>
                        <a:rPr sz="1600">
                          <a:solidFill>
                            <a:srgbClr val="252529"/>
                          </a:solidFill>
                          <a:latin typeface="Cambria Math"/>
                        </a:rPr>
                        <m:t xml:space="preserve">τ</m:t>
                      </m:r>
                    </m:e>
                    <m:sub>
                      <m:r>
                        <m:rPr>
                          <m:sty m:val="p"/>
                        </m:rPr>
                        <a:rPr sz="1600">
                          <a:solidFill>
                            <a:srgbClr val="252529"/>
                          </a:solidFill>
                          <a:latin typeface="Cambria Math"/>
                        </a:rPr>
                        <m:t xml:space="preserve">S</m:t>
                      </m:r>
                    </m:sub>
                  </m:sSub>
                  <m:acc>
                    <m:accPr>
                      <m:chr m:val="̇"/>
                      <m:ctrlPr>
                        <a:rPr sz="1600">
                          <a:solidFill>
                            <a:srgbClr val="252529"/>
                          </a:solidFill>
                          <a:latin typeface="Cambria Math"/>
                        </a:rPr>
                      </m:ctrlPr>
                    </m:accPr>
                    <m:e>
                      <m:sSub>
                        <m:sSubPr>
                          <m:ctrlPr>
                            <a:rPr sz="1600">
                              <a:solidFill>
                                <a:srgbClr val="252529"/>
                              </a:solidFill>
                              <a:latin typeface="Cambria Math"/>
                            </a:rPr>
                          </m:ctrlPr>
                        </m:sSubPr>
                        <m:e>
                          <m:r>
                            <m:rPr>
                              <m:sty m:val="i"/>
                            </m:rPr>
                            <a:rPr sz="1600">
                              <a:solidFill>
                                <a:srgbClr val="252529"/>
                              </a:solidFill>
                              <a:latin typeface="Cambria Math"/>
                            </a:rPr>
                            <m:t xml:space="preserve">x</m:t>
                          </m:r>
                        </m:e>
                        <m:sub>
                          <m:r>
                            <m:rPr>
                              <m:sty m:val="p"/>
                            </m:rPr>
                            <a:rPr sz="1600">
                              <a:solidFill>
                                <a:srgbClr val="252529"/>
                              </a:solidFill>
                              <a:latin typeface="Cambria Math"/>
                            </a:rPr>
                            <m:t xml:space="preserve">S</m:t>
                          </m:r>
                        </m:sub>
                      </m:sSub>
                    </m:e>
                  </m:acc>
                  <m:d>
                    <m:dPr>
                      <m:begChr m:val="("/>
                      <m:endChr m:val=")"/>
                      <m:ctrlPr>
                        <a:rPr sz="1600">
                          <a:solidFill>
                            <a:srgbClr val="252529"/>
                          </a:solidFill>
                          <a:latin typeface="Cambria Math"/>
                        </a:rPr>
                      </m:ctrlPr>
                    </m:dPr>
                    <m:e>
                      <m:r>
                        <m:rPr>
                          <m:sty m:val="i"/>
                        </m:rPr>
                        <a:rPr sz="1600">
                          <a:solidFill>
                            <a:srgbClr val="252529"/>
                          </a:solidFill>
                          <a:latin typeface="Cambria Math"/>
                        </a:rPr>
                        <m:t xml:space="preserve">t</m:t>
                      </m:r>
                    </m:e>
                  </m:d>
                  <m:r>
                    <m:rPr>
                      <m:sty m:val="i"/>
                    </m:rPr>
                    <a:rPr sz="1600">
                      <a:solidFill>
                        <a:srgbClr val="252529"/>
                      </a:solidFill>
                      <a:latin typeface="Cambria Math"/>
                    </a:rPr>
                    <m:t xml:space="preserve">=</m:t>
                  </m:r>
                  <m:r>
                    <m:rPr>
                      <m:sty m:val="i"/>
                    </m:rPr>
                    <a:rPr sz="1600">
                      <a:solidFill>
                        <a:srgbClr val="252529"/>
                      </a:solidFill>
                      <a:latin typeface="Cambria Math"/>
                    </a:rPr>
                    <m:t xml:space="preserve">−</m:t>
                  </m:r>
                  <m:sSub>
                    <m:sSubPr>
                      <m:ctrlPr>
                        <a:rPr sz="1600">
                          <a:solidFill>
                            <a:srgbClr val="252529"/>
                          </a:solidFill>
                          <a:latin typeface="Cambria Math"/>
                        </a:rPr>
                      </m:ctrlPr>
                    </m:sSubPr>
                    <m:e>
                      <m:r>
                        <m:rPr>
                          <m:sty m:val="i"/>
                        </m:rPr>
                        <a:rPr sz="1600">
                          <a:solidFill>
                            <a:srgbClr val="252529"/>
                          </a:solidFill>
                          <a:latin typeface="Cambria Math"/>
                        </a:rPr>
                        <m:t xml:space="preserve">x</m:t>
                      </m:r>
                    </m:e>
                    <m:sub>
                      <m:r>
                        <m:rPr>
                          <m:sty m:val="p"/>
                        </m:rPr>
                        <a:rPr sz="1600">
                          <a:solidFill>
                            <a:srgbClr val="252529"/>
                          </a:solidFill>
                          <a:latin typeface="Cambria Math"/>
                        </a:rPr>
                        <m:t xml:space="preserve">S</m:t>
                      </m:r>
                    </m:sub>
                  </m:sSub>
                  <m:d>
                    <m:dPr>
                      <m:begChr m:val="("/>
                      <m:endChr m:val=")"/>
                      <m:ctrlPr>
                        <a:rPr sz="1600">
                          <a:solidFill>
                            <a:srgbClr val="252529"/>
                          </a:solidFill>
                          <a:latin typeface="Cambria Math"/>
                        </a:rPr>
                      </m:ctrlPr>
                    </m:dPr>
                    <m:e>
                      <m:r>
                        <m:rPr>
                          <m:sty m:val="i"/>
                        </m:rPr>
                        <a:rPr sz="1600">
                          <a:solidFill>
                            <a:srgbClr val="252529"/>
                          </a:solidFill>
                          <a:latin typeface="Cambria Math"/>
                        </a:rPr>
                        <m:t xml:space="preserve">t</m:t>
                      </m:r>
                    </m:e>
                  </m:d>
                </m:oMath>
              </m:oMathPara>
            </a14:m>
            <a:endParaRPr sz="1600"/>
          </a:p>
        </p:txBody>
      </p:sp>
      <p:sp>
        <p:nvSpPr>
          <p:cNvPr id="1003" name="Nominal ODE G"/>
          <p:cNvSpPr/>
          <p:nvPr/>
        </p:nvSpPr>
        <p:spPr>
          <a:xfrm>
            <a:off x="3194050" y="2875280"/>
            <a:ext cx="2730500" cy="44704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600">
                          <a:solidFill>
                            <a:srgbClr val="252529"/>
                          </a:solidFill>
                          <a:latin typeface="Cambria Math"/>
                        </a:rPr>
                      </m:ctrlPr>
                    </m:sSubPr>
                    <m:e>
                      <m:r>
                        <m:rPr>
                          <m:sty m:val="i"/>
                        </m:rPr>
                        <a:rPr sz="1600">
                          <a:solidFill>
                            <a:srgbClr val="252529"/>
                          </a:solidFill>
                          <a:latin typeface="Cambria Math"/>
                        </a:rPr>
                        <m:t xml:space="preserve">τ</m:t>
                      </m:r>
                    </m:e>
                    <m:sub>
                      <m:r>
                        <m:rPr>
                          <m:sty m:val="p"/>
                        </m:rPr>
                        <a:rPr sz="1600">
                          <a:solidFill>
                            <a:srgbClr val="252529"/>
                          </a:solidFill>
                          <a:latin typeface="Cambria Math"/>
                        </a:rPr>
                        <m:t xml:space="preserve">G</m:t>
                      </m:r>
                    </m:sub>
                  </m:sSub>
                  <m:acc>
                    <m:accPr>
                      <m:chr m:val="̇"/>
                      <m:ctrlPr>
                        <a:rPr sz="1600">
                          <a:solidFill>
                            <a:srgbClr val="252529"/>
                          </a:solidFill>
                          <a:latin typeface="Cambria Math"/>
                        </a:rPr>
                      </m:ctrlPr>
                    </m:accPr>
                    <m:e>
                      <m:sSub>
                        <m:sSubPr>
                          <m:ctrlPr>
                            <a:rPr sz="1600">
                              <a:solidFill>
                                <a:srgbClr val="252529"/>
                              </a:solidFill>
                              <a:latin typeface="Cambria Math"/>
                            </a:rPr>
                          </m:ctrlPr>
                        </m:sSubPr>
                        <m:e>
                          <m:r>
                            <m:rPr>
                              <m:sty m:val="i"/>
                            </m:rPr>
                            <a:rPr sz="1600">
                              <a:solidFill>
                                <a:srgbClr val="252529"/>
                              </a:solidFill>
                              <a:latin typeface="Cambria Math"/>
                            </a:rPr>
                            <m:t xml:space="preserve">x</m:t>
                          </m:r>
                        </m:e>
                        <m:sub>
                          <m:r>
                            <m:rPr>
                              <m:sty m:val="p"/>
                            </m:rPr>
                            <a:rPr sz="1600">
                              <a:solidFill>
                                <a:srgbClr val="252529"/>
                              </a:solidFill>
                              <a:latin typeface="Cambria Math"/>
                            </a:rPr>
                            <m:t xml:space="preserve">G</m:t>
                          </m:r>
                        </m:sub>
                      </m:sSub>
                    </m:e>
                  </m:acc>
                  <m:d>
                    <m:dPr>
                      <m:begChr m:val="("/>
                      <m:endChr m:val=")"/>
                      <m:ctrlPr>
                        <a:rPr sz="1600">
                          <a:solidFill>
                            <a:srgbClr val="252529"/>
                          </a:solidFill>
                          <a:latin typeface="Cambria Math"/>
                        </a:rPr>
                      </m:ctrlPr>
                    </m:dPr>
                    <m:e>
                      <m:r>
                        <m:rPr>
                          <m:sty m:val="i"/>
                        </m:rPr>
                        <a:rPr sz="1600">
                          <a:solidFill>
                            <a:srgbClr val="252529"/>
                          </a:solidFill>
                          <a:latin typeface="Cambria Math"/>
                        </a:rPr>
                        <m:t xml:space="preserve">t</m:t>
                      </m:r>
                    </m:e>
                  </m:d>
                  <m:r>
                    <m:rPr>
                      <m:sty m:val="i"/>
                    </m:rPr>
                    <a:rPr sz="1600">
                      <a:solidFill>
                        <a:srgbClr val="252529"/>
                      </a:solidFill>
                      <a:latin typeface="Cambria Math"/>
                    </a:rPr>
                    <m:t xml:space="preserve">=</m:t>
                  </m:r>
                  <m:r>
                    <m:rPr>
                      <m:sty m:val="i"/>
                    </m:rPr>
                    <a:rPr sz="1600">
                      <a:solidFill>
                        <a:srgbClr val="252529"/>
                      </a:solidFill>
                      <a:latin typeface="Cambria Math"/>
                    </a:rPr>
                    <m:t xml:space="preserve">−</m:t>
                  </m:r>
                  <m:sSub>
                    <m:sSubPr>
                      <m:ctrlPr>
                        <a:rPr sz="1600">
                          <a:solidFill>
                            <a:srgbClr val="252529"/>
                          </a:solidFill>
                          <a:latin typeface="Cambria Math"/>
                        </a:rPr>
                      </m:ctrlPr>
                    </m:sSubPr>
                    <m:e>
                      <m:r>
                        <m:rPr>
                          <m:sty m:val="i"/>
                        </m:rPr>
                        <a:rPr sz="1600">
                          <a:solidFill>
                            <a:srgbClr val="252529"/>
                          </a:solidFill>
                          <a:latin typeface="Cambria Math"/>
                        </a:rPr>
                        <m:t xml:space="preserve">x</m:t>
                      </m:r>
                    </m:e>
                    <m:sub>
                      <m:r>
                        <m:rPr>
                          <m:sty m:val="p"/>
                        </m:rPr>
                        <a:rPr sz="1600">
                          <a:solidFill>
                            <a:srgbClr val="252529"/>
                          </a:solidFill>
                          <a:latin typeface="Cambria Math"/>
                        </a:rPr>
                        <m:t xml:space="preserve">G</m:t>
                      </m:r>
                    </m:sub>
                  </m:sSub>
                  <m:d>
                    <m:dPr>
                      <m:begChr m:val="("/>
                      <m:endChr m:val=")"/>
                      <m:ctrlPr>
                        <a:rPr sz="1600">
                          <a:solidFill>
                            <a:srgbClr val="252529"/>
                          </a:solidFill>
                          <a:latin typeface="Cambria Math"/>
                        </a:rPr>
                      </m:ctrlPr>
                    </m:dPr>
                    <m:e>
                      <m:r>
                        <m:rPr>
                          <m:sty m:val="i"/>
                        </m:rPr>
                        <a:rPr sz="1600">
                          <a:solidFill>
                            <a:srgbClr val="252529"/>
                          </a:solidFill>
                          <a:latin typeface="Cambria Math"/>
                        </a:rPr>
                        <m:t xml:space="preserve">t</m:t>
                      </m:r>
                    </m:e>
                  </m:d>
                </m:oMath>
              </m:oMathPara>
            </a14:m>
            <a:endParaRPr sz="1600"/>
          </a:p>
        </p:txBody>
      </p:sp>
      <p:sp>
        <p:nvSpPr>
          <p:cNvPr id="1004" name="Nominal transport PDE"/>
          <p:cNvSpPr/>
          <p:nvPr/>
        </p:nvSpPr>
        <p:spPr>
          <a:xfrm>
            <a:off x="3130550" y="3374390"/>
            <a:ext cx="2857500" cy="36322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300">
                          <a:solidFill>
                            <a:srgbClr val="252529"/>
                          </a:solidFill>
                          <a:latin typeface="Cambria Math"/>
                        </a:rPr>
                      </m:ctrlPr>
                    </m:sSubPr>
                    <m:e>
                      <m:r>
                        <m:rPr>
                          <m:sty m:val="i"/>
                        </m:rPr>
                        <a:rPr sz="1300">
                          <a:solidFill>
                            <a:srgbClr val="252529"/>
                          </a:solidFill>
                          <a:latin typeface="Cambria Math"/>
                        </a:rPr>
                        <m:t xml:space="preserve">∂</m:t>
                      </m:r>
                    </m:e>
                    <m:sub>
                      <m:r>
                        <m:rPr>
                          <m:sty m:val="i"/>
                        </m:rPr>
                        <a:rPr sz="1300">
                          <a:solidFill>
                            <a:srgbClr val="252529"/>
                          </a:solidFill>
                          <a:latin typeface="Cambria Math"/>
                        </a:rPr>
                        <m:t xml:space="preserve">t</m:t>
                      </m:r>
                    </m:sub>
                  </m:sSub>
                  <m:sSub>
                    <m:sSubPr>
                      <m:ctrlPr>
                        <a:rPr sz="1300">
                          <a:solidFill>
                            <a:srgbClr val="252529"/>
                          </a:solidFill>
                          <a:latin typeface="Cambria Math"/>
                        </a:rPr>
                      </m:ctrlPr>
                    </m:sSubPr>
                    <m:e>
                      <m:r>
                        <m:rPr>
                          <m:sty m:val="i"/>
                        </m:rPr>
                        <a:rPr sz="1300">
                          <a:solidFill>
                            <a:srgbClr val="252529"/>
                          </a:solidFill>
                          <a:latin typeface="Cambria Math"/>
                        </a:rPr>
                        <m:t xml:space="preserve">φ</m:t>
                      </m:r>
                    </m:e>
                    <m:sub>
                      <m:r>
                        <m:rPr>
                          <m:sty m:val="i"/>
                        </m:rPr>
                        <a:rPr sz="1300">
                          <a:solidFill>
                            <a:srgbClr val="252529"/>
                          </a:solidFill>
                          <a:latin typeface="Cambria Math"/>
                        </a:rPr>
                        <m:t xml:space="preserve">i</m:t>
                      </m:r>
                      <m:r>
                        <m:rPr>
                          <m:sty m:val="i"/>
                        </m:rPr>
                        <a:rPr sz="1300">
                          <a:solidFill>
                            <a:srgbClr val="252529"/>
                          </a:solidFill>
                          <a:latin typeface="Cambria Math"/>
                        </a:rPr>
                        <m:t xml:space="preserve">j</m:t>
                      </m:r>
                    </m:sub>
                  </m:sSub>
                  <m:d>
                    <m:dPr>
                      <m:begChr m:val="("/>
                      <m:endChr m:val=")"/>
                      <m:ctrlPr>
                        <a:rPr sz="1300">
                          <a:solidFill>
                            <a:srgbClr val="252529"/>
                          </a:solidFill>
                          <a:latin typeface="Cambria Math"/>
                        </a:rPr>
                      </m:ctrlPr>
                    </m:dPr>
                    <m:e>
                      <m:r>
                        <m:rPr>
                          <m:sty m:val="i"/>
                        </m:rPr>
                        <a:rPr sz="1300">
                          <a:solidFill>
                            <a:srgbClr val="252529"/>
                          </a:solidFill>
                          <a:latin typeface="Cambria Math"/>
                        </a:rPr>
                        <m:t xml:space="preserve">t</m:t>
                      </m:r>
                      <m:r>
                        <m:rPr>
                          <m:sty m:val="i"/>
                        </m:rPr>
                        <a:rPr sz="1300">
                          <a:solidFill>
                            <a:srgbClr val="252529"/>
                          </a:solidFill>
                          <a:latin typeface="Cambria Math"/>
                        </a:rPr>
                        <m:t xml:space="preserve">,</m:t>
                      </m:r>
                      <m:r>
                        <m:rPr>
                          <m:sty m:val="i"/>
                        </m:rPr>
                        <a:rPr sz="1300">
                          <a:solidFill>
                            <a:srgbClr val="252529"/>
                          </a:solidFill>
                          <a:latin typeface="Cambria Math"/>
                        </a:rPr>
                        <m:t xml:space="preserve">s</m:t>
                      </m:r>
                    </m:e>
                  </m:d>
                  <m:r>
                    <m:rPr>
                      <m:sty m:val="i"/>
                    </m:rPr>
                    <a:rPr sz="1300">
                      <a:solidFill>
                        <a:srgbClr val="252529"/>
                      </a:solidFill>
                      <a:latin typeface="Cambria Math"/>
                    </a:rPr>
                    <m:t xml:space="preserve">=</m:t>
                  </m:r>
                  <m:r>
                    <m:rPr>
                      <m:sty m:val="i"/>
                    </m:rPr>
                    <a:rPr sz="1300">
                      <a:solidFill>
                        <a:srgbClr val="252529"/>
                      </a:solidFill>
                      <a:latin typeface="Cambria Math"/>
                    </a:rPr>
                    <m:t xml:space="preserve">−</m:t>
                  </m:r>
                  <m:f>
                    <m:fPr>
                      <m:ctrlPr>
                        <a:rPr sz="1300">
                          <a:solidFill>
                            <a:srgbClr val="252529"/>
                          </a:solidFill>
                          <a:latin typeface="Cambria Math"/>
                        </a:rPr>
                      </m:ctrlPr>
                    </m:fPr>
                    <m:num>
                      <m:r>
                        <m:rPr>
                          <m:sty m:val="i"/>
                        </m:rPr>
                        <a:rPr sz="1300">
                          <a:solidFill>
                            <a:srgbClr val="252529"/>
                          </a:solidFill>
                          <a:latin typeface="Cambria Math"/>
                        </a:rPr>
                        <m:t xml:space="preserve">1</m:t>
                      </m:r>
                    </m:num>
                    <m:den>
                      <m:sSub>
                        <m:sSubPr>
                          <m:ctrlPr>
                            <a:rPr sz="1300">
                              <a:solidFill>
                                <a:srgbClr val="252529"/>
                              </a:solidFill>
                              <a:latin typeface="Cambria Math"/>
                            </a:rPr>
                          </m:ctrlPr>
                        </m:sSubPr>
                        <m:e>
                          <m:r>
                            <m:rPr>
                              <m:sty m:val="i"/>
                            </m:rPr>
                            <a:rPr sz="1300">
                              <a:solidFill>
                                <a:srgbClr val="252529"/>
                              </a:solidFill>
                              <a:latin typeface="Cambria Math"/>
                            </a:rPr>
                            <m:t xml:space="preserve">τ</m:t>
                          </m:r>
                        </m:e>
                        <m:sub>
                          <m:r>
                            <m:rPr>
                              <m:sty m:val="i"/>
                            </m:rPr>
                            <a:rPr sz="1300">
                              <a:solidFill>
                                <a:srgbClr val="252529"/>
                              </a:solidFill>
                              <a:latin typeface="Cambria Math"/>
                            </a:rPr>
                            <m:t xml:space="preserve">i</m:t>
                          </m:r>
                          <m:r>
                            <m:rPr>
                              <m:sty m:val="i"/>
                            </m:rPr>
                            <a:rPr sz="1300">
                              <a:solidFill>
                                <a:srgbClr val="252529"/>
                              </a:solidFill>
                              <a:latin typeface="Cambria Math"/>
                            </a:rPr>
                            <m:t xml:space="preserve">j</m:t>
                          </m:r>
                        </m:sub>
                      </m:sSub>
                    </m:den>
                  </m:f>
                  <m:sSub>
                    <m:sSubPr>
                      <m:ctrlPr>
                        <a:rPr sz="1300">
                          <a:solidFill>
                            <a:srgbClr val="252529"/>
                          </a:solidFill>
                          <a:latin typeface="Cambria Math"/>
                        </a:rPr>
                      </m:ctrlPr>
                    </m:sSubPr>
                    <m:e>
                      <m:r>
                        <m:rPr>
                          <m:sty m:val="i"/>
                        </m:rPr>
                        <a:rPr sz="1300">
                          <a:solidFill>
                            <a:srgbClr val="252529"/>
                          </a:solidFill>
                          <a:latin typeface="Cambria Math"/>
                        </a:rPr>
                        <m:t xml:space="preserve">∂</m:t>
                      </m:r>
                    </m:e>
                    <m:sub>
                      <m:r>
                        <m:rPr>
                          <m:sty m:val="i"/>
                        </m:rPr>
                        <a:rPr sz="1300">
                          <a:solidFill>
                            <a:srgbClr val="252529"/>
                          </a:solidFill>
                          <a:latin typeface="Cambria Math"/>
                        </a:rPr>
                        <m:t xml:space="preserve">s</m:t>
                      </m:r>
                    </m:sub>
                  </m:sSub>
                  <m:sSub>
                    <m:sSubPr>
                      <m:ctrlPr>
                        <a:rPr sz="1300">
                          <a:solidFill>
                            <a:srgbClr val="252529"/>
                          </a:solidFill>
                          <a:latin typeface="Cambria Math"/>
                        </a:rPr>
                      </m:ctrlPr>
                    </m:sSubPr>
                    <m:e>
                      <m:r>
                        <m:rPr>
                          <m:sty m:val="i"/>
                        </m:rPr>
                        <a:rPr sz="1300">
                          <a:solidFill>
                            <a:srgbClr val="252529"/>
                          </a:solidFill>
                          <a:latin typeface="Cambria Math"/>
                        </a:rPr>
                        <m:t xml:space="preserve">φ</m:t>
                      </m:r>
                    </m:e>
                    <m:sub>
                      <m:r>
                        <m:rPr>
                          <m:sty m:val="i"/>
                        </m:rPr>
                        <a:rPr sz="1300">
                          <a:solidFill>
                            <a:srgbClr val="252529"/>
                          </a:solidFill>
                          <a:latin typeface="Cambria Math"/>
                        </a:rPr>
                        <m:t xml:space="preserve">i</m:t>
                      </m:r>
                      <m:r>
                        <m:rPr>
                          <m:sty m:val="i"/>
                        </m:rPr>
                        <a:rPr sz="1300">
                          <a:solidFill>
                            <a:srgbClr val="252529"/>
                          </a:solidFill>
                          <a:latin typeface="Cambria Math"/>
                        </a:rPr>
                        <m:t xml:space="preserve">j</m:t>
                      </m:r>
                    </m:sub>
                  </m:sSub>
                  <m:d>
                    <m:dPr>
                      <m:begChr m:val="("/>
                      <m:endChr m:val=")"/>
                      <m:ctrlPr>
                        <a:rPr sz="1300">
                          <a:solidFill>
                            <a:srgbClr val="252529"/>
                          </a:solidFill>
                          <a:latin typeface="Cambria Math"/>
                        </a:rPr>
                      </m:ctrlPr>
                    </m:dPr>
                    <m:e>
                      <m:r>
                        <m:rPr>
                          <m:sty m:val="i"/>
                        </m:rPr>
                        <a:rPr sz="1300">
                          <a:solidFill>
                            <a:srgbClr val="252529"/>
                          </a:solidFill>
                          <a:latin typeface="Cambria Math"/>
                        </a:rPr>
                        <m:t xml:space="preserve">t</m:t>
                      </m:r>
                      <m:r>
                        <m:rPr>
                          <m:sty m:val="i"/>
                        </m:rPr>
                        <a:rPr sz="1300">
                          <a:solidFill>
                            <a:srgbClr val="252529"/>
                          </a:solidFill>
                          <a:latin typeface="Cambria Math"/>
                        </a:rPr>
                        <m:t xml:space="preserve">,</m:t>
                      </m:r>
                      <m:r>
                        <m:rPr>
                          <m:sty m:val="i"/>
                        </m:rPr>
                        <a:rPr sz="1300">
                          <a:solidFill>
                            <a:srgbClr val="252529"/>
                          </a:solidFill>
                          <a:latin typeface="Cambria Math"/>
                        </a:rPr>
                        <m:t xml:space="preserve">s</m:t>
                      </m:r>
                    </m:e>
                  </m:d>
                </m:oMath>
              </m:oMathPara>
            </a14:m>
            <a:endParaRPr sz="1300"/>
          </a:p>
        </p:txBody>
      </p:sp>
      <p:sp>
        <p:nvSpPr>
          <p:cNvPr id="1005" name="Boundary condition"/>
          <p:cNvSpPr/>
          <p:nvPr/>
        </p:nvSpPr>
        <p:spPr>
          <a:xfrm>
            <a:off x="3194050" y="3789680"/>
            <a:ext cx="2730500" cy="44704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600">
                          <a:solidFill>
                            <a:srgbClr val="252529"/>
                          </a:solidFill>
                          <a:latin typeface="Cambria Math"/>
                        </a:rPr>
                      </m:ctrlPr>
                    </m:sSubPr>
                    <m:e>
                      <m:r>
                        <m:rPr>
                          <m:sty m:val="i"/>
                        </m:rPr>
                        <a:rPr sz="1600">
                          <a:solidFill>
                            <a:srgbClr val="252529"/>
                          </a:solidFill>
                          <a:latin typeface="Cambria Math"/>
                        </a:rPr>
                        <m:t xml:space="preserve">φ</m:t>
                      </m:r>
                    </m:e>
                    <m:sub>
                      <m:r>
                        <m:rPr>
                          <m:sty m:val="i"/>
                        </m:rPr>
                        <a:rPr sz="1600">
                          <a:solidFill>
                            <a:srgbClr val="252529"/>
                          </a:solidFill>
                          <a:latin typeface="Cambria Math"/>
                        </a:rPr>
                        <m:t xml:space="preserve">i</m:t>
                      </m:r>
                      <m:r>
                        <m:rPr>
                          <m:sty m:val="i"/>
                        </m:rPr>
                        <a:rPr sz="1600">
                          <a:solidFill>
                            <a:srgbClr val="252529"/>
                          </a:solidFill>
                          <a:latin typeface="Cambria Math"/>
                        </a:rPr>
                        <m:t xml:space="preserve">j</m:t>
                      </m:r>
                    </m:sub>
                  </m:sSub>
                  <m:d>
                    <m:dPr>
                      <m:begChr m:val="("/>
                      <m:endChr m:val=")"/>
                      <m:ctrlPr>
                        <a:rPr sz="1600">
                          <a:solidFill>
                            <a:srgbClr val="252529"/>
                          </a:solidFill>
                          <a:latin typeface="Cambria Math"/>
                        </a:rPr>
                      </m:ctrlPr>
                    </m:dPr>
                    <m:e>
                      <m:r>
                        <m:rPr>
                          <m:sty m:val="i"/>
                        </m:rPr>
                        <a:rPr sz="1600">
                          <a:solidFill>
                            <a:srgbClr val="252529"/>
                          </a:solidFill>
                          <a:latin typeface="Cambria Math"/>
                        </a:rPr>
                        <m:t xml:space="preserve">t</m:t>
                      </m:r>
                      <m:r>
                        <m:rPr>
                          <m:sty m:val="i"/>
                        </m:rPr>
                        <a:rPr sz="1600">
                          <a:solidFill>
                            <a:srgbClr val="252529"/>
                          </a:solidFill>
                          <a:latin typeface="Cambria Math"/>
                        </a:rPr>
                        <m:t xml:space="preserve">,</m:t>
                      </m:r>
                      <m:r>
                        <m:rPr>
                          <m:sty m:val="i"/>
                        </m:rPr>
                        <a:rPr sz="1600">
                          <a:solidFill>
                            <a:srgbClr val="252529"/>
                          </a:solidFill>
                          <a:latin typeface="Cambria Math"/>
                        </a:rPr>
                        <m:t xml:space="preserve">0</m:t>
                      </m:r>
                    </m:e>
                  </m:d>
                  <m:r>
                    <m:rPr>
                      <m:sty m:val="i"/>
                    </m:rPr>
                    <a:rPr sz="1600">
                      <a:solidFill>
                        <a:srgbClr val="252529"/>
                      </a:solidFill>
                      <a:latin typeface="Cambria Math"/>
                    </a:rPr>
                    <m:t xml:space="preserve">=</m:t>
                  </m:r>
                  <m:sSub>
                    <m:sSubPr>
                      <m:ctrlPr>
                        <a:rPr sz="1600">
                          <a:solidFill>
                            <a:srgbClr val="252529"/>
                          </a:solidFill>
                          <a:latin typeface="Cambria Math"/>
                        </a:rPr>
                      </m:ctrlPr>
                    </m:sSubPr>
                    <m:e>
                      <m:r>
                        <m:rPr>
                          <m:sty m:val="i"/>
                        </m:rPr>
                        <a:rPr sz="1600">
                          <a:solidFill>
                            <a:srgbClr val="252529"/>
                          </a:solidFill>
                          <a:latin typeface="Cambria Math"/>
                        </a:rPr>
                        <m:t xml:space="preserve">x</m:t>
                      </m:r>
                    </m:e>
                    <m:sub>
                      <m:r>
                        <m:rPr>
                          <m:sty m:val="i"/>
                        </m:rPr>
                        <a:rPr sz="1600">
                          <a:solidFill>
                            <a:srgbClr val="252529"/>
                          </a:solidFill>
                          <a:latin typeface="Cambria Math"/>
                        </a:rPr>
                        <m:t xml:space="preserve">i</m:t>
                      </m:r>
                    </m:sub>
                  </m:sSub>
                  <m:d>
                    <m:dPr>
                      <m:begChr m:val="("/>
                      <m:endChr m:val=")"/>
                      <m:ctrlPr>
                        <a:rPr sz="1600">
                          <a:solidFill>
                            <a:srgbClr val="252529"/>
                          </a:solidFill>
                          <a:latin typeface="Cambria Math"/>
                        </a:rPr>
                      </m:ctrlPr>
                    </m:dPr>
                    <m:e>
                      <m:r>
                        <m:rPr>
                          <m:sty m:val="i"/>
                        </m:rPr>
                        <a:rPr sz="1600">
                          <a:solidFill>
                            <a:srgbClr val="252529"/>
                          </a:solidFill>
                          <a:latin typeface="Cambria Math"/>
                        </a:rPr>
                        <m:t xml:space="preserve">t</m:t>
                      </m:r>
                    </m:e>
                  </m:d>
                </m:oMath>
              </m:oMathPara>
            </a14:m>
            <a:endParaRPr sz="1600"/>
          </a:p>
        </p:txBody>
      </p:sp>
      <p:sp>
        <p:nvSpPr>
          <p:cNvPr id="1006" name="Final homogeneous PIE"/>
          <p:cNvSpPr/>
          <p:nvPr/>
        </p:nvSpPr>
        <p:spPr>
          <a:xfrm>
            <a:off x="6604000" y="2984500"/>
            <a:ext cx="2387600" cy="55880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000">
                      <a:solidFill>
                        <a:srgbClr val="252529"/>
                      </a:solidFill>
                      <a:latin typeface="Cambria Math"/>
                    </a:rPr>
                    <m:t xml:space="preserve">𝒯</m:t>
                  </m:r>
                  <m:acc>
                    <m:accPr>
                      <m:chr m:val="̇"/>
                      <m:ctrlPr>
                        <a:rPr sz="2000">
                          <a:solidFill>
                            <a:srgbClr val="252529"/>
                          </a:solidFill>
                          <a:latin typeface="Cambria Math"/>
                        </a:rPr>
                      </m:ctrlPr>
                    </m:accPr>
                    <m:e>
                      <m:sSub>
                        <m:sSubPr>
                          <m:ctrlPr>
                            <a:rPr sz="2000">
                              <a:solidFill>
                                <a:srgbClr val="252529"/>
                              </a:solidFill>
                              <a:latin typeface="Cambria Math"/>
                            </a:rPr>
                          </m:ctrlPr>
                        </m:sSubPr>
                        <m:e>
                          <m:r>
                            <m:rPr>
                              <m:sty m:val="bi"/>
                            </m:rPr>
                            <a:rPr sz="2000">
                              <a:solidFill>
                                <a:srgbClr val="252529"/>
                              </a:solidFill>
                              <a:latin typeface="Cambria Math"/>
                            </a:rPr>
                            <m:t xml:space="preserve">x</m:t>
                          </m:r>
                        </m:e>
                        <m:sub>
                          <m:r>
                            <m:rPr>
                              <m:sty m:val="p"/>
                            </m:rPr>
                            <a:rPr sz="2000">
                              <a:solidFill>
                                <a:srgbClr val="252529"/>
                              </a:solidFill>
                              <a:latin typeface="Cambria Math"/>
                            </a:rPr>
                            <m:t xml:space="preserve">f</m:t>
                          </m:r>
                        </m:sub>
                      </m:sSub>
                    </m:e>
                  </m:acc>
                  <m:d>
                    <m:dPr>
                      <m:begChr m:val="("/>
                      <m:endChr m:val=")"/>
                      <m:ctrlPr>
                        <a:rPr sz="2000">
                          <a:solidFill>
                            <a:srgbClr val="252529"/>
                          </a:solidFill>
                          <a:latin typeface="Cambria Math"/>
                        </a:rPr>
                      </m:ctrlPr>
                    </m:dPr>
                    <m:e>
                      <m:r>
                        <m:rPr>
                          <m:sty m:val="i"/>
                        </m:rPr>
                        <a:rPr sz="2000">
                          <a:solidFill>
                            <a:srgbClr val="252529"/>
                          </a:solidFill>
                          <a:latin typeface="Cambria Math"/>
                        </a:rPr>
                        <m:t xml:space="preserve">t</m:t>
                      </m:r>
                    </m:e>
                  </m:d>
                  <m:r>
                    <m:rPr>
                      <m:sty m:val="i"/>
                    </m:rPr>
                    <a:rPr sz="2000">
                      <a:solidFill>
                        <a:srgbClr val="252529"/>
                      </a:solidFill>
                      <a:latin typeface="Cambria Math"/>
                    </a:rPr>
                    <m:t xml:space="preserve">=</m:t>
                  </m:r>
                  <m:r>
                    <m:rPr>
                      <m:sty m:val="p"/>
                    </m:rPr>
                    <a:rPr sz="2000">
                      <a:solidFill>
                        <a:srgbClr val="252529"/>
                      </a:solidFill>
                      <a:latin typeface="Cambria Math"/>
                    </a:rPr>
                    <m:t xml:space="preserve">𝒜</m:t>
                  </m:r>
                  <m:sSub>
                    <m:sSubPr>
                      <m:ctrlPr>
                        <a:rPr sz="2000">
                          <a:solidFill>
                            <a:srgbClr val="252529"/>
                          </a:solidFill>
                          <a:latin typeface="Cambria Math"/>
                        </a:rPr>
                      </m:ctrlPr>
                    </m:sSubPr>
                    <m:e>
                      <m:r>
                        <m:rPr>
                          <m:sty m:val="bi"/>
                        </m:rPr>
                        <a:rPr sz="2000">
                          <a:solidFill>
                            <a:srgbClr val="252529"/>
                          </a:solidFill>
                          <a:latin typeface="Cambria Math"/>
                        </a:rPr>
                        <m:t xml:space="preserve">x</m:t>
                      </m:r>
                    </m:e>
                    <m:sub>
                      <m:r>
                        <m:rPr>
                          <m:sty m:val="p"/>
                        </m:rPr>
                        <a:rPr sz="2000">
                          <a:solidFill>
                            <a:srgbClr val="252529"/>
                          </a:solidFill>
                          <a:latin typeface="Cambria Math"/>
                        </a:rPr>
                        <m:t xml:space="preserve">f</m:t>
                      </m:r>
                    </m:sub>
                  </m:sSub>
                  <m:d>
                    <m:dPr>
                      <m:begChr m:val="("/>
                      <m:endChr m:val=")"/>
                      <m:ctrlPr>
                        <a:rPr sz="2000">
                          <a:solidFill>
                            <a:srgbClr val="252529"/>
                          </a:solidFill>
                          <a:latin typeface="Cambria Math"/>
                        </a:rPr>
                      </m:ctrlPr>
                    </m:dPr>
                    <m:e>
                      <m:r>
                        <m:rPr>
                          <m:sty m:val="i"/>
                        </m:rPr>
                        <a:rPr sz="2000">
                          <a:solidFill>
                            <a:srgbClr val="252529"/>
                          </a:solidFill>
                          <a:latin typeface="Cambria Math"/>
                        </a:rPr>
                        <m:t xml:space="preserve">t</m:t>
                      </m:r>
                    </m:e>
                  </m:d>
                </m:oMath>
              </m:oMathPara>
            </a14:m>
            <a:endParaRPr sz="2000"/>
          </a:p>
        </p:txBody>
      </p:sp>
      <p:sp>
        <p:nvSpPr>
          <p:cNvPr id="1007" name="Delay channels"/>
          <p:cNvSpPr/>
          <p:nvPr/>
        </p:nvSpPr>
        <p:spPr>
          <a:xfrm>
            <a:off x="3448050" y="4291330"/>
            <a:ext cx="5397500" cy="30734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100">
                      <a:solidFill>
                        <a:srgbClr val="252529"/>
                      </a:solidFill>
                      <a:latin typeface="Cambria Math"/>
                    </a:rPr>
                    <m:t xml:space="preserve">(</m:t>
                  </m:r>
                  <m:r>
                    <m:rPr>
                      <m:sty m:val="i"/>
                    </m:rPr>
                    <a:rPr sz="1100">
                      <a:solidFill>
                        <a:srgbClr val="252529"/>
                      </a:solidFill>
                      <a:latin typeface="Cambria Math"/>
                    </a:rPr>
                    <m:t xml:space="preserve">i</m:t>
                  </m:r>
                  <m:r>
                    <m:rPr>
                      <m:sty m:val="i"/>
                    </m:rPr>
                    <a:rPr sz="1100">
                      <a:solidFill>
                        <a:srgbClr val="252529"/>
                      </a:solidFill>
                      <a:latin typeface="Cambria Math"/>
                    </a:rPr>
                    <m:t xml:space="preserve">,</m:t>
                  </m:r>
                  <m:r>
                    <m:rPr>
                      <m:sty m:val="i"/>
                    </m:rPr>
                    <a:rPr sz="1100">
                      <a:solidFill>
                        <a:srgbClr val="252529"/>
                      </a:solidFill>
                      <a:latin typeface="Cambria Math"/>
                    </a:rPr>
                    <m:t xml:space="preserve">j</m:t>
                  </m:r>
                  <m:r>
                    <m:rPr>
                      <m:sty m:val="i"/>
                    </m:rPr>
                    <a:rPr sz="1100">
                      <a:solidFill>
                        <a:srgbClr val="252529"/>
                      </a:solidFill>
                      <a:latin typeface="Cambria Math"/>
                    </a:rPr>
                    <m:t xml:space="preserve">)</m:t>
                  </m:r>
                  <m:r>
                    <m:rPr>
                      <m:sty m:val="i"/>
                    </m:rPr>
                    <a:rPr sz="1100">
                      <a:solidFill>
                        <a:srgbClr val="252529"/>
                      </a:solidFill>
                      <a:latin typeface="Cambria Math"/>
                    </a:rPr>
                    <m:t xml:space="preserve">∈</m:t>
                  </m:r>
                  <m:d>
                    <m:dPr>
                      <m:begChr m:val="{"/>
                      <m:endChr m:val="}"/>
                      <m:ctrlPr>
                        <a:rPr sz="1100">
                          <a:solidFill>
                            <a:srgbClr val="252529"/>
                          </a:solidFill>
                          <a:latin typeface="Cambria Math"/>
                        </a:rPr>
                      </m:ctrlPr>
                    </m:dPr>
                    <m:e>
                      <m:r>
                        <m:rPr>
                          <m:sty m:val="p"/>
                        </m:rPr>
                        <a:rPr sz="1100">
                          <a:solidFill>
                            <a:srgbClr val="252529"/>
                          </a:solidFill>
                          <a:latin typeface="Cambria Math"/>
                        </a:rPr>
                        <m:t xml:space="preserve">(</m:t>
                      </m:r>
                      <m:r>
                        <m:rPr>
                          <m:sty m:val="p"/>
                        </m:rPr>
                        <a:rPr sz="1100">
                          <a:solidFill>
                            <a:srgbClr val="252529"/>
                          </a:solidFill>
                          <a:latin typeface="Cambria Math"/>
                        </a:rPr>
                        <m:t xml:space="preserve">G</m:t>
                      </m:r>
                      <m:r>
                        <m:rPr>
                          <m:sty m:val="p"/>
                        </m:rPr>
                        <a:rPr sz="1100">
                          <a:solidFill>
                            <a:srgbClr val="252529"/>
                          </a:solidFill>
                          <a:latin typeface="Cambria Math"/>
                        </a:rPr>
                        <m:t xml:space="preserve">,</m:t>
                      </m:r>
                      <m:r>
                        <m:rPr>
                          <m:sty m:val="p"/>
                        </m:rPr>
                        <a:rPr sz="1100">
                          <a:solidFill>
                            <a:srgbClr val="252529"/>
                          </a:solidFill>
                          <a:latin typeface="Cambria Math"/>
                        </a:rPr>
                        <m:t xml:space="preserve">S</m:t>
                      </m:r>
                      <m:r>
                        <m:rPr>
                          <m:sty m:val="p"/>
                        </m:rPr>
                        <a:rPr sz="1100">
                          <a:solidFill>
                            <a:srgbClr val="252529"/>
                          </a:solidFill>
                          <a:latin typeface="Cambria Math"/>
                        </a:rPr>
                        <m:t xml:space="preserve">)</m:t>
                      </m:r>
                      <m:r>
                        <m:rPr>
                          <m:sty m:val="p"/>
                        </m:rPr>
                        <a:rPr sz="1100">
                          <a:solidFill>
                            <a:srgbClr val="252529"/>
                          </a:solidFill>
                          <a:latin typeface="Cambria Math"/>
                        </a:rPr>
                        <m:t xml:space="preserve">,</m:t>
                      </m:r>
                      <m:r>
                        <m:rPr>
                          <m:sty m:val="p"/>
                        </m:rPr>
                        <a:rPr sz="1100">
                          <a:solidFill>
                            <a:srgbClr val="252529"/>
                          </a:solidFill>
                          <a:latin typeface="Cambria Math"/>
                        </a:rPr>
                        <m:t xml:space="preserve">(</m:t>
                      </m:r>
                      <m:r>
                        <m:rPr>
                          <m:sty m:val="p"/>
                        </m:rPr>
                        <a:rPr sz="1100">
                          <a:solidFill>
                            <a:srgbClr val="252529"/>
                          </a:solidFill>
                          <a:latin typeface="Cambria Math"/>
                        </a:rPr>
                        <m:t xml:space="preserve">S</m:t>
                      </m:r>
                      <m:r>
                        <m:rPr>
                          <m:sty m:val="p"/>
                        </m:rPr>
                        <a:rPr sz="1100">
                          <a:solidFill>
                            <a:srgbClr val="252529"/>
                          </a:solidFill>
                          <a:latin typeface="Cambria Math"/>
                        </a:rPr>
                        <m:t xml:space="preserve">,</m:t>
                      </m:r>
                      <m:r>
                        <m:rPr>
                          <m:sty m:val="p"/>
                        </m:rPr>
                        <a:rPr sz="1100">
                          <a:solidFill>
                            <a:srgbClr val="252529"/>
                          </a:solidFill>
                          <a:latin typeface="Cambria Math"/>
                        </a:rPr>
                        <m:t xml:space="preserve">G</m:t>
                      </m:r>
                      <m:r>
                        <m:rPr>
                          <m:sty m:val="p"/>
                        </m:rPr>
                        <a:rPr sz="1100">
                          <a:solidFill>
                            <a:srgbClr val="252529"/>
                          </a:solidFill>
                          <a:latin typeface="Cambria Math"/>
                        </a:rPr>
                        <m:t xml:space="preserve">)</m:t>
                      </m:r>
                      <m:r>
                        <m:rPr>
                          <m:sty m:val="p"/>
                        </m:rPr>
                        <a:rPr sz="1100">
                          <a:solidFill>
                            <a:srgbClr val="252529"/>
                          </a:solidFill>
                          <a:latin typeface="Cambria Math"/>
                        </a:rPr>
                        <m:t xml:space="preserve">,</m:t>
                      </m:r>
                      <m:r>
                        <m:rPr>
                          <m:sty m:val="p"/>
                        </m:rPr>
                        <a:rPr sz="1100">
                          <a:solidFill>
                            <a:srgbClr val="252529"/>
                          </a:solidFill>
                          <a:latin typeface="Cambria Math"/>
                        </a:rPr>
                        <m:t xml:space="preserve">(</m:t>
                      </m:r>
                      <m:r>
                        <m:rPr>
                          <m:sty m:val="p"/>
                        </m:rPr>
                        <a:rPr sz="1100">
                          <a:solidFill>
                            <a:srgbClr val="252529"/>
                          </a:solidFill>
                          <a:latin typeface="Cambria Math"/>
                        </a:rPr>
                        <m:t xml:space="preserve">G</m:t>
                      </m:r>
                      <m:r>
                        <m:rPr>
                          <m:sty m:val="p"/>
                        </m:rPr>
                        <a:rPr sz="1100">
                          <a:solidFill>
                            <a:srgbClr val="252529"/>
                          </a:solidFill>
                          <a:latin typeface="Cambria Math"/>
                        </a:rPr>
                        <m:t xml:space="preserve">,</m:t>
                      </m:r>
                      <m:r>
                        <m:rPr>
                          <m:sty m:val="p"/>
                        </m:rPr>
                        <a:rPr sz="1100">
                          <a:solidFill>
                            <a:srgbClr val="252529"/>
                          </a:solidFill>
                          <a:latin typeface="Cambria Math"/>
                        </a:rPr>
                        <m:t xml:space="preserve">G</m:t>
                      </m:r>
                      <m:r>
                        <m:rPr>
                          <m:sty m:val="p"/>
                        </m:rPr>
                        <a:rPr sz="1100">
                          <a:solidFill>
                            <a:srgbClr val="252529"/>
                          </a:solidFill>
                          <a:latin typeface="Cambria Math"/>
                        </a:rPr>
                        <m:t xml:space="preserve">)</m:t>
                      </m:r>
                    </m:e>
                  </m:d>
                  <m:r>
                    <m:rPr>
                      <m:sty m:val="i"/>
                    </m:rPr>
                    <a:rPr sz="1100">
                      <a:solidFill>
                        <a:srgbClr val="252529"/>
                      </a:solidFill>
                      <a:latin typeface="Cambria Math"/>
                    </a:rPr>
                    <m:t xml:space="preserve">,</m:t>
                  </m:r>
                  <m:r>
                    <m:rPr>
                      <m:sty m:val="i"/>
                    </m:rPr>
                    <a:rPr sz="1100">
                      <a:solidFill>
                        <a:srgbClr val="252529"/>
                      </a:solidFill>
                      <a:latin typeface="Cambria Math"/>
                    </a:rPr>
                    <m:t xml:space="preserve"> </m:t>
                  </m:r>
                  <m:r>
                    <m:rPr>
                      <m:sty m:val="i"/>
                    </m:rPr>
                    <a:rPr sz="1100">
                      <a:solidFill>
                        <a:srgbClr val="252529"/>
                      </a:solidFill>
                      <a:latin typeface="Cambria Math"/>
                    </a:rPr>
                    <m:t xml:space="preserve"> </m:t>
                  </m:r>
                  <m:r>
                    <m:rPr>
                      <m:sty m:val="i"/>
                    </m:rPr>
                    <a:rPr sz="1100">
                      <a:solidFill>
                        <a:srgbClr val="252529"/>
                      </a:solidFill>
                      <a:latin typeface="Cambria Math"/>
                    </a:rPr>
                    <m:t xml:space="preserve">s</m:t>
                  </m:r>
                  <m:r>
                    <m:rPr>
                      <m:sty m:val="i"/>
                    </m:rPr>
                    <a:rPr sz="1100">
                      <a:solidFill>
                        <a:srgbClr val="252529"/>
                      </a:solidFill>
                      <a:latin typeface="Cambria Math"/>
                    </a:rPr>
                    <m:t xml:space="preserve">∈</m:t>
                  </m:r>
                  <m:r>
                    <m:rPr>
                      <m:sty m:val="i"/>
                    </m:rPr>
                    <a:rPr sz="1100">
                      <a:solidFill>
                        <a:srgbClr val="252529"/>
                      </a:solidFill>
                      <a:latin typeface="Cambria Math"/>
                    </a:rPr>
                    <m:t xml:space="preserve">[</m:t>
                  </m:r>
                  <m:r>
                    <m:rPr>
                      <m:sty m:val="i"/>
                    </m:rPr>
                    <a:rPr sz="1100">
                      <a:solidFill>
                        <a:srgbClr val="252529"/>
                      </a:solidFill>
                      <a:latin typeface="Cambria Math"/>
                    </a:rPr>
                    <m:t xml:space="preserve">0</m:t>
                  </m:r>
                  <m:r>
                    <m:rPr>
                      <m:sty m:val="i"/>
                    </m:rPr>
                    <a:rPr sz="1100">
                      <a:solidFill>
                        <a:srgbClr val="252529"/>
                      </a:solidFill>
                      <a:latin typeface="Cambria Math"/>
                    </a:rPr>
                    <m:t xml:space="preserve">,</m:t>
                  </m:r>
                  <m:r>
                    <m:rPr>
                      <m:sty m:val="i"/>
                    </m:rPr>
                    <a:rPr sz="1100">
                      <a:solidFill>
                        <a:srgbClr val="252529"/>
                      </a:solidFill>
                      <a:latin typeface="Cambria Math"/>
                    </a:rPr>
                    <m:t xml:space="preserve">1</m:t>
                  </m:r>
                  <m:r>
                    <m:rPr>
                      <m:sty m:val="i"/>
                    </m:rPr>
                    <a:rPr sz="1100">
                      <a:solidFill>
                        <a:srgbClr val="252529"/>
                      </a:solidFill>
                      <a:latin typeface="Cambria Math"/>
                    </a:rPr>
                    <m:t xml:space="preserve">]</m:t>
                  </m:r>
                </m:oMath>
              </m:oMathPara>
            </a14:m>
            <a:endParaRPr sz="1100"/>
          </a:p>
        </p:txBody>
      </p:sp>
    </p:spTree>
    <p:extLst>
      <p:ext uri="{BB962C8B-B14F-4D97-AF65-F5344CB8AC3E}">
        <p14:creationId xmlns:p14="http://schemas.microsoft.com/office/powerpoint/2010/main" val="3591734270"/>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300">
                      <a:solidFill>
                        <a:srgbClr val="252529"/>
                      </a:solidFill>
                      <a:latin typeface="Cambria Math"/>
                    </a:rPr>
                    <m:t xml:space="preserve">𝒯</m:t>
                  </m:r>
                  <m:acc>
                    <m:accPr>
                      <m:chr m:val="̇"/>
                      <m:ctrlPr>
                        <a:rPr sz="2300">
                          <a:solidFill>
                            <a:srgbClr val="252529"/>
                          </a:solidFill>
                          <a:latin typeface="Cambria Math"/>
                        </a:rPr>
                      </m:ctrlPr>
                    </m:accPr>
                    <m:e>
                      <m:sSub>
                        <m:sSubPr>
                          <m:ctrlPr>
                            <a:rPr sz="2300">
                              <a:solidFill>
                                <a:srgbClr val="252529"/>
                              </a:solidFill>
                              <a:latin typeface="Cambria Math"/>
                            </a:rPr>
                          </m:ctrlPr>
                        </m:sSubPr>
                        <m:e>
                          <m:r>
                            <m:rPr>
                              <m:sty m:val="bi"/>
                            </m:rPr>
                            <a:rPr sz="2300">
                              <a:solidFill>
                                <a:srgbClr val="252529"/>
                              </a:solidFill>
                              <a:latin typeface="Cambria Math"/>
                            </a:rPr>
                            <m:t xml:space="preserve">x</m:t>
                          </m:r>
                        </m:e>
                        <m:sub>
                          <m:r>
                            <m:rPr>
                              <m:sty m:val="p"/>
                            </m:rPr>
                            <a:rPr sz="2300">
                              <a:solidFill>
                                <a:srgbClr val="252529"/>
                              </a:solidFill>
                              <a:latin typeface="Cambria Math"/>
                            </a:rPr>
                            <m:t xml:space="preserve">f</m:t>
                          </m:r>
                        </m:sub>
                      </m:sSub>
                    </m:e>
                  </m:acc>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r>
                    <m:rPr>
                      <m:sty m:val="i"/>
                    </m:rPr>
                    <a:rPr sz="2300">
                      <a:solidFill>
                        <a:srgbClr val="252529"/>
                      </a:solidFill>
                      <a:latin typeface="Cambria Math"/>
                    </a:rPr>
                    <m:t xml:space="preserve">=</m:t>
                  </m:r>
                  <m:r>
                    <m:rPr>
                      <m:sty m:val="p"/>
                    </m:rPr>
                    <a:rPr sz="2300">
                      <a:solidFill>
                        <a:srgbClr val="252529"/>
                      </a:solidFill>
                      <a:latin typeface="Cambria Math"/>
                    </a:rPr>
                    <m:t xml:space="preserve">𝒜</m:t>
                  </m:r>
                  <m:sSub>
                    <m:sSubPr>
                      <m:ctrlPr>
                        <a:rPr sz="2300">
                          <a:solidFill>
                            <a:srgbClr val="252529"/>
                          </a:solidFill>
                          <a:latin typeface="Cambria Math"/>
                        </a:rPr>
                      </m:ctrlPr>
                    </m:sSubPr>
                    <m:e>
                      <m:r>
                        <m:rPr>
                          <m:sty m:val="bi"/>
                        </m:rPr>
                        <a:rPr sz="2300">
                          <a:solidFill>
                            <a:srgbClr val="252529"/>
                          </a:solidFill>
                          <a:latin typeface="Cambria Math"/>
                        </a:rPr>
                        <m:t xml:space="preserve">x</m:t>
                      </m:r>
                    </m:e>
                    <m:sub>
                      <m:r>
                        <m:rPr>
                          <m:sty m:val="p"/>
                        </m:rPr>
                        <a:rPr sz="2300">
                          <a:solidFill>
                            <a:srgbClr val="252529"/>
                          </a:solidFill>
                          <a:latin typeface="Cambria Math"/>
                        </a:rPr>
                        <m:t xml:space="preserve">f</m:t>
                      </m:r>
                    </m:sub>
                  </m:sSub>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r>
                    <m:rPr>
                      <m:sty m:val="i"/>
                    </m:rPr>
                    <a:rPr sz="2300">
                      <a:solidFill>
                        <a:srgbClr val="252529"/>
                      </a:solidFill>
                      <a:latin typeface="Cambria Math"/>
                    </a:rPr>
                    <m:t xml:space="preserve">+</m:t>
                  </m:r>
                  <m:r>
                    <m:rPr>
                      <m:sty m:val="p"/>
                    </m:rPr>
                    <a:rPr sz="2300">
                      <a:solidFill>
                        <a:srgbClr val="252529"/>
                      </a:solidFill>
                      <a:latin typeface="Cambria Math"/>
                    </a:rPr>
                    <m:t xml:space="preserve">ℬ</m:t>
                  </m:r>
                  <m:r>
                    <m:rPr>
                      <m:sty m:val="i"/>
                    </m:rPr>
                    <a:rPr sz="2300">
                      <a:solidFill>
                        <a:srgbClr val="252529"/>
                      </a:solidFill>
                      <a:latin typeface="Cambria Math"/>
                    </a:rPr>
                    <m:t xml:space="preserve">w</m:t>
                  </m:r>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oMath>
              </m:oMathPara>
            </a14:m>
            <a:endParaRPr sz="2300"/>
          </a:p>
        </p:txBody>
      </p:sp>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300">
                      <a:solidFill>
                        <a:srgbClr val="252529"/>
                      </a:solidFill>
                      <a:latin typeface="Cambria Math"/>
                    </a:rPr>
                    <m:t xml:space="preserve">z</m:t>
                  </m:r>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r>
                    <m:rPr>
                      <m:sty m:val="i"/>
                    </m:rPr>
                    <a:rPr sz="2300">
                      <a:solidFill>
                        <a:srgbClr val="252529"/>
                      </a:solidFill>
                      <a:latin typeface="Cambria Math"/>
                    </a:rPr>
                    <m:t xml:space="preserve">=</m:t>
                  </m:r>
                  <m:r>
                    <m:rPr>
                      <m:sty m:val="p"/>
                    </m:rPr>
                    <a:rPr sz="2300">
                      <a:solidFill>
                        <a:srgbClr val="252529"/>
                      </a:solidFill>
                      <a:latin typeface="Cambria Math"/>
                    </a:rPr>
                    <m:t xml:space="preserve">𝒞</m:t>
                  </m:r>
                  <m:sSub>
                    <m:sSubPr>
                      <m:ctrlPr>
                        <a:rPr sz="2300">
                          <a:solidFill>
                            <a:srgbClr val="252529"/>
                          </a:solidFill>
                          <a:latin typeface="Cambria Math"/>
                        </a:rPr>
                      </m:ctrlPr>
                    </m:sSubPr>
                    <m:e>
                      <m:r>
                        <m:rPr>
                          <m:sty m:val="bi"/>
                        </m:rPr>
                        <a:rPr sz="2300">
                          <a:solidFill>
                            <a:srgbClr val="252529"/>
                          </a:solidFill>
                          <a:latin typeface="Cambria Math"/>
                        </a:rPr>
                        <m:t xml:space="preserve">x</m:t>
                      </m:r>
                    </m:e>
                    <m:sub>
                      <m:r>
                        <m:rPr>
                          <m:sty m:val="p"/>
                        </m:rPr>
                        <a:rPr sz="2300">
                          <a:solidFill>
                            <a:srgbClr val="252529"/>
                          </a:solidFill>
                          <a:latin typeface="Cambria Math"/>
                        </a:rPr>
                        <m:t xml:space="preserve">f</m:t>
                      </m:r>
                    </m:sub>
                  </m:sSub>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r>
                    <m:rPr>
                      <m:sty m:val="i"/>
                    </m:rPr>
                    <a:rPr sz="2300">
                      <a:solidFill>
                        <a:srgbClr val="252529"/>
                      </a:solidFill>
                      <a:latin typeface="Cambria Math"/>
                    </a:rPr>
                    <m:t xml:space="preserve">+</m:t>
                  </m:r>
                  <m:r>
                    <m:rPr>
                      <m:sty m:val="p"/>
                    </m:rPr>
                    <a:rPr sz="2300">
                      <a:solidFill>
                        <a:srgbClr val="252529"/>
                      </a:solidFill>
                      <a:latin typeface="Cambria Math"/>
                    </a:rPr>
                    <m:t xml:space="preserve">𝒟</m:t>
                  </m:r>
                  <m:r>
                    <m:rPr>
                      <m:sty m:val="i"/>
                    </m:rPr>
                    <a:rPr sz="2300">
                      <a:solidFill>
                        <a:srgbClr val="252529"/>
                      </a:solidFill>
                      <a:latin typeface="Cambria Math"/>
                    </a:rPr>
                    <m:t xml:space="preserve">w</m:t>
                  </m:r>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oMath>
              </m:oMathPara>
            </a14:m>
            <a:endParaRPr sz="2300"/>
          </a:p>
        </p:txBody>
      </p:sp>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100">
                      <a:solidFill>
                        <a:srgbClr val="252529"/>
                      </a:solidFill>
                      <a:latin typeface="Cambria Math"/>
                    </a:rPr>
                    <m:t xml:space="preserve">𝒯</m:t>
                  </m:r>
                  <m:r>
                    <m:rPr>
                      <m:sty m:val="i"/>
                    </m:rPr>
                    <a:rPr sz="2100">
                      <a:solidFill>
                        <a:srgbClr val="252529"/>
                      </a:solidFill>
                      <a:latin typeface="Cambria Math"/>
                    </a:rPr>
                    <m:t xml:space="preserve">,</m:t>
                  </m:r>
                  <m:r>
                    <m:rPr>
                      <m:sty m:val="p"/>
                    </m:rPr>
                    <a:rPr sz="2100">
                      <a:solidFill>
                        <a:srgbClr val="252529"/>
                      </a:solidFill>
                      <a:latin typeface="Cambria Math"/>
                    </a:rPr>
                    <m:t xml:space="preserve">𝒜</m:t>
                  </m:r>
                  <m:r>
                    <m:rPr>
                      <m:sty m:val="i"/>
                    </m:rPr>
                    <a:rPr sz="2100">
                      <a:solidFill>
                        <a:srgbClr val="252529"/>
                      </a:solidFill>
                      <a:latin typeface="Cambria Math"/>
                    </a:rPr>
                    <m:t xml:space="preserve">,</m:t>
                  </m:r>
                  <m:r>
                    <m:rPr>
                      <m:sty m:val="p"/>
                    </m:rPr>
                    <a:rPr sz="2100">
                      <a:solidFill>
                        <a:srgbClr val="252529"/>
                      </a:solidFill>
                      <a:latin typeface="Cambria Math"/>
                    </a:rPr>
                    <m:t xml:space="preserve">ℬ</m:t>
                  </m:r>
                  <m:r>
                    <m:rPr>
                      <m:sty m:val="i"/>
                    </m:rPr>
                    <a:rPr sz="2100">
                      <a:solidFill>
                        <a:srgbClr val="252529"/>
                      </a:solidFill>
                      <a:latin typeface="Cambria Math"/>
                    </a:rPr>
                    <m:t xml:space="preserve">,</m:t>
                  </m:r>
                  <m:r>
                    <m:rPr>
                      <m:sty m:val="p"/>
                    </m:rPr>
                    <a:rPr sz="2100">
                      <a:solidFill>
                        <a:srgbClr val="252529"/>
                      </a:solidFill>
                      <a:latin typeface="Cambria Math"/>
                    </a:rPr>
                    <m:t xml:space="preserve">𝒞</m:t>
                  </m:r>
                  <m:r>
                    <m:rPr>
                      <m:sty m:val="i"/>
                    </m:rPr>
                    <a:rPr sz="2100">
                      <a:solidFill>
                        <a:srgbClr val="252529"/>
                      </a:solidFill>
                      <a:latin typeface="Cambria Math"/>
                    </a:rPr>
                    <m:t xml:space="preserve">,</m:t>
                  </m:r>
                  <m:r>
                    <m:rPr>
                      <m:sty m:val="p"/>
                    </m:rPr>
                    <a:rPr sz="2100">
                      <a:solidFill>
                        <a:srgbClr val="252529"/>
                      </a:solidFill>
                      <a:latin typeface="Cambria Math"/>
                    </a:rPr>
                    <m:t xml:space="preserve">𝒟</m:t>
                  </m:r>
                  <m:r>
                    <m:rPr>
                      <m:sty m:val="i"/>
                    </m:rPr>
                    <a:rPr sz="2100">
                      <a:solidFill>
                        <a:srgbClr val="252529"/>
                      </a:solidFill>
                      <a:latin typeface="Cambria Math"/>
                    </a:rPr>
                    <m:t xml:space="preserve">∈</m:t>
                  </m:r>
                  <m:sSub>
                    <m:sSubPr>
                      <m:ctrlPr>
                        <a:rPr sz="2100">
                          <a:solidFill>
                            <a:srgbClr val="252529"/>
                          </a:solidFill>
                          <a:latin typeface="Cambria Math"/>
                        </a:rPr>
                      </m:ctrlPr>
                    </m:sSubPr>
                    <m:e>
                      <m:r>
                        <m:rPr>
                          <m:sty m:val="i"/>
                        </m:rPr>
                        <a:rPr sz="2100">
                          <a:solidFill>
                            <a:srgbClr val="252529"/>
                          </a:solidFill>
                          <a:latin typeface="Cambria Math"/>
                        </a:rPr>
                        <m:t xml:space="preserve">Π</m:t>
                      </m:r>
                    </m:e>
                    <m:sub>
                      <m:r>
                        <m:rPr>
                          <m:sty m:val="p"/>
                        </m:rPr>
                        <a:rPr sz="2100">
                          <a:solidFill>
                            <a:srgbClr val="252529"/>
                          </a:solidFill>
                          <a:latin typeface="Cambria Math"/>
                        </a:rPr>
                        <m:t xml:space="preserve">4</m:t>
                      </m:r>
                    </m:sub>
                  </m:sSub>
                </m:oMath>
              </m:oMathPara>
            </a14:m>
            <a:endParaRPr sz="2100"/>
          </a:p>
        </p:txBody>
      </p:sp>
    </p:spTree>
    <p:extLst>
      <p:ext uri="{BB962C8B-B14F-4D97-AF65-F5344CB8AC3E}">
        <p14:creationId xmlns:p14="http://schemas.microsoft.com/office/powerpoint/2010/main" val="3591734270"/>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400">
                      <a:solidFill>
                        <a:srgbClr val="252529"/>
                      </a:solidFill>
                      <a:latin typeface="Cambria Math"/>
                    </a:rPr>
                    <m:t xml:space="preserve">𝒜</m:t>
                  </m:r>
                  <m:r>
                    <m:rPr>
                      <m:sty m:val="i"/>
                    </m:rPr>
                    <a:rPr sz="2400">
                      <a:solidFill>
                        <a:srgbClr val="252529"/>
                      </a:solidFill>
                      <a:latin typeface="Cambria Math"/>
                    </a:rPr>
                    <m:t xml:space="preserve">+</m:t>
                  </m:r>
                  <m:r>
                    <m:rPr>
                      <m:sty m:val="p"/>
                    </m:rPr>
                    <a:rPr sz="2400">
                      <a:solidFill>
                        <a:srgbClr val="252529"/>
                      </a:solidFill>
                      <a:latin typeface="Cambria Math"/>
                    </a:rPr>
                    <m:t xml:space="preserve">ℬ</m:t>
                  </m:r>
                  <m:r>
                    <m:rPr>
                      <m:sty m:val="i"/>
                    </m:rPr>
                    <a:rPr sz="2400">
                      <a:solidFill>
                        <a:srgbClr val="252529"/>
                      </a:solidFill>
                      <a:latin typeface="Cambria Math"/>
                    </a:rPr>
                    <m:t xml:space="preserve">∈</m:t>
                  </m:r>
                  <m:sSub>
                    <m:sSubPr>
                      <m:ctrlPr>
                        <a:rPr sz="2400">
                          <a:solidFill>
                            <a:srgbClr val="252529"/>
                          </a:solidFill>
                          <a:latin typeface="Cambria Math"/>
                        </a:rPr>
                      </m:ctrlPr>
                    </m:sSubPr>
                    <m:e>
                      <m:r>
                        <m:rPr>
                          <m:sty m:val="i"/>
                        </m:rPr>
                        <a:rPr sz="2400">
                          <a:solidFill>
                            <a:srgbClr val="252529"/>
                          </a:solidFill>
                          <a:latin typeface="Cambria Math"/>
                        </a:rPr>
                        <m:t xml:space="preserve">Π</m:t>
                      </m:r>
                    </m:e>
                    <m:sub>
                      <m:r>
                        <m:rPr>
                          <m:sty m:val="p"/>
                        </m:rPr>
                        <a:rPr sz="2400">
                          <a:solidFill>
                            <a:srgbClr val="252529"/>
                          </a:solidFill>
                          <a:latin typeface="Cambria Math"/>
                        </a:rPr>
                        <m:t xml:space="preserve">4</m:t>
                      </m:r>
                    </m:sub>
                  </m:sSub>
                </m:oMath>
              </m:oMathPara>
            </a14:m>
            <a:endParaRPr sz="2400"/>
          </a:p>
        </p:txBody>
      </p:sp>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400">
                      <a:solidFill>
                        <a:srgbClr val="252529"/>
                      </a:solidFill>
                      <a:latin typeface="Cambria Math"/>
                    </a:rPr>
                    <m:t xml:space="preserve">𝒜</m:t>
                  </m:r>
                  <m:r>
                    <m:rPr>
                      <m:sty m:val="p"/>
                    </m:rPr>
                    <a:rPr sz="2400">
                      <a:solidFill>
                        <a:srgbClr val="252529"/>
                      </a:solidFill>
                      <a:latin typeface="Cambria Math"/>
                    </a:rPr>
                    <m:t xml:space="preserve">ℬ</m:t>
                  </m:r>
                  <m:r>
                    <m:rPr>
                      <m:sty m:val="i"/>
                    </m:rPr>
                    <a:rPr sz="2400">
                      <a:solidFill>
                        <a:srgbClr val="252529"/>
                      </a:solidFill>
                      <a:latin typeface="Cambria Math"/>
                    </a:rPr>
                    <m:t xml:space="preserve">∈</m:t>
                  </m:r>
                  <m:sSub>
                    <m:sSubPr>
                      <m:ctrlPr>
                        <a:rPr sz="2400">
                          <a:solidFill>
                            <a:srgbClr val="252529"/>
                          </a:solidFill>
                          <a:latin typeface="Cambria Math"/>
                        </a:rPr>
                      </m:ctrlPr>
                    </m:sSubPr>
                    <m:e>
                      <m:r>
                        <m:rPr>
                          <m:sty m:val="i"/>
                        </m:rPr>
                        <a:rPr sz="2400">
                          <a:solidFill>
                            <a:srgbClr val="252529"/>
                          </a:solidFill>
                          <a:latin typeface="Cambria Math"/>
                        </a:rPr>
                        <m:t xml:space="preserve">Π</m:t>
                      </m:r>
                    </m:e>
                    <m:sub>
                      <m:r>
                        <m:rPr>
                          <m:sty m:val="p"/>
                        </m:rPr>
                        <a:rPr sz="2400">
                          <a:solidFill>
                            <a:srgbClr val="252529"/>
                          </a:solidFill>
                          <a:latin typeface="Cambria Math"/>
                        </a:rPr>
                        <m:t xml:space="preserve">4</m:t>
                      </m:r>
                    </m:sub>
                  </m:sSub>
                </m:oMath>
              </m:oMathPara>
            </a14:m>
            <a:endParaRPr sz="2400"/>
          </a:p>
        </p:txBody>
      </p:sp>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m:oMathParaPr>
                  <m:jc m:val="center"/>
                </m:oMathParaPr>
                <m:oMath>
                  <m:sSup>
                    <m:sSupPr>
                      <m:ctrlPr>
                        <a:rPr sz="2400">
                          <a:solidFill>
                            <a:srgbClr val="252529"/>
                          </a:solidFill>
                          <a:latin typeface="Cambria Math"/>
                        </a:rPr>
                      </m:ctrlPr>
                    </m:sSupPr>
                    <m:e>
                      <m:r>
                        <m:rPr>
                          <m:sty m:val="p"/>
                        </m:rPr>
                        <a:rPr sz="2400">
                          <a:solidFill>
                            <a:srgbClr val="252529"/>
                          </a:solidFill>
                          <a:latin typeface="Cambria Math"/>
                        </a:rPr>
                        <m:t xml:space="preserve">𝒜</m:t>
                      </m:r>
                    </m:e>
                    <m:sup>
                      <m:r>
                        <m:rPr>
                          <m:sty m:val="p"/>
                        </m:rPr>
                        <a:rPr sz="2400">
                          <a:solidFill>
                            <a:srgbClr val="252529"/>
                          </a:solidFill>
                          <a:latin typeface="Cambria Math"/>
                        </a:rPr>
                        <m:t xml:space="preserve">*</m:t>
                      </m:r>
                    </m:sup>
                  </m:sSup>
                  <m:r>
                    <m:rPr>
                      <m:sty m:val="i"/>
                    </m:rPr>
                    <a:rPr sz="2400">
                      <a:solidFill>
                        <a:srgbClr val="252529"/>
                      </a:solidFill>
                      <a:latin typeface="Cambria Math"/>
                    </a:rPr>
                    <m:t xml:space="preserve">∈</m:t>
                  </m:r>
                  <m:sSub>
                    <m:sSubPr>
                      <m:ctrlPr>
                        <a:rPr sz="2400">
                          <a:solidFill>
                            <a:srgbClr val="252529"/>
                          </a:solidFill>
                          <a:latin typeface="Cambria Math"/>
                        </a:rPr>
                      </m:ctrlPr>
                    </m:sSubPr>
                    <m:e>
                      <m:r>
                        <m:rPr>
                          <m:sty m:val="i"/>
                        </m:rPr>
                        <a:rPr sz="2400">
                          <a:solidFill>
                            <a:srgbClr val="252529"/>
                          </a:solidFill>
                          <a:latin typeface="Cambria Math"/>
                        </a:rPr>
                        <m:t xml:space="preserve">Π</m:t>
                      </m:r>
                    </m:e>
                    <m:sub>
                      <m:r>
                        <m:rPr>
                          <m:sty m:val="p"/>
                        </m:rPr>
                        <a:rPr sz="2400">
                          <a:solidFill>
                            <a:srgbClr val="252529"/>
                          </a:solidFill>
                          <a:latin typeface="Cambria Math"/>
                        </a:rPr>
                        <m:t xml:space="preserve">4</m:t>
                      </m:r>
                    </m:sub>
                  </m:sSub>
                </m:oMath>
              </m:oMathPara>
            </a14:m>
            <a:endParaRPr sz="2400"/>
          </a:p>
        </p:txBody>
      </p:sp>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m:oMathParaPr>
                  <m:jc m:val="center"/>
                </m:oMathParaPr>
                <m:oMath>
                  <m:d>
                    <m:dPr>
                      <m:begChr m:val="["/>
                      <m:endChr m:val="]"/>
                      <m:ctrlPr>
                        <a:rPr sz="2400">
                          <a:solidFill>
                            <a:srgbClr val="252529"/>
                          </a:solidFill>
                          <a:latin typeface="Cambria Math"/>
                        </a:rPr>
                      </m:ctrlPr>
                    </m:dPr>
                    <m:e>
                      <m:r>
                        <m:rPr>
                          <m:sty m:val="p"/>
                        </m:rPr>
                        <a:rPr sz="2400">
                          <a:solidFill>
                            <a:srgbClr val="252529"/>
                          </a:solidFill>
                          <a:latin typeface="Cambria Math"/>
                        </a:rPr>
                        <m:t xml:space="preserve">𝒜</m:t>
                      </m:r>
                      <m:r>
                        <m:rPr>
                          <m:sty m:val="i"/>
                        </m:rPr>
                        <a:rPr sz="2400">
                          <a:solidFill>
                            <a:srgbClr val="252529"/>
                          </a:solidFill>
                          <a:latin typeface="Cambria Math"/>
                        </a:rPr>
                        <m:t xml:space="preserve"> </m:t>
                      </m:r>
                      <m:r>
                        <m:rPr>
                          <m:sty m:val="i"/>
                        </m:rPr>
                        <a:rPr sz="2400">
                          <a:solidFill>
                            <a:srgbClr val="252529"/>
                          </a:solidFill>
                          <a:latin typeface="Cambria Math"/>
                        </a:rPr>
                        <m:t xml:space="preserve"> </m:t>
                      </m:r>
                      <m:r>
                        <m:rPr>
                          <m:sty m:val="p"/>
                        </m:rPr>
                        <a:rPr sz="2400">
                          <a:solidFill>
                            <a:srgbClr val="252529"/>
                          </a:solidFill>
                          <a:latin typeface="Cambria Math"/>
                        </a:rPr>
                        <m:t xml:space="preserve">ℬ</m:t>
                      </m:r>
                    </m:e>
                  </m:d>
                  <m:r>
                    <m:rPr>
                      <m:sty m:val="i"/>
                    </m:rPr>
                    <a:rPr sz="2400">
                      <a:solidFill>
                        <a:srgbClr val="252529"/>
                      </a:solidFill>
                      <a:latin typeface="Cambria Math"/>
                    </a:rPr>
                    <m:t xml:space="preserve">∈</m:t>
                  </m:r>
                  <m:sSub>
                    <m:sSubPr>
                      <m:ctrlPr>
                        <a:rPr sz="2400">
                          <a:solidFill>
                            <a:srgbClr val="252529"/>
                          </a:solidFill>
                          <a:latin typeface="Cambria Math"/>
                        </a:rPr>
                      </m:ctrlPr>
                    </m:sSubPr>
                    <m:e>
                      <m:r>
                        <m:rPr>
                          <m:sty m:val="i"/>
                        </m:rPr>
                        <a:rPr sz="2400">
                          <a:solidFill>
                            <a:srgbClr val="252529"/>
                          </a:solidFill>
                          <a:latin typeface="Cambria Math"/>
                        </a:rPr>
                        <m:t xml:space="preserve">Π</m:t>
                      </m:r>
                    </m:e>
                    <m:sub>
                      <m:r>
                        <m:rPr>
                          <m:sty m:val="p"/>
                        </m:rPr>
                        <a:rPr sz="2400">
                          <a:solidFill>
                            <a:srgbClr val="252529"/>
                          </a:solidFill>
                          <a:latin typeface="Cambria Math"/>
                        </a:rPr>
                        <m:t xml:space="preserve">4</m:t>
                      </m:r>
                    </m:sub>
                  </m:sSub>
                </m:oMath>
              </m:oMathPara>
            </a14:m>
            <a:endParaRPr sz="2400"/>
          </a:p>
        </p:txBody>
      </p:sp>
    </p:spTree>
    <p:extLst>
      <p:ext uri="{BB962C8B-B14F-4D97-AF65-F5344CB8AC3E}">
        <p14:creationId xmlns:p14="http://schemas.microsoft.com/office/powerpoint/2010/main" val="3591734270"/>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aseline="0" b="0" i="0" u="none">
                <a:solidFill>
                  <a:srgbClr val="252529"/>
                </a:solidFill>
                <a:latin typeface="Aptos"/>
                <a:ea typeface="Aptos"/>
                <a:cs typeface="Aptos"/>
              </a:rPr>
              <a:t xml:space="preserve">Exponential stability of the PDE</a:t>
            </a:r>
            <a:endParaRPr sz="1700"/>
          </a:p>
        </p:txBody>
      </p:sp>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000">
                      <a:solidFill>
                        <a:srgbClr val="252529"/>
                      </a:solidFill>
                      <a:latin typeface="Cambria Math"/>
                    </a:rPr>
                    <m:t xml:space="preserve">𝒫</m:t>
                  </m:r>
                  <m:r>
                    <m:rPr>
                      <m:sty m:val="i"/>
                    </m:rPr>
                    <a:rPr sz="2000">
                      <a:solidFill>
                        <a:srgbClr val="252529"/>
                      </a:solidFill>
                      <a:latin typeface="Cambria Math"/>
                    </a:rPr>
                    <m:t xml:space="preserve">≽</m:t>
                  </m:r>
                  <m:r>
                    <m:rPr>
                      <m:sty m:val="i"/>
                    </m:rPr>
                    <a:rPr sz="2000">
                      <a:solidFill>
                        <a:srgbClr val="252529"/>
                      </a:solidFill>
                      <a:latin typeface="Cambria Math"/>
                    </a:rPr>
                    <m:t xml:space="preserve">ε</m:t>
                  </m:r>
                  <m:r>
                    <m:rPr>
                      <m:sty m:val="p"/>
                    </m:rPr>
                    <a:rPr sz="2000">
                      <a:solidFill>
                        <a:srgbClr val="252529"/>
                      </a:solidFill>
                      <a:latin typeface="Cambria Math"/>
                    </a:rPr>
                    <m:t xml:space="preserve">ℐ</m:t>
                  </m:r>
                  <m:r>
                    <m:rPr>
                      <m:sty m:val="i"/>
                    </m:rPr>
                    <a:rPr sz="2000">
                      <a:solidFill>
                        <a:srgbClr val="252529"/>
                      </a:solidFill>
                      <a:latin typeface="Cambria Math"/>
                    </a:rPr>
                    <m:t xml:space="preserve">,</m:t>
                  </m:r>
                  <m:r>
                    <m:rPr>
                      <m:sty m:val="i"/>
                    </m:rPr>
                    <a:rPr sz="2000">
                      <a:solidFill>
                        <a:srgbClr val="252529"/>
                      </a:solidFill>
                      <a:latin typeface="Cambria Math"/>
                    </a:rPr>
                    <m:t xml:space="preserve"> </m:t>
                  </m:r>
                  <m:r>
                    <m:rPr>
                      <m:sty m:val="i"/>
                    </m:rPr>
                    <a:rPr sz="2000">
                      <a:solidFill>
                        <a:srgbClr val="252529"/>
                      </a:solidFill>
                      <a:latin typeface="Cambria Math"/>
                    </a:rPr>
                    <m:t xml:space="preserve"> </m:t>
                  </m:r>
                  <m:r>
                    <m:rPr>
                      <m:sty m:val="i"/>
                    </m:rPr>
                    <a:rPr sz="2000">
                      <a:solidFill>
                        <a:srgbClr val="252529"/>
                      </a:solidFill>
                      <a:latin typeface="Cambria Math"/>
                    </a:rPr>
                    <m:t xml:space="preserve"> </m:t>
                  </m:r>
                  <m:r>
                    <m:rPr>
                      <m:sty m:val="i"/>
                    </m:rPr>
                    <a:rPr sz="2000">
                      <a:solidFill>
                        <a:srgbClr val="252529"/>
                      </a:solidFill>
                      <a:latin typeface="Cambria Math"/>
                    </a:rPr>
                    <m:t xml:space="preserve">ε</m:t>
                  </m:r>
                  <m:r>
                    <m:rPr>
                      <m:sty m:val="i"/>
                    </m:rPr>
                    <a:rPr sz="2000">
                      <a:solidFill>
                        <a:srgbClr val="252529"/>
                      </a:solidFill>
                      <a:latin typeface="Cambria Math"/>
                    </a:rPr>
                    <m:t xml:space="preserve">&gt;</m:t>
                  </m:r>
                  <m:r>
                    <m:rPr>
                      <m:sty m:val="i"/>
                    </m:rPr>
                    <a:rPr sz="2000">
                      <a:solidFill>
                        <a:srgbClr val="252529"/>
                      </a:solidFill>
                      <a:latin typeface="Cambria Math"/>
                    </a:rPr>
                    <m:t xml:space="preserve">0</m:t>
                  </m:r>
                </m:oMath>
              </m:oMathPara>
            </a14:m>
            <a:endParaRPr sz="2000"/>
          </a:p>
        </p:txBody>
      </p:sp>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m:oMathParaPr>
                  <m:jc m:val="center"/>
                </m:oMathParaPr>
                <m:oMath>
                  <m:sSup>
                    <m:sSupPr>
                      <m:ctrlPr>
                        <a:rPr sz="1900">
                          <a:solidFill>
                            <a:srgbClr val="252529"/>
                          </a:solidFill>
                          <a:latin typeface="Cambria Math"/>
                        </a:rPr>
                      </m:ctrlPr>
                    </m:sSupPr>
                    <m:e>
                      <m:r>
                        <m:rPr>
                          <m:sty m:val="p"/>
                        </m:rPr>
                        <a:rPr sz="1900">
                          <a:solidFill>
                            <a:srgbClr val="252529"/>
                          </a:solidFill>
                          <a:latin typeface="Cambria Math"/>
                        </a:rPr>
                        <m:t xml:space="preserve">𝒯</m:t>
                      </m:r>
                    </m:e>
                    <m:sup>
                      <m:r>
                        <m:rPr>
                          <m:sty m:val="p"/>
                        </m:rPr>
                        <a:rPr sz="1900">
                          <a:solidFill>
                            <a:srgbClr val="252529"/>
                          </a:solidFill>
                          <a:latin typeface="Cambria Math"/>
                        </a:rPr>
                        <m:t xml:space="preserve">*</m:t>
                      </m:r>
                    </m:sup>
                  </m:sSup>
                  <m:r>
                    <m:rPr>
                      <m:sty m:val="p"/>
                    </m:rPr>
                    <a:rPr sz="1900">
                      <a:solidFill>
                        <a:srgbClr val="252529"/>
                      </a:solidFill>
                      <a:latin typeface="Cambria Math"/>
                    </a:rPr>
                    <m:t xml:space="preserve">𝒫</m:t>
                  </m:r>
                  <m:r>
                    <m:rPr>
                      <m:sty m:val="p"/>
                    </m:rPr>
                    <a:rPr sz="1900">
                      <a:solidFill>
                        <a:srgbClr val="252529"/>
                      </a:solidFill>
                      <a:latin typeface="Cambria Math"/>
                    </a:rPr>
                    <m:t xml:space="preserve">𝒜</m:t>
                  </m:r>
                  <m:r>
                    <m:rPr>
                      <m:sty m:val="i"/>
                    </m:rPr>
                    <a:rPr sz="1900">
                      <a:solidFill>
                        <a:srgbClr val="252529"/>
                      </a:solidFill>
                      <a:latin typeface="Cambria Math"/>
                    </a:rPr>
                    <m:t xml:space="preserve">+</m:t>
                  </m:r>
                  <m:sSup>
                    <m:sSupPr>
                      <m:ctrlPr>
                        <a:rPr sz="1900">
                          <a:solidFill>
                            <a:srgbClr val="252529"/>
                          </a:solidFill>
                          <a:latin typeface="Cambria Math"/>
                        </a:rPr>
                      </m:ctrlPr>
                    </m:sSupPr>
                    <m:e>
                      <m:r>
                        <m:rPr>
                          <m:sty m:val="p"/>
                        </m:rPr>
                        <a:rPr sz="1900">
                          <a:solidFill>
                            <a:srgbClr val="252529"/>
                          </a:solidFill>
                          <a:latin typeface="Cambria Math"/>
                        </a:rPr>
                        <m:t xml:space="preserve">𝒜</m:t>
                      </m:r>
                    </m:e>
                    <m:sup>
                      <m:r>
                        <m:rPr>
                          <m:sty m:val="p"/>
                        </m:rPr>
                        <a:rPr sz="1900">
                          <a:solidFill>
                            <a:srgbClr val="252529"/>
                          </a:solidFill>
                          <a:latin typeface="Cambria Math"/>
                        </a:rPr>
                        <m:t xml:space="preserve">*</m:t>
                      </m:r>
                    </m:sup>
                  </m:sSup>
                  <m:r>
                    <m:rPr>
                      <m:sty m:val="p"/>
                    </m:rPr>
                    <a:rPr sz="1900">
                      <a:solidFill>
                        <a:srgbClr val="252529"/>
                      </a:solidFill>
                      <a:latin typeface="Cambria Math"/>
                    </a:rPr>
                    <m:t xml:space="preserve">𝒫</m:t>
                  </m:r>
                  <m:r>
                    <m:rPr>
                      <m:sty m:val="p"/>
                    </m:rPr>
                    <a:rPr sz="1900">
                      <a:solidFill>
                        <a:srgbClr val="252529"/>
                      </a:solidFill>
                      <a:latin typeface="Cambria Math"/>
                    </a:rPr>
                    <m:t xml:space="preserve">𝒯</m:t>
                  </m:r>
                  <m:r>
                    <m:rPr>
                      <m:sty m:val="i"/>
                    </m:rPr>
                    <a:rPr sz="1900">
                      <a:solidFill>
                        <a:srgbClr val="252529"/>
                      </a:solidFill>
                      <a:latin typeface="Cambria Math"/>
                    </a:rPr>
                    <m:t xml:space="preserve">≼</m:t>
                  </m:r>
                  <m:r>
                    <m:rPr>
                      <m:sty m:val="i"/>
                    </m:rPr>
                    <a:rPr sz="1900">
                      <a:solidFill>
                        <a:srgbClr val="252529"/>
                      </a:solidFill>
                      <a:latin typeface="Cambria Math"/>
                    </a:rPr>
                    <m:t xml:space="preserve">−</m:t>
                  </m:r>
                  <m:r>
                    <m:rPr>
                      <m:sty m:val="i"/>
                    </m:rPr>
                    <a:rPr sz="1900">
                      <a:solidFill>
                        <a:srgbClr val="252529"/>
                      </a:solidFill>
                      <a:latin typeface="Cambria Math"/>
                    </a:rPr>
                    <m:t xml:space="preserve">α</m:t>
                  </m:r>
                  <m:sSup>
                    <m:sSupPr>
                      <m:ctrlPr>
                        <a:rPr sz="1900">
                          <a:solidFill>
                            <a:srgbClr val="252529"/>
                          </a:solidFill>
                          <a:latin typeface="Cambria Math"/>
                        </a:rPr>
                      </m:ctrlPr>
                    </m:sSupPr>
                    <m:e>
                      <m:r>
                        <m:rPr>
                          <m:sty m:val="p"/>
                        </m:rPr>
                        <a:rPr sz="1900">
                          <a:solidFill>
                            <a:srgbClr val="252529"/>
                          </a:solidFill>
                          <a:latin typeface="Cambria Math"/>
                        </a:rPr>
                        <m:t xml:space="preserve">𝒯</m:t>
                      </m:r>
                    </m:e>
                    <m:sup>
                      <m:r>
                        <m:rPr>
                          <m:sty m:val="p"/>
                        </m:rPr>
                        <a:rPr sz="1900">
                          <a:solidFill>
                            <a:srgbClr val="252529"/>
                          </a:solidFill>
                          <a:latin typeface="Cambria Math"/>
                        </a:rPr>
                        <m:t xml:space="preserve">*</m:t>
                      </m:r>
                    </m:sup>
                  </m:sSup>
                  <m:r>
                    <m:rPr>
                      <m:sty m:val="p"/>
                    </m:rPr>
                    <a:rPr sz="1900">
                      <a:solidFill>
                        <a:srgbClr val="252529"/>
                      </a:solidFill>
                      <a:latin typeface="Cambria Math"/>
                    </a:rPr>
                    <m:t xml:space="preserve">𝒯</m:t>
                  </m:r>
                </m:oMath>
              </m:oMathPara>
            </a14:m>
            <a:endParaRPr sz="1900"/>
          </a:p>
        </p:txBody>
      </p:sp>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aseline="0" b="0" i="0" u="none">
                <a:solidFill>
                  <a:srgbClr val="747B82"/>
                </a:solidFill>
                <a:latin typeface="Aptos"/>
                <a:ea typeface="Aptos"/>
                <a:cs typeface="Aptos"/>
              </a:rPr>
              <a:t xml:space="preserve">PI operator parameterization → LMIs</a:t>
            </a:r>
            <a:endParaRPr sz="1400"/>
          </a:p>
        </p:txBody>
      </p:sp>
    </p:spTree>
    <p:extLst>
      <p:ext uri="{BB962C8B-B14F-4D97-AF65-F5344CB8AC3E}">
        <p14:creationId xmlns:p14="http://schemas.microsoft.com/office/powerpoint/2010/main" val="3591734270"/>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25</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Controlled linear PIE"/>
          <p:cNvSpPr/>
          <p:nvPr/>
        </p:nvSpPr>
        <p:spPr>
          <a:xfrm>
            <a:off x="3543300" y="2472690"/>
            <a:ext cx="5207000" cy="64262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300">
                      <a:solidFill>
                        <a:srgbClr val="252529"/>
                      </a:solidFill>
                      <a:latin typeface="Cambria Math"/>
                    </a:rPr>
                    <m:t xml:space="preserve">𝒯</m:t>
                  </m:r>
                  <m:acc>
                    <m:accPr>
                      <m:chr m:val="̇"/>
                      <m:ctrlPr>
                        <a:rPr sz="2300">
                          <a:solidFill>
                            <a:srgbClr val="252529"/>
                          </a:solidFill>
                          <a:latin typeface="Cambria Math"/>
                        </a:rPr>
                      </m:ctrlPr>
                    </m:accPr>
                    <m:e>
                      <m:sSub>
                        <m:sSubPr>
                          <m:ctrlPr>
                            <a:rPr sz="2300">
                              <a:solidFill>
                                <a:srgbClr val="252529"/>
                              </a:solidFill>
                              <a:latin typeface="Cambria Math"/>
                            </a:rPr>
                          </m:ctrlPr>
                        </m:sSubPr>
                        <m:e>
                          <m:r>
                            <m:rPr>
                              <m:sty m:val="bi"/>
                            </m:rPr>
                            <a:rPr sz="2300">
                              <a:solidFill>
                                <a:srgbClr val="252529"/>
                              </a:solidFill>
                              <a:latin typeface="Cambria Math"/>
                            </a:rPr>
                            <m:t xml:space="preserve">x</m:t>
                          </m:r>
                        </m:e>
                        <m:sub>
                          <m:r>
                            <m:rPr>
                              <m:sty m:val="p"/>
                            </m:rPr>
                            <a:rPr sz="2300">
                              <a:solidFill>
                                <a:srgbClr val="252529"/>
                              </a:solidFill>
                              <a:latin typeface="Cambria Math"/>
                            </a:rPr>
                            <m:t xml:space="preserve">f</m:t>
                          </m:r>
                        </m:sub>
                      </m:sSub>
                    </m:e>
                  </m:acc>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r>
                    <m:rPr>
                      <m:sty m:val="i"/>
                    </m:rPr>
                    <a:rPr sz="2300">
                      <a:solidFill>
                        <a:srgbClr val="252529"/>
                      </a:solidFill>
                      <a:latin typeface="Cambria Math"/>
                    </a:rPr>
                    <m:t xml:space="preserve">=</m:t>
                  </m:r>
                  <m:r>
                    <m:rPr>
                      <m:sty m:val="p"/>
                    </m:rPr>
                    <a:rPr sz="2300">
                      <a:solidFill>
                        <a:srgbClr val="252529"/>
                      </a:solidFill>
                      <a:latin typeface="Cambria Math"/>
                    </a:rPr>
                    <m:t xml:space="preserve">𝒜</m:t>
                  </m:r>
                  <m:sSub>
                    <m:sSubPr>
                      <m:ctrlPr>
                        <a:rPr sz="2300">
                          <a:solidFill>
                            <a:srgbClr val="252529"/>
                          </a:solidFill>
                          <a:latin typeface="Cambria Math"/>
                        </a:rPr>
                      </m:ctrlPr>
                    </m:sSubPr>
                    <m:e>
                      <m:r>
                        <m:rPr>
                          <m:sty m:val="bi"/>
                        </m:rPr>
                        <a:rPr sz="2300">
                          <a:solidFill>
                            <a:srgbClr val="252529"/>
                          </a:solidFill>
                          <a:latin typeface="Cambria Math"/>
                        </a:rPr>
                        <m:t xml:space="preserve">x</m:t>
                      </m:r>
                    </m:e>
                    <m:sub>
                      <m:r>
                        <m:rPr>
                          <m:sty m:val="p"/>
                        </m:rPr>
                        <a:rPr sz="2300">
                          <a:solidFill>
                            <a:srgbClr val="252529"/>
                          </a:solidFill>
                          <a:latin typeface="Cambria Math"/>
                        </a:rPr>
                        <m:t xml:space="preserve">f</m:t>
                      </m:r>
                    </m:sub>
                  </m:sSub>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r>
                    <m:rPr>
                      <m:sty m:val="i"/>
                    </m:rPr>
                    <a:rPr sz="2300">
                      <a:solidFill>
                        <a:srgbClr val="252529"/>
                      </a:solidFill>
                      <a:latin typeface="Cambria Math"/>
                    </a:rPr>
                    <m:t xml:space="preserve">+</m:t>
                  </m:r>
                  <m:r>
                    <m:rPr>
                      <m:sty m:val="p"/>
                    </m:rPr>
                    <a:rPr sz="2300">
                      <a:solidFill>
                        <a:srgbClr val="252529"/>
                      </a:solidFill>
                      <a:latin typeface="Cambria Math"/>
                    </a:rPr>
                    <m:t xml:space="preserve">ℬ</m:t>
                  </m:r>
                  <m:r>
                    <m:rPr>
                      <m:sty m:val="i"/>
                    </m:rPr>
                    <a:rPr sz="2300">
                      <a:solidFill>
                        <a:srgbClr val="252529"/>
                      </a:solidFill>
                      <a:latin typeface="Cambria Math"/>
                    </a:rPr>
                    <m:t xml:space="preserve">u</m:t>
                  </m:r>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oMath>
              </m:oMathPara>
            </a14:m>
            <a:endParaRPr sz="2300"/>
          </a:p>
        </p:txBody>
      </p:sp>
      <p:sp>
        <p:nvSpPr>
          <p:cNvPr id="1002" name="Feedback controller"/>
          <p:cNvSpPr/>
          <p:nvPr/>
        </p:nvSpPr>
        <p:spPr>
          <a:xfrm>
            <a:off x="3543300" y="3082290"/>
            <a:ext cx="5207000" cy="6426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300">
                      <a:solidFill>
                        <a:srgbClr val="252529"/>
                      </a:solidFill>
                      <a:latin typeface="Cambria Math"/>
                    </a:rPr>
                    <m:t xml:space="preserve">u</m:t>
                  </m:r>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r>
                    <m:rPr>
                      <m:sty m:val="i"/>
                    </m:rPr>
                    <a:rPr sz="2300">
                      <a:solidFill>
                        <a:srgbClr val="252529"/>
                      </a:solidFill>
                      <a:latin typeface="Cambria Math"/>
                    </a:rPr>
                    <m:t xml:space="preserve">=</m:t>
                  </m:r>
                  <m:r>
                    <m:rPr>
                      <m:sty m:val="i"/>
                    </m:rPr>
                    <a:rPr sz="2300">
                      <a:solidFill>
                        <a:srgbClr val="252529"/>
                      </a:solidFill>
                      <a:latin typeface="Cambria Math"/>
                    </a:rPr>
                    <m:t xml:space="preserve">K</m:t>
                  </m:r>
                  <m:r>
                    <m:rPr>
                      <m:sty m:val="i"/>
                    </m:rPr>
                    <a:rPr sz="2300">
                      <a:solidFill>
                        <a:srgbClr val="252529"/>
                      </a:solidFill>
                      <a:latin typeface="Cambria Math"/>
                    </a:rPr>
                    <m:t xml:space="preserve">y</m:t>
                  </m:r>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oMath>
              </m:oMathPara>
            </a14:m>
            <a:endParaRPr sz="2300"/>
          </a:p>
        </p:txBody>
      </p:sp>
      <p:sp>
        <p:nvSpPr>
          <p:cNvPr id="1003" name="Synthesis result"/>
          <p:cNvSpPr/>
          <p:nvPr/>
        </p:nvSpPr>
        <p:spPr>
          <a:xfrm>
            <a:off x="3543300" y="3911600"/>
            <a:ext cx="5207000" cy="304800"/>
          </a:xfrm>
          <a:prstGeom prst="rect">
            <a:avLst/>
          </a:prstGeom>
          <a:noFill/>
          <a:ln>
            <a:noFill/>
          </a:ln>
        </p:spPr>
        <p:txBody>
          <a:bodyPr wrap="none" lIns="0" tIns="0" rIns="0" bIns="0" anchor="ctr">
            <a:noAutofit/>
          </a:bodyPr>
          <a:lstStyle/>
          <a:p>
            <a:pPr algn="ctr">
              <a:buNone/>
            </a:pPr>
            <a:r>
              <a:rPr lang="en-GB" sz="1600" baseline="0" b="0" i="0" u="none">
                <a:solidFill>
                  <a:srgbClr val="252529"/>
                </a:solidFill>
                <a:latin typeface="Aptos"/>
                <a:ea typeface="Aptos"/>
                <a:cs typeface="Aptos"/>
              </a:rPr>
              <a:t xml:space="preserve">Synthesize in PIE coordinates</a:t>
            </a:r>
            <a:endParaRPr sz="1600"/>
          </a:p>
        </p:txBody>
      </p:sp>
    </p:spTree>
    <p:extLst>
      <p:ext uri="{BB962C8B-B14F-4D97-AF65-F5344CB8AC3E}">
        <p14:creationId xmlns:p14="http://schemas.microsoft.com/office/powerpoint/2010/main" val="3591734270"/>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aseline="0" b="1" i="0" u="none">
                <a:solidFill>
                  <a:srgbClr val="252529"/>
                </a:solidFill>
                <a:latin typeface="Aptos"/>
                <a:ea typeface="Aptos"/>
                <a:cs typeface="Aptos"/>
              </a:rPr>
              <a:t xml:space="preserve">Partial Integral Equations</a:t>
            </a:r>
            <a:endParaRPr sz="2500"/>
          </a:p>
        </p:txBody>
      </p:sp>
      <p:sp>
        <p:nvSpPr>
          <p:cNvPr id="1002" name="Physical model pillar"/>
          <p:cNvSpPr/>
          <p:nvPr/>
        </p:nvSpPr>
        <p:spPr>
          <a:xfrm>
            <a:off x="457200" y="1079500"/>
            <a:ext cx="3175000" cy="3606800"/>
          </a:xfrm>
          <a:prstGeom prst="rect">
            <a:avLst/>
          </a:prstGeom>
          <a:solidFill>
            <a:srgbClr val="C9141A"/>
          </a:solidFill>
          <a:ln>
            <a:noFill/>
          </a:ln>
        </p:spPr>
      </p:sp>
      <p:sp>
        <p:nvSpPr>
          <p:cNvPr id="1003" name="PIE solution pillar"/>
          <p:cNvSpPr/>
          <p:nvPr/>
        </p:nvSpPr>
        <p:spPr>
          <a:xfrm>
            <a:off x="5511800" y="1079500"/>
            <a:ext cx="3175000" cy="3606800"/>
          </a:xfrm>
          <a:prstGeom prst="rect">
            <a:avLst/>
          </a:prstGeom>
          <a:solidFill>
            <a:srgbClr val="C9141A"/>
          </a:solidFill>
          <a:ln>
            <a:noFill/>
          </a:ln>
        </p:spPr>
      </p:sp>
      <p:sp>
        <p:nvSpPr>
          <p:cNvPr id="1004" name="Physical heading"/>
          <p:cNvSpPr/>
          <p:nvPr/>
        </p:nvSpPr>
        <p:spPr>
          <a:xfrm>
            <a:off x="584200" y="1171575"/>
            <a:ext cx="2921000" cy="323850"/>
          </a:xfrm>
          <a:prstGeom prst="rect">
            <a:avLst/>
          </a:prstGeom>
          <a:noFill/>
          <a:ln>
            <a:noFill/>
          </a:ln>
        </p:spPr>
        <p:txBody>
          <a:bodyPr wrap="none" lIns="0" tIns="0" rIns="0" bIns="0" anchor="ctr">
            <a:noAutofit/>
          </a:bodyPr>
          <a:lstStyle/>
          <a:p>
            <a:pPr algn="ctr">
              <a:buNone/>
            </a:pPr>
            <a:r>
              <a:rPr lang="en-GB" sz="1700" baseline="0" b="1" i="0" u="none">
                <a:solidFill>
                  <a:srgbClr val="FFFFFF"/>
                </a:solidFill>
                <a:latin typeface="Aptos"/>
                <a:ea typeface="Aptos"/>
                <a:cs typeface="Aptos"/>
              </a:rPr>
              <a:t xml:space="preserve">Distributed models</a:t>
            </a:r>
            <a:endParaRPr sz="1700"/>
          </a:p>
        </p:txBody>
      </p:sp>
      <p:sp>
        <p:nvSpPr>
          <p:cNvPr id="1005" name="First pillar heading"/>
          <p:cNvSpPr/>
          <p:nvPr/>
        </p:nvSpPr>
        <p:spPr>
          <a:xfrm>
            <a:off x="5638800" y="1152525"/>
            <a:ext cx="2921000" cy="361950"/>
          </a:xfrm>
          <a:prstGeom prst="rect">
            <a:avLst/>
          </a:prstGeom>
          <a:noFill/>
          <a:ln>
            <a:noFill/>
          </a:ln>
        </p:spPr>
        <p:txBody>
          <a:bodyPr wrap="none" lIns="0" tIns="0" rIns="0" bIns="0" anchor="ctr">
            <a:noAutofit/>
          </a:bodyPr>
          <a:lstStyle/>
          <a:p>
            <a:pPr algn="ctr">
              <a:buNone/>
            </a:pPr>
            <a:r>
              <a:rPr lang="en-GB" sz="1900" baseline="0" b="1" i="0" u="none">
                <a:solidFill>
                  <a:srgbClr val="FFFFFF"/>
                </a:solidFill>
                <a:latin typeface="Aptos"/>
                <a:ea typeface="Aptos"/>
                <a:cs typeface="Aptos"/>
              </a:rPr>
              <a:t xml:space="preserve">Pillar 1: PIEs</a:t>
            </a:r>
            <a:endParaRPr sz="1900"/>
          </a:p>
        </p:txBody>
      </p:sp>
      <p:sp>
        <p:nvSpPr>
          <p:cNvPr id="1006" name="Tractability arrow"/>
          <p:cNvSpPr/>
          <p:nvPr/>
        </p:nvSpPr>
        <p:spPr>
          <a:xfrm>
            <a:off x="3886200" y="2374900"/>
            <a:ext cx="1358900" cy="25400"/>
          </a:xfrm>
          <a:custGeom>
            <a:avLst/>
            <a:gdLst/>
            <a:ahLst/>
            <a:cxnLst/>
            <a:rect l="0" t="0" r="r" b="b"/>
            <a:pathLst>
              <a:path w="1358900" h="25400" fill="none">
                <a:moveTo>
                  <a:pt x="12700" y="12700"/>
                </a:moveTo>
                <a:lnTo>
                  <a:pt x="1346200" y="12700"/>
                </a:lnTo>
              </a:path>
            </a:pathLst>
          </a:custGeom>
          <a:noFill/>
          <a:ln w="16510">
            <a:solidFill>
              <a:srgbClr val="252529"/>
            </a:solidFill>
            <a:round/>
            <a:tailEnd type="triangle" w="sm" len="sm"/>
          </a:ln>
        </p:spPr>
      </p:sp>
      <p:sp>
        <p:nvSpPr>
          <p:cNvPr id="1007" name="Tractability label"/>
          <p:cNvSpPr/>
          <p:nvPr/>
        </p:nvSpPr>
        <p:spPr>
          <a:xfrm>
            <a:off x="3746500" y="2025650"/>
            <a:ext cx="1651000" cy="266700"/>
          </a:xfrm>
          <a:prstGeom prst="rect">
            <a:avLst/>
          </a:prstGeom>
          <a:noFill/>
          <a:ln>
            <a:noFill/>
          </a:ln>
        </p:spPr>
        <p:txBody>
          <a:bodyPr wrap="none" lIns="0" tIns="0" rIns="0" bIns="0" anchor="ctr">
            <a:noAutofit/>
          </a:bodyPr>
          <a:lstStyle/>
          <a:p>
            <a:pPr algn="ctr">
              <a:buNone/>
            </a:pPr>
            <a:r>
              <a:rPr lang="en-GB" sz="1400" baseline="0" b="0" i="0" u="none">
                <a:solidFill>
                  <a:srgbClr val="252529"/>
                </a:solidFill>
                <a:latin typeface="Aptos"/>
                <a:ea typeface="Aptos"/>
                <a:cs typeface="Aptos"/>
              </a:rPr>
              <a:t xml:space="preserve">Tractability</a:t>
            </a:r>
            <a:endParaRPr sz="1400"/>
          </a:p>
        </p:txBody>
      </p:sp>
      <p:sp>
        <p:nvSpPr>
          <p:cNvPr id="1008" name="Solutions arrow"/>
          <p:cNvSpPr/>
          <p:nvPr/>
        </p:nvSpPr>
        <p:spPr>
          <a:xfrm>
            <a:off x="3886200" y="3403600"/>
            <a:ext cx="1358900" cy="25400"/>
          </a:xfrm>
          <a:custGeom>
            <a:avLst/>
            <a:gdLst/>
            <a:ahLst/>
            <a:cxnLst/>
            <a:rect l="0" t="0" r="r" b="b"/>
            <a:pathLst>
              <a:path w="1358900" h="25400" fill="none">
                <a:moveTo>
                  <a:pt x="1346200" y="12700"/>
                </a:moveTo>
                <a:lnTo>
                  <a:pt x="12700" y="12700"/>
                </a:lnTo>
              </a:path>
            </a:pathLst>
          </a:custGeom>
          <a:noFill/>
          <a:ln w="16510">
            <a:solidFill>
              <a:srgbClr val="252529"/>
            </a:solidFill>
            <a:round/>
            <a:tailEnd type="triangle" w="sm" len="sm"/>
          </a:ln>
        </p:spPr>
      </p:sp>
      <p:sp>
        <p:nvSpPr>
          <p:cNvPr id="1009" name="Solutions label"/>
          <p:cNvSpPr/>
          <p:nvPr/>
        </p:nvSpPr>
        <p:spPr>
          <a:xfrm>
            <a:off x="3746500" y="3549650"/>
            <a:ext cx="1651000" cy="266700"/>
          </a:xfrm>
          <a:prstGeom prst="rect">
            <a:avLst/>
          </a:prstGeom>
          <a:noFill/>
          <a:ln>
            <a:noFill/>
          </a:ln>
        </p:spPr>
        <p:txBody>
          <a:bodyPr wrap="none" lIns="0" tIns="0" rIns="0" bIns="0" anchor="ctr">
            <a:noAutofit/>
          </a:bodyPr>
          <a:lstStyle/>
          <a:p>
            <a:pPr algn="ctr">
              <a:buNone/>
            </a:pPr>
            <a:r>
              <a:rPr lang="en-GB" sz="1400" baseline="0" b="0" i="0" u="none">
                <a:solidFill>
                  <a:srgbClr val="252529"/>
                </a:solidFill>
                <a:latin typeface="Aptos"/>
                <a:ea typeface="Aptos"/>
                <a:cs typeface="Aptos"/>
              </a:rPr>
              <a:t xml:space="preserve">Solutions</a:t>
            </a:r>
            <a:endParaRPr sz="1400"/>
          </a:p>
        </p:txBody>
      </p:sp>
      <p:sp>
        <p:nvSpPr>
          <p:cNvPr id="1010" name="Pillar conclusion"/>
          <p:cNvSpPr/>
          <p:nvPr/>
        </p:nvSpPr>
        <p:spPr>
          <a:xfrm>
            <a:off x="5638800" y="4013200"/>
            <a:ext cx="2921000" cy="304800"/>
          </a:xfrm>
          <a:prstGeom prst="rect">
            <a:avLst/>
          </a:prstGeom>
          <a:noFill/>
          <a:ln>
            <a:noFill/>
          </a:ln>
        </p:spPr>
        <p:txBody>
          <a:bodyPr wrap="none" lIns="0" tIns="0" rIns="0" bIns="0" anchor="ctr">
            <a:noAutofit/>
          </a:bodyPr>
          <a:lstStyle/>
          <a:p>
            <a:pPr algn="ctr">
              <a:buNone/>
            </a:pPr>
            <a:r>
              <a:rPr lang="en-GB" sz="1600" baseline="0" b="1" i="0" u="none">
                <a:solidFill>
                  <a:srgbClr val="FFFFFF"/>
                </a:solidFill>
                <a:latin typeface="Aptos"/>
                <a:ea typeface="Aptos"/>
                <a:cs typeface="Aptos"/>
              </a:rPr>
              <a:t xml:space="preserve">Analysis and synthesis</a:t>
            </a:r>
            <a:endParaRPr sz="1600"/>
          </a:p>
        </p:txBody>
      </p:sp>
      <p:sp>
        <p:nvSpPr>
          <p:cNvPr id="1011" name="Pillar computation"/>
          <p:cNvSpPr/>
          <p:nvPr/>
        </p:nvSpPr>
        <p:spPr>
          <a:xfrm>
            <a:off x="5638800" y="4279900"/>
            <a:ext cx="2921000" cy="304800"/>
          </a:xfrm>
          <a:prstGeom prst="rect">
            <a:avLst/>
          </a:prstGeom>
          <a:noFill/>
          <a:ln>
            <a:noFill/>
          </a:ln>
        </p:spPr>
        <p:txBody>
          <a:bodyPr wrap="none" lIns="0" tIns="0" rIns="0" bIns="0" anchor="ctr">
            <a:noAutofit/>
          </a:bodyPr>
          <a:lstStyle/>
          <a:p>
            <a:pPr algn="ctr">
              <a:buNone/>
            </a:pPr>
            <a:r>
              <a:rPr lang="en-GB" sz="1600" baseline="0" b="0" i="0" u="none">
                <a:solidFill>
                  <a:srgbClr val="FFFFFF"/>
                </a:solidFill>
                <a:latin typeface="Aptos"/>
                <a:ea typeface="Aptos"/>
                <a:cs typeface="Aptos"/>
              </a:rPr>
              <a:t xml:space="preserve">using LMIs</a:t>
            </a:r>
            <a:endParaRPr sz="1600"/>
          </a:p>
        </p:txBody>
      </p:sp>
      <p:grpSp>
        <p:nvGrpSpPr>
          <p:cNvPr id="6001" name="Physical PDE LFR">
            <a:extLst>
              <a:ext uri="{FF2B5EF4-FFF2-40B4-BE49-F238E27FC236}">
                <a16:creationId xmlns:a16="http://schemas.microsoft.com/office/drawing/2014/main" id="{9ABA1CC7-950B-27AA-22AE-FF6B70D69927}"/>
              </a:ext>
            </a:extLst>
          </p:cNvPr>
          <p:cNvGrpSpPr/>
          <p:nvPr/>
        </p:nvGrpSpPr>
        <p:grpSpPr>
          <a:xfrm>
            <a:off x="723900" y="1625600"/>
            <a:ext cx="2641600" cy="2024380"/>
            <a:chOff x="1995932" y="1819148"/>
            <a:chExt cx="3138932" cy="2405888"/>
          </a:xfrm>
        </p:grpSpPr>
        <p:sp>
          <p:nvSpPr>
            <p:cNvPr id="6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6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6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6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6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6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6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chemeClr val="bg1"/>
                            </a:solidFill>
                            <a:latin typeface="Cambria Math"/>
                          </a:rPr>
                          <m:t>𝑢</m:t>
                        </m:r>
                      </m:oMath>
                    </m:oMathPara>
                  </a14:m>
                  <a:endParaRPr lang="en-NL" sz="1998" dirty="0">
                    <a:solidFill>
                      <a:schemeClr val="bg1"/>
                    </a:solidFill>
                  </a:endParaRPr>
                </a:p>
              </p:txBody>
            </p:sp>
          </mc:Choice>
          <mc:Fallback>
            <p:sp>
              <p:nvSpPr>
                <p:cNvPr id="6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6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NL" sz="1998" smtClean="0">
                                <a:solidFill>
                                  <a:schemeClr val="bg1"/>
                                </a:solidFill>
                                <a:latin typeface="Cambria Math"/>
                              </a:rPr>
                            </m:ctrlPr>
                          </m:sSubPr>
                          <m:e>
                            <m:r>
                              <a:rPr lang="en-NL" sz="1998" smtClean="0">
                                <a:solidFill>
                                  <a:schemeClr val="bg1"/>
                                </a:solidFill>
                                <a:latin typeface="Cambria Math"/>
                              </a:rPr>
                              <m:t>𝑦</m:t>
                            </m:r>
                          </m:e>
                          <m:sub/>
                        </m:sSub>
                      </m:oMath>
                    </m:oMathPara>
                  </a14:m>
                  <a:endParaRPr sz="1998" dirty="0"/>
                </a:p>
              </p:txBody>
            </p:sp>
          </mc:Choice>
          <mc:Fallback>
            <p:sp>
              <p:nvSpPr>
                <p:cNvPr id="6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3"/>
                  <a:stretch>
                    <a:fillRect b="-281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6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chemeClr val="bg1"/>
                            </a:solidFill>
                            <a:latin typeface="Cambria Math"/>
                          </a:rPr>
                          <m:t>𝑧</m:t>
                        </m:r>
                      </m:oMath>
                    </m:oMathPara>
                  </a14:m>
                  <a:endParaRPr lang="en-NL" sz="1998" dirty="0">
                    <a:solidFill>
                      <a:schemeClr val="bg1"/>
                    </a:solidFill>
                  </a:endParaRPr>
                </a:p>
              </p:txBody>
            </p:sp>
          </mc:Choice>
          <mc:Fallback>
            <p:sp>
              <p:nvSpPr>
                <p:cNvPr id="6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6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chemeClr val="bg1"/>
                            </a:solidFill>
                            <a:latin typeface="Cambria Math"/>
                          </a:rPr>
                          <m:t>𝑤</m:t>
                        </m:r>
                      </m:oMath>
                    </m:oMathPara>
                  </a14:m>
                  <a:endParaRPr lang="en-NL" sz="1998" dirty="0">
                    <a:solidFill>
                      <a:schemeClr val="bg1"/>
                    </a:solidFill>
                  </a:endParaRPr>
                </a:p>
              </p:txBody>
            </p:sp>
          </mc:Choice>
          <mc:Fallback>
            <p:sp>
              <p:nvSpPr>
                <p:cNvPr id="6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5"/>
                  <a:stretch>
                    <a:fillRect/>
                  </a:stretch>
                </a:blipFill>
                <a:ln>
                  <a:noFill/>
                </a:ln>
              </p:spPr>
              <p:txBody>
                <a:bodyPr/>
                <a:lstStyle/>
                <a:p>
                  <a:r>
                    <a:rPr lang="en-NL">
                      <a:noFill/>
                    </a:rPr>
                    <a:t> </a:t>
                  </a:r>
                </a:p>
              </p:txBody>
            </p:sp>
          </mc:Fallback>
        </mc:AlternateContent>
        <p:sp>
          <p:nvSpPr>
            <p:cNvPr id="6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6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6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6016" name="Plant">
              <a:extLst>
                <a:ext uri="{FF2B5EF4-FFF2-40B4-BE49-F238E27FC236}">
                  <a16:creationId xmlns:a16="http://schemas.microsoft.com/office/drawing/2014/main" id="{ECF280A1-CDC2-6120-5120-C89B719C73F7}"/>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6017" name="Plant label">
                  <a:extLst>
                    <a:ext uri="{FF2B5EF4-FFF2-40B4-BE49-F238E27FC236}">
                      <a16:creationId xmlns:a16="http://schemas.microsoft.com/office/drawing/2014/main" id="{B0AA7ADA-FC8B-B94D-4370-64D9BFD7FE0E}"/>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p:sp>
              <p:nvSpPr>
                <p:cNvPr id="6017" name="Plant label">
                  <a:extLst>
                    <a:ext uri="{FF2B5EF4-FFF2-40B4-BE49-F238E27FC236}">
                      <a16:creationId xmlns:a16="http://schemas.microsoft.com/office/drawing/2014/main" id="{B0AA7ADA-FC8B-B94D-4370-64D9BFD7FE0E}"/>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a:stretch>
                </a:blipFill>
                <a:ln>
                  <a:noFill/>
                </a:ln>
              </p:spPr>
              <p:txBody>
                <a:bodyPr/>
                <a:lstStyle/>
                <a:p>
                  <a:r>
                    <a:rPr lang="en-NL">
                      <a:noFill/>
                    </a:rPr>
                    <a:t> </a:t>
                  </a:r>
                </a:p>
              </p:txBody>
            </p:sp>
          </mc:Fallback>
        </mc:AlternateContent>
      </p:grpSp>
      <p:grpSp>
        <p:nvGrpSpPr>
          <p:cNvPr id="6018" name="PIE LFR">
            <a:extLst>
              <a:ext uri="{FF2B5EF4-FFF2-40B4-BE49-F238E27FC236}">
                <a16:creationId xmlns:a16="http://schemas.microsoft.com/office/drawing/2014/main" id="{694DB2D1-3979-BD73-6C1C-EDA0A861169B}"/>
              </a:ext>
            </a:extLst>
          </p:cNvPr>
          <p:cNvGrpSpPr/>
          <p:nvPr/>
        </p:nvGrpSpPr>
        <p:grpSpPr>
          <a:xfrm>
            <a:off x="5778500" y="1625600"/>
            <a:ext cx="2641600" cy="2024380"/>
            <a:chOff x="1995932" y="1819148"/>
            <a:chExt cx="3138932" cy="2405888"/>
          </a:xfrm>
        </p:grpSpPr>
        <p:sp>
          <p:nvSpPr>
            <p:cNvPr id="6019"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6020"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6021"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6022"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6023"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024"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602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6026"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chemeClr val="bg1"/>
                            </a:solidFill>
                            <a:latin typeface="Cambria Math"/>
                          </a:rPr>
                          <m:t>𝑢</m:t>
                        </m:r>
                      </m:oMath>
                    </m:oMathPara>
                  </a14:m>
                  <a:endParaRPr sz="1998" dirty="0"/>
                </a:p>
              </p:txBody>
            </p:sp>
          </mc:Choice>
          <mc:Fallback>
            <p:sp>
              <p:nvSpPr>
                <p:cNvPr id="6026"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6027"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chemeClr val="bg1"/>
                                </a:solidFill>
                                <a:latin typeface="Cambria Math"/>
                              </a:rPr>
                            </m:ctrlPr>
                          </m:sSubPr>
                          <m:e>
                            <m:r>
                              <a:rPr lang="ar-AE" sz="1998">
                                <a:solidFill>
                                  <a:schemeClr val="bg1"/>
                                </a:solidFill>
                                <a:latin typeface="Cambria Math"/>
                              </a:rPr>
                              <m:t>𝑦</m:t>
                            </m:r>
                          </m:e>
                          <m:sub/>
                        </m:sSub>
                      </m:oMath>
                    </m:oMathPara>
                  </a14:m>
                  <a:endParaRPr sz="1998" dirty="0"/>
                </a:p>
              </p:txBody>
            </p:sp>
          </mc:Choice>
          <mc:Fallback>
            <p:sp>
              <p:nvSpPr>
                <p:cNvPr id="6027"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8"/>
                  <a:stretch>
                    <a:fillRect b="-281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6028"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chemeClr val="bg1"/>
                            </a:solidFill>
                            <a:latin typeface="Cambria Math"/>
                          </a:rPr>
                          <m:t>𝑧</m:t>
                        </m:r>
                      </m:oMath>
                    </m:oMathPara>
                  </a14:m>
                  <a:endParaRPr lang="en-NL" sz="1998" dirty="0">
                    <a:solidFill>
                      <a:schemeClr val="bg1"/>
                    </a:solidFill>
                  </a:endParaRPr>
                </a:p>
              </p:txBody>
            </p:sp>
          </mc:Choice>
          <mc:Fallback>
            <p:sp>
              <p:nvSpPr>
                <p:cNvPr id="6028"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6029"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chemeClr val="bg1"/>
                            </a:solidFill>
                            <a:latin typeface="Cambria Math"/>
                          </a:rPr>
                          <m:t>𝑤</m:t>
                        </m:r>
                      </m:oMath>
                    </m:oMathPara>
                  </a14:m>
                  <a:endParaRPr sz="1998" dirty="0"/>
                </a:p>
              </p:txBody>
            </p:sp>
          </mc:Choice>
          <mc:Fallback>
            <p:sp>
              <p:nvSpPr>
                <p:cNvPr id="6029"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0"/>
                  <a:stretch>
                    <a:fillRect/>
                  </a:stretch>
                </a:blipFill>
                <a:ln>
                  <a:noFill/>
                </a:ln>
              </p:spPr>
              <p:txBody>
                <a:bodyPr/>
                <a:lstStyle/>
                <a:p>
                  <a:r>
                    <a:rPr lang="en-NL">
                      <a:noFill/>
                    </a:rPr>
                    <a:t> </a:t>
                  </a:r>
                </a:p>
              </p:txBody>
            </p:sp>
          </mc:Fallback>
        </mc:AlternateContent>
        <p:sp>
          <p:nvSpPr>
            <p:cNvPr id="6030"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6031"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6032"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6033" name="Plant">
              <a:extLst>
                <a:ext uri="{FF2B5EF4-FFF2-40B4-BE49-F238E27FC236}">
                  <a16:creationId xmlns:a16="http://schemas.microsoft.com/office/drawing/2014/main" id="{9C0B5016-375A-C512-AE07-3F87BA7FDF5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6034" name="Plant label">
                  <a:extLst>
                    <a:ext uri="{FF2B5EF4-FFF2-40B4-BE49-F238E27FC236}">
                      <a16:creationId xmlns:a16="http://schemas.microsoft.com/office/drawing/2014/main" id="{DF667A6E-DE63-9CED-6A1B-7B24CEDED7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p:sp>
              <p:nvSpPr>
                <p:cNvPr id="6034" name="Plant label">
                  <a:extLst>
                    <a:ext uri="{FF2B5EF4-FFF2-40B4-BE49-F238E27FC236}">
                      <a16:creationId xmlns:a16="http://schemas.microsoft.com/office/drawing/2014/main" id="{DF667A6E-DE63-9CED-6A1B-7B24CEDED7AA}"/>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pic>
        <p:nvPicPr>
          <p:cNvPr id="6035" name="ASML image">
            <a:extLst>
              <a:ext uri="{FF2B5EF4-FFF2-40B4-BE49-F238E27FC236}">
                <a16:creationId xmlns:a16="http://schemas.microsoft.com/office/drawing/2014/main" id="{64CB8C8F-9F39-474B-5CE8-8336FF80DF46}"/>
              </a:ext>
            </a:extLst>
          </p:cNvPr>
          <p:cNvPicPr>
            <a:picLocks noChangeAspect="1"/>
          </p:cNvPicPr>
          <p:nvPr/>
        </p:nvPicPr>
        <p:blipFill>
          <a:blip r:embed="rId15" cstate="print">
            <a:extLst>
              <a:ext uri="{28A0092B-C50C-407E-A947-70E740481C1C}">
                <a14:useLocalDpi xmlns:a14="http://schemas.microsoft.com/office/drawing/2010/main" val="0"/>
              </a:ext>
            </a:extLst>
          </a:blip>
          <a:srcRect l="6208" r="6507" b="12822"/>
          <a:stretch>
            <a:fillRect/>
          </a:stretch>
        </p:blipFill>
        <p:spPr>
          <a:xfrm>
            <a:off x="1651000" y="4013200"/>
            <a:ext cx="863600" cy="449580"/>
          </a:xfrm>
          <a:prstGeom prst="rect">
            <a:avLst/>
          </a:prstGeom>
        </p:spPr>
      </p:pic>
      <p:pic>
        <p:nvPicPr>
          <p:cNvPr id="6036"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6"/>
          <a:stretch>
            <a:fillRect/>
          </a:stretch>
        </p:blipFill>
        <p:spPr>
          <a:xfrm>
            <a:off x="2628900" y="4025900"/>
            <a:ext cx="838200" cy="410210"/>
          </a:xfrm>
          <a:prstGeom prst="rect">
            <a:avLst/>
          </a:prstGeom>
        </p:spPr>
      </p:pic>
      <p:sp>
        <p:nvSpPr>
          <p:cNvPr id="6998" name="Neural image background"/>
          <p:cNvSpPr/>
          <p:nvPr/>
        </p:nvSpPr>
        <p:spPr>
          <a:xfrm>
            <a:off x="622300" y="3962400"/>
            <a:ext cx="952500" cy="571500"/>
          </a:xfrm>
          <a:prstGeom prst="rect">
            <a:avLst/>
          </a:prstGeom>
          <a:solidFill>
            <a:srgbClr val="FFFFFF"/>
          </a:solidFill>
          <a:ln>
            <a:noFill/>
          </a:ln>
        </p:spPr>
      </p:sp>
      <p:grpSp>
        <p:nvGrpSpPr>
          <p:cNvPr id="6037" name="STN-GPe image">
            <a:extLst>
              <a:ext uri="{FF2B5EF4-FFF2-40B4-BE49-F238E27FC236}">
                <a16:creationId xmlns:a16="http://schemas.microsoft.com/office/drawing/2014/main" id="{C1E5EDF8-39B7-BFFC-C737-CA4AA387F766}"/>
              </a:ext>
            </a:extLst>
          </p:cNvPr>
          <p:cNvGrpSpPr/>
          <p:nvPr/>
        </p:nvGrpSpPr>
        <p:grpSpPr>
          <a:xfrm>
            <a:off x="660400" y="4025900"/>
            <a:ext cx="876300" cy="421640"/>
            <a:chOff x="1879600" y="241300"/>
            <a:chExt cx="5597595" cy="2692400"/>
          </a:xfrm>
        </p:grpSpPr>
        <p:pic>
          <p:nvPicPr>
            <p:cNvPr id="6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Pillar22"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sp>
        <p:nvSpPr>
          <p:cNvPr id="6999" name="Physical examples"/>
          <p:cNvSpPr/>
          <p:nvPr/>
        </p:nvSpPr>
        <p:spPr>
          <a:xfrm>
            <a:off x="584200" y="3708400"/>
            <a:ext cx="2921000" cy="203200"/>
          </a:xfrm>
          <a:prstGeom prst="rect">
            <a:avLst/>
          </a:prstGeom>
          <a:noFill/>
          <a:ln>
            <a:noFill/>
          </a:ln>
        </p:spPr>
        <p:txBody>
          <a:bodyPr wrap="none" lIns="0" tIns="0" rIns="0" bIns="0" anchor="ctr">
            <a:noAutofit/>
          </a:bodyPr>
          <a:lstStyle/>
          <a:p>
            <a:pPr algn="ctr">
              <a:buNone/>
            </a:pPr>
            <a:r>
              <a:rPr lang="en-GB" sz="1100" baseline="0" b="0" i="0" u="none">
                <a:solidFill>
                  <a:srgbClr val="FFFFFF"/>
                </a:solidFill>
                <a:latin typeface="Aptos"/>
                <a:ea typeface="Aptos"/>
                <a:cs typeface="Aptos"/>
              </a:rPr>
              <a:t xml:space="preserve">STN–GPe · ASML · Canon</a:t>
            </a:r>
            <a:endParaRPr sz="1100"/>
          </a:p>
        </p:txBody>
      </p:sp>
      <p:pic>
        <p:nvPicPr>
          <p:cNvPr id="6039" name="Original TUe logo"/>
          <p:cNvPicPr>
            <a:picLocks noChangeAspect="1"/>
          </p:cNvPicPr>
          <p:nvPr/>
        </p:nvPicPr>
        <p:blipFill>
          <a:blip r:embed="rIdPillar2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909451713"/>
      </p:ext>
    </p:extLst>
  </p:cSld>
  <p:clrMapOvr>
    <a:masterClrMapping/>
  </p:clrMapOvr>
  <mc:AlternateContent xmlns:mc="http://schemas.openxmlformats.org/markup-compatibility/2006">
    <mc:Choice xmlns:p14="http://schemas.microsoft.com/office/powerpoint/2010/main" Requires="p14">
      <p:transition spd="slow" p14:dur="800">
        <p:fade thruBlk="1"/>
      </p:transition>
    </mc:Choice>
    <mc:Fallback>
      <p:transition spd="slow">
        <p:fade thruBlk="1"/>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27</a:t>
            </a:fld>
            <a:endParaRPr lang="en-GB"/>
          </a:p>
        </p:txBody>
      </p:sp>
    </p:spTree>
    <p:extLst>
      <p:ext uri="{BB962C8B-B14F-4D97-AF65-F5344CB8AC3E}">
        <p14:creationId xmlns:p14="http://schemas.microsoft.com/office/powerpoint/2010/main" val="25523275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15</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Supply function</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3000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3" name="Vertical axis Supply function">
                <a:extLst>
                  <a:ext uri="{FF2B5EF4-FFF2-40B4-BE49-F238E27FC236}">
                    <a16:creationId xmlns:a16="http://schemas.microsoft.com/office/drawing/2014/main" id="{ADD78D67-64F8-3727-6C55-0D8B00DA0662}"/>
                  </a:ext>
                </a:extLst>
              </p:cNvPr>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3" name="Vertical axis Supply function">
                <a:extLst>
                  <a:ext uri="{FF2B5EF4-FFF2-40B4-BE49-F238E27FC236}">
                    <a16:creationId xmlns:a16="http://schemas.microsoft.com/office/drawing/2014/main" id="{ADD78D67-64F8-3727-6C55-0D8B00DA0662}"/>
                  </a:ext>
                </a:extLst>
              </p:cNvPr>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30</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31</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32</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33</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r>
              <a:rPr lang="en-US" dirty="0"/>
              <a:t>Absorbing the controller into the filter</a:t>
            </a:r>
            <a:endParaRPr lang="en-NL" dirty="0"/>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36</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26305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Cambria Math" panose="02040503050406030204" pitchFamily="18" charset="0"/>
                            </a:rPr>
                          </m:ctrlPr>
                        </m:accPr>
                        <m:e>
                          <m:r>
                            <m:rPr>
                              <m:sty m:val="p"/>
                            </m:rPr>
                            <a:rPr lang="en-US" sz="1998" b="0" i="0" smtClean="0">
                              <a:solidFill>
                                <a:srgbClr val="252529"/>
                              </a:solidFill>
                              <a:latin typeface="Cambria Math" panose="02040503050406030204" pitchFamily="18" charset="0"/>
                            </a:rPr>
                            <m:t>y</m:t>
                          </m:r>
                        </m:e>
                      </m:acc>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263059"/>
                <a:ext cx="422910" cy="380619"/>
              </a:xfrm>
              <a:prstGeom prst="rect">
                <a:avLst/>
              </a:prstGeom>
              <a:blipFill>
                <a:blip r:embed="rId12"/>
                <a:stretch>
                  <a:fillRect r="-47826" b="-11111"/>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6389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638979"/>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42562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425625"/>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16F66D3-F773-9545-1661-892E4869BCFF}"/>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𝐺</m:t>
                      </m:r>
                      <m:r>
                        <a:rPr lang="en-US" sz="1550">
                          <a:solidFill>
                            <a:srgbClr val="252529"/>
                          </a:solidFill>
                          <a:latin typeface="Cambria Math"/>
                        </a:rPr>
                        <m:t>: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r>
                        <a:rPr lang="en-US" sz="1550">
                          <a:solidFill>
                            <a:srgbClr val="252529"/>
                          </a:solidFill>
                          <a:latin typeface="Cambria Math"/>
                        </a:rPr>
                        <m:t>𝐴𝑥</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𝑢</m:t>
                      </m:r>
                      <m:r>
                        <a:rPr lang="en-US" sz="1550">
                          <a:solidFill>
                            <a:srgbClr val="252529"/>
                          </a:solidFill>
                          <a:latin typeface="Cambria Math"/>
                        </a:rPr>
                        <m:t>,  </m:t>
                      </m:r>
                      <m:r>
                        <a:rPr lang="en-US" sz="1550">
                          <a:solidFill>
                            <a:srgbClr val="252529"/>
                          </a:solidFill>
                          <a:latin typeface="Cambria Math"/>
                        </a:rPr>
                        <m:t>𝑦</m:t>
                      </m:r>
                      <m:r>
                        <a:rPr lang="en-US" sz="1550">
                          <a:solidFill>
                            <a:srgbClr val="252529"/>
                          </a:solidFill>
                          <a:latin typeface="Cambria Math"/>
                        </a:rPr>
                        <m:t>=</m:t>
                      </m:r>
                      <m:r>
                        <a:rPr lang="en-US" sz="1550">
                          <a:solidFill>
                            <a:srgbClr val="252529"/>
                          </a:solidFill>
                          <a:latin typeface="Cambria Math"/>
                        </a:rPr>
                        <m:t>𝑥</m:t>
                      </m:r>
                    </m:oMath>
                  </m:oMathPara>
                </a14:m>
                <a:endParaRPr sz="1550">
                  <a:latin typeface="Cambria Math"/>
                </a:endParaRPr>
              </a:p>
            </p:txBody>
          </p:sp>
        </mc:Choice>
        <mc:Fallback xmlns="" xmlns:m="http://schemas.openxmlformats.org/officeDocument/2006/math">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𝑢</m:t>
                      </m:r>
                      <m:r>
                        <a:rPr lang="en-US" sz="1550">
                          <a:solidFill>
                            <a:srgbClr val="252529"/>
                          </a:solidFill>
                          <a:latin typeface="Cambria Math"/>
                        </a:rPr>
                        <m:t>=</m:t>
                      </m:r>
                      <m:r>
                        <a:rPr lang="en-US" sz="1550">
                          <a:solidFill>
                            <a:srgbClr val="252529"/>
                          </a:solidFill>
                          <a:latin typeface="Cambria Math"/>
                        </a:rPr>
                        <m:t>𝐾𝑦</m:t>
                      </m:r>
                      <m:r>
                        <a:rPr lang="en-US" sz="1550">
                          <a:solidFill>
                            <a:srgbClr val="252529"/>
                          </a:solidFill>
                          <a:latin typeface="Cambria Math"/>
                        </a:rPr>
                        <m:t>  ⇒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d>
                        <m:dPr>
                          <m:ctrlPr>
                            <a:rPr lang="en-US" sz="1550">
                              <a:solidFill>
                                <a:srgbClr val="252529"/>
                              </a:solidFill>
                              <a:latin typeface="Cambria Math"/>
                            </a:rPr>
                          </m:ctrlPr>
                        </m:dPr>
                        <m:e>
                          <m:r>
                            <a:rPr lang="en-US" sz="1550">
                              <a:solidFill>
                                <a:srgbClr val="252529"/>
                              </a:solidFill>
                              <a:latin typeface="Cambria Math"/>
                            </a:rPr>
                            <m:t>𝐴</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𝐾</m:t>
                          </m:r>
                        </m:e>
                      </m:d>
                      <m:r>
                        <a:rPr lang="en-US" sz="1550">
                          <a:solidFill>
                            <a:srgbClr val="252529"/>
                          </a:solidFill>
                          <a:latin typeface="Cambria Math"/>
                        </a:rPr>
                        <m:t>𝑥</m:t>
                      </m:r>
                    </m:oMath>
                  </m:oMathPara>
                </a14:m>
                <a:endParaRPr sz="1550">
                  <a:latin typeface="Cambria Math"/>
                </a:endParaRPr>
              </a:p>
            </p:txBody>
          </p:sp>
        </mc:Choice>
        <mc:Fallback xmlns="" xmlns:m="http://schemas.openxmlformats.org/officeDocument/2006/math">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752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m:rPr>
                          <m:sty m:val="p"/>
                        </m:rPr>
                        <a:rPr lang="en-US" sz="1550">
                          <a:solidFill>
                            <a:srgbClr val="252529"/>
                          </a:solidFill>
                          <a:latin typeface="Cambria Math"/>
                        </a:rPr>
                        <m:t>Θ</m:t>
                      </m:r>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a:solidFill>
                                                  <a:srgbClr val="252529"/>
                                                </a:solidFill>
                                                <a:latin typeface="Cambria Math"/>
                                              </a:rPr>
                                            </m:ctrlPr>
                                          </m:accPr>
                                          <m:e>
                                            <m:r>
                                              <a:rPr lang="en-US" sz="1550">
                                                <a:solidFill>
                                                  <a:srgbClr val="252529"/>
                                                </a:solidFill>
                                                <a:latin typeface="Cambria Math"/>
                                              </a:rPr>
                                              <m:t>𝑦</m:t>
                                            </m:r>
                                          </m:e>
                                        </m:acc>
                                      </m:e>
                                    </m:mr>
                                    <m:mr>
                                      <m:e>
                                        <m:acc>
                                          <m:accPr>
                                            <m:chr m:val="̃"/>
                                            <m:ctrlPr>
                                              <a:rPr lang="en-US" sz="1550">
                                                <a:solidFill>
                                                  <a:srgbClr val="252529"/>
                                                </a:solidFill>
                                                <a:latin typeface="Cambria Math"/>
                                              </a:rPr>
                                            </m:ctrlPr>
                                          </m:accPr>
                                          <m:e>
                                            <m:r>
                                              <a:rPr lang="en-US" sz="1550">
                                                <a:solidFill>
                                                  <a:srgbClr val="252529"/>
                                                </a:solidFill>
                                                <a:latin typeface="Cambria Math"/>
                                              </a:rPr>
                                              <m:t>𝑢</m:t>
                                            </m: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r>
                                          <a:rPr lang="en-US" sz="1550">
                                            <a:solidFill>
                                              <a:srgbClr val="252529"/>
                                            </a:solidFill>
                                            <a:latin typeface="Cambria Math"/>
                                          </a:rPr>
                                          <m:t>𝐾</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𝑦</m:t>
                                        </m:r>
                                      </m:e>
                                    </m:mr>
                                    <m:mr>
                                      <m:e>
                                        <m:r>
                                          <a:rPr lang="en-US" sz="1550">
                                            <a:solidFill>
                                              <a:srgbClr val="252529"/>
                                            </a:solidFill>
                                            <a:latin typeface="Cambria Math"/>
                                          </a:rPr>
                                          <m:t>𝑢</m:t>
                                        </m:r>
                                      </m:e>
                                    </m:mr>
                                  </m:m>
                                </m:e>
                              </m:d>
                            </m:e>
                          </m:eqArr>
                        </m:e>
                      </m:d>
                    </m:oMath>
                  </m:oMathPara>
                </a14:m>
                <a:endParaRPr sz="1550">
                  <a:latin typeface="Cambria Math"/>
                </a:endParaRPr>
              </a:p>
            </p:txBody>
          </p:sp>
        </mc:Choice>
        <mc:Fallback xmlns="" xmlns:m="http://schemas.openxmlformats.org/officeDocument/2006/math">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50">
                              <a:solidFill>
                                <a:srgbClr val="252529"/>
                              </a:solidFill>
                              <a:latin typeface="Cambria Math"/>
                            </a:rPr>
                          </m:ctrlPr>
                        </m:accPr>
                        <m:e>
                          <m:r>
                            <a:rPr lang="en-US" sz="1650">
                              <a:solidFill>
                                <a:srgbClr val="252529"/>
                              </a:solidFill>
                              <a:latin typeface="Cambria Math"/>
                            </a:rPr>
                            <m:t>𝑢</m:t>
                          </m:r>
                        </m:e>
                      </m:acc>
                      <m:r>
                        <a:rPr lang="en-US" sz="1650">
                          <a:solidFill>
                            <a:srgbClr val="252529"/>
                          </a:solidFill>
                          <a:latin typeface="Cambria Math"/>
                        </a:rPr>
                        <m:t>=</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  ⇔  </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m:t>
                      </m:r>
                      <m:acc>
                        <m:accPr>
                          <m:chr m:val="̃"/>
                          <m:ctrlPr>
                            <a:rPr lang="en-US" sz="1650">
                              <a:solidFill>
                                <a:srgbClr val="252529"/>
                              </a:solidFill>
                              <a:latin typeface="Cambria Math"/>
                            </a:rPr>
                          </m:ctrlPr>
                        </m:accPr>
                        <m:e>
                          <m:r>
                            <a:rPr lang="en-US" sz="1650">
                              <a:solidFill>
                                <a:srgbClr val="252529"/>
                              </a:solidFill>
                              <a:latin typeface="Cambria Math"/>
                            </a:rPr>
                            <m:t>𝑢</m:t>
                          </m:r>
                        </m:e>
                      </m:acc>
                    </m:oMath>
                  </m:oMathPara>
                </a14:m>
                <a:endParaRPr sz="1650">
                  <a:latin typeface="Cambria Math"/>
                </a:endParaRPr>
              </a:p>
            </p:txBody>
          </p:sp>
        </mc:Choice>
        <mc:Fallback xmlns="" xmlns:m="http://schemas.openxmlformats.org/officeDocument/2006/math">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600" i="1">
                              <a:solidFill>
                                <a:srgbClr val="252529"/>
                              </a:solidFill>
                              <a:latin typeface="Cambria Math" panose="02040503050406030204" pitchFamily="18" charset="0"/>
                            </a:rPr>
                          </m:ctrlPr>
                        </m:dPr>
                        <m:e>
                          <m:eqArr>
                            <m:eqArrPr>
                              <m:ctrlPr>
                                <a:rPr lang="en-US" sz="1600" i="1">
                                  <a:solidFill>
                                    <a:srgbClr val="252529"/>
                                  </a:solidFill>
                                  <a:latin typeface="Cambria Math" panose="02040503050406030204" pitchFamily="18" charset="0"/>
                                </a:rPr>
                              </m:ctrlPr>
                            </m:eqArrPr>
                            <m:e>
                              <m:r>
                                <a:rPr lang="en-US" sz="1600">
                                  <a:solidFill>
                                    <a:srgbClr val="252529"/>
                                  </a:solidFill>
                                  <a:latin typeface="Cambria Math"/>
                                </a:rPr>
                                <m:t>𝑇</m:t>
                              </m:r>
                              <m:acc>
                                <m:accPr>
                                  <m:chr m:val="̇"/>
                                  <m:ctrlPr>
                                    <a:rPr lang="en-US" sz="1600">
                                      <a:solidFill>
                                        <a:srgbClr val="252529"/>
                                      </a:solidFill>
                                      <a:latin typeface="Cambria Math"/>
                                    </a:rPr>
                                  </m:ctrlPr>
                                </m:accPr>
                                <m:e>
                                  <m:r>
                                    <a:rPr lang="en-US" sz="1600">
                                      <a:solidFill>
                                        <a:srgbClr val="252529"/>
                                      </a:solidFill>
                                      <a:latin typeface="Cambria Math"/>
                                    </a:rPr>
                                    <m:t>𝑥</m:t>
                                  </m:r>
                                </m:e>
                              </m:acc>
                              <m:r>
                                <a:rPr lang="en-US" sz="1600">
                                  <a:solidFill>
                                    <a:srgbClr val="252529"/>
                                  </a:solidFill>
                                  <a:latin typeface="Cambria Math"/>
                                </a:rPr>
                                <m:t>=</m:t>
                              </m:r>
                              <m:d>
                                <m:dPr>
                                  <m:ctrlPr>
                                    <a:rPr lang="en-US" sz="1600">
                                      <a:solidFill>
                                        <a:srgbClr val="252529"/>
                                      </a:solidFill>
                                      <a:latin typeface="Cambria Math"/>
                                    </a:rPr>
                                  </m:ctrlPr>
                                </m:dPr>
                                <m:e>
                                  <m:r>
                                    <a:rPr lang="en-US" sz="1600">
                                      <a:solidFill>
                                        <a:srgbClr val="252529"/>
                                      </a:solidFill>
                                      <a:latin typeface="Cambria Math"/>
                                    </a:rPr>
                                    <m:t>𝐴</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r>
                                    <a:rPr lang="en-US" sz="1600">
                                      <a:solidFill>
                                        <a:srgbClr val="252529"/>
                                      </a:solidFill>
                                      <a:latin typeface="Cambria Math"/>
                                    </a:rPr>
                                    <m:t>𝐾</m:t>
                                  </m:r>
                                </m:e>
                              </m:d>
                              <m:r>
                                <a:rPr lang="en-US" sz="1600">
                                  <a:solidFill>
                                    <a:srgbClr val="252529"/>
                                  </a:solidFill>
                                  <a:latin typeface="Cambria Math"/>
                                </a:rPr>
                                <m:t>𝑥</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acc>
                                <m:accPr>
                                  <m:chr m:val="̃"/>
                                  <m:ctrlPr>
                                    <a:rPr lang="en-US" sz="1600">
                                      <a:solidFill>
                                        <a:srgbClr val="252529"/>
                                      </a:solidFill>
                                      <a:latin typeface="Cambria Math"/>
                                    </a:rPr>
                                  </m:ctrlPr>
                                </m:accPr>
                                <m:e>
                                  <m:r>
                                    <a:rPr lang="en-US" sz="1600">
                                      <a:solidFill>
                                        <a:srgbClr val="252529"/>
                                      </a:solidFill>
                                      <a:latin typeface="Cambria Math"/>
                                    </a:rPr>
                                    <m:t>𝑢</m:t>
                                  </m:r>
                                </m:e>
                              </m:acc>
                            </m:e>
                            <m:e>
                              <m:acc>
                                <m:accPr>
                                  <m:chr m:val="̃"/>
                                  <m:ctrlPr>
                                    <a:rPr lang="en-US" sz="1600">
                                      <a:solidFill>
                                        <a:srgbClr val="252529"/>
                                      </a:solidFill>
                                      <a:latin typeface="Cambria Math"/>
                                    </a:rPr>
                                  </m:ctrlPr>
                                </m:accPr>
                                <m:e>
                                  <m:r>
                                    <a:rPr lang="en-US" sz="1600">
                                      <a:solidFill>
                                        <a:srgbClr val="252529"/>
                                      </a:solidFill>
                                      <a:latin typeface="Cambria Math"/>
                                    </a:rPr>
                                    <m:t>𝑦</m:t>
                                  </m:r>
                                </m:e>
                              </m:acc>
                              <m:r>
                                <a:rPr lang="en-US" sz="1600">
                                  <a:solidFill>
                                    <a:srgbClr val="252529"/>
                                  </a:solidFill>
                                  <a:latin typeface="Cambria Math"/>
                                </a:rPr>
                                <m:t>=</m:t>
                              </m:r>
                              <m:r>
                                <a:rPr lang="en-US" sz="1600">
                                  <a:solidFill>
                                    <a:srgbClr val="252529"/>
                                  </a:solidFill>
                                  <a:latin typeface="Cambria Math"/>
                                </a:rPr>
                                <m:t>𝑦</m:t>
                              </m:r>
                              <m:r>
                                <a:rPr lang="en-US" sz="1600">
                                  <a:solidFill>
                                    <a:srgbClr val="252529"/>
                                  </a:solidFill>
                                  <a:latin typeface="Cambria Math"/>
                                </a:rPr>
                                <m:t>=</m:t>
                              </m:r>
                              <m:r>
                                <a:rPr lang="en-US" sz="1600">
                                  <a:solidFill>
                                    <a:srgbClr val="252529"/>
                                  </a:solidFill>
                                  <a:latin typeface="Cambria Math"/>
                                </a:rPr>
                                <m:t>𝑥</m:t>
                              </m:r>
                            </m:e>
                          </m:eqArr>
                        </m:e>
                      </m:d>
                    </m:oMath>
                  </m:oMathPara>
                </a14:m>
                <a:endParaRPr sz="1600">
                  <a:latin typeface="Cambria Math"/>
                </a:endParaRPr>
              </a:p>
            </p:txBody>
          </p:sp>
        </mc:Choice>
        <mc:Fallback xmlns="" xmlns:m="http://schemas.openxmlformats.org/officeDocument/2006/math">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8227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a:solidFill>
                                <a:srgbClr val="252529"/>
                              </a:solidFill>
                              <a:latin typeface="Cambria Math"/>
                            </a:rPr>
                          </m:ctrlPr>
                        </m:accPr>
                        <m:e>
                          <m:r>
                            <a:rPr lang="en-US" sz="1800">
                              <a:solidFill>
                                <a:srgbClr val="252529"/>
                              </a:solidFill>
                              <a:latin typeface="Cambria Math"/>
                            </a:rPr>
                            <m:t>𝑢</m:t>
                          </m:r>
                        </m:e>
                      </m:acc>
                      <m:r>
                        <a:rPr lang="en-US" sz="1800">
                          <a:solidFill>
                            <a:srgbClr val="252529"/>
                          </a:solidFill>
                          <a:latin typeface="Cambria Math"/>
                        </a:rPr>
                        <m:t>=0  ⇔  </m:t>
                      </m:r>
                      <m:r>
                        <a:rPr lang="en-US" sz="1800">
                          <a:solidFill>
                            <a:srgbClr val="252529"/>
                          </a:solidFill>
                          <a:latin typeface="Cambria Math"/>
                        </a:rPr>
                        <m:t>𝑢</m:t>
                      </m:r>
                      <m:r>
                        <a:rPr lang="en-US" sz="1800">
                          <a:solidFill>
                            <a:srgbClr val="252529"/>
                          </a:solidFill>
                          <a:latin typeface="Cambria Math"/>
                        </a:rPr>
                        <m:t>=</m:t>
                      </m:r>
                      <m:r>
                        <a:rPr lang="en-US" sz="1800">
                          <a:solidFill>
                            <a:srgbClr val="252529"/>
                          </a:solidFill>
                          <a:latin typeface="Cambria Math"/>
                        </a:rPr>
                        <m:t>𝐾𝑦</m:t>
                      </m:r>
                    </m:oMath>
                  </m:oMathPara>
                </a14:m>
                <a:endParaRPr sz="1800">
                  <a:latin typeface="Cambria Math"/>
                </a:endParaRPr>
              </a:p>
            </p:txBody>
          </p:sp>
        </mc:Choice>
        <mc:Fallback xmlns="" xmlns:m="http://schemas.openxmlformats.org/officeDocument/2006/math">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dirty="0">
                <a:solidFill>
                  <a:srgbClr val="C81919"/>
                </a:solidFill>
                <a:latin typeface="Aptos"/>
              </a:rPr>
              <a:t>Yes: filtered input recovers the original closed loop.</a:t>
            </a:r>
          </a:p>
        </p:txBody>
      </p:sp>
    </p:spTree>
    <p:extLst>
      <p:ext uri="{BB962C8B-B14F-4D97-AF65-F5344CB8AC3E}">
        <p14:creationId xmlns:p14="http://schemas.microsoft.com/office/powerpoint/2010/main" val="3379340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Transposing the systems</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37</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A38E4C-24E9-CA08-8353-19157955D2C0}"/>
                  </a:ext>
                </a:extLst>
              </p:cNvPr>
              <p:cNvSpPr txBox="1"/>
              <p:nvPr/>
            </p:nvSpPr>
            <p:spPr>
              <a:xfrm>
                <a:off x="3079354" y="3425625"/>
                <a:ext cx="469039" cy="398571"/>
              </a:xfrm>
              <a:prstGeom prst="rect">
                <a:avLst/>
              </a:prstGeom>
              <a:noFill/>
            </p:spPr>
            <p:txBody>
              <a:bodyPr wrap="none" lIns="0" tIns="0" rIns="0" bIns="0" rtlCol="0">
                <a:spAutoFit/>
              </a:bodyPr>
              <a:lstStyle/>
              <a:p>
                <a:pPr/>
                <a14:m>
                  <m:oMathPara xmlns:m="http://schemas.openxmlformats.org/officeDocument/2006/math">
                    <m:oMath>
                      <m:sSup>
                        <m:sSupPr>
                          <m:ctrlPr>
                            <a:rPr lang="el-GR" sz="2590" i="1" smtClean="0">
                              <a:latin typeface="Cambria Math" panose="02040503050406030204" pitchFamily="18" charset="0"/>
                              <a:ea typeface="Cambria Math" panose="02040503050406030204" pitchFamily="18" charset="0"/>
                            </a:rPr>
                          </m:ctrlPr>
                        </m:sSupPr>
                        <m:e>
                          <m:r>
                            <m:rPr>
                              <m:sty m:val="p"/>
                            </m:rPr>
                            <a:rPr lang="el-GR" sz="2590" i="1" smtClean="0">
                              <a:latin typeface="Cambria Math" panose="02040503050406030204" pitchFamily="18" charset="0"/>
                              <a:ea typeface="Cambria Math" panose="02040503050406030204" pitchFamily="18" charset="0"/>
                            </a:rPr>
                            <m:t>Θ</m:t>
                          </m:r>
                        </m:e>
                        <m:sup>
                          <m:r>
                            <a:rPr lang="el-GR" sz="2590" i="1" smtClean="0">
                              <a:latin typeface="Cambria Math" panose="02040503050406030204" pitchFamily="18" charset="0"/>
                              <a:ea typeface="Cambria Math" panose="02040503050406030204" pitchFamily="18" charset="0"/>
                            </a:rPr>
                            <m:t>⊤</m:t>
                          </m:r>
                        </m:sup>
                      </m:sSup>
                    </m:oMath>
                  </m:oMathPara>
                </a14:m>
                <a:endParaRPr lang="en-NL" sz="2590" dirty="0"/>
              </a:p>
            </p:txBody>
          </p:sp>
        </mc:Choice>
        <mc:Fallback xmlns:m="http://schemas.openxmlformats.org/officeDocument/2006/math" xmlns="">
          <p:sp>
            <p:nvSpPr>
              <p:cNvPr id="53" name="TextBox 52">
                <a:extLst>
                  <a:ext uri="{FF2B5EF4-FFF2-40B4-BE49-F238E27FC236}">
                    <a16:creationId xmlns:a16="http://schemas.microsoft.com/office/drawing/2014/main" id="{CFA38E4C-24E9-CA08-8353-19157955D2C0}"/>
                  </a:ext>
                </a:extLst>
              </p:cNvPr>
              <p:cNvSpPr txBox="1">
                <a:spLocks noRot="1" noChangeAspect="1" noMove="1" noResize="1" noEditPoints="1" noAdjustHandles="1" noChangeArrowheads="1" noChangeShapeType="1" noTextEdit="1"/>
              </p:cNvSpPr>
              <p:nvPr/>
            </p:nvSpPr>
            <p:spPr>
              <a:xfrm>
                <a:off x="3079354" y="3425625"/>
                <a:ext cx="469039" cy="398571"/>
              </a:xfrm>
              <a:prstGeom prst="rect">
                <a:avLst/>
              </a:prstGeom>
              <a:blipFill>
                <a:blip r:embed="rId8"/>
                <a:stretch>
                  <a:fillRect l="-15584" t="-1538" r="-6494"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p:sp>
        <p:nvSpPr>
          <p:cNvPr id="301" name="Dimension convention"/>
          <p:cNvSpPr txBox="1"/>
          <p:nvPr/>
        </p:nvSpPr>
        <p:spPr>
          <a:xfrm>
            <a:off x="457200" y="1028700"/>
            <a:ext cx="4229100" cy="215900"/>
          </a:xfrm>
          <a:prstGeom prst="rect">
            <a:avLst/>
          </a:prstGeom>
          <a:noFill/>
          <a:ln>
            <a:noFill/>
          </a:ln>
        </p:spPr>
        <p:txBody>
          <a:bodyPr wrap="square" lIns="0" tIns="0" rIns="0" bIns="0" anchor="ctr">
            <a:noAutofit/>
          </a:bodyPr>
          <a:lstStyle/>
          <a:p>
            <a:pPr algn="l"/>
            <a:r>
              <a:rPr lang="en-US" sz="1050" b="0">
                <a:solidFill>
                  <a:srgbClr val="66717C"/>
                </a:solidFill>
                <a:latin typeface="Aptos"/>
              </a:rPr>
              <a:t>For this illustration, state and input have equal dimension.</a:t>
            </a:r>
          </a:p>
        </p:txBody>
      </p:sp>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r>
                        <a:rPr lang="en-US" sz="1800">
                          <a:solidFill>
                            <a:srgbClr val="252529"/>
                          </a:solidFill>
                          <a:latin typeface="Cambria Math"/>
                        </a:rPr>
                        <m:t>=0  ⇔  </m:t>
                      </m:r>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oMath>
                  </m:oMathPara>
                </a14:m>
                <a:endParaRPr sz="1800">
                  <a:latin typeface="Cambria Math"/>
                </a:endParaRPr>
              </a:p>
            </p:txBody>
          </p:sp>
        </mc:Choice>
        <mc:Fallback xmlns="" xmlns:m="http://schemas.openxmlformats.org/officeDocument/2006/math">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a:rPr lang="en-US" sz="1550">
                              <a:solidFill>
                                <a:srgbClr val="252529"/>
                              </a:solidFill>
                              <a:latin typeface="Cambria Math"/>
                            </a:rPr>
                            <m:t>𝐺</m:t>
                          </m:r>
                        </m:e>
                        <m:sup>
                          <m:r>
                            <a:rPr lang="en-US" sz="1550">
                              <a:solidFill>
                                <a:srgbClr val="252529"/>
                              </a:solidFill>
                              <a:latin typeface="Cambria Math"/>
                            </a:rPr>
                            <m:t>⊤</m:t>
                          </m:r>
                        </m:sup>
                      </m:sSup>
                      <m:r>
                        <a:rPr lang="en-US" sz="1550">
                          <a:solidFill>
                            <a:srgbClr val="252529"/>
                          </a:solidFill>
                          <a:latin typeface="Cambria Math"/>
                        </a:rPr>
                        <m:t>: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bar>
                                <m:barPr>
                                  <m:pos m:val="bot"/>
                                  <m:ctrlPr>
                                    <a:rPr lang="en-US" sz="1550">
                                      <a:solidFill>
                                        <a:srgbClr val="252529"/>
                                      </a:solidFill>
                                      <a:latin typeface="Cambria Math"/>
                                    </a:rPr>
                                  </m:ctrlPr>
                                </m:barPr>
                                <m:e>
                                  <m:r>
                                    <a:rPr lang="en-US" sz="1550">
                                      <a:solidFill>
                                        <a:srgbClr val="252529"/>
                                      </a:solidFill>
                                      <a:latin typeface="Cambria Math"/>
                                    </a:rPr>
                                    <m:t>𝑢</m:t>
                                  </m:r>
                                </m:e>
                              </m:bar>
                            </m:e>
                            <m:e>
                              <m:bar>
                                <m:barPr>
                                  <m:pos m:val="bot"/>
                                  <m:ctrlPr>
                                    <a:rPr lang="en-US" sz="1550">
                                      <a:solidFill>
                                        <a:srgbClr val="252529"/>
                                      </a:solidFill>
                                      <a:latin typeface="Cambria Math"/>
                                    </a:rPr>
                                  </m:ctrlPr>
                                </m:barPr>
                                <m:e>
                                  <m:r>
                                    <a:rPr lang="en-US" sz="1550">
                                      <a:solidFill>
                                        <a:srgbClr val="252529"/>
                                      </a:solidFill>
                                      <a:latin typeface="Cambria Math"/>
                                    </a:rPr>
                                    <m:t>𝑦</m:t>
                                  </m:r>
                                </m:e>
                              </m:bar>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 xmlns:m="http://schemas.openxmlformats.org/officeDocument/2006/math">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m:rPr>
                              <m:sty m:val="p"/>
                            </m:rPr>
                            <a:rPr lang="en-US" sz="1550">
                              <a:solidFill>
                                <a:srgbClr val="252529"/>
                              </a:solidFill>
                              <a:latin typeface="Cambria Math"/>
                            </a:rPr>
                            <m:t>Θ</m:t>
                          </m:r>
                        </m:e>
                        <m:sup>
                          <m:r>
                            <a:rPr lang="en-US" sz="1550">
                              <a:solidFill>
                                <a:srgbClr val="252529"/>
                              </a:solidFill>
                              <a:latin typeface="Cambria Math"/>
                            </a:rPr>
                            <m:t>⊤</m:t>
                          </m:r>
                        </m:sup>
                      </m:sSup>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mr>
                                    <m:mr>
                                      <m:e>
                                        <m:r>
                                          <a:rPr lang="en-US" sz="1550">
                                            <a:solidFill>
                                              <a:srgbClr val="252529"/>
                                            </a:solidFill>
                                            <a:latin typeface="Cambria Math"/>
                                          </a:rPr>
                                          <m:t>0</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 xmlns:m="http://schemas.openxmlformats.org/officeDocument/2006/math">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657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900" i="1">
                              <a:solidFill>
                                <a:srgbClr val="252529"/>
                              </a:solidFill>
                              <a:latin typeface="Cambria Math" panose="02040503050406030204" pitchFamily="18" charset="0"/>
                            </a:rPr>
                          </m:ctrlPr>
                        </m:accPr>
                        <m:e>
                          <m:bar>
                            <m:barPr>
                              <m:pos m:val="bot"/>
                              <m:ctrlPr>
                                <a:rPr lang="en-US" sz="1900">
                                  <a:solidFill>
                                    <a:srgbClr val="252529"/>
                                  </a:solidFill>
                                  <a:latin typeface="Cambria Math"/>
                                </a:rPr>
                              </m:ctrlPr>
                            </m:barPr>
                            <m:e>
                              <m:r>
                                <a:rPr lang="en-US" sz="1900">
                                  <a:solidFill>
                                    <a:srgbClr val="252529"/>
                                  </a:solidFill>
                                  <a:latin typeface="Cambria Math"/>
                                </a:rPr>
                                <m:t>𝑢</m:t>
                              </m:r>
                            </m:e>
                          </m:bar>
                        </m:e>
                      </m:acc>
                      <m:r>
                        <a:rPr lang="en-US" sz="1900">
                          <a:solidFill>
                            <a:srgbClr val="252529"/>
                          </a:solidFill>
                          <a:latin typeface="Cambria Math"/>
                        </a:rPr>
                        <m:t>=</m:t>
                      </m:r>
                      <m:bar>
                        <m:barPr>
                          <m:pos m:val="bot"/>
                          <m:ctrlPr>
                            <a:rPr lang="en-US" sz="1900">
                              <a:solidFill>
                                <a:srgbClr val="252529"/>
                              </a:solidFill>
                              <a:latin typeface="Cambria Math"/>
                            </a:rPr>
                          </m:ctrlPr>
                        </m:barPr>
                        <m:e>
                          <m:r>
                            <a:rPr lang="en-US" sz="1900">
                              <a:solidFill>
                                <a:srgbClr val="252529"/>
                              </a:solidFill>
                              <a:latin typeface="Cambria Math"/>
                            </a:rPr>
                            <m:t>𝑢</m:t>
                          </m:r>
                        </m:e>
                      </m:bar>
                      <m:r>
                        <a:rPr lang="en-US" sz="1900">
                          <a:solidFill>
                            <a:srgbClr val="252529"/>
                          </a:solidFill>
                          <a:latin typeface="Cambria Math"/>
                        </a:rPr>
                        <m:t>=</m:t>
                      </m:r>
                      <m:sSup>
                        <m:sSupPr>
                          <m:ctrlPr>
                            <a:rPr lang="en-US" sz="1900">
                              <a:solidFill>
                                <a:srgbClr val="252529"/>
                              </a:solidFill>
                              <a:latin typeface="Cambria Math"/>
                            </a:rPr>
                          </m:ctrlPr>
                        </m:sSupPr>
                        <m:e>
                          <m:r>
                            <a:rPr lang="en-US" sz="1900">
                              <a:solidFill>
                                <a:srgbClr val="252529"/>
                              </a:solidFill>
                              <a:latin typeface="Cambria Math"/>
                            </a:rPr>
                            <m:t>𝐾</m:t>
                          </m:r>
                        </m:e>
                        <m:sup>
                          <m:r>
                            <a:rPr lang="en-US" sz="1900">
                              <a:solidFill>
                                <a:srgbClr val="252529"/>
                              </a:solidFill>
                              <a:latin typeface="Cambria Math"/>
                            </a:rPr>
                            <m:t>∗</m:t>
                          </m:r>
                        </m:sup>
                      </m:sSup>
                      <m:bar>
                        <m:barPr>
                          <m:pos m:val="bot"/>
                          <m:ctrlPr>
                            <a:rPr lang="en-US" sz="1900">
                              <a:solidFill>
                                <a:srgbClr val="252529"/>
                              </a:solidFill>
                              <a:latin typeface="Cambria Math"/>
                            </a:rPr>
                          </m:ctrlPr>
                        </m:barPr>
                        <m:e>
                          <m:r>
                            <a:rPr lang="en-US" sz="1900">
                              <a:solidFill>
                                <a:srgbClr val="252529"/>
                              </a:solidFill>
                              <a:latin typeface="Cambria Math"/>
                            </a:rPr>
                            <m:t>𝑦</m:t>
                          </m:r>
                        </m:e>
                      </m:bar>
                      <m:r>
                        <a:rPr lang="en-US" sz="1900">
                          <a:solidFill>
                            <a:srgbClr val="C81919"/>
                          </a:solidFill>
                          <a:latin typeface="Cambria Math"/>
                        </a:rPr>
                        <m:t>≠0</m:t>
                      </m:r>
                    </m:oMath>
                  </m:oMathPara>
                </a14:m>
                <a:endParaRPr sz="1900">
                  <a:latin typeface="Cambria Math"/>
                </a:endParaRPr>
              </a:p>
            </p:txBody>
          </p:sp>
        </mc:Choice>
        <mc:Fallback xmlns="" xmlns:m="http://schemas.openxmlformats.org/officeDocument/2006/math">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9" name="Stage3 qualification"/>
          <p:cNvSpPr txBox="1"/>
          <p:nvPr/>
        </p:nvSpPr>
        <p:spPr>
          <a:xfrm>
            <a:off x="4953000" y="4305300"/>
            <a:ext cx="3733800" cy="177800"/>
          </a:xfrm>
          <a:prstGeom prst="rect">
            <a:avLst/>
          </a:prstGeom>
          <a:noFill/>
          <a:ln>
            <a:noFill/>
          </a:ln>
        </p:spPr>
        <p:txBody>
          <a:bodyPr wrap="square" lIns="0" tIns="0" rIns="0" bIns="0" anchor="ctr">
            <a:noAutofit/>
          </a:bodyPr>
          <a:lstStyle/>
          <a:p>
            <a:pPr algn="l"/>
            <a:r>
              <a:rPr lang="en-US" sz="1050" b="0">
                <a:solidFill>
                  <a:srgbClr val="66717C"/>
                </a:solidFill>
                <a:latin typeface="Aptos"/>
              </a:rPr>
              <a:t>Generally nonzero under dual feedback.</a:t>
            </a:r>
          </a:p>
        </p:txBody>
      </p:sp>
      <p:sp>
        <p:nvSpPr>
          <p:cNvPr id="310" name="Stage3 conclusion"/>
          <p:cNvSpPr txBox="1"/>
          <p:nvPr/>
        </p:nvSpPr>
        <p:spPr>
          <a:xfrm>
            <a:off x="457200" y="45339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No: zero filtered input imposes the wrong constraint.</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39</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pic>
        <p:nvPicPr>
          <p:cNvPr id="28" name="Picture 27">
            <a:extLst>
              <a:ext uri="{FF2B5EF4-FFF2-40B4-BE49-F238E27FC236}">
                <a16:creationId xmlns:a16="http://schemas.microsoft.com/office/drawing/2014/main" id="{EA68EA87-82CF-D441-A709-D2C4643B9776}"/>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061850" y="2519422"/>
            <a:ext cx="3167750" cy="2093971"/>
          </a:xfrm>
          <a:prstGeom prst="rect">
            <a:avLst/>
          </a:prstGeom>
        </p:spPr>
      </p:pic>
    </p:spTree>
    <p:extLst>
      <p:ext uri="{BB962C8B-B14F-4D97-AF65-F5344CB8AC3E}">
        <p14:creationId xmlns:p14="http://schemas.microsoft.com/office/powerpoint/2010/main" val="26223884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40</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m="http://schemas.openxmlformats.org/officeDocument/2006/math" xmlns="">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The dual operation</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 xmlns:m="http://schemas.openxmlformats.org/officeDocument/2006/math">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66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p:sp>
        <p:nvSpPr>
          <p:cNvPr id="303" name="Stage1 expected description"/>
          <p:cNvSpPr txBox="1"/>
          <p:nvPr/>
        </p:nvSpPr>
        <p:spPr>
          <a:xfrm>
            <a:off x="4876800" y="1384300"/>
            <a:ext cx="3759200" cy="596900"/>
          </a:xfrm>
          <a:prstGeom prst="rect">
            <a:avLst/>
          </a:prstGeom>
          <a:noFill/>
          <a:ln>
            <a:noFill/>
          </a:ln>
        </p:spPr>
        <p:txBody>
          <a:bodyPr wrap="square" lIns="0" tIns="0" rIns="0" bIns="0" anchor="ctr">
            <a:noAutofit/>
          </a:bodyPr>
          <a:lstStyle/>
          <a:p>
            <a:pPr algn="l"/>
            <a:r>
              <a:rPr lang="en-US" sz="1400" b="0">
                <a:solidFill>
                  <a:srgbClr val="252529"/>
                </a:solidFill>
                <a:latin typeface="Aptos"/>
              </a:rPr>
              <a:t>Filtering the dual system must give</a:t>
            </a:r>
          </a:p>
          <a:p>
            <a:pPr algn="l"/>
            <a:r>
              <a:rPr lang="en-US" sz="1400" b="0">
                <a:solidFill>
                  <a:srgbClr val="252529"/>
                </a:solidFill>
                <a:latin typeface="Aptos"/>
              </a:rPr>
              <a:t>the dual of the transformed system.</a:t>
            </a:r>
          </a:p>
        </p:txBody>
      </p:sp>
      <p:sp>
        <p:nvSpPr>
          <p:cNvPr id="304" name="Stage2 operation heading"/>
          <p:cNvSpPr txBox="1"/>
          <p:nvPr/>
        </p:nvSpPr>
        <p:spPr>
          <a:xfrm>
            <a:off x="4876800" y="2159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100">
                          <a:solidFill>
                            <a:srgbClr val="252529"/>
                          </a:solidFill>
                          <a:latin typeface="Cambria Math"/>
                        </a:rPr>
                        <m:t>𝐃</m:t>
                      </m:r>
                      <m:d>
                        <m:dPr>
                          <m:ctrlPr>
                            <a:rPr lang="en-US" sz="2100">
                              <a:solidFill>
                                <a:srgbClr val="252529"/>
                              </a:solidFill>
                              <a:latin typeface="Cambria Math"/>
                            </a:rPr>
                          </m:ctrlPr>
                        </m:dPr>
                        <m:e>
                          <m:r>
                            <m:rPr>
                              <m:sty m:val="p"/>
                            </m:rPr>
                            <a:rPr lang="en-US" sz="2100">
                              <a:solidFill>
                                <a:srgbClr val="252529"/>
                              </a:solidFill>
                              <a:latin typeface="Cambria Math"/>
                            </a:rPr>
                            <m:t>Θ</m:t>
                          </m:r>
                        </m:e>
                      </m:d>
                      <m:r>
                        <a:rPr lang="en-US" sz="2100">
                          <a:solidFill>
                            <a:srgbClr val="252529"/>
                          </a:solidFill>
                          <a:latin typeface="Cambria Math"/>
                        </a:rPr>
                        <m:t>:=</m:t>
                      </m:r>
                      <m:sSup>
                        <m:sSupPr>
                          <m:ctrlPr>
                            <a:rPr lang="en-US" sz="2100" i="1">
                              <a:solidFill>
                                <a:srgbClr val="252529"/>
                              </a:solidFill>
                              <a:latin typeface="Cambria Math" panose="02040503050406030204" pitchFamily="18" charset="0"/>
                            </a:rPr>
                          </m:ctrlPr>
                        </m:sSupPr>
                        <m:e>
                          <m:d>
                            <m:dPr>
                              <m:ctrlPr>
                                <a:rPr lang="en-US" sz="2100" i="1">
                                  <a:solidFill>
                                    <a:srgbClr val="252529"/>
                                  </a:solidFill>
                                  <a:latin typeface="Cambria Math" panose="02040503050406030204" pitchFamily="18" charset="0"/>
                                </a:rPr>
                              </m:ctrlPr>
                            </m:dPr>
                            <m:e>
                              <m:sSup>
                                <m:sSupPr>
                                  <m:ctrlPr>
                                    <a:rPr lang="en-US" sz="2100" i="1">
                                      <a:solidFill>
                                        <a:srgbClr val="252529"/>
                                      </a:solidFill>
                                      <a:latin typeface="Cambria Math" panose="02040503050406030204" pitchFamily="18" charset="0"/>
                                    </a:rPr>
                                  </m:ctrlPr>
                                </m:sSupPr>
                                <m:e>
                                  <m:acc>
                                    <m:accPr>
                                      <m:chr m:val="̂"/>
                                      <m:ctrlPr>
                                        <a:rPr lang="en-US" sz="2100">
                                          <a:solidFill>
                                            <a:srgbClr val="252529"/>
                                          </a:solidFill>
                                          <a:latin typeface="Cambria Math"/>
                                        </a:rPr>
                                      </m:ctrlPr>
                                    </m:accPr>
                                    <m:e>
                                      <m:r>
                                        <a:rPr lang="en-US" sz="2100">
                                          <a:solidFill>
                                            <a:srgbClr val="252529"/>
                                          </a:solidFill>
                                          <a:latin typeface="Cambria Math"/>
                                        </a:rPr>
                                        <m:t>𝐽</m:t>
                                      </m:r>
                                    </m:e>
                                  </m:acc>
                                </m:e>
                                <m:sup>
                                  <m:r>
                                    <a:rPr lang="en-US" sz="2100">
                                      <a:solidFill>
                                        <a:srgbClr val="252529"/>
                                      </a:solidFill>
                                      <a:latin typeface="Cambria Math"/>
                                    </a:rPr>
                                    <m:t>∗</m:t>
                                  </m:r>
                                </m:sup>
                              </m:sSup>
                              <m:sSup>
                                <m:sSupPr>
                                  <m:ctrlPr>
                                    <a:rPr lang="en-US" sz="2100">
                                      <a:solidFill>
                                        <a:srgbClr val="252529"/>
                                      </a:solidFill>
                                      <a:latin typeface="Cambria Math"/>
                                    </a:rPr>
                                  </m:ctrlPr>
                                </m:sSupPr>
                                <m:e>
                                  <m:r>
                                    <m:rPr>
                                      <m:sty m:val="p"/>
                                    </m:rPr>
                                    <a:rPr lang="en-US" sz="2100">
                                      <a:solidFill>
                                        <a:srgbClr val="252529"/>
                                      </a:solidFill>
                                      <a:latin typeface="Cambria Math"/>
                                    </a:rPr>
                                    <m:t>Θ</m:t>
                                  </m:r>
                                </m:e>
                                <m:sup>
                                  <m:r>
                                    <a:rPr lang="en-US" sz="2100">
                                      <a:solidFill>
                                        <a:srgbClr val="252529"/>
                                      </a:solidFill>
                                      <a:latin typeface="Cambria Math"/>
                                    </a:rPr>
                                    <m:t>⊤</m:t>
                                  </m:r>
                                </m:sup>
                              </m:sSup>
                              <m:acc>
                                <m:accPr>
                                  <m:chr m:val="̂"/>
                                  <m:ctrlPr>
                                    <a:rPr lang="en-US" sz="2100">
                                      <a:solidFill>
                                        <a:srgbClr val="252529"/>
                                      </a:solidFill>
                                      <a:latin typeface="Cambria Math"/>
                                    </a:rPr>
                                  </m:ctrlPr>
                                </m:accPr>
                                <m:e>
                                  <m:r>
                                    <a:rPr lang="en-US" sz="2100">
                                      <a:solidFill>
                                        <a:srgbClr val="252529"/>
                                      </a:solidFill>
                                      <a:latin typeface="Cambria Math"/>
                                    </a:rPr>
                                    <m:t>𝐽</m:t>
                                  </m:r>
                                </m:e>
                              </m:acc>
                            </m:e>
                          </m:d>
                        </m:e>
                        <m:sup>
                          <m:r>
                            <a:rPr lang="en-US" sz="2100">
                              <a:solidFill>
                                <a:srgbClr val="252529"/>
                              </a:solidFill>
                              <a:latin typeface="Cambria Math"/>
                            </a:rPr>
                            <m:t>−1</m:t>
                          </m:r>
                        </m:sup>
                      </m:sSup>
                    </m:oMath>
                  </m:oMathPara>
                </a14:m>
                <a:endParaRPr sz="2100">
                  <a:latin typeface="Cambria Math"/>
                </a:endParaRPr>
              </a:p>
            </p:txBody>
          </p:sp>
        </mc:Choice>
        <mc:Fallback xmlns="" xmlns:m="http://schemas.openxmlformats.org/officeDocument/2006/math">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00">
                              <a:solidFill>
                                <a:srgbClr val="252529"/>
                              </a:solidFill>
                              <a:latin typeface="Cambria Math"/>
                            </a:rPr>
                          </m:ctrlPr>
                        </m:accPr>
                        <m:e>
                          <m:r>
                            <a:rPr lang="en-US" sz="1600">
                              <a:solidFill>
                                <a:srgbClr val="252529"/>
                              </a:solidFill>
                              <a:latin typeface="Cambria Math"/>
                            </a:rPr>
                            <m:t>𝐽</m:t>
                          </m:r>
                        </m:e>
                      </m:acc>
                      <m:r>
                        <a:rPr lang="en-US" sz="1600">
                          <a:solidFill>
                            <a:srgbClr val="252529"/>
                          </a:solidFill>
                          <a:latin typeface="Cambria Math"/>
                        </a:rPr>
                        <m:t>=</m:t>
                      </m:r>
                      <m:d>
                        <m:dPr>
                          <m:begChr m:val="["/>
                          <m:endChr m:val="]"/>
                          <m:ctrlPr>
                            <a:rPr lang="en-US" sz="1600" i="1">
                              <a:solidFill>
                                <a:srgbClr val="252529"/>
                              </a:solidFill>
                              <a:latin typeface="Cambria Math" panose="02040503050406030204" pitchFamily="18" charset="0"/>
                            </a:rPr>
                          </m:ctrlPr>
                        </m:dPr>
                        <m:e>
                          <m:m>
                            <m:mPr>
                              <m:mcs>
                                <m:mc>
                                  <m:mcPr>
                                    <m:count m:val="2"/>
                                    <m:mcJc m:val="center"/>
                                  </m:mcPr>
                                </m:mc>
                              </m:mcs>
                              <m:ctrlPr>
                                <a:rPr lang="en-US" sz="1600" i="1">
                                  <a:solidFill>
                                    <a:srgbClr val="252529"/>
                                  </a:solidFill>
                                  <a:latin typeface="Cambria Math" panose="02040503050406030204" pitchFamily="18" charset="0"/>
                                </a:rPr>
                              </m:ctrlPr>
                            </m:mPr>
                            <m:mr>
                              <m:e>
                                <m:r>
                                  <a:rPr lang="en-US" sz="1600">
                                    <a:solidFill>
                                      <a:srgbClr val="252529"/>
                                    </a:solidFill>
                                    <a:latin typeface="Cambria Math"/>
                                  </a:rPr>
                                  <m:t>0</m:t>
                                </m:r>
                              </m:e>
                              <m:e>
                                <m:r>
                                  <a:rPr lang="en-US" sz="1600">
                                    <a:solidFill>
                                      <a:srgbClr val="252529"/>
                                    </a:solidFill>
                                    <a:latin typeface="Cambria Math"/>
                                  </a:rPr>
                                  <m:t>𝐼</m:t>
                                </m:r>
                              </m:e>
                            </m:mr>
                            <m:mr>
                              <m:e>
                                <m:r>
                                  <a:rPr lang="en-US" sz="1600">
                                    <a:solidFill>
                                      <a:srgbClr val="252529"/>
                                    </a:solidFill>
                                    <a:latin typeface="Cambria Math"/>
                                  </a:rPr>
                                  <m:t>−</m:t>
                                </m:r>
                                <m:r>
                                  <a:rPr lang="en-US" sz="1600">
                                    <a:solidFill>
                                      <a:srgbClr val="252529"/>
                                    </a:solidFill>
                                    <a:latin typeface="Cambria Math"/>
                                  </a:rPr>
                                  <m:t>𝐼</m:t>
                                </m:r>
                              </m:e>
                              <m:e>
                                <m:r>
                                  <a:rPr lang="en-US" sz="1600">
                                    <a:solidFill>
                                      <a:srgbClr val="252529"/>
                                    </a:solidFill>
                                    <a:latin typeface="Cambria Math"/>
                                  </a:rPr>
                                  <m:t>0</m:t>
                                </m:r>
                              </m:e>
                            </m:mr>
                          </m:m>
                        </m:e>
                      </m:d>
                    </m:oMath>
                  </m:oMathPara>
                </a14:m>
                <a:endParaRPr sz="1600">
                  <a:latin typeface="Cambria Math"/>
                </a:endParaRPr>
              </a:p>
            </p:txBody>
          </p:sp>
        </mc:Choice>
        <mc:Fallback xmlns="" xmlns:m="http://schemas.openxmlformats.org/officeDocument/2006/math">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784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p:sp>
        <p:nvSpPr>
          <p:cNvPr id="308" name="Stage3 check description"/>
          <p:cNvSpPr txBox="1"/>
          <p:nvPr/>
        </p:nvSpPr>
        <p:spPr>
          <a:xfrm>
            <a:off x="4876800" y="4102100"/>
            <a:ext cx="3797300" cy="292100"/>
          </a:xfrm>
          <a:prstGeom prst="rect">
            <a:avLst/>
          </a:prstGeom>
          <a:noFill/>
          <a:ln>
            <a:noFill/>
          </a:ln>
        </p:spPr>
        <p:txBody>
          <a:bodyPr wrap="square" lIns="0" tIns="0" rIns="0" bIns="0" anchor="ctr">
            <a:noAutofit/>
          </a:bodyPr>
          <a:lstStyle/>
          <a:p>
            <a:pPr algn="l"/>
            <a:r>
              <a:rPr lang="en-US" sz="1350" b="0">
                <a:solidFill>
                  <a:srgbClr val="252529"/>
                </a:solidFill>
                <a:latin typeface="Aptos"/>
              </a:rPr>
              <a:t>Recover the expected dual closed loop.</a:t>
            </a:r>
          </a:p>
        </p:txBody>
      </p:sp>
      <p:sp>
        <p:nvSpPr>
          <p:cNvPr id="309"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Next: apply this operation and verify the resulting system.</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Applying the dual filter</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 xmlns:m="http://schemas.openxmlformats.org/officeDocument/2006/math">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650">
                              <a:solidFill>
                                <a:srgbClr val="252529"/>
                              </a:solidFill>
                              <a:latin typeface="Cambria Math"/>
                            </a:rPr>
                          </m:ctrlPr>
                        </m:sSupPr>
                        <m:e>
                          <m:r>
                            <a:rPr lang="en-US" sz="1650">
                              <a:solidFill>
                                <a:srgbClr val="252529"/>
                              </a:solidFill>
                              <a:latin typeface="Cambria Math"/>
                            </a:rPr>
                            <m:t>𝑇</m:t>
                          </m:r>
                        </m:e>
                        <m:sup>
                          <m:r>
                            <a:rPr lang="en-US" sz="1650">
                              <a:solidFill>
                                <a:srgbClr val="252529"/>
                              </a:solidFill>
                              <a:latin typeface="Cambria Math"/>
                            </a:rPr>
                            <m:t>∗</m:t>
                          </m:r>
                        </m:sup>
                      </m:sSup>
                      <m:acc>
                        <m:accPr>
                          <m:chr m:val="̇"/>
                          <m:ctrlPr>
                            <a:rPr lang="en-US" sz="1650" i="1">
                              <a:solidFill>
                                <a:srgbClr val="252529"/>
                              </a:solidFill>
                              <a:latin typeface="Cambria Math" panose="02040503050406030204" pitchFamily="18" charset="0"/>
                            </a:rPr>
                          </m:ctrlPr>
                        </m:accPr>
                        <m:e>
                          <m:bar>
                            <m:barPr>
                              <m:pos m:val="bot"/>
                              <m:ctrlPr>
                                <a:rPr lang="en-US" sz="1650">
                                  <a:solidFill>
                                    <a:srgbClr val="252529"/>
                                  </a:solidFill>
                                  <a:latin typeface="Cambria Math"/>
                                </a:rPr>
                              </m:ctrlPr>
                            </m:barPr>
                            <m:e>
                              <m:r>
                                <a:rPr lang="en-US" sz="1650">
                                  <a:solidFill>
                                    <a:srgbClr val="252529"/>
                                  </a:solidFill>
                                  <a:latin typeface="Cambria Math"/>
                                </a:rPr>
                                <m:t>𝑥</m:t>
                              </m:r>
                            </m:e>
                          </m:bar>
                        </m:e>
                      </m:acc>
                      <m:r>
                        <a:rPr lang="en-US" sz="1650">
                          <a:solidFill>
                            <a:srgbClr val="252529"/>
                          </a:solidFill>
                          <a:latin typeface="Cambria Math"/>
                        </a:rPr>
                        <m:t>=</m:t>
                      </m:r>
                      <m:d>
                        <m:dPr>
                          <m:ctrlPr>
                            <a:rPr lang="en-US" sz="1650" i="1">
                              <a:solidFill>
                                <a:srgbClr val="252529"/>
                              </a:solidFill>
                              <a:latin typeface="Cambria Math" panose="02040503050406030204" pitchFamily="18" charset="0"/>
                            </a:rPr>
                          </m:ctrlPr>
                        </m:dPr>
                        <m:e>
                          <m:sSup>
                            <m:sSupPr>
                              <m:ctrlPr>
                                <a:rPr lang="en-US" sz="1650">
                                  <a:solidFill>
                                    <a:srgbClr val="252529"/>
                                  </a:solidFill>
                                  <a:latin typeface="Cambria Math"/>
                                </a:rPr>
                              </m:ctrlPr>
                            </m:sSupPr>
                            <m:e>
                              <m:r>
                                <a:rPr lang="en-US" sz="1650">
                                  <a:solidFill>
                                    <a:srgbClr val="252529"/>
                                  </a:solidFill>
                                  <a:latin typeface="Cambria Math"/>
                                </a:rPr>
                                <m:t>𝐴</m:t>
                              </m:r>
                            </m:e>
                            <m:sup>
                              <m:r>
                                <a:rPr lang="en-US" sz="1650">
                                  <a:solidFill>
                                    <a:srgbClr val="252529"/>
                                  </a:solidFill>
                                  <a:latin typeface="Cambria Math"/>
                                </a:rPr>
                                <m:t>∗</m:t>
                              </m:r>
                            </m:sup>
                          </m:sSup>
                          <m:r>
                            <a:rPr lang="en-US" sz="1650">
                              <a:solidFill>
                                <a:srgbClr val="252529"/>
                              </a:solidFill>
                              <a:latin typeface="Cambria Math"/>
                            </a:rPr>
                            <m:t>+</m:t>
                          </m:r>
                          <m:sSup>
                            <m:sSupPr>
                              <m:ctrlPr>
                                <a:rPr lang="en-US" sz="1650">
                                  <a:solidFill>
                                    <a:srgbClr val="252529"/>
                                  </a:solidFill>
                                  <a:latin typeface="Cambria Math"/>
                                </a:rPr>
                              </m:ctrlPr>
                            </m:sSupPr>
                            <m:e>
                              <m:r>
                                <a:rPr lang="en-US" sz="1650">
                                  <a:solidFill>
                                    <a:srgbClr val="252529"/>
                                  </a:solidFill>
                                  <a:latin typeface="Cambria Math"/>
                                </a:rPr>
                                <m:t>𝐾</m:t>
                              </m:r>
                            </m:e>
                            <m:sup>
                              <m:r>
                                <a:rPr lang="en-US" sz="1650">
                                  <a:solidFill>
                                    <a:srgbClr val="252529"/>
                                  </a:solidFill>
                                  <a:latin typeface="Cambria Math"/>
                                </a:rPr>
                                <m:t>∗</m:t>
                              </m:r>
                            </m:sup>
                          </m:sSup>
                          <m:sSup>
                            <m:sSupPr>
                              <m:ctrlPr>
                                <a:rPr lang="en-US" sz="1650" i="1">
                                  <a:solidFill>
                                    <a:srgbClr val="252529"/>
                                  </a:solidFill>
                                  <a:latin typeface="Cambria Math" panose="02040503050406030204" pitchFamily="18" charset="0"/>
                                </a:rPr>
                              </m:ctrlPr>
                            </m:sSupPr>
                            <m:e>
                              <m:sSub>
                                <m:sSubPr>
                                  <m:ctrlPr>
                                    <a:rPr lang="en-US" sz="1650">
                                      <a:solidFill>
                                        <a:srgbClr val="252529"/>
                                      </a:solidFill>
                                      <a:latin typeface="Cambria Math"/>
                                    </a:rPr>
                                  </m:ctrlPr>
                                </m:sSubPr>
                                <m:e>
                                  <m:r>
                                    <a:rPr lang="en-US" sz="1650">
                                      <a:solidFill>
                                        <a:srgbClr val="252529"/>
                                      </a:solidFill>
                                      <a:latin typeface="Cambria Math"/>
                                    </a:rPr>
                                    <m:t>𝐵</m:t>
                                  </m:r>
                                </m:e>
                                <m:sub>
                                  <m:r>
                                    <m:rPr>
                                      <m:sty m:val="p"/>
                                    </m:rPr>
                                    <a:rPr lang="en-US" sz="1650">
                                      <a:solidFill>
                                        <a:srgbClr val="252529"/>
                                      </a:solidFill>
                                      <a:latin typeface="Cambria Math"/>
                                    </a:rPr>
                                    <m:t>u</m:t>
                                  </m:r>
                                </m:sub>
                              </m:sSub>
                            </m:e>
                            <m:sup>
                              <m:r>
                                <a:rPr lang="en-US" sz="1650">
                                  <a:solidFill>
                                    <a:srgbClr val="252529"/>
                                  </a:solidFill>
                                  <a:latin typeface="Cambria Math"/>
                                </a:rPr>
                                <m:t>∗</m:t>
                              </m:r>
                            </m:sup>
                          </m:sSup>
                        </m:e>
                      </m:d>
                      <m:bar>
                        <m:barPr>
                          <m:pos m:val="bot"/>
                          <m:ctrlPr>
                            <a:rPr lang="en-US" sz="1650">
                              <a:solidFill>
                                <a:srgbClr val="252529"/>
                              </a:solidFill>
                              <a:latin typeface="Cambria Math"/>
                            </a:rPr>
                          </m:ctrlPr>
                        </m:barPr>
                        <m:e>
                          <m:r>
                            <a:rPr lang="en-US" sz="1650">
                              <a:solidFill>
                                <a:srgbClr val="252529"/>
                              </a:solidFill>
                              <a:latin typeface="Cambria Math"/>
                            </a:rPr>
                            <m:t>𝑥</m:t>
                          </m:r>
                        </m:e>
                      </m:bar>
                    </m:oMath>
                  </m:oMathPara>
                </a14:m>
                <a:endParaRPr sz="1650">
                  <a:latin typeface="Cambria Math"/>
                </a:endParaRPr>
              </a:p>
            </p:txBody>
          </p:sp>
        </mc:Choice>
        <mc:Fallback xmlns="" xmlns:m="http://schemas.openxmlformats.org/officeDocument/2006/math">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𝐃</m:t>
                      </m:r>
                      <m:d>
                        <m:dPr>
                          <m:ctrlPr>
                            <a:rPr lang="en-US" sz="1550">
                              <a:solidFill>
                                <a:srgbClr val="252529"/>
                              </a:solidFill>
                              <a:latin typeface="Cambria Math"/>
                            </a:rPr>
                          </m:ctrlPr>
                        </m:dPr>
                        <m:e>
                          <m:r>
                            <m:rPr>
                              <m:sty m:val="p"/>
                            </m:rPr>
                            <a:rPr lang="en-US" sz="1550">
                              <a:solidFill>
                                <a:srgbClr val="252529"/>
                              </a:solidFill>
                              <a:latin typeface="Cambria Math"/>
                            </a:rPr>
                            <m:t>Θ</m:t>
                          </m:r>
                        </m:e>
                      </m:d>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 xmlns:m="http://schemas.openxmlformats.org/officeDocument/2006/math">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r>
                        <a:rPr lang="en-US" sz="1800">
                          <a:solidFill>
                            <a:srgbClr val="252529"/>
                          </a:solidFill>
                          <a:latin typeface="Cambria Math"/>
                        </a:rPr>
                        <m:t>+</m:t>
                      </m:r>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oMath>
                  </m:oMathPara>
                </a14:m>
                <a:endParaRPr sz="1800">
                  <a:latin typeface="Cambria Math"/>
                </a:endParaRPr>
              </a:p>
            </p:txBody>
          </p:sp>
        </mc:Choice>
        <mc:Fallback xmlns="" xmlns:m="http://schemas.openxmlformats.org/officeDocument/2006/math">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d>
                                <m:dPr>
                                  <m:ctrlPr>
                                    <a:rPr lang="en-US" sz="1550" i="1">
                                      <a:solidFill>
                                        <a:srgbClr val="252529"/>
                                      </a:solidFill>
                                      <a:latin typeface="Cambria Math" panose="02040503050406030204" pitchFamily="18" charset="0"/>
                                    </a:rPr>
                                  </m:ctrlPr>
                                </m:dPr>
                                <m:e>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e>
                              </m:d>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 xmlns:m="http://schemas.openxmlformats.org/officeDocument/2006/math">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987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700" i="1">
                              <a:solidFill>
                                <a:srgbClr val="252529"/>
                              </a:solidFill>
                              <a:latin typeface="Cambria Math" panose="02040503050406030204" pitchFamily="18" charset="0"/>
                            </a:rPr>
                          </m:ctrlPr>
                        </m:accPr>
                        <m:e>
                          <m:bar>
                            <m:barPr>
                              <m:pos m:val="bot"/>
                              <m:ctrlPr>
                                <a:rPr lang="en-US" sz="1700">
                                  <a:solidFill>
                                    <a:srgbClr val="252529"/>
                                  </a:solidFill>
                                  <a:latin typeface="Cambria Math"/>
                                </a:rPr>
                              </m:ctrlPr>
                            </m:barPr>
                            <m:e>
                              <m:r>
                                <a:rPr lang="en-US" sz="1700">
                                  <a:solidFill>
                                    <a:srgbClr val="252529"/>
                                  </a:solidFill>
                                  <a:latin typeface="Cambria Math"/>
                                </a:rPr>
                                <m:t>𝑢</m:t>
                              </m:r>
                            </m:e>
                          </m:bar>
                        </m:e>
                      </m:acc>
                      <m:r>
                        <a:rPr lang="en-US" sz="1700">
                          <a:solidFill>
                            <a:srgbClr val="252529"/>
                          </a:solidFill>
                          <a:latin typeface="Cambria Math"/>
                        </a:rPr>
                        <m:t>=0  ⇔  </m:t>
                      </m:r>
                      <m:bar>
                        <m:barPr>
                          <m:pos m:val="bot"/>
                          <m:ctrlPr>
                            <a:rPr lang="en-US" sz="1700">
                              <a:solidFill>
                                <a:srgbClr val="252529"/>
                              </a:solidFill>
                              <a:latin typeface="Cambria Math"/>
                            </a:rPr>
                          </m:ctrlPr>
                        </m:barPr>
                        <m:e>
                          <m:r>
                            <a:rPr lang="en-US" sz="1700">
                              <a:solidFill>
                                <a:srgbClr val="252529"/>
                              </a:solidFill>
                              <a:latin typeface="Cambria Math"/>
                            </a:rPr>
                            <m:t>𝑢</m:t>
                          </m:r>
                        </m:e>
                      </m:bar>
                      <m:r>
                        <a:rPr lang="en-US" sz="1700">
                          <a:solidFill>
                            <a:srgbClr val="252529"/>
                          </a:solidFill>
                          <a:latin typeface="Cambria Math"/>
                        </a:rPr>
                        <m:t>=</m:t>
                      </m:r>
                      <m:sSup>
                        <m:sSupPr>
                          <m:ctrlPr>
                            <a:rPr lang="en-US" sz="1700">
                              <a:solidFill>
                                <a:srgbClr val="252529"/>
                              </a:solidFill>
                              <a:latin typeface="Cambria Math"/>
                            </a:rPr>
                          </m:ctrlPr>
                        </m:sSupPr>
                        <m:e>
                          <m:r>
                            <a:rPr lang="en-US" sz="1700">
                              <a:solidFill>
                                <a:srgbClr val="252529"/>
                              </a:solidFill>
                              <a:latin typeface="Cambria Math"/>
                            </a:rPr>
                            <m:t>𝐾</m:t>
                          </m:r>
                        </m:e>
                        <m:sup>
                          <m:r>
                            <a:rPr lang="en-US" sz="1700">
                              <a:solidFill>
                                <a:srgbClr val="252529"/>
                              </a:solidFill>
                              <a:latin typeface="Cambria Math"/>
                            </a:rPr>
                            <m:t>∗</m:t>
                          </m:r>
                        </m:sup>
                      </m:sSup>
                      <m:bar>
                        <m:barPr>
                          <m:pos m:val="bot"/>
                          <m:ctrlPr>
                            <a:rPr lang="en-US" sz="1700">
                              <a:solidFill>
                                <a:srgbClr val="252529"/>
                              </a:solidFill>
                              <a:latin typeface="Cambria Math"/>
                            </a:rPr>
                          </m:ctrlPr>
                        </m:barPr>
                        <m:e>
                          <m:r>
                            <a:rPr lang="en-US" sz="1700">
                              <a:solidFill>
                                <a:srgbClr val="252529"/>
                              </a:solidFill>
                              <a:latin typeface="Cambria Math"/>
                            </a:rPr>
                            <m:t>𝑦</m:t>
                          </m:r>
                        </m:e>
                      </m:bar>
                    </m:oMath>
                  </m:oMathPara>
                </a14:m>
                <a:endParaRPr sz="1700">
                  <a:latin typeface="Cambria Math"/>
                </a:endParaRPr>
              </a:p>
            </p:txBody>
          </p:sp>
        </mc:Choice>
        <mc:Fallback xmlns="" xmlns:m="http://schemas.openxmlformats.org/officeDocument/2006/math">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5847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Yes: zero filtered input recovers the dual closed loop.</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43</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45</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45</a:t>
            </a:r>
            <a:endParaRPr sz="8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spTree>
    <p:extLst>
      <p:ext uri="{BB962C8B-B14F-4D97-AF65-F5344CB8AC3E}">
        <p14:creationId xmlns:p14="http://schemas.microsoft.com/office/powerpoint/2010/main" val="19626724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5280</TotalTime>
  <Words>6227</Words>
  <Application>Microsoft Office PowerPoint</Application>
  <PresentationFormat>On-screen Show (16:9)</PresentationFormat>
  <Paragraphs>987</Paragraphs>
  <Slides>53</Slides>
  <Notes>36</Notes>
  <HiddenSlides>0</HiddenSlides>
  <MMClips>9</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53</vt:i4>
      </vt:variant>
    </vt:vector>
  </HeadingPairs>
  <TitlesOfParts>
    <vt:vector size="59"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Partial Integral Equations</vt:lpstr>
      <vt:lpstr>PowerPoint Presentation</vt:lpstr>
      <vt:lpstr>Robust Stability and Performance</vt:lpstr>
      <vt:lpstr>Feedback stabilization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Absorbing the controller into the filter</vt:lpstr>
      <vt:lpstr>Transposing the systems</vt:lpstr>
      <vt:lpstr>Thought experiment replace K by \Θ</vt:lpstr>
      <vt:lpstr>Thought experiment replace K^⊤ by ▁Θ</vt:lpstr>
      <vt:lpstr>Comparing our results</vt:lpstr>
      <vt:lpstr>The dual operation</vt:lpstr>
      <vt:lpstr>Applying the dual filter</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29</cp:revision>
  <dcterms:created xsi:type="dcterms:W3CDTF">2019-11-27T15:26:32Z</dcterms:created>
  <dcterms:modified xsi:type="dcterms:W3CDTF">2026-09-27T10:27:28Z</dcterms:modified>
</cp:coreProperties>
</file>