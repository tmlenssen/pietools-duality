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0"/>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74" r:id="rId39"/>
    <p:sldId id="475" r:id="rId40"/>
    <p:sldId id="453" r:id="rId41"/>
    <p:sldId id="441" r:id="rId42"/>
    <p:sldId id="471" r:id="rId43"/>
    <p:sldId id="442" r:id="rId44"/>
    <p:sldId id="443" r:id="rId45"/>
    <p:sldId id="450" r:id="rId46"/>
    <p:sldId id="451" r:id="rId47"/>
    <p:sldId id="452" r:id="rId48"/>
    <p:sldId id="439" r:id="rId49"/>
    <p:sldId id="458" r:id="rId50"/>
    <p:sldId id="421" r:id="rId51"/>
    <p:sldId id="427" r:id="rId52"/>
    <p:sldId id="431" r:id="rId53"/>
    <p:sldId id="428" r:id="rId54"/>
    <p:sldId id="429" r:id="rId55"/>
    <p:sldId id="432" r:id="rId56"/>
    <p:sldId id="430" r:id="rId57"/>
    <p:sldId id="433" r:id="rId58"/>
    <p:sldId id="434" r:id="rId59"/>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58" autoAdjust="0"/>
    <p:restoredTop sz="85122" autoAdjust="0"/>
  </p:normalViewPr>
  <p:slideViewPr>
    <p:cSldViewPr snapToGrid="0" showGuides="1">
      <p:cViewPr varScale="1">
        <p:scale>
          <a:sx n="124" d="100"/>
          <a:sy n="124" d="100"/>
        </p:scale>
        <p:origin x="2268" y="102"/>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20BF-45F0-8C73-3D6F-0D00D27B56A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5654815-039C-F0AD-F78B-444162B97BF9}"/>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4655377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02F17-4A6A-8967-7AC8-D0F5D95500A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3536BC0-1217-6EA8-D644-8BD64EC14E15}"/>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5562096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53</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54</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55</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57</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58</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editable_370_image34.png"/><Relationship Id="rIdEditable109" Type="http://schemas.openxmlformats.org/officeDocument/2006/relationships/image" Target="../media/editable_375_image3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editable_369_image33.png"/><Relationship Id="rIdEditable108" Type="http://schemas.openxmlformats.org/officeDocument/2006/relationships/image" Target="../media/editable_374_image38.png"/><Relationship Id="rIdEditable111" Type="http://schemas.openxmlformats.org/officeDocument/2006/relationships/image" Target="../media/editable_377_image41.png"/><Relationship Id="rId2" Type="http://schemas.openxmlformats.org/officeDocument/2006/relationships/video" Target="../media/media1.mp4"/><Relationship Id="rIdEditable107" Type="http://schemas.openxmlformats.org/officeDocument/2006/relationships/image" Target="../media/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editable_368_image32.png"/><Relationship Id="rIdEditable110" Type="http://schemas.openxmlformats.org/officeDocument/2006/relationships/image" Target="../media/editable_376_image40.png"/><Relationship Id="rId5" Type="http://schemas.openxmlformats.org/officeDocument/2006/relationships/slideLayout" Target="../slideLayouts/slideLayout5.xml"/><Relationship Id="rIdEditable101" Type="http://schemas.openxmlformats.org/officeDocument/2006/relationships/image" Target="../media/editable_367_image31.png"/><Relationship Id="rIdEditable106" Type="http://schemas.openxmlformats.org/officeDocument/2006/relationships/image" Target="../media/editable_372_image3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editable_366_image30.png"/><Relationship Id="rIdEditable105" Type="http://schemas.openxmlformats.org/officeDocument/2006/relationships/image" Target="../media/editable_371_image35.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neurosim_s4_5.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4.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5.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46.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6.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63.png"/><Relationship Id="rId11" Type="http://schemas.openxmlformats.org/officeDocument/2006/relationships/image" Target="../media/image65.png"/><Relationship Id="rId5" Type="http://schemas.openxmlformats.org/officeDocument/2006/relationships/image" Target="../media/image1.png"/><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7.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54.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RevisedLFR121" Type="http://schemas.openxmlformats.org/officeDocument/2006/relationships/image" Target="../media/revised_lfr19_image103.png"/><Relationship Id="rId4" Type="http://schemas.openxmlformats.org/officeDocument/2006/relationships/image" Target="../media/image68.jpeg"/><Relationship Id="rId9" Type="http://schemas.openxmlformats.org/officeDocument/2006/relationships/image" Target="../media/image72.png"/><Relationship Id="rId14" Type="http://schemas.openxmlformats.org/officeDocument/2006/relationships/image" Target="../media/image702.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0.png"/><Relationship Id="rId5" Type="http://schemas.openxmlformats.org/officeDocument/2006/relationships/image" Target="../media/image752.png"/><Relationship Id="rId4" Type="http://schemas.openxmlformats.org/officeDocument/2006/relationships/image" Target="../media/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83.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84.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82.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6.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5.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1.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6.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4" Type="http://schemas.openxmlformats.org/officeDocument/2006/relationships/image" Target="../media/image97.png"/><Relationship Id="rId9" Type="http://schemas.openxmlformats.org/officeDocument/2006/relationships/image" Target="../media/image780.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46.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19" Type="http://schemas.openxmlformats.org/officeDocument/2006/relationships/image" Target="../media/image105.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106.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8" Type="http://schemas.openxmlformats.org/officeDocument/2006/relationships/image" Target="../media/slide37derivation_image107.png"/><Relationship Id="rId3" Type="http://schemas.openxmlformats.org/officeDocument/2006/relationships/image" Target="../media/slide37derivation_slide37norm_slide37narrative_image106.png"/><Relationship Id="rId7" Type="http://schemas.openxmlformats.org/officeDocument/2006/relationships/image" Target="../media/slide37derivation_slide37norm_image108.png"/><Relationship Id="rId2" Type="http://schemas.openxmlformats.org/officeDocument/2006/relationships/notesSlide" Target="../notesSlides/notesSlide31.xml"/><Relationship Id="rId1" Type="http://schemas.openxmlformats.org/officeDocument/2006/relationships/slideLayout" Target="../slideLayouts/slideLayout12.xml"/><Relationship Id="rId11" Type="http://schemas.openxmlformats.org/officeDocument/2006/relationships/image" Target="../media/image107.png"/><Relationship Id="rId5" Type="http://schemas.openxmlformats.org/officeDocument/2006/relationships/image" Target="../media/slide37derivation_slide37norm_slide37narrative_image108.png"/><Relationship Id="rId10" Type="http://schemas.openxmlformats.org/officeDocument/2006/relationships/image" Target="../media/slide37derivation_image109.png"/><Relationship Id="rId4" Type="http://schemas.openxmlformats.org/officeDocument/2006/relationships/image" Target="../media/slide37derivation_slide37norm_image106.png"/><Relationship Id="rId9" Type="http://schemas.openxmlformats.org/officeDocument/2006/relationships/image" Target="../media/slide37derivation_image108.png"/></Relationships>
</file>

<file path=ppt/slides/_rels/slide38.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97.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108.png"/><Relationship Id="rId2" Type="http://schemas.openxmlformats.org/officeDocument/2006/relationships/notesSlide" Target="../notesSlides/notesSlide3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9" Type="http://schemas.openxmlformats.org/officeDocument/2006/relationships/image" Target="../media/image780.png"/></Relationships>
</file>

<file path=ppt/slides/_rels/slide39.xml.rels><?xml version="1.0" encoding="UTF-8" standalone="yes"?>
<Relationships xmlns="http://schemas.openxmlformats.org/package/2006/relationships"><Relationship Id="rId8" Type="http://schemas.openxmlformats.org/officeDocument/2006/relationships/image" Target="../media/image971.png"/><Relationship Id="rId13" Type="http://schemas.openxmlformats.org/officeDocument/2006/relationships/image" Target="../media/image1020.png"/><Relationship Id="rId18" Type="http://schemas.openxmlformats.org/officeDocument/2006/relationships/image" Target="../media/image114.png"/><Relationship Id="rId3" Type="http://schemas.openxmlformats.org/officeDocument/2006/relationships/image" Target="../media/image97.png"/><Relationship Id="rId7" Type="http://schemas.openxmlformats.org/officeDocument/2006/relationships/image" Target="../media/image961.png"/><Relationship Id="rId12" Type="http://schemas.openxmlformats.org/officeDocument/2006/relationships/image" Target="../media/image1011.png"/><Relationship Id="rId17" Type="http://schemas.openxmlformats.org/officeDocument/2006/relationships/image" Target="../media/image113.png"/><Relationship Id="rId2" Type="http://schemas.openxmlformats.org/officeDocument/2006/relationships/notesSlide" Target="../notesSlides/notesSlide33.xml"/><Relationship Id="rId16" Type="http://schemas.openxmlformats.org/officeDocument/2006/relationships/image" Target="../media/image112.png"/><Relationship Id="rId1" Type="http://schemas.openxmlformats.org/officeDocument/2006/relationships/slideLayout" Target="../slideLayouts/slideLayout6.xml"/><Relationship Id="rId6" Type="http://schemas.openxmlformats.org/officeDocument/2006/relationships/image" Target="../media/image950.png"/><Relationship Id="rId11" Type="http://schemas.openxmlformats.org/officeDocument/2006/relationships/image" Target="../media/image1000.png"/><Relationship Id="rId5" Type="http://schemas.openxmlformats.org/officeDocument/2006/relationships/image" Target="../media/image940.png"/><Relationship Id="rId15" Type="http://schemas.openxmlformats.org/officeDocument/2006/relationships/image" Target="../media/image111.png"/><Relationship Id="rId10" Type="http://schemas.openxmlformats.org/officeDocument/2006/relationships/image" Target="../media/image109.png"/><Relationship Id="rId4" Type="http://schemas.openxmlformats.org/officeDocument/2006/relationships/image" Target="../media/image108.png"/><Relationship Id="rId9" Type="http://schemas.openxmlformats.org/officeDocument/2006/relationships/image" Target="../media/image981.png"/><Relationship Id="rId14" Type="http://schemas.openxmlformats.org/officeDocument/2006/relationships/image" Target="../media/image110.png"/></Relationships>
</file>

<file path=ppt/slides/_rels/slide40.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15.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41.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16.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4.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2.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35.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43.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17.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6.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44.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18.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37.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45.xml.rels><?xml version="1.0" encoding="UTF-8" standalone="yes"?>
<Relationships xmlns="http://schemas.openxmlformats.org/package/2006/relationships"><Relationship Id="rId13" Type="http://schemas.openxmlformats.org/officeDocument/2006/relationships/image" Target="../media/image391.png"/><Relationship Id="rId18" Type="http://schemas.openxmlformats.org/officeDocument/2006/relationships/image" Target="../media/image521.png"/><Relationship Id="rId3" Type="http://schemas.openxmlformats.org/officeDocument/2006/relationships/image" Target="../media/image371.png"/><Relationship Id="rId12" Type="http://schemas.openxmlformats.org/officeDocument/2006/relationships/image" Target="../media/image382.png"/><Relationship Id="rId17" Type="http://schemas.openxmlformats.org/officeDocument/2006/relationships/image" Target="../media/image510.png"/><Relationship Id="rId2" Type="http://schemas.openxmlformats.org/officeDocument/2006/relationships/image" Target="../media/image361.png"/><Relationship Id="rId16" Type="http://schemas.openxmlformats.org/officeDocument/2006/relationships/image" Target="../media/image500.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15" Type="http://schemas.openxmlformats.org/officeDocument/2006/relationships/image" Target="../media/image490.png"/><Relationship Id="rId4" Type="http://schemas.openxmlformats.org/officeDocument/2006/relationships/image" Target="../media/image960.png"/><Relationship Id="rId14" Type="http://schemas.openxmlformats.org/officeDocument/2006/relationships/image" Target="../media/image480.png"/></Relationships>
</file>

<file path=ppt/slides/_rels/slide46.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47.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0.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38.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19.png"/><Relationship Id="rIdClosing4" Type="http://schemas.openxmlformats.org/officeDocument/2006/relationships/image" Target="../media/image33.png"/><Relationship Id="rId4" Type="http://schemas.openxmlformats.org/officeDocument/2006/relationships/image" Target="../media/image7.jpg"/></Relationships>
</file>

<file path=ppt/slides/_rels/slide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51.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9.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2.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4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3.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4.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2.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5.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43.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21.png"/></Relationships>
</file>

<file path=ppt/slides/_rels/slide56.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20.png"/><Relationship Id="rId2" Type="http://schemas.openxmlformats.org/officeDocument/2006/relationships/notesSlide" Target="../notesSlides/notesSlide44.xml"/><Relationship Id="rId1" Type="http://schemas.openxmlformats.org/officeDocument/2006/relationships/slideLayout" Target="../slideLayouts/slideLayout12.xml"/><Relationship Id="rId4" Type="http://schemas.openxmlformats.org/officeDocument/2006/relationships/image" Target="../media/image122.png"/></Relationships>
</file>

<file path=ppt/slides/_rels/slide57.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45.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23.png"/></Relationships>
</file>

<file path=ppt/slides/_rels/slide58.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46.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24.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 xmlns:m="http://schemas.openxmlformats.org/officeDocument/2006/math">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 xmlns:m="http://schemas.openxmlformats.org/officeDocument/2006/math">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xmlns:m="http://schemas.openxmlformats.org/officeDocument/2006/math">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10000" fill="hold"/>
                                        <p:tgtEl>
                                          <p:spTgt spid="21"/>
                                        </p:tgtEl>
                                      </p:cBhvr>
                                    </p:cmd>
                                    <p:anim calcmode="lin" valueType="num">
                                      <p:cBhvr additive="base">
                                        <p:cTn id="14"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15"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16"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17"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8" fill="hold" display="0">
                  <p:stCondLst>
                    <p:cond delay="indefinite"/>
                  </p:stCondLst>
                </p:cTn>
                <p:tgtEl>
                  <p:spTgt spid="20"/>
                </p:tgtEl>
              </p:cMediaNode>
            </p:video>
            <p:seq concurrent="1" nextAc="seek">
              <p:cTn id="19" restart="whenNotActive" fill="hold" evtFilter="cancelBubble" nodeType="interactiveSeq">
                <p:stCondLst>
                  <p:cond evt="onClick" delay="0">
                    <p:tgtEl>
                      <p:spTgt spid="20"/>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20"/>
                                        </p:tgtEl>
                                      </p:cBhvr>
                                    </p:cmd>
                                  </p:childTnLst>
                                </p:cTn>
                              </p:par>
                            </p:childTnLst>
                          </p:cTn>
                        </p:par>
                      </p:childTnLst>
                    </p:cTn>
                  </p:par>
                </p:childTnLst>
              </p:cTn>
              <p:nextCondLst>
                <p:cond evt="onClick" delay="0">
                  <p:tgtEl>
                    <p:spTgt spid="20"/>
                  </p:tgtEl>
                </p:cond>
              </p:nextCondLst>
            </p:seq>
            <p:video>
              <p:cMediaNode vol="80000">
                <p:cTn id="24" fill="hold" display="0">
                  <p:stCondLst>
                    <p:cond delay="indefinite"/>
                  </p:stCondLst>
                </p:cTn>
                <p:tgtEl>
                  <p:spTgt spid="21"/>
                </p:tgtEl>
              </p:cMediaNode>
            </p:video>
            <p:seq concurrent="1" nextAc="seek">
              <p:cTn id="25" restart="whenNotActive" fill="hold" evtFilter="cancelBubble" nodeType="interactiveSeq">
                <p:stCondLst>
                  <p:cond evt="onClick" delay="0">
                    <p:tgtEl>
                      <p:spTgt spid="21"/>
                    </p:tgtEl>
                  </p:cond>
                </p:stCondLst>
                <p:endSync evt="end" delay="0">
                  <p:rtn val="all"/>
                </p:endSync>
                <p:childTnLst>
                  <p:par>
                    <p:cTn id="26" fill="hold">
                      <p:stCondLst>
                        <p:cond delay="0"/>
                      </p:stCondLst>
                      <p:childTnLst>
                        <p:par>
                          <p:cTn id="27" fill="hold">
                            <p:stCondLst>
                              <p:cond delay="0"/>
                            </p:stCondLst>
                            <p:childTnLst>
                              <p:par>
                                <p:cTn id="28" presetID="2" presetClass="mediacall" presetSubtype="0" fill="hold" nodeType="clickEffect">
                                  <p:stCondLst>
                                    <p:cond delay="0"/>
                                  </p:stCondLst>
                                  <p:childTnLst>
                                    <p:cmd type="call" cmd="togglePause">
                                      <p:cBhvr>
                                        <p:cTn id="29"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 xmlns:m="http://schemas.openxmlformats.org/officeDocument/2006/math">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5"/>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xmlns:m="http://schemas.openxmlformats.org/officeDocument/2006/math">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5009"/>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7"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m="http://schemas.openxmlformats.org/officeDocument/2006/math" xmlns="">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8"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20030"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RevisedLFR121"/>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m="http://schemas.openxmlformats.org/officeDocument/2006/math" xmlns="">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xmlns:m="http://schemas.openxmlformats.org/officeDocument/2006/math">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 xmlns:m="http://schemas.openxmlformats.org/officeDocument/2006/math">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 xmlns:m="http://schemas.openxmlformats.org/officeDocument/2006/math">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 xmlns:m="http://schemas.openxmlformats.org/officeDocument/2006/math">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y</m:t>
                        </m:r>
                      </m:oMath>
                    </m:oMathPara>
                  </a14:m>
                  <a:endParaRPr sz="1998" dirty="0"/>
                </a:p>
              </p:txBody>
            </p:sp>
          </mc:Choice>
          <mc:Fallback>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 xmlns:m="http://schemas.openxmlformats.org/officeDocument/2006/math">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y</m:t>
                        </m:r>
                      </m:oMath>
                    </m:oMathPara>
                  </a14:m>
                  <a:endParaRPr sz="1998" dirty="0"/>
                </a:p>
              </p:txBody>
            </p:sp>
          </mc:Choice>
          <mc:Fallback>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y</m:t>
                        </m:r>
                      </m:oMath>
                    </m:oMathPara>
                  </a14:m>
                  <a:endParaRPr sz="1998" dirty="0"/>
                </a:p>
              </p:txBody>
            </p:sp>
          </mc:Choice>
          <mc:Fallback>
            <p:sp>
              <p:nvSpPr>
                <p:cNvPr id="30028" name="Plant measured channel">
                  <a:extLst>
                    <a:ext uri="{FF2B5EF4-FFF2-40B4-BE49-F238E27FC236}">
                      <a16:creationId xmlns:a16="http://schemas.microsoft.com/office/drawing/2014/main" id="{EBB2E0C7-B846-0C43-2F4F-A63CD7FBA13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107282"/>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107282"/>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70637" y="-1235081"/>
            <a:ext cx="3607759"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89581" y="2570632"/>
            <a:ext cx="1809448"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xmlns="">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Describe the nonlinearity Δ</a:t>
            </a:r>
            <a:endParaRPr sz="2500" dirty="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m="http://schemas.openxmlformats.org/officeDocument/2006/math" xmlns="">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m="http://schemas.openxmlformats.org/officeDocument/2006/math" xmlns="">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m="http://schemas.openxmlformats.org/officeDocument/2006/math" xmlns="">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6329030" y="458375"/>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6329030" y="458375"/>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60FB63A8-F91E-82A0-2104-2E3294463163}"/>
                  </a:ext>
                </a:extLst>
              </p:cNvPr>
              <p:cNvSpPr txBox="1"/>
              <p:nvPr/>
            </p:nvSpPr>
            <p:spPr>
              <a:xfrm>
                <a:off x="4514850" y="570341"/>
                <a:ext cx="3069686" cy="559640"/>
              </a:xfrm>
              <a:prstGeom prst="rect">
                <a:avLst/>
              </a:prstGeom>
              <a:noFill/>
            </p:spPr>
            <p:txBody>
              <a:bodyPr wrap="none" rtlCol="0">
                <a:spAutoFit/>
              </a:bodyPr>
              <a:lstStyle/>
              <a:p>
                <a:pPr/>
                <a14:m>
                  <m:oMathPara xmlns:m="http://schemas.openxmlformats.org/officeDocument/2006/math">
                    <m:oMath>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𝑤</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m:t>
                      </m:r>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 ∀ </m:t>
                      </m:r>
                      <m:r>
                        <a:rPr lang="en-US" b="0" i="1" smtClean="0">
                          <a:latin typeface="Cambria Math" panose="02040503050406030204" pitchFamily="18" charset="0"/>
                        </a:rPr>
                        <m:t>𝑇</m:t>
                      </m:r>
                      <m:r>
                        <a:rPr lang="en-US" b="0" i="1" smtClean="0">
                          <a:latin typeface="Cambria Math" panose="02040503050406030204" pitchFamily="18" charset="0"/>
                        </a:rPr>
                        <m:t>&gt;0</m:t>
                      </m:r>
                    </m:oMath>
                  </m:oMathPara>
                </a14:m>
                <a:endParaRPr lang="en-NL" dirty="0"/>
              </a:p>
            </p:txBody>
          </p:sp>
        </mc:Choice>
        <mc:Fallback>
          <p:sp>
            <p:nvSpPr>
              <p:cNvPr id="2" name="TextBox 1">
                <a:extLst>
                  <a:ext uri="{FF2B5EF4-FFF2-40B4-BE49-F238E27FC236}">
                    <a16:creationId xmlns:a16="http://schemas.microsoft.com/office/drawing/2014/main" id="{60FB63A8-F91E-82A0-2104-2E3294463163}"/>
                  </a:ext>
                </a:extLst>
              </p:cNvPr>
              <p:cNvSpPr txBox="1">
                <a:spLocks noRot="1" noChangeAspect="1" noMove="1" noResize="1" noEditPoints="1" noAdjustHandles="1" noChangeArrowheads="1" noChangeShapeType="1" noTextEdit="1"/>
              </p:cNvSpPr>
              <p:nvPr/>
            </p:nvSpPr>
            <p:spPr>
              <a:xfrm>
                <a:off x="4514850" y="570341"/>
                <a:ext cx="3069686" cy="559640"/>
              </a:xfrm>
              <a:prstGeom prst="rect">
                <a:avLst/>
              </a:prstGeom>
              <a:blipFill>
                <a:blip r:embed="rId19"/>
                <a:stretch>
                  <a:fillRect l="-20080" t="-145055" b="-217582"/>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822CA000-9E64-D9DE-899B-05979CC7D4F9}"/>
              </a:ext>
            </a:extLst>
          </p:cNvPr>
          <p:cNvSpPr txBox="1"/>
          <p:nvPr/>
        </p:nvSpPr>
        <p:spPr>
          <a:xfrm>
            <a:off x="4683261" y="262262"/>
            <a:ext cx="1553182" cy="300082"/>
          </a:xfrm>
          <a:prstGeom prst="rect">
            <a:avLst/>
          </a:prstGeom>
          <a:noFill/>
        </p:spPr>
        <p:txBody>
          <a:bodyPr wrap="none" rtlCol="0">
            <a:spAutoFit/>
          </a:bodyPr>
          <a:lstStyle/>
          <a:p>
            <a:r>
              <a:rPr lang="en-US" dirty="0"/>
              <a:t>Delta loses energy</a:t>
            </a:r>
            <a:endParaRPr lang="en-NL" dirty="0"/>
          </a:p>
        </p:txBody>
      </p:sp>
      <p:sp>
        <p:nvSpPr>
          <p:cNvPr id="8" name="Rectangle 7">
            <a:extLst>
              <a:ext uri="{FF2B5EF4-FFF2-40B4-BE49-F238E27FC236}">
                <a16:creationId xmlns:a16="http://schemas.microsoft.com/office/drawing/2014/main" id="{389E3BD7-9B7A-1002-42C4-D0401AB5A3B6}"/>
              </a:ext>
            </a:extLst>
          </p:cNvPr>
          <p:cNvSpPr/>
          <p:nvPr/>
        </p:nvSpPr>
        <p:spPr>
          <a:xfrm>
            <a:off x="4609888" y="562344"/>
            <a:ext cx="2968556" cy="55964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P spid="2" grpId="0"/>
      <p:bldP spid="7" grpId="0"/>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m="http://schemas.openxmlformats.org/officeDocument/2006/math" xmlns="">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m="http://schemas.openxmlformats.org/officeDocument/2006/math" xmlns="">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m="http://schemas.openxmlformats.org/officeDocument/2006/math" xmlns="">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xmlns:a14="http://schemas.microsoft.com/office/drawing/2010/main">
        <mc:Choice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147C60"/>
                          </a:solidFill>
                          <a:latin typeface="Cambria Math"/>
                        </a:rPr>
                        <m:t>𝑎𝑏</m:t>
                      </m:r>
                      <m:r>
                        <a:rPr sz="1800">
                          <a:solidFill>
                            <a:srgbClr val="147C60"/>
                          </a:solidFill>
                          <a:latin typeface="Cambria Math"/>
                        </a:rPr>
                        <m:t>≥0</m:t>
                      </m:r>
                    </m:oMath>
                  </m:oMathPara>
                </a14:m>
                <a:endParaRPr sz="1800"/>
              </a:p>
            </p:txBody>
          </p:sp>
        </mc:Choice>
        <mc:Fallback xmlns:m="http://schemas.openxmlformats.org/officeDocument/2006/math" xmlns="">
          <p:sp>
            <p:nvSpPr>
              <p:cNvPr id="8002" name="Known product"/>
              <p:cNvSpPr>
                <a:spLocks noRot="1" noChangeAspect="1" noMove="1" noResize="1" noEditPoints="1" noAdjustHandles="1" noChangeArrowheads="1" noChangeShapeType="1" noTextEdit="1"/>
              </p:cNvSpPr>
              <p:nvPr/>
            </p:nvSpPr>
            <p:spPr>
              <a:xfrm>
                <a:off x="2032000" y="721360"/>
                <a:ext cx="5080000" cy="640080"/>
              </a:xfrm>
              <a:prstGeom prst="rect">
                <a:avLst/>
              </a:prstGeom>
              <a:blipFill>
                <a:blip r:embed="rId3"/>
                <a:stretch>
                  <a:fillRect/>
                </a:stretch>
              </a:blipFill>
              <a:ln>
                <a:noFill/>
              </a:ln>
            </p:spPr>
            <p:txBody>
              <a:bodyPr/>
              <a:lstStyle/>
              <a:p>
                <a:r>
                  <a:rPr lang="en-NL">
                    <a:noFill/>
                  </a:rPr>
                  <a:t> </a:t>
                </a:r>
              </a:p>
            </p:txBody>
          </p:sp>
        </mc:Fallback>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xmlns:a14="http://schemas.microsoft.com/office/drawing/2010/main">
        <mc:Choice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16F9C"/>
                          </a:solidFill>
                          <a:latin typeface="Cambria Math"/>
                        </a:rPr>
                        <m:t>𝑣𝑎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dirty="0"/>
              </a:p>
            </p:txBody>
          </p:sp>
        </mc:Choice>
        <mc:Fallback xmlns="" xmlns:m="http://schemas.openxmlformats.org/officeDocument/2006/math">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xmlns:a14="http://schemas.microsoft.com/office/drawing/2010/main">
        <mc:Choice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xmlns:m="http://schemas.openxmlformats.org/officeDocument/2006/math" xmlns="">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
        <p:nvSpPr>
          <p:cNvPr id="5" name="TextBox 4">
            <a:extLst>
              <a:ext uri="{FF2B5EF4-FFF2-40B4-BE49-F238E27FC236}">
                <a16:creationId xmlns:a16="http://schemas.microsoft.com/office/drawing/2014/main" id="{DBD1DF88-1BF5-B206-CE20-ABD8BBBD94D1}"/>
              </a:ext>
            </a:extLst>
          </p:cNvPr>
          <p:cNvSpPr txBox="1"/>
          <p:nvPr/>
        </p:nvSpPr>
        <p:spPr>
          <a:xfrm>
            <a:off x="3683000" y="2692400"/>
            <a:ext cx="184731" cy="300082"/>
          </a:xfrm>
          <a:prstGeom prst="rect">
            <a:avLst/>
          </a:prstGeom>
          <a:noFill/>
        </p:spPr>
        <p:txBody>
          <a:bodyPr wrap="none" rtlCol="0">
            <a:spAutoFit/>
          </a:bodyPr>
          <a:lstStyle/>
          <a:p>
            <a:endParaRPr lang="en-NL" dirty="0"/>
          </a:p>
        </p:txBody>
      </p:sp>
      <mc:AlternateContent xmlns:mc="http://schemas.openxmlformats.org/markup-compatibility/2006" xmlns:a14="http://schemas.microsoft.com/office/drawing/2010/main">
        <mc:Choice Requires="a14">
          <p:sp>
            <p:nvSpPr>
              <p:cNvPr id="8023" name="Energy inequality"/>
              <p:cNvSpPr/>
              <p:nvPr/>
            </p:nvSpPr>
            <p:spPr>
              <a:xfrm>
                <a:off x="444500" y="3891280"/>
                <a:ext cx="8255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𝑤</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m:t>
                      </m:r>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𝑧</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   ∀</m:t>
                      </m:r>
                      <m:r>
                        <a:rPr sz="1900">
                          <a:solidFill>
                            <a:srgbClr val="147C60"/>
                          </a:solidFill>
                          <a:latin typeface="Cambria Math"/>
                        </a:rPr>
                        <m:t>𝑇</m:t>
                      </m:r>
                      <m:r>
                        <a:rPr sz="1900">
                          <a:solidFill>
                            <a:srgbClr val="147C60"/>
                          </a:solidFill>
                          <a:latin typeface="Cambria Math"/>
                        </a:rPr>
                        <m:t>≥0</m:t>
                      </m:r>
                    </m:oMath>
                  </m:oMathPara>
                </a14:m>
                <a:endParaRPr sz="1900"/>
              </a:p>
            </p:txBody>
          </p:sp>
        </mc:Choice>
        <mc:Fallback xmlns:m="http://schemas.openxmlformats.org/officeDocument/2006/math" xmlns="">
          <p:sp>
            <p:nvSpPr>
              <p:cNvPr id="8023" name="Energy inequality"/>
              <p:cNvSpPr>
                <a:spLocks noRot="1" noChangeAspect="1" noMove="1" noResize="1" noEditPoints="1" noAdjustHandles="1" noChangeArrowheads="1" noChangeShapeType="1" noTextEdit="1"/>
              </p:cNvSpPr>
              <p:nvPr/>
            </p:nvSpPr>
            <p:spPr>
              <a:xfrm>
                <a:off x="444500" y="3891280"/>
                <a:ext cx="8255000" cy="675640"/>
              </a:xfrm>
              <a:prstGeom prst="rect">
                <a:avLst/>
              </a:prstGeom>
              <a:blipFill>
                <a:blip r:embed="rId7"/>
                <a:stretch>
                  <a:fillRect/>
                </a:stretch>
              </a:blipFill>
              <a:ln>
                <a:noFill/>
              </a:ln>
            </p:spPr>
            <p:txBody>
              <a:bodyPr/>
              <a:lstStyle/>
              <a:p>
                <a:r>
                  <a:rPr lang="en-NL">
                    <a:noFill/>
                  </a:rPr>
                  <a:t> </a:t>
                </a:r>
              </a:p>
            </p:txBody>
          </p:sp>
        </mc:Fallback>
      </mc:AlternateContent>
      <p:sp>
        <p:nvSpPr>
          <p:cNvPr id="8024" name="Energy interpretation"/>
          <p:cNvSpPr/>
          <p:nvPr/>
        </p:nvSpPr>
        <p:spPr>
          <a:xfrm>
            <a:off x="317500" y="4552950"/>
            <a:ext cx="8509000" cy="266700"/>
          </a:xfrm>
          <a:prstGeom prst="rect">
            <a:avLst/>
          </a:prstGeom>
          <a:noFill/>
          <a:ln>
            <a:noFill/>
          </a:ln>
        </p:spPr>
        <p:txBody>
          <a:bodyPr wrap="none" lIns="0" tIns="0" rIns="0" bIns="0" anchor="ctr">
            <a:noAutofit/>
          </a:bodyPr>
          <a:lstStyle/>
          <a:p>
            <a:pPr algn="ctr">
              <a:buNone/>
            </a:pPr>
            <a:r>
              <a:rPr lang="en-GB" sz="1400" b="0" i="0" u="none" baseline="0">
                <a:solidFill>
                  <a:srgbClr val="147C60"/>
                </a:solidFill>
                <a:latin typeface="Aptos"/>
                <a:ea typeface="Aptos"/>
                <a:cs typeface="Aptos"/>
              </a:rPr>
              <a:t>The transformed output energy cannot exceed the input energy.</a:t>
            </a:r>
            <a:endParaRPr sz="1400"/>
          </a:p>
        </p:txBody>
      </p:sp>
      <mc:AlternateContent xmlns:mc="http://schemas.openxmlformats.org/markup-compatibility/2006" xmlns:a14="http://schemas.microsoft.com/office/drawing/2010/main">
        <mc:Choice Requires="a14">
          <p:sp>
            <p:nvSpPr>
              <p:cNvPr id="8035" name="Substitute signals"/>
              <p:cNvSpPr/>
              <p:nvPr/>
            </p:nvSpPr>
            <p:spPr>
              <a:xfrm>
                <a:off x="317500" y="22529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𝑧</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𝑤</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oMath>
                  </m:oMathPara>
                </a14:m>
                <a:endParaRPr sz="1900" dirty="0"/>
              </a:p>
            </p:txBody>
          </p:sp>
        </mc:Choice>
        <mc:Fallback xmlns="">
          <p:sp>
            <p:nvSpPr>
              <p:cNvPr id="8035" name="Substitute signals"/>
              <p:cNvSpPr>
                <a:spLocks noRot="1" noChangeAspect="1" noMove="1" noResize="1" noEditPoints="1" noAdjustHandles="1" noChangeArrowheads="1" noChangeShapeType="1" noTextEdit="1"/>
              </p:cNvSpPr>
              <p:nvPr/>
            </p:nvSpPr>
            <p:spPr>
              <a:xfrm>
                <a:off x="317500" y="2252980"/>
                <a:ext cx="8509000" cy="675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6" name="Expand squares"/>
              <p:cNvSpPr/>
              <p:nvPr/>
            </p:nvSpPr>
            <p:spPr>
              <a:xfrm>
                <a:off x="317500" y="26212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sz="1900">
                              <a:solidFill>
                                <a:srgbClr val="252529"/>
                              </a:solidFill>
                              <a:latin typeface="Cambria Math"/>
                            </a:rPr>
                            <m:t>𝑣𝑎𝑏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sz="1900">
                              <a:solidFill>
                                <a:srgbClr val="252529"/>
                              </a:solidFill>
                              <a:latin typeface="Cambria Math"/>
                            </a:rPr>
                            <m:t>𝑣𝑎𝑏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oMath>
                  </m:oMathPara>
                </a14:m>
                <a:endParaRPr sz="1900"/>
              </a:p>
            </p:txBody>
          </p:sp>
        </mc:Choice>
        <mc:Fallback xmlns="">
          <p:sp>
            <p:nvSpPr>
              <p:cNvPr id="8036" name="Expand squares"/>
              <p:cNvSpPr>
                <a:spLocks noRot="1" noChangeAspect="1" noMove="1" noResize="1" noEditPoints="1" noAdjustHandles="1" noChangeArrowheads="1" noChangeShapeType="1" noTextEdit="1"/>
              </p:cNvSpPr>
              <p:nvPr/>
            </p:nvSpPr>
            <p:spPr>
              <a:xfrm>
                <a:off x="317500" y="2621280"/>
                <a:ext cx="8509000" cy="675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7" name="Cancel matching terms"/>
              <p:cNvSpPr/>
              <p:nvPr/>
            </p:nvSpPr>
            <p:spPr>
              <a:xfrm>
                <a:off x="444500" y="2910840"/>
                <a:ext cx="8255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147C60"/>
                          </a:solidFill>
                          <a:latin typeface="Cambria Math"/>
                        </a:rPr>
                        <m:t>=4</m:t>
                      </m:r>
                      <m:r>
                        <a:rPr sz="2200">
                          <a:solidFill>
                            <a:srgbClr val="147C60"/>
                          </a:solidFill>
                          <a:latin typeface="Cambria Math"/>
                        </a:rPr>
                        <m:t>𝑣𝑎𝑏</m:t>
                      </m:r>
                      <m:r>
                        <a:rPr sz="2200">
                          <a:solidFill>
                            <a:srgbClr val="147C60"/>
                          </a:solidFill>
                          <a:latin typeface="Cambria Math"/>
                        </a:rPr>
                        <m:t>≥0</m:t>
                      </m:r>
                    </m:oMath>
                  </m:oMathPara>
                </a14:m>
                <a:endParaRPr sz="2200"/>
              </a:p>
            </p:txBody>
          </p:sp>
        </mc:Choice>
        <mc:Fallback xmlns="">
          <p:sp>
            <p:nvSpPr>
              <p:cNvPr id="8037" name="Cancel matching terms"/>
              <p:cNvSpPr>
                <a:spLocks noRot="1" noChangeAspect="1" noMove="1" noResize="1" noEditPoints="1" noAdjustHandles="1" noChangeArrowheads="1" noChangeShapeType="1" noTextEdit="1"/>
              </p:cNvSpPr>
              <p:nvPr/>
            </p:nvSpPr>
            <p:spPr>
              <a:xfrm>
                <a:off x="444500" y="2910840"/>
                <a:ext cx="82550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8038" name="Pointwise inequality"/>
              <p:cNvSpPr/>
              <p:nvPr/>
            </p:nvSpPr>
            <p:spPr>
              <a:xfrm>
                <a:off x="444500" y="32969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  </m:t>
                      </m:r>
                    </m:oMath>
                  </m:oMathPara>
                </a14:m>
                <a:endParaRPr sz="2100" dirty="0"/>
              </a:p>
            </p:txBody>
          </p:sp>
        </mc:Choice>
        <mc:Fallback>
          <p:sp>
            <p:nvSpPr>
              <p:cNvPr id="8038" name="Pointwise inequality"/>
              <p:cNvSpPr>
                <a:spLocks noRot="1" noChangeAspect="1" noMove="1" noResize="1" noEditPoints="1" noAdjustHandles="1" noChangeArrowheads="1" noChangeShapeType="1" noTextEdit="1"/>
              </p:cNvSpPr>
              <p:nvPr/>
            </p:nvSpPr>
            <p:spPr>
              <a:xfrm>
                <a:off x="444500" y="3296920"/>
                <a:ext cx="8255000" cy="746760"/>
              </a:xfrm>
              <a:prstGeom prst="rect">
                <a:avLst/>
              </a:prstGeom>
              <a:blipFill>
                <a:blip r:embed="rId11"/>
                <a:stretch>
                  <a:fillRect/>
                </a:stretch>
              </a:blipFill>
              <a:ln>
                <a:noFill/>
              </a:ln>
            </p:spPr>
            <p:txBody>
              <a:bodyPr/>
              <a:lstStyle/>
              <a:p>
                <a:r>
                  <a:rPr lang="en-NL">
                    <a:noFill/>
                  </a:rPr>
                  <a:t> </a:t>
                </a:r>
              </a:p>
            </p:txBody>
          </p:sp>
        </mc:Fallback>
      </mc:AlternateContent>
      <p:cxnSp>
        <p:nvCxnSpPr>
          <p:cNvPr id="3" name="Straight Connector 2">
            <a:extLst>
              <a:ext uri="{FF2B5EF4-FFF2-40B4-BE49-F238E27FC236}">
                <a16:creationId xmlns:a16="http://schemas.microsoft.com/office/drawing/2014/main" id="{4B946411-B4B0-963C-A4CC-503799D58626}"/>
              </a:ext>
            </a:extLst>
          </p:cNvPr>
          <p:cNvCxnSpPr/>
          <p:nvPr/>
        </p:nvCxnSpPr>
        <p:spPr>
          <a:xfrm flipV="1">
            <a:off x="2558783" y="2812356"/>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E922C065-CA68-07AE-AFA7-086A366DA5A2}"/>
              </a:ext>
            </a:extLst>
          </p:cNvPr>
          <p:cNvCxnSpPr/>
          <p:nvPr/>
        </p:nvCxnSpPr>
        <p:spPr>
          <a:xfrm flipV="1">
            <a:off x="3962288" y="2772132"/>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D0B255A-6B55-DD1F-63C0-BF8C36906F6F}"/>
              </a:ext>
            </a:extLst>
          </p:cNvPr>
          <p:cNvCxnSpPr/>
          <p:nvPr/>
        </p:nvCxnSpPr>
        <p:spPr>
          <a:xfrm flipV="1">
            <a:off x="4850963" y="2787650"/>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2D1D1A8-1891-3555-7348-935980BE09F1}"/>
              </a:ext>
            </a:extLst>
          </p:cNvPr>
          <p:cNvCxnSpPr/>
          <p:nvPr/>
        </p:nvCxnSpPr>
        <p:spPr>
          <a:xfrm flipV="1">
            <a:off x="6323901" y="2811945"/>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p14:dur="450">
        <p:fade/>
      </p:transition>
    </mc:Choice>
    <mc:Fallback xmlns="" xmlns:m="http://schemas.openxmlformats.org/officeDocument/2006/math" xmlns:a14="http://schemas.microsoft.com/office/drawing/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005"/>
                                        </p:tgtEl>
                                        <p:attrNameLst>
                                          <p:attrName>style.visibility</p:attrName>
                                        </p:attrNameLst>
                                      </p:cBhvr>
                                      <p:to>
                                        <p:strVal val="visible"/>
                                      </p:to>
                                    </p:set>
                                    <p:animEffect transition="in" filter="fade">
                                      <p:cBhvr>
                                        <p:cTn id="7" dur="350"/>
                                        <p:tgtEl>
                                          <p:spTgt spid="800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006"/>
                                        </p:tgtEl>
                                        <p:attrNameLst>
                                          <p:attrName>style.visibility</p:attrName>
                                        </p:attrNameLst>
                                      </p:cBhvr>
                                      <p:to>
                                        <p:strVal val="visible"/>
                                      </p:to>
                                    </p:set>
                                    <p:animEffect transition="in" filter="fade">
                                      <p:cBhvr>
                                        <p:cTn id="10" dur="350"/>
                                        <p:tgtEl>
                                          <p:spTgt spid="800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035"/>
                                        </p:tgtEl>
                                        <p:attrNameLst>
                                          <p:attrName>style.visibility</p:attrName>
                                        </p:attrNameLst>
                                      </p:cBhvr>
                                      <p:to>
                                        <p:strVal val="visible"/>
                                      </p:to>
                                    </p:set>
                                    <p:animEffect transition="in" filter="fade">
                                      <p:cBhvr>
                                        <p:cTn id="15" dur="350"/>
                                        <p:tgtEl>
                                          <p:spTgt spid="803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8036"/>
                                        </p:tgtEl>
                                        <p:attrNameLst>
                                          <p:attrName>style.visibility</p:attrName>
                                        </p:attrNameLst>
                                      </p:cBhvr>
                                      <p:to>
                                        <p:strVal val="visible"/>
                                      </p:to>
                                    </p:set>
                                    <p:animEffect transition="in" filter="fade">
                                      <p:cBhvr>
                                        <p:cTn id="20" dur="350"/>
                                        <p:tgtEl>
                                          <p:spTgt spid="8036"/>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8037"/>
                                        </p:tgtEl>
                                        <p:attrNameLst>
                                          <p:attrName>style.visibility</p:attrName>
                                        </p:attrNameLst>
                                      </p:cBhvr>
                                      <p:to>
                                        <p:strVal val="visible"/>
                                      </p:to>
                                    </p:set>
                                    <p:animEffect transition="in" filter="fade">
                                      <p:cBhvr>
                                        <p:cTn id="25" dur="350"/>
                                        <p:tgtEl>
                                          <p:spTgt spid="8037"/>
                                        </p:tgtEl>
                                      </p:cBhvr>
                                    </p:animEffect>
                                  </p:childTnLst>
                                </p:cTn>
                              </p:par>
                              <p:par>
                                <p:cTn id="26" presetID="1" presetClass="entr" presetSubtype="0" fill="hold" nodeType="withEffect">
                                  <p:stCondLst>
                                    <p:cond delay="0"/>
                                  </p:stCondLst>
                                  <p:childTnLst>
                                    <p:set>
                                      <p:cBhvr>
                                        <p:cTn id="27" dur="1" fill="hold">
                                          <p:stCondLst>
                                            <p:cond delay="0"/>
                                          </p:stCondLst>
                                        </p:cTn>
                                        <p:tgtEl>
                                          <p:spTgt spid="7"/>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3"/>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4"/>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6"/>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8038"/>
                                        </p:tgtEl>
                                        <p:attrNameLst>
                                          <p:attrName>style.visibility</p:attrName>
                                        </p:attrNameLst>
                                      </p:cBhvr>
                                      <p:to>
                                        <p:strVal val="visible"/>
                                      </p:to>
                                    </p:set>
                                    <p:animEffect transition="in" filter="fade">
                                      <p:cBhvr>
                                        <p:cTn id="38" dur="350"/>
                                        <p:tgtEl>
                                          <p:spTgt spid="8038"/>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8023"/>
                                        </p:tgtEl>
                                        <p:attrNameLst>
                                          <p:attrName>style.visibility</p:attrName>
                                        </p:attrNameLst>
                                      </p:cBhvr>
                                      <p:to>
                                        <p:strVal val="visible"/>
                                      </p:to>
                                    </p:set>
                                    <p:animEffect transition="in" filter="fade">
                                      <p:cBhvr>
                                        <p:cTn id="43" dur="350"/>
                                        <p:tgtEl>
                                          <p:spTgt spid="8023"/>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8024"/>
                                        </p:tgtEl>
                                        <p:attrNameLst>
                                          <p:attrName>style.visibility</p:attrName>
                                        </p:attrNameLst>
                                      </p:cBhvr>
                                      <p:to>
                                        <p:strVal val="visible"/>
                                      </p:to>
                                    </p:set>
                                    <p:animEffect transition="in" filter="fade">
                                      <p:cBhvr>
                                        <p:cTn id="46" dur="350"/>
                                        <p:tgtEl>
                                          <p:spTgt spid="80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5" grpId="0"/>
      <p:bldP spid="8006" grpId="0"/>
      <p:bldP spid="8023" grpId="0"/>
      <p:bldP spid="8024" grpId="0"/>
      <p:bldP spid="8035" grpId="0"/>
      <p:bldP spid="8036" grpId="0"/>
      <p:bldP spid="8037" grpId="0"/>
      <p:bldP spid="803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83292-7C9C-BBE8-7D16-D4D7FFA95FD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8583AE7-980A-B274-BF8A-98AE416A28A6}"/>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8A40356-44DC-E002-D6E7-A363BA5162E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81" y="2564134"/>
            <a:ext cx="1809448" cy="2579366"/>
          </a:xfrm>
          <a:prstGeom prst="rect">
            <a:avLst/>
          </a:prstGeom>
        </p:spPr>
      </p:pic>
      <p:sp>
        <p:nvSpPr>
          <p:cNvPr id="2" name="!!PIE pillar">
            <a:extLst>
              <a:ext uri="{FF2B5EF4-FFF2-40B4-BE49-F238E27FC236}">
                <a16:creationId xmlns:a16="http://schemas.microsoft.com/office/drawing/2014/main" id="{C9FDFCC6-581B-6F05-DBA2-958168BC74C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6699817-B641-8594-0757-87368D5A5ACD}"/>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9F6E168C-2A3F-3C81-24A0-9B3BABC2DEFE}"/>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7692B316-032F-5988-A21D-29098A68E96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9846B291-3F21-67B4-6E36-5118A2BF85F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250C7B19-6A14-68C1-20F3-C8F3F669021A}"/>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72939C1D-4F40-45C6-1406-ECE2DB489480}"/>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226BAE28-B4F4-A106-6781-98C7D2574989}"/>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43314A6A-420C-69FF-89F6-490B15F41A01}"/>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8100C3A0-B145-F48B-F347-2D1EB29E995F}"/>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21A458C1-1247-BA8B-B29F-E6A776113A8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ABEFFDC3-A3C9-3F09-D45A-E7BF57464A2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EEAC7A4D-A0A7-A9E9-332F-49332FE4182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A5C5D313-B85E-B84F-5930-AFC728E27086}"/>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EA8844E4-35D8-F67B-9D90-EC59E3CD1508}"/>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70DA3884-EB37-A827-3455-761F6BC765A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F88D4A53-1944-4CFC-4024-8334D68690E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2007646B-D7D2-6903-6A36-5759227F04EE}"/>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24647194-C53A-8728-B07A-373EE7537C19}"/>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0533EA20-673B-A537-F68E-843367A311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a:extLst>
              <a:ext uri="{FF2B5EF4-FFF2-40B4-BE49-F238E27FC236}">
                <a16:creationId xmlns:a16="http://schemas.microsoft.com/office/drawing/2014/main" id="{611506F1-0942-2AE5-0C5F-D1CD64916629}"/>
              </a:ext>
            </a:extLst>
          </p:cNvPr>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AE141B1F-1AE1-BCCC-C74E-A57B24DE0631}"/>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ED7F966F-DE78-F60E-1EDC-14693E31916A}"/>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pic>
        <p:nvPicPr>
          <p:cNvPr id="27" name="Picture 26">
            <a:extLst>
              <a:ext uri="{FF2B5EF4-FFF2-40B4-BE49-F238E27FC236}">
                <a16:creationId xmlns:a16="http://schemas.microsoft.com/office/drawing/2014/main" id="{691AC1AB-A104-93A6-F34F-3F313D93167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81" y="-15232"/>
            <a:ext cx="1809448" cy="2579366"/>
          </a:xfrm>
          <a:prstGeom prst="rect">
            <a:avLst/>
          </a:prstGeom>
        </p:spPr>
      </p:pic>
    </p:spTree>
    <p:extLst>
      <p:ext uri="{BB962C8B-B14F-4D97-AF65-F5344CB8AC3E}">
        <p14:creationId xmlns:p14="http://schemas.microsoft.com/office/powerpoint/2010/main" val="204364034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D66DD-9777-B66E-31EE-9407E39C086C}"/>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FBFC054-2ADC-5E5C-339A-E9D1B5D65A39}"/>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ECC35B5-3AE2-CA4E-CA09-27259520D12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39450" y="2579366"/>
            <a:ext cx="1809448" cy="2579366"/>
          </a:xfrm>
          <a:prstGeom prst="rect">
            <a:avLst/>
          </a:prstGeom>
        </p:spPr>
      </p:pic>
      <p:sp>
        <p:nvSpPr>
          <p:cNvPr id="8" name="Footer Placeholder 4">
            <a:extLst>
              <a:ext uri="{FF2B5EF4-FFF2-40B4-BE49-F238E27FC236}">
                <a16:creationId xmlns:a16="http://schemas.microsoft.com/office/drawing/2014/main" id="{9029E7E1-ABAA-3362-E60A-DC1A3DB99018}"/>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pic>
        <p:nvPicPr>
          <p:cNvPr id="27" name="Picture 26">
            <a:extLst>
              <a:ext uri="{FF2B5EF4-FFF2-40B4-BE49-F238E27FC236}">
                <a16:creationId xmlns:a16="http://schemas.microsoft.com/office/drawing/2014/main" id="{534105F3-6516-466D-17B5-3A25729B59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39450" y="0"/>
            <a:ext cx="1809448" cy="2579366"/>
          </a:xfrm>
          <a:prstGeom prst="rect">
            <a:avLst/>
          </a:prstGeom>
        </p:spPr>
      </p:pic>
      <p:sp>
        <p:nvSpPr>
          <p:cNvPr id="20" name="TextBox 19">
            <a:extLst>
              <a:ext uri="{FF2B5EF4-FFF2-40B4-BE49-F238E27FC236}">
                <a16:creationId xmlns:a16="http://schemas.microsoft.com/office/drawing/2014/main" id="{40E1DE1C-3803-5654-29AF-434FA754F6CB}"/>
              </a:ext>
            </a:extLst>
          </p:cNvPr>
          <p:cNvSpPr txBox="1"/>
          <p:nvPr/>
        </p:nvSpPr>
        <p:spPr>
          <a:xfrm>
            <a:off x="3704434" y="111899"/>
            <a:ext cx="5439566" cy="300082"/>
          </a:xfrm>
          <a:prstGeom prst="rect">
            <a:avLst/>
          </a:prstGeom>
          <a:noFill/>
        </p:spPr>
        <p:txBody>
          <a:bodyPr wrap="none" rtlCol="0">
            <a:spAutoFit/>
          </a:bodyPr>
          <a:lstStyle/>
          <a:p>
            <a:r>
              <a:rPr lang="en-US" b="1" dirty="0"/>
              <a:t>How do we combine the controller and uncertainty representation?</a:t>
            </a:r>
            <a:endParaRPr lang="en-NL" b="1" dirty="0"/>
          </a:p>
        </p:txBody>
      </p:sp>
      <p:grpSp>
        <p:nvGrpSpPr>
          <p:cNvPr id="51" name="Group 50">
            <a:extLst>
              <a:ext uri="{FF2B5EF4-FFF2-40B4-BE49-F238E27FC236}">
                <a16:creationId xmlns:a16="http://schemas.microsoft.com/office/drawing/2014/main" id="{DD874342-70A1-0148-18AE-D70BEB90561F}"/>
              </a:ext>
            </a:extLst>
          </p:cNvPr>
          <p:cNvGrpSpPr/>
          <p:nvPr/>
        </p:nvGrpSpPr>
        <p:grpSpPr>
          <a:xfrm>
            <a:off x="4001882" y="1168904"/>
            <a:ext cx="4844669" cy="2950972"/>
            <a:chOff x="1995932" y="1274064"/>
            <a:chExt cx="4844669" cy="2950972"/>
          </a:xfrm>
        </p:grpSpPr>
        <p:grpSp>
          <p:nvGrpSpPr>
            <p:cNvPr id="21" name="Editable paper diagram">
              <a:extLst>
                <a:ext uri="{FF2B5EF4-FFF2-40B4-BE49-F238E27FC236}">
                  <a16:creationId xmlns:a16="http://schemas.microsoft.com/office/drawing/2014/main" id="{E0B58715-2347-DF41-6E45-F7C31F2878D4}"/>
                </a:ext>
              </a:extLst>
            </p:cNvPr>
            <p:cNvGrpSpPr/>
            <p:nvPr/>
          </p:nvGrpSpPr>
          <p:grpSpPr>
            <a:xfrm>
              <a:off x="1995932" y="1274064"/>
              <a:ext cx="4844669" cy="2950972"/>
              <a:chOff x="1995932" y="1274064"/>
              <a:chExt cx="4844669" cy="2950972"/>
            </a:xfrm>
          </p:grpSpPr>
          <p:sp>
            <p:nvSpPr>
              <p:cNvPr id="23" name="Plant to uncertainty">
                <a:extLst>
                  <a:ext uri="{FF2B5EF4-FFF2-40B4-BE49-F238E27FC236}">
                    <a16:creationId xmlns:a16="http://schemas.microsoft.com/office/drawing/2014/main" id="{E070B619-C840-121F-C0E9-7B552AE1CA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4" name="Uncertainty to plant">
                <a:extLst>
                  <a:ext uri="{FF2B5EF4-FFF2-40B4-BE49-F238E27FC236}">
                    <a16:creationId xmlns:a16="http://schemas.microsoft.com/office/drawing/2014/main" id="{AE6437F5-10BC-7548-F272-C88EFD36928B}"/>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5" name="z filter input">
                <a:extLst>
                  <a:ext uri="{FF2B5EF4-FFF2-40B4-BE49-F238E27FC236}">
                    <a16:creationId xmlns:a16="http://schemas.microsoft.com/office/drawing/2014/main" id="{3253F797-DEA6-F337-0911-F46FBC09730F}"/>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26" name="w filter input">
                <a:extLst>
                  <a:ext uri="{FF2B5EF4-FFF2-40B4-BE49-F238E27FC236}">
                    <a16:creationId xmlns:a16="http://schemas.microsoft.com/office/drawing/2014/main" id="{7A191E2E-6AAD-6191-A51A-16D35C6B41DB}"/>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28" name="z filtered output">
                <a:extLst>
                  <a:ext uri="{FF2B5EF4-FFF2-40B4-BE49-F238E27FC236}">
                    <a16:creationId xmlns:a16="http://schemas.microsoft.com/office/drawing/2014/main" id="{796A0B54-3C80-2BFD-6488-A253F71D266A}"/>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9" name="Filtered z">
                    <a:extLst>
                      <a:ext uri="{FF2B5EF4-FFF2-40B4-BE49-F238E27FC236}">
                        <a16:creationId xmlns:a16="http://schemas.microsoft.com/office/drawing/2014/main" id="{EF2053B9-6602-1742-73D9-05E836A0977D}"/>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106" name="Filtered z"/>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5"/>
                    <a:stretch>
                      <a:fillRect r="-52174"/>
                    </a:stretch>
                  </a:blipFill>
                  <a:ln>
                    <a:noFill/>
                  </a:ln>
                </p:spPr>
                <p:txBody>
                  <a:bodyPr/>
                  <a:lstStyle/>
                  <a:p>
                    <a:r>
                      <a:rPr lang="en-NL">
                        <a:noFill/>
                      </a:rPr>
                      <a:t> </a:t>
                    </a:r>
                  </a:p>
                </p:txBody>
              </p:sp>
            </mc:Fallback>
          </mc:AlternateContent>
          <p:sp>
            <p:nvSpPr>
              <p:cNvPr id="31" name="w filtered output">
                <a:extLst>
                  <a:ext uri="{FF2B5EF4-FFF2-40B4-BE49-F238E27FC236}">
                    <a16:creationId xmlns:a16="http://schemas.microsoft.com/office/drawing/2014/main" id="{CA7BE8B2-A5F4-9984-36FB-516A1B6C9B0B}"/>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2" name="Filtered w">
                    <a:extLst>
                      <a:ext uri="{FF2B5EF4-FFF2-40B4-BE49-F238E27FC236}">
                        <a16:creationId xmlns:a16="http://schemas.microsoft.com/office/drawing/2014/main" id="{A265A9EC-93CB-6D10-AF6F-349BBF03DEA2}"/>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108" name="Filtered w"/>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6"/>
                    <a:stretch>
                      <a:fillRect t="-4839" r="-47826"/>
                    </a:stretch>
                  </a:blipFill>
                  <a:ln>
                    <a:noFill/>
                  </a:ln>
                </p:spPr>
                <p:txBody>
                  <a:bodyPr/>
                  <a:lstStyle/>
                  <a:p>
                    <a:r>
                      <a:rPr lang="en-NL">
                        <a:noFill/>
                      </a:rPr>
                      <a:t> </a:t>
                    </a:r>
                  </a:p>
                </p:txBody>
              </p:sp>
            </mc:Fallback>
          </mc:AlternateContent>
          <p:sp>
            <p:nvSpPr>
              <p:cNvPr id="33" name="Controller plant channel">
                <a:extLst>
                  <a:ext uri="{FF2B5EF4-FFF2-40B4-BE49-F238E27FC236}">
                    <a16:creationId xmlns:a16="http://schemas.microsoft.com/office/drawing/2014/main" id="{0371A7F8-BE08-B763-0EBF-18F2B4A3A5F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5" name="Plant controller channel">
                <a:extLst>
                  <a:ext uri="{FF2B5EF4-FFF2-40B4-BE49-F238E27FC236}">
                    <a16:creationId xmlns:a16="http://schemas.microsoft.com/office/drawing/2014/main" id="{A3B30156-06F2-0962-C50E-5CC4267D36C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6" name="Filter controller channel">
                <a:extLst>
                  <a:ext uri="{FF2B5EF4-FFF2-40B4-BE49-F238E27FC236}">
                    <a16:creationId xmlns:a16="http://schemas.microsoft.com/office/drawing/2014/main" id="{D4241819-D673-6496-FA12-1F4559C2733F}"/>
                  </a:ext>
                </a:extLst>
              </p:cNvPr>
              <p:cNvSpPr/>
              <p:nvPr/>
            </p:nvSpPr>
            <p:spPr>
              <a:xfrm>
                <a:off x="3881628" y="2201164"/>
                <a:ext cx="1472692" cy="1820418"/>
              </a:xfrm>
              <a:custGeom>
                <a:avLst/>
                <a:gdLst/>
                <a:ahLst/>
                <a:cxnLst/>
                <a:rect l="0" t="0" r="r" b="b"/>
                <a:pathLst>
                  <a:path w="1472692" h="1820418" fill="none">
                    <a:moveTo>
                      <a:pt x="1459992" y="12700"/>
                    </a:moveTo>
                    <a:lnTo>
                      <a:pt x="1459992" y="1807718"/>
                    </a:lnTo>
                    <a:lnTo>
                      <a:pt x="12700" y="1807718"/>
                    </a:lnTo>
                  </a:path>
                </a:pathLst>
              </a:custGeom>
              <a:noFill/>
              <a:ln w="12531">
                <a:solidFill>
                  <a:srgbClr val="252529"/>
                </a:solidFill>
                <a:round/>
                <a:tailEnd type="triangle" w="sm" len="sm"/>
              </a:ln>
            </p:spPr>
            <p:txBody>
              <a:bodyPr/>
              <a:lstStyle/>
              <a:p>
                <a:endParaRPr lang="en-NL"/>
              </a:p>
            </p:txBody>
          </p:sp>
          <p:sp>
            <p:nvSpPr>
              <p:cNvPr id="37" name="Controller">
                <a:extLst>
                  <a:ext uri="{FF2B5EF4-FFF2-40B4-BE49-F238E27FC236}">
                    <a16:creationId xmlns:a16="http://schemas.microsoft.com/office/drawing/2014/main" id="{1A709AC1-7280-5EF5-7C06-5BB15728E601}"/>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9" name="Controller label">
                    <a:extLst>
                      <a:ext uri="{FF2B5EF4-FFF2-40B4-BE49-F238E27FC236}">
                        <a16:creationId xmlns:a16="http://schemas.microsoft.com/office/drawing/2014/main" id="{0940FA43-6AF8-5989-7F4F-02DA950E81C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 name="Controller external channel">
                    <a:extLst>
                      <a:ext uri="{FF2B5EF4-FFF2-40B4-BE49-F238E27FC236}">
                        <a16:creationId xmlns:a16="http://schemas.microsoft.com/office/drawing/2014/main" id="{71000EC0-D3C8-883F-7ED6-06E253CC762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Plant measured channel">
                    <a:extLst>
                      <a:ext uri="{FF2B5EF4-FFF2-40B4-BE49-F238E27FC236}">
                        <a16:creationId xmlns:a16="http://schemas.microsoft.com/office/drawing/2014/main" id="{AAB5D9A6-07F8-0C91-3B1C-FC9D46F8586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r>
                                <m:rPr>
                                  <m:sty m:val="p"/>
                                </m:rPr>
                                <a:rPr sz="1998">
                                  <a:solidFill>
                                    <a:srgbClr val="252529"/>
                                  </a:solidFill>
                                  <a:latin typeface="Cambria Math"/>
                                </a:rPr>
                                <m:t>G</m:t>
                              </m:r>
                            </m:sub>
                          </m:sSub>
                        </m:oMath>
                      </m:oMathPara>
                    </a14:m>
                    <a:endParaRPr sz="1998"/>
                  </a:p>
                </p:txBody>
              </p:sp>
            </mc:Choice>
            <mc:Fallback xmlns="">
              <p:sp>
                <p:nvSpPr>
                  <p:cNvPr id="115" name="Plant measured channel"/>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1290"/>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2" name="Filter measured channel">
                    <a:extLst>
                      <a:ext uri="{FF2B5EF4-FFF2-40B4-BE49-F238E27FC236}">
                        <a16:creationId xmlns:a16="http://schemas.microsoft.com/office/drawing/2014/main" id="{94E6682C-D297-0AFB-BF49-66D4D9A56385}"/>
                      </a:ext>
                    </a:extLst>
                  </p:cNvPr>
                  <p:cNvSpPr/>
                  <p:nvPr/>
                </p:nvSpPr>
                <p:spPr>
                  <a:xfrm>
                    <a:off x="6005576" y="302857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𝑦</m:t>
                              </m:r>
                            </m:e>
                            <m:sub>
                              <m:r>
                                <a:rPr lang="en-US" sz="1998" i="1" smtClean="0">
                                  <a:solidFill>
                                    <a:srgbClr val="252529"/>
                                  </a:solidFill>
                                  <a:latin typeface="Cambria Math" panose="02040503050406030204" pitchFamily="18" charset="0"/>
                                </a:rPr>
                                <m:t>𝛹</m:t>
                              </m:r>
                            </m:sub>
                          </m:sSub>
                          <m:d>
                            <m:dPr>
                              <m:ctrlPr>
                                <a:rPr lang="en-US" sz="1998" i="1" smtClean="0">
                                  <a:solidFill>
                                    <a:srgbClr val="252529"/>
                                  </a:solidFill>
                                  <a:latin typeface="Cambria Math" panose="02040503050406030204" pitchFamily="18" charset="0"/>
                                </a:rPr>
                              </m:ctrlPr>
                            </m:dPr>
                            <m:e>
                              <m:r>
                                <m:rPr>
                                  <m:sty m:val="p"/>
                                </m:rPr>
                                <a:rPr lang="en-US" sz="1998" i="1" smtClean="0">
                                  <a:solidFill>
                                    <a:srgbClr val="252529"/>
                                  </a:solidFill>
                                  <a:latin typeface="Cambria Math" panose="02040503050406030204" pitchFamily="18" charset="0"/>
                                </a:rPr>
                                <m:t>t</m:t>
                              </m:r>
                            </m:e>
                          </m:d>
                          <m:r>
                            <a:rPr lang="en-US" sz="1998" i="1" smtClean="0">
                              <a:solidFill>
                                <a:srgbClr val="252529"/>
                              </a:solidFill>
                              <a:latin typeface="Cambria Math" panose="02040503050406030204" pitchFamily="18" charset="0"/>
                            </a:rPr>
                            <m:t>=</m:t>
                          </m:r>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𝑥</m:t>
                              </m:r>
                            </m:e>
                            <m:sub>
                              <m:r>
                                <m:rPr>
                                  <m:sty m:val="p"/>
                                </m:rPr>
                                <a:rPr lang="en-US" sz="1998" i="1" smtClean="0">
                                  <a:solidFill>
                                    <a:srgbClr val="252529"/>
                                  </a:solidFill>
                                  <a:latin typeface="Cambria Math" panose="02040503050406030204" pitchFamily="18" charset="0"/>
                                </a:rPr>
                                <m:t>Ψ</m:t>
                              </m:r>
                            </m:sub>
                          </m:sSub>
                          <m:d>
                            <m:dPr>
                              <m:ctrlPr>
                                <a:rPr lang="en-US" sz="1998" i="1" smtClean="0">
                                  <a:solidFill>
                                    <a:srgbClr val="252529"/>
                                  </a:solidFill>
                                  <a:latin typeface="Cambria Math" panose="02040503050406030204" pitchFamily="18" charset="0"/>
                                </a:rPr>
                              </m:ctrlPr>
                            </m:dPr>
                            <m:e>
                              <m:r>
                                <a:rPr lang="en-US" sz="1998" i="1" smtClean="0">
                                  <a:solidFill>
                                    <a:srgbClr val="252529"/>
                                  </a:solidFill>
                                  <a:latin typeface="Cambria Math" panose="02040503050406030204" pitchFamily="18" charset="0"/>
                                </a:rPr>
                                <m:t>𝑡</m:t>
                              </m:r>
                            </m:e>
                          </m:d>
                        </m:oMath>
                      </m:oMathPara>
                    </a14:m>
                    <a:endParaRPr sz="1998" dirty="0"/>
                  </a:p>
                </p:txBody>
              </p:sp>
            </mc:Choice>
            <mc:Fallback>
              <p:sp>
                <p:nvSpPr>
                  <p:cNvPr id="42" name="Filter measured channel">
                    <a:extLst>
                      <a:ext uri="{FF2B5EF4-FFF2-40B4-BE49-F238E27FC236}">
                        <a16:creationId xmlns:a16="http://schemas.microsoft.com/office/drawing/2014/main" id="{94E6682C-D297-0AFB-BF49-66D4D9A56385}"/>
                      </a:ext>
                    </a:extLst>
                  </p:cNvPr>
                  <p:cNvSpPr>
                    <a:spLocks noRot="1" noChangeAspect="1" noMove="1" noResize="1" noEditPoints="1" noAdjustHandles="1" noChangeArrowheads="1" noChangeShapeType="1" noTextEdit="1"/>
                  </p:cNvSpPr>
                  <p:nvPr/>
                </p:nvSpPr>
                <p:spPr>
                  <a:xfrm>
                    <a:off x="6005576" y="3028578"/>
                    <a:ext cx="563880" cy="380619"/>
                  </a:xfrm>
                  <a:prstGeom prst="rect">
                    <a:avLst/>
                  </a:prstGeom>
                  <a:blipFill>
                    <a:blip r:embed="rId10"/>
                    <a:stretch>
                      <a:fillRect l="-107527" r="-7957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3" name="Uncertainty output channel">
                    <a:extLst>
                      <a:ext uri="{FF2B5EF4-FFF2-40B4-BE49-F238E27FC236}">
                        <a16:creationId xmlns:a16="http://schemas.microsoft.com/office/drawing/2014/main" id="{4F9CE56C-EF1B-68B7-BC60-58CC8C111C6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p:sp>
                <p:nvSpPr>
                  <p:cNvPr id="117"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4" name="Uncertainty input channel">
                    <a:extLst>
                      <a:ext uri="{FF2B5EF4-FFF2-40B4-BE49-F238E27FC236}">
                        <a16:creationId xmlns:a16="http://schemas.microsoft.com/office/drawing/2014/main" id="{8E6D0592-21CF-212C-18C9-0D0919070D1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p:sp>
                <p:nvSpPr>
                  <p:cNvPr id="118"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45" name="Uncertainty">
                <a:extLst>
                  <a:ext uri="{FF2B5EF4-FFF2-40B4-BE49-F238E27FC236}">
                    <a16:creationId xmlns:a16="http://schemas.microsoft.com/office/drawing/2014/main" id="{384EB0BA-0F81-03ED-96F2-882EEE57F6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46" name="Uncertainty label">
                    <a:extLst>
                      <a:ext uri="{FF2B5EF4-FFF2-40B4-BE49-F238E27FC236}">
                        <a16:creationId xmlns:a16="http://schemas.microsoft.com/office/drawing/2014/main" id="{B879E973-C3DA-89CA-3C87-52C5D0E88F0B}"/>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120"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3"/>
                    <a:stretch>
                      <a:fillRect/>
                    </a:stretch>
                  </a:blipFill>
                  <a:ln>
                    <a:noFill/>
                  </a:ln>
                </p:spPr>
                <p:txBody>
                  <a:bodyPr/>
                  <a:lstStyle/>
                  <a:p>
                    <a:r>
                      <a:rPr lang="en-NL">
                        <a:noFill/>
                      </a:rPr>
                      <a:t> </a:t>
                    </a:r>
                  </a:p>
                </p:txBody>
              </p:sp>
            </mc:Fallback>
          </mc:AlternateContent>
          <p:sp>
            <p:nvSpPr>
              <p:cNvPr id="47" name="Plant">
                <a:extLst>
                  <a:ext uri="{FF2B5EF4-FFF2-40B4-BE49-F238E27FC236}">
                    <a16:creationId xmlns:a16="http://schemas.microsoft.com/office/drawing/2014/main" id="{244987C8-7DC7-1A26-D97F-10721AFF46E9}"/>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mc:Choice xmlns:a14="http://schemas.microsoft.com/office/drawing/2010/main" Requires="a14">
              <p:sp>
                <p:nvSpPr>
                  <p:cNvPr id="48" name="Plant label">
                    <a:extLst>
                      <a:ext uri="{FF2B5EF4-FFF2-40B4-BE49-F238E27FC236}">
                        <a16:creationId xmlns:a16="http://schemas.microsoft.com/office/drawing/2014/main" id="{E002ADCE-6C1C-CA2E-87B5-0AB79AE54D5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PIE</m:t>
                          </m:r>
                        </m:oMath>
                      </m:oMathPara>
                    </a14:m>
                    <a:endParaRPr sz="2590" dirty="0"/>
                  </a:p>
                </p:txBody>
              </p:sp>
            </mc:Choice>
            <mc:Fallback>
              <p:sp>
                <p:nvSpPr>
                  <p:cNvPr id="48" name="Plant label">
                    <a:extLst>
                      <a:ext uri="{FF2B5EF4-FFF2-40B4-BE49-F238E27FC236}">
                        <a16:creationId xmlns:a16="http://schemas.microsoft.com/office/drawing/2014/main" id="{E002ADCE-6C1C-CA2E-87B5-0AB79AE54D5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sp>
            <p:nvSpPr>
              <p:cNvPr id="49" name="Dynamic filter">
                <a:extLst>
                  <a:ext uri="{FF2B5EF4-FFF2-40B4-BE49-F238E27FC236}">
                    <a16:creationId xmlns:a16="http://schemas.microsoft.com/office/drawing/2014/main" id="{C596A1DE-86A7-96F1-040F-E650DE0661D3}"/>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p:grpSp>
        <mc:AlternateContent xmlns:mc="http://schemas.openxmlformats.org/markup-compatibility/2006">
          <mc:Choice xmlns:a14="http://schemas.microsoft.com/office/drawing/2010/main" Requires="a14">
            <p:sp>
              <p:nvSpPr>
                <p:cNvPr id="50" name="TextBox 49">
                  <a:extLst>
                    <a:ext uri="{FF2B5EF4-FFF2-40B4-BE49-F238E27FC236}">
                      <a16:creationId xmlns:a16="http://schemas.microsoft.com/office/drawing/2014/main" id="{ED853334-71C6-A9E5-CE78-8161005827D2}"/>
                    </a:ext>
                  </a:extLst>
                </p:cNvPr>
                <p:cNvSpPr txBox="1"/>
                <p:nvPr/>
              </p:nvSpPr>
              <p:spPr>
                <a:xfrm>
                  <a:off x="5206104" y="1528260"/>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p:sp>
              <p:nvSpPr>
                <p:cNvPr id="50" name="TextBox 49">
                  <a:extLst>
                    <a:ext uri="{FF2B5EF4-FFF2-40B4-BE49-F238E27FC236}">
                      <a16:creationId xmlns:a16="http://schemas.microsoft.com/office/drawing/2014/main" id="{ED853334-71C6-A9E5-CE78-8161005827D2}"/>
                    </a:ext>
                  </a:extLst>
                </p:cNvPr>
                <p:cNvSpPr txBox="1">
                  <a:spLocks noRot="1" noChangeAspect="1" noMove="1" noResize="1" noEditPoints="1" noAdjustHandles="1" noChangeArrowheads="1" noChangeShapeType="1" noTextEdit="1"/>
                </p:cNvSpPr>
                <p:nvPr/>
              </p:nvSpPr>
              <p:spPr>
                <a:xfrm>
                  <a:off x="5206104" y="1528260"/>
                  <a:ext cx="283732" cy="398571"/>
                </a:xfrm>
                <a:prstGeom prst="rect">
                  <a:avLst/>
                </a:prstGeom>
                <a:blipFill>
                  <a:blip r:embed="rId15"/>
                  <a:stretch>
                    <a:fillRect l="-25532" r="-27660" b="-4545"/>
                  </a:stretch>
                </a:blipFill>
              </p:spPr>
              <p:txBody>
                <a:bodyPr/>
                <a:lstStyle/>
                <a:p>
                  <a:r>
                    <a:rPr lang="en-NL">
                      <a:noFill/>
                    </a:rPr>
                    <a:t> </a:t>
                  </a:r>
                </a:p>
              </p:txBody>
            </p:sp>
          </mc:Fallback>
        </mc:AlternateContent>
      </p:grpSp>
      <p:sp>
        <p:nvSpPr>
          <p:cNvPr id="52" name="Rectangle 51">
            <a:extLst>
              <a:ext uri="{FF2B5EF4-FFF2-40B4-BE49-F238E27FC236}">
                <a16:creationId xmlns:a16="http://schemas.microsoft.com/office/drawing/2014/main" id="{B25B199D-AB38-D132-01FF-EAE6C3401CE4}"/>
              </a:ext>
            </a:extLst>
          </p:cNvPr>
          <p:cNvSpPr/>
          <p:nvPr/>
        </p:nvSpPr>
        <p:spPr>
          <a:xfrm>
            <a:off x="5037542" y="2369497"/>
            <a:ext cx="1050696" cy="1035821"/>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3" name="Rectangle 52">
            <a:extLst>
              <a:ext uri="{FF2B5EF4-FFF2-40B4-BE49-F238E27FC236}">
                <a16:creationId xmlns:a16="http://schemas.microsoft.com/office/drawing/2014/main" id="{E01F2840-62A1-B237-6EBA-DEAAC011B8BA}"/>
              </a:ext>
            </a:extLst>
          </p:cNvPr>
          <p:cNvSpPr/>
          <p:nvPr/>
        </p:nvSpPr>
        <p:spPr>
          <a:xfrm>
            <a:off x="5154534" y="3405317"/>
            <a:ext cx="800592" cy="784597"/>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55" name="Straight Connector 54">
            <a:extLst>
              <a:ext uri="{FF2B5EF4-FFF2-40B4-BE49-F238E27FC236}">
                <a16:creationId xmlns:a16="http://schemas.microsoft.com/office/drawing/2014/main" id="{5C94046B-3E23-7BC3-6483-4B9CB43110BC}"/>
              </a:ext>
            </a:extLst>
          </p:cNvPr>
          <p:cNvCxnSpPr>
            <a:stCxn id="52" idx="1"/>
            <a:endCxn id="38" idx="3"/>
          </p:cNvCxnSpPr>
          <p:nvPr/>
        </p:nvCxnSpPr>
        <p:spPr>
          <a:xfrm flipH="1">
            <a:off x="3548898" y="2887408"/>
            <a:ext cx="1488644" cy="98164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35C5FF9-6836-6AB7-DC15-450886E834E4}"/>
              </a:ext>
            </a:extLst>
          </p:cNvPr>
          <p:cNvCxnSpPr>
            <a:stCxn id="53" idx="1"/>
            <a:endCxn id="38" idx="3"/>
          </p:cNvCxnSpPr>
          <p:nvPr/>
        </p:nvCxnSpPr>
        <p:spPr>
          <a:xfrm flipH="1">
            <a:off x="3548898" y="3797616"/>
            <a:ext cx="1605636" cy="71433"/>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58" name="TextBox 57">
                <a:extLst>
                  <a:ext uri="{FF2B5EF4-FFF2-40B4-BE49-F238E27FC236}">
                    <a16:creationId xmlns:a16="http://schemas.microsoft.com/office/drawing/2014/main" id="{37D8784B-F491-619E-C482-825E36DA0D3A}"/>
                  </a:ext>
                </a:extLst>
              </p:cNvPr>
              <p:cNvSpPr txBox="1"/>
              <p:nvPr/>
            </p:nvSpPr>
            <p:spPr>
              <a:xfrm>
                <a:off x="4424074" y="4404374"/>
                <a:ext cx="2275751" cy="300082"/>
              </a:xfrm>
              <a:prstGeom prst="rect">
                <a:avLst/>
              </a:prstGeom>
              <a:noFill/>
            </p:spPr>
            <p:txBody>
              <a:bodyPr wrap="none" rtlCol="0">
                <a:spAutoFit/>
              </a:bodyPr>
              <a:lstStyle/>
              <a:p>
                <a:r>
                  <a:rPr lang="en-US" dirty="0">
                    <a:solidFill>
                      <a:srgbClr val="C81919"/>
                    </a:solidFill>
                  </a:rPr>
                  <a:t>We can transpose </a:t>
                </a:r>
                <a14:m>
                  <m:oMath xmlns:m="http://schemas.openxmlformats.org/officeDocument/2006/math">
                    <m:r>
                      <m:rPr>
                        <m:sty m:val="p"/>
                      </m:rPr>
                      <a:rPr lang="en-US" b="0" i="1" smtClean="0">
                        <a:solidFill>
                          <a:srgbClr val="C81919"/>
                        </a:solidFill>
                        <a:latin typeface="Cambria Math" panose="02040503050406030204" pitchFamily="18" charset="0"/>
                      </a:rPr>
                      <m:t>PIE</m:t>
                    </m:r>
                  </m:oMath>
                </a14:m>
                <a:r>
                  <a:rPr lang="en-US" dirty="0">
                    <a:solidFill>
                      <a:srgbClr val="C81919"/>
                    </a:solidFill>
                  </a:rPr>
                  <a:t> and </a:t>
                </a:r>
                <a14:m>
                  <m:oMath xmlns:m="http://schemas.openxmlformats.org/officeDocument/2006/math">
                    <m:r>
                      <m:rPr>
                        <m:sty m:val="p"/>
                      </m:rPr>
                      <a:rPr lang="en-US" b="0" i="1" smtClean="0">
                        <a:solidFill>
                          <a:srgbClr val="C81919"/>
                        </a:solidFill>
                        <a:latin typeface="Cambria Math" panose="02040503050406030204" pitchFamily="18" charset="0"/>
                      </a:rPr>
                      <m:t>K</m:t>
                    </m:r>
                  </m:oMath>
                </a14:m>
                <a:endParaRPr lang="en-NL" dirty="0">
                  <a:solidFill>
                    <a:srgbClr val="C81919"/>
                  </a:solidFill>
                </a:endParaRPr>
              </a:p>
            </p:txBody>
          </p:sp>
        </mc:Choice>
        <mc:Fallback>
          <p:sp>
            <p:nvSpPr>
              <p:cNvPr id="58" name="TextBox 57">
                <a:extLst>
                  <a:ext uri="{FF2B5EF4-FFF2-40B4-BE49-F238E27FC236}">
                    <a16:creationId xmlns:a16="http://schemas.microsoft.com/office/drawing/2014/main" id="{37D8784B-F491-619E-C482-825E36DA0D3A}"/>
                  </a:ext>
                </a:extLst>
              </p:cNvPr>
              <p:cNvSpPr txBox="1">
                <a:spLocks noRot="1" noChangeAspect="1" noMove="1" noResize="1" noEditPoints="1" noAdjustHandles="1" noChangeArrowheads="1" noChangeShapeType="1" noTextEdit="1"/>
              </p:cNvSpPr>
              <p:nvPr/>
            </p:nvSpPr>
            <p:spPr>
              <a:xfrm>
                <a:off x="4424074" y="4404374"/>
                <a:ext cx="2275751" cy="300082"/>
              </a:xfrm>
              <a:prstGeom prst="rect">
                <a:avLst/>
              </a:prstGeom>
              <a:blipFill>
                <a:blip r:embed="rId16"/>
                <a:stretch>
                  <a:fillRect l="-804" t="-4082" b="-20408"/>
                </a:stretch>
              </a:blipFill>
            </p:spPr>
            <p:txBody>
              <a:bodyPr/>
              <a:lstStyle/>
              <a:p>
                <a:r>
                  <a:rPr lang="en-NL">
                    <a:noFill/>
                  </a:rPr>
                  <a:t> </a:t>
                </a:r>
              </a:p>
            </p:txBody>
          </p:sp>
        </mc:Fallback>
      </mc:AlternateContent>
      <p:sp>
        <p:nvSpPr>
          <p:cNvPr id="59" name="Rectangle 58">
            <a:extLst>
              <a:ext uri="{FF2B5EF4-FFF2-40B4-BE49-F238E27FC236}">
                <a16:creationId xmlns:a16="http://schemas.microsoft.com/office/drawing/2014/main" id="{65D5C11C-74EB-1DF2-28D9-2AC12041BA92}"/>
              </a:ext>
            </a:extLst>
          </p:cNvPr>
          <p:cNvSpPr/>
          <p:nvPr/>
        </p:nvSpPr>
        <p:spPr>
          <a:xfrm>
            <a:off x="6831106" y="1121869"/>
            <a:ext cx="1012844" cy="1030715"/>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mc:Choice xmlns:a14="http://schemas.microsoft.com/office/drawing/2010/main" Requires="a14">
          <p:sp>
            <p:nvSpPr>
              <p:cNvPr id="60" name="TextBox 59">
                <a:extLst>
                  <a:ext uri="{FF2B5EF4-FFF2-40B4-BE49-F238E27FC236}">
                    <a16:creationId xmlns:a16="http://schemas.microsoft.com/office/drawing/2014/main" id="{50A038AA-40EE-3354-D570-D2C573A99F19}"/>
                  </a:ext>
                </a:extLst>
              </p:cNvPr>
              <p:cNvSpPr txBox="1"/>
              <p:nvPr/>
            </p:nvSpPr>
            <p:spPr>
              <a:xfrm>
                <a:off x="6494946" y="745371"/>
                <a:ext cx="1761636" cy="300082"/>
              </a:xfrm>
              <a:prstGeom prst="rect">
                <a:avLst/>
              </a:prstGeom>
              <a:noFill/>
            </p:spPr>
            <p:txBody>
              <a:bodyPr wrap="none" rtlCol="0">
                <a:spAutoFit/>
              </a:bodyPr>
              <a:lstStyle/>
              <a:p>
                <a:r>
                  <a:rPr lang="en-US" dirty="0">
                    <a:solidFill>
                      <a:srgbClr val="C81919"/>
                    </a:solidFill>
                  </a:rPr>
                  <a:t>Can we transpose </a:t>
                </a:r>
                <a14:m>
                  <m:oMath xmlns:m="http://schemas.openxmlformats.org/officeDocument/2006/math">
                    <m:r>
                      <m:rPr>
                        <m:sty m:val="p"/>
                      </m:rPr>
                      <a:rPr lang="el-GR" i="1" smtClean="0">
                        <a:solidFill>
                          <a:srgbClr val="C81919"/>
                        </a:solidFill>
                        <a:latin typeface="Cambria Math" panose="02040503050406030204" pitchFamily="18" charset="0"/>
                        <a:ea typeface="Cambria Math" panose="02040503050406030204" pitchFamily="18" charset="0"/>
                      </a:rPr>
                      <m:t>Θ</m:t>
                    </m:r>
                  </m:oMath>
                </a14:m>
                <a:r>
                  <a:rPr lang="en-US" dirty="0">
                    <a:solidFill>
                      <a:srgbClr val="C81919"/>
                    </a:solidFill>
                  </a:rPr>
                  <a:t>?</a:t>
                </a:r>
                <a:endParaRPr lang="en-NL" dirty="0">
                  <a:solidFill>
                    <a:srgbClr val="C81919"/>
                  </a:solidFill>
                </a:endParaRPr>
              </a:p>
            </p:txBody>
          </p:sp>
        </mc:Choice>
        <mc:Fallback>
          <p:sp>
            <p:nvSpPr>
              <p:cNvPr id="60" name="TextBox 59">
                <a:extLst>
                  <a:ext uri="{FF2B5EF4-FFF2-40B4-BE49-F238E27FC236}">
                    <a16:creationId xmlns:a16="http://schemas.microsoft.com/office/drawing/2014/main" id="{50A038AA-40EE-3354-D570-D2C573A99F19}"/>
                  </a:ext>
                </a:extLst>
              </p:cNvPr>
              <p:cNvSpPr txBox="1">
                <a:spLocks noRot="1" noChangeAspect="1" noMove="1" noResize="1" noEditPoints="1" noAdjustHandles="1" noChangeArrowheads="1" noChangeShapeType="1" noTextEdit="1"/>
              </p:cNvSpPr>
              <p:nvPr/>
            </p:nvSpPr>
            <p:spPr>
              <a:xfrm>
                <a:off x="6494946" y="745371"/>
                <a:ext cx="1761636" cy="300082"/>
              </a:xfrm>
              <a:prstGeom prst="rect">
                <a:avLst/>
              </a:prstGeom>
              <a:blipFill>
                <a:blip r:embed="rId17"/>
                <a:stretch>
                  <a:fillRect l="-692" t="-2041" b="-20408"/>
                </a:stretch>
              </a:blipFill>
            </p:spPr>
            <p:txBody>
              <a:bodyPr/>
              <a:lstStyle/>
              <a:p>
                <a:r>
                  <a:rPr lang="en-NL">
                    <a:noFill/>
                  </a:rPr>
                  <a:t> </a:t>
                </a:r>
              </a:p>
            </p:txBody>
          </p:sp>
        </mc:Fallback>
      </mc:AlternateContent>
      <p:sp>
        <p:nvSpPr>
          <p:cNvPr id="61" name="Rectangle 60">
            <a:extLst>
              <a:ext uri="{FF2B5EF4-FFF2-40B4-BE49-F238E27FC236}">
                <a16:creationId xmlns:a16="http://schemas.microsoft.com/office/drawing/2014/main" id="{60E2E4C1-3F6A-AE62-792C-1D3F71B05A4B}"/>
              </a:ext>
            </a:extLst>
          </p:cNvPr>
          <p:cNvSpPr/>
          <p:nvPr/>
        </p:nvSpPr>
        <p:spPr>
          <a:xfrm>
            <a:off x="7416658" y="2856961"/>
            <a:ext cx="1665870" cy="555812"/>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mc:Choice xmlns:a14="http://schemas.microsoft.com/office/drawing/2010/main" Requires="a14">
          <p:sp>
            <p:nvSpPr>
              <p:cNvPr id="62" name="TextBox 61">
                <a:extLst>
                  <a:ext uri="{FF2B5EF4-FFF2-40B4-BE49-F238E27FC236}">
                    <a16:creationId xmlns:a16="http://schemas.microsoft.com/office/drawing/2014/main" id="{626AFA70-FA89-061B-694B-D6C86610FC59}"/>
                  </a:ext>
                </a:extLst>
              </p:cNvPr>
              <p:cNvSpPr txBox="1"/>
              <p:nvPr/>
            </p:nvSpPr>
            <p:spPr>
              <a:xfrm>
                <a:off x="7416658" y="3460323"/>
                <a:ext cx="1545680" cy="715581"/>
              </a:xfrm>
              <a:prstGeom prst="rect">
                <a:avLst/>
              </a:prstGeom>
              <a:noFill/>
            </p:spPr>
            <p:txBody>
              <a:bodyPr wrap="none" rtlCol="0">
                <a:spAutoFit/>
              </a:bodyPr>
              <a:lstStyle/>
              <a:p>
                <a:r>
                  <a:rPr lang="en-US" dirty="0">
                    <a:solidFill>
                      <a:srgbClr val="C81919"/>
                    </a:solidFill>
                  </a:rPr>
                  <a:t>If </a:t>
                </a:r>
                <a14:m>
                  <m:oMath xmlns:m="http://schemas.openxmlformats.org/officeDocument/2006/math">
                    <m:r>
                      <m:rPr>
                        <m:lit/>
                      </m:rPr>
                      <a:rPr lang="el-GR" i="1" smtClean="0">
                        <a:solidFill>
                          <a:srgbClr val="C81919"/>
                        </a:solidFill>
                        <a:latin typeface="Cambria Math" panose="02040503050406030204" pitchFamily="18" charset="0"/>
                        <a:ea typeface="Cambria Math" panose="02040503050406030204" pitchFamily="18" charset="0"/>
                      </a:rPr>
                      <m:t>Θ</m:t>
                    </m:r>
                  </m:oMath>
                </a14:m>
                <a:r>
                  <a:rPr lang="en-US" dirty="0">
                    <a:solidFill>
                      <a:srgbClr val="C81919"/>
                    </a:solidFill>
                  </a:rPr>
                  <a:t> is dynamic,</a:t>
                </a:r>
              </a:p>
              <a:p>
                <a:r>
                  <a:rPr lang="en-US" dirty="0">
                    <a:solidFill>
                      <a:srgbClr val="C81919"/>
                    </a:solidFill>
                  </a:rPr>
                  <a:t>assume that </a:t>
                </a:r>
                <a14:m>
                  <m:oMath xmlns:m="http://schemas.openxmlformats.org/officeDocument/2006/math">
                    <m:r>
                      <m:rPr>
                        <m:sty m:val="p"/>
                      </m:rPr>
                      <a:rPr lang="en-US" b="0" i="1" smtClean="0">
                        <a:solidFill>
                          <a:srgbClr val="C81919"/>
                        </a:solidFill>
                        <a:latin typeface="Cambria Math" panose="02040503050406030204" pitchFamily="18" charset="0"/>
                      </a:rPr>
                      <m:t>z</m:t>
                    </m:r>
                  </m:oMath>
                </a14:m>
                <a:r>
                  <a:rPr lang="en-US" dirty="0">
                    <a:solidFill>
                      <a:srgbClr val="C81919"/>
                    </a:solidFill>
                  </a:rPr>
                  <a:t> and</a:t>
                </a:r>
              </a:p>
              <a:p>
                <a14:m>
                  <m:oMath xmlns:m="http://schemas.openxmlformats.org/officeDocument/2006/math">
                    <m:r>
                      <m:rPr>
                        <m:sty m:val="p"/>
                      </m:rPr>
                      <a:rPr lang="en-US" b="0" i="1" smtClean="0">
                        <a:solidFill>
                          <a:srgbClr val="C81919"/>
                        </a:solidFill>
                        <a:latin typeface="Cambria Math" panose="02040503050406030204" pitchFamily="18" charset="0"/>
                      </a:rPr>
                      <m:t>w</m:t>
                    </m:r>
                  </m:oMath>
                </a14:m>
                <a:r>
                  <a:rPr lang="en-US" dirty="0">
                    <a:solidFill>
                      <a:srgbClr val="C81919"/>
                    </a:solidFill>
                  </a:rPr>
                  <a:t> are known.</a:t>
                </a:r>
                <a:endParaRPr lang="en-NL" dirty="0">
                  <a:solidFill>
                    <a:srgbClr val="C81919"/>
                  </a:solidFill>
                </a:endParaRPr>
              </a:p>
            </p:txBody>
          </p:sp>
        </mc:Choice>
        <mc:Fallback>
          <p:sp>
            <p:nvSpPr>
              <p:cNvPr id="62" name="TextBox 61">
                <a:extLst>
                  <a:ext uri="{FF2B5EF4-FFF2-40B4-BE49-F238E27FC236}">
                    <a16:creationId xmlns:a16="http://schemas.microsoft.com/office/drawing/2014/main" id="{626AFA70-FA89-061B-694B-D6C86610FC59}"/>
                  </a:ext>
                </a:extLst>
              </p:cNvPr>
              <p:cNvSpPr txBox="1">
                <a:spLocks noRot="1" noChangeAspect="1" noMove="1" noResize="1" noEditPoints="1" noAdjustHandles="1" noChangeArrowheads="1" noChangeShapeType="1" noTextEdit="1"/>
              </p:cNvSpPr>
              <p:nvPr/>
            </p:nvSpPr>
            <p:spPr>
              <a:xfrm>
                <a:off x="7416658" y="3460323"/>
                <a:ext cx="1545680" cy="715581"/>
              </a:xfrm>
              <a:prstGeom prst="rect">
                <a:avLst/>
              </a:prstGeom>
              <a:blipFill>
                <a:blip r:embed="rId18"/>
                <a:stretch>
                  <a:fillRect l="-1186" t="-1709" b="-8547"/>
                </a:stretch>
              </a:blipFill>
            </p:spPr>
            <p:txBody>
              <a:bodyPr/>
              <a:lstStyle/>
              <a:p>
                <a:r>
                  <a:rPr lang="en-NL">
                    <a:noFill/>
                  </a:rPr>
                  <a:t> </a:t>
                </a:r>
              </a:p>
            </p:txBody>
          </p:sp>
        </mc:Fallback>
      </mc:AlternateContent>
    </p:spTree>
    <p:extLst>
      <p:ext uri="{BB962C8B-B14F-4D97-AF65-F5344CB8AC3E}">
        <p14:creationId xmlns:p14="http://schemas.microsoft.com/office/powerpoint/2010/main" val="289673168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7" presetClass="emph" presetSubtype="2" fill="hold" nodeType="clickEffect">
                                  <p:stCondLst>
                                    <p:cond delay="0"/>
                                  </p:stCondLst>
                                  <p:childTnLst>
                                    <p:animClr clrSpc="rgb" dir="cw">
                                      <p:cBhvr>
                                        <p:cTn id="14" dur="100" fill="hold"/>
                                        <p:tgtEl>
                                          <p:spTgt spid="61"/>
                                        </p:tgtEl>
                                        <p:attrNameLst>
                                          <p:attrName>stroke.color</p:attrName>
                                        </p:attrNameLst>
                                      </p:cBhvr>
                                      <p:to>
                                        <a:schemeClr val="tx1"/>
                                      </p:to>
                                    </p:animClr>
                                    <p:set>
                                      <p:cBhvr>
                                        <p:cTn id="15" dur="100" fill="hold"/>
                                        <p:tgtEl>
                                          <p:spTgt spid="61"/>
                                        </p:tgtEl>
                                        <p:attrNameLst>
                                          <p:attrName>stroke.on</p:attrName>
                                        </p:attrNameLst>
                                      </p:cBhvr>
                                      <p:to>
                                        <p:strVal val="true"/>
                                      </p:to>
                                    </p:set>
                                  </p:childTnLst>
                                </p:cTn>
                              </p:par>
                              <p:par>
                                <p:cTn id="16" presetID="1" presetClass="entr" presetSubtype="0" fill="hold" grpId="0" nodeType="withEffect">
                                  <p:stCondLst>
                                    <p:cond delay="0"/>
                                  </p:stCondLst>
                                  <p:childTnLst>
                                    <p:set>
                                      <p:cBhvr>
                                        <p:cTn id="17" dur="1" fill="hold">
                                          <p:stCondLst>
                                            <p:cond delay="0"/>
                                          </p:stCondLst>
                                        </p:cTn>
                                        <p:tgtEl>
                                          <p:spTgt spid="52"/>
                                        </p:tgtEl>
                                        <p:attrNameLst>
                                          <p:attrName>style.visibility</p:attrName>
                                        </p:attrNameLst>
                                      </p:cBhvr>
                                      <p:to>
                                        <p:strVal val="visible"/>
                                      </p:to>
                                    </p:set>
                                  </p:childTnLst>
                                </p:cTn>
                              </p:par>
                              <p:par>
                                <p:cTn id="18" presetID="3" presetClass="emph" presetSubtype="2" fill="hold" grpId="2" nodeType="withEffect">
                                  <p:stCondLst>
                                    <p:cond delay="0"/>
                                  </p:stCondLst>
                                  <p:childTnLst>
                                    <p:animClr clrSpc="rgb" dir="cw">
                                      <p:cBhvr override="childStyle">
                                        <p:cTn id="19" dur="100" fill="hold"/>
                                        <p:tgtEl>
                                          <p:spTgt spid="62"/>
                                        </p:tgtEl>
                                        <p:attrNameLst>
                                          <p:attrName>style.color</p:attrName>
                                        </p:attrNameLst>
                                      </p:cBhvr>
                                      <p:to>
                                        <a:schemeClr val="tx1"/>
                                      </p:to>
                                    </p:animClr>
                                  </p:childTnLst>
                                </p:cTn>
                              </p:par>
                              <p:par>
                                <p:cTn id="20" presetID="1" presetClass="entr" presetSubtype="0" fill="hold" grpId="0" nodeType="withEffect">
                                  <p:stCondLst>
                                    <p:cond delay="0"/>
                                  </p:stCondLst>
                                  <p:childTnLst>
                                    <p:set>
                                      <p:cBhvr>
                                        <p:cTn id="21" dur="1" fill="hold">
                                          <p:stCondLst>
                                            <p:cond delay="0"/>
                                          </p:stCondLst>
                                        </p:cTn>
                                        <p:tgtEl>
                                          <p:spTgt spid="58"/>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5"/>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57"/>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3"/>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8" grpId="0"/>
      <p:bldP spid="59" grpId="0" animBg="1"/>
      <p:bldP spid="60" grpId="0"/>
      <p:bldP spid="61" grpId="0" animBg="1"/>
      <p:bldP spid="62" grpId="0"/>
      <p:bldP spid="62" grpId="2"/>
    </p:bldLst>
  </p:timing>
</p:sld>
</file>

<file path=ppt/slides/slide4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 xmlns:m="http://schemas.openxmlformats.org/officeDocument/2006/math">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a14="http://schemas.microsoft.com/office/drawing/2010/main" xmlns:m="http://schemas.openxmlformats.org/officeDocument/2006/math"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m="http://schemas.openxmlformats.org/officeDocument/2006/math" xmlns="">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m="http://schemas.openxmlformats.org/officeDocument/2006/math" xmlns="">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m="http://schemas.openxmlformats.org/officeDocument/2006/math" xmlns="">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m="http://schemas.openxmlformats.org/officeDocument/2006/math" xmlns="">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m="http://schemas.openxmlformats.org/officeDocument/2006/math"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m="http://schemas.openxmlformats.org/officeDocument/2006/math"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m="http://schemas.openxmlformats.org/officeDocument/2006/math" xmlns="">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45</a:t>
            </a:fld>
            <a:endParaRPr lang="en-GB"/>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xmlns="">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xmlns="">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xmlns="">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xmlns="">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xmlns="">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46</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spTree>
    <p:extLst>
      <p:ext uri="{BB962C8B-B14F-4D97-AF65-F5344CB8AC3E}">
        <p14:creationId xmlns:p14="http://schemas.microsoft.com/office/powerpoint/2010/main" val="262238849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47</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m="http://schemas.openxmlformats.org/officeDocument/2006/math" xmlns="">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48</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50</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5628</TotalTime>
  <Words>8071</Words>
  <Application>Microsoft Office PowerPoint</Application>
  <PresentationFormat>On-screen Show (16:9)</PresentationFormat>
  <Paragraphs>1074</Paragraphs>
  <Slides>58</Slides>
  <Notes>46</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58</vt:i4>
      </vt:variant>
    </vt:vector>
  </HeadingPairs>
  <TitlesOfParts>
    <vt:vector size="64"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Feedback stabilization</vt:lpstr>
      <vt:lpstr>PowerPoint Presentation</vt:lpstr>
      <vt:lpstr>PowerPoint Presentation</vt:lpstr>
      <vt:lpstr>PowerPoint Presentation</vt:lpstr>
      <vt:lpstr>PowerPoint Presentation</vt:lpstr>
      <vt:lpstr>Thought experiment replace K by \Θ</vt:lpstr>
      <vt:lpstr>Thought experiment replace K^⊤ by ▁Θ</vt:lpstr>
      <vt:lpstr>Comparing our results</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42</cp:revision>
  <dcterms:created xsi:type="dcterms:W3CDTF">2019-11-27T15:26:32Z</dcterms:created>
  <dcterms:modified xsi:type="dcterms:W3CDTF">2026-09-27T18:09:41Z</dcterms:modified>
</cp:coreProperties>
</file>