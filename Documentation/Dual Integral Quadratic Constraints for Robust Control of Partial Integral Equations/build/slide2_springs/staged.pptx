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0"/>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4" r:id="rId39"/>
    <p:sldId id="475" r:id="rId40"/>
    <p:sldId id="453" r:id="rId41"/>
    <p:sldId id="441" r:id="rId42"/>
    <p:sldId id="471" r:id="rId43"/>
    <p:sldId id="442" r:id="rId44"/>
    <p:sldId id="443" r:id="rId45"/>
    <p:sldId id="450" r:id="rId46"/>
    <p:sldId id="451" r:id="rId47"/>
    <p:sldId id="452" r:id="rId48"/>
    <p:sldId id="439" r:id="rId49"/>
    <p:sldId id="458" r:id="rId50"/>
    <p:sldId id="421" r:id="rId51"/>
    <p:sldId id="427" r:id="rId52"/>
    <p:sldId id="431" r:id="rId53"/>
    <p:sldId id="428" r:id="rId54"/>
    <p:sldId id="429" r:id="rId55"/>
    <p:sldId id="432" r:id="rId56"/>
    <p:sldId id="430" r:id="rId57"/>
    <p:sldId id="433" r:id="rId58"/>
    <p:sldId id="434" r:id="rId59"/>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3.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4.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6.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5.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6.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6.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slide37derivation_slide37norm_slide37narrative_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png"/><Relationship Id="rId5" Type="http://schemas.openxmlformats.org/officeDocument/2006/relationships/image" Target="../media/slide37derivation_slide37norm_slide37narrative_image108.png"/><Relationship Id="rId10" Type="http://schemas.openxmlformats.org/officeDocument/2006/relationships/image" Target="../media/slide37derivation_image109.png"/><Relationship Id="rId4" Type="http://schemas.openxmlformats.org/officeDocument/2006/relationships/image" Target="../media/slide37derivation_slide37norm_image106.png"/><Relationship Id="rId9" Type="http://schemas.openxmlformats.org/officeDocument/2006/relationships/image" Target="../media/slide37derivation_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97.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08.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39.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png"/><Relationship Id="rId3" Type="http://schemas.openxmlformats.org/officeDocument/2006/relationships/image" Target="../media/image97.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png"/><Relationship Id="rId2" Type="http://schemas.openxmlformats.org/officeDocument/2006/relationships/notesSlide" Target="../notesSlides/notesSlide33.xml"/><Relationship Id="rId16" Type="http://schemas.openxmlformats.org/officeDocument/2006/relationships/image" Target="../media/image112.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png"/><Relationship Id="rId10" Type="http://schemas.openxmlformats.org/officeDocument/2006/relationships/image" Target="../media/image109.png"/><Relationship Id="rId4" Type="http://schemas.openxmlformats.org/officeDocument/2006/relationships/image" Target="../media/image108.png"/><Relationship Id="rId9" Type="http://schemas.openxmlformats.org/officeDocument/2006/relationships/image" Target="../media/image981.png"/><Relationship Id="rId14" Type="http://schemas.openxmlformats.org/officeDocument/2006/relationships/image" Target="../media/image110.png"/></Relationships>
</file>

<file path=ppt/slides/_rels/slide4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2.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3.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4.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5.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6.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7.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9.png"/><Relationship Id="rIdClosing4" Type="http://schemas.openxmlformats.org/officeDocument/2006/relationships/image" Target="../media/image33.png"/><Relationship Id="rId4" Type="http://schemas.openxmlformats.org/officeDocument/2006/relationships/image" Target="../media/image7.jpg"/></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1.png"/></Relationships>
</file>

<file path=ppt/slides/_rels/slide56.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0.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22.png"/></Relationships>
</file>

<file path=ppt/slides/_rels/slide5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3.png"/></Relationships>
</file>

<file path=ppt/slides/_rels/slide5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m:t>
                          </m:r>
                          <m:r>
                            <a:rPr sz="1200">
                              <a:solidFill>
                                <a:srgbClr val="C8102E"/>
                              </a:solidFill>
                              <a:latin typeface="Cambria Math"/>
                            </a:rPr>
                            <m:t>𝑠</m:t>
                          </m:r>
                          <m:r>
                            <a:rPr sz="1200">
                              <a:solidFill>
                                <a:srgbClr val="C8102E"/>
                              </a:solidFill>
                              <a:latin typeface="Cambria Math"/>
                            </a:rPr>
                            <m:t>𝑠</m:t>
                          </m:r>
                          <m:r>
                            <a:rPr sz="1200">
                              <a:solidFill>
                                <a:srgbClr val="C8102E"/>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m:t>
                          </m:r>
                          <m:r>
                            <a:rPr sz="1200">
                              <a:solidFill>
                                <a:srgbClr val="C8102E"/>
                              </a:solidFill>
                              <a:latin typeface="Cambria Math"/>
                            </a:rPr>
                            <m:t>𝑠</m:t>
                          </m:r>
                          <m:r>
                            <a:rPr sz="1200">
                              <a:solidFill>
                                <a:srgbClr val="C8102E"/>
                              </a:solidFill>
                              <a:latin typeface="Cambria Math"/>
                            </a:rPr>
                            <m:t>𝑠</m:t>
                          </m:r>
                          <m:r>
                            <a:rPr sz="1200">
                              <a:solidFill>
                                <a:srgbClr val="C8102E"/>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fill="norm">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fill="norm">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aseline="0" b="0" i="0" u="none">
                <a:solidFill>
                  <a:srgbClr val="C8102E"/>
                </a:solidFill>
                <a:latin typeface="Aptos"/>
                <a:ea typeface="Aptos"/>
                <a:cs typeface="Aptos"/>
              </a:rPr>
              <a:t xml:space="preserve">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y</m:t>
                        </m:r>
                      </m:oMath>
                    </m:oMathPara>
                  </a14:m>
                  <a:endParaRPr sz="1998" dirty="0"/>
                </a:p>
              </p:txBody>
            </p:sp>
          </mc:Choice>
          <mc:Fallback>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y</m:t>
                        </m:r>
                      </m:oMath>
                    </m:oMathPara>
                  </a14:m>
                  <a:endParaRPr sz="1998" dirty="0"/>
                </a:p>
              </p:txBody>
            </p:sp>
          </mc:Choice>
          <mc:Fallback>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147C60"/>
                          </a:solidFill>
                          <a:latin typeface="Cambria Math"/>
                        </a:rPr>
                        <m:t>𝑎𝑏</m:t>
                      </m:r>
                      <m:r>
                        <a:rPr sz="1800">
                          <a:solidFill>
                            <a:srgbClr val="147C60"/>
                          </a:solidFill>
                          <a:latin typeface="Cambria Math"/>
                        </a:rPr>
                        <m:t>≥0</m:t>
                      </m:r>
                    </m:oMath>
                  </m:oMathPara>
                </a14:m>
                <a:endParaRPr sz="1800"/>
              </a:p>
            </p:txBody>
          </p:sp>
        </mc:Choice>
        <mc:Fallback xmlns:m="http://schemas.openxmlformats.org/officeDocument/2006/math"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16F9C"/>
                          </a:solidFill>
                          <a:latin typeface="Cambria Math"/>
                        </a:rPr>
                        <m:t>𝑣𝑎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xmlns:m="http://schemas.openxmlformats.org/officeDocument/2006/math">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sz="1900">
                              <a:solidFill>
                                <a:srgbClr val="252529"/>
                              </a:solidFill>
                              <a:latin typeface="Cambria Math"/>
                            </a:rPr>
                            <m:t>𝑣𝑎𝑏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147C60"/>
                          </a:solidFill>
                          <a:latin typeface="Cambria Math"/>
                        </a:rPr>
                        <m:t>=4</m:t>
                      </m:r>
                      <m:r>
                        <a:rPr sz="2200">
                          <a:solidFill>
                            <a:srgbClr val="147C60"/>
                          </a:solidFill>
                          <a:latin typeface="Cambria Math"/>
                        </a:rPr>
                        <m:t>𝑣𝑎𝑏</m:t>
                      </m:r>
                      <m:r>
                        <a:rPr sz="2200">
                          <a:solidFill>
                            <a:srgbClr val="147C60"/>
                          </a:solidFill>
                          <a:latin typeface="Cambria Math"/>
                        </a:rPr>
                        <m:t>≥0</m:t>
                      </m:r>
                    </m:oMath>
                  </m:oMathPara>
                </a14:m>
                <a:endParaRPr sz="220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animEffect transition="in" filter="fade">
                                      <p:cBhvr>
                                        <p:cTn id="7" dur="350"/>
                                        <p:tgtEl>
                                          <p:spTgt spid="8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006"/>
                                        </p:tgtEl>
                                        <p:attrNameLst>
                                          <p:attrName>style.visibility</p:attrName>
                                        </p:attrNameLst>
                                      </p:cBhvr>
                                      <p:to>
                                        <p:strVal val="visible"/>
                                      </p:to>
                                    </p:set>
                                    <p:animEffect transition="in" filter="fade">
                                      <p:cBhvr>
                                        <p:cTn id="10" dur="350"/>
                                        <p:tgtEl>
                                          <p:spTgt spid="8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035"/>
                                        </p:tgtEl>
                                        <p:attrNameLst>
                                          <p:attrName>style.visibility</p:attrName>
                                        </p:attrNameLst>
                                      </p:cBhvr>
                                      <p:to>
                                        <p:strVal val="visible"/>
                                      </p:to>
                                    </p:set>
                                    <p:animEffect transition="in" filter="fade">
                                      <p:cBhvr>
                                        <p:cTn id="15" dur="350"/>
                                        <p:tgtEl>
                                          <p:spTgt spid="803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036"/>
                                        </p:tgtEl>
                                        <p:attrNameLst>
                                          <p:attrName>style.visibility</p:attrName>
                                        </p:attrNameLst>
                                      </p:cBhvr>
                                      <p:to>
                                        <p:strVal val="visible"/>
                                      </p:to>
                                    </p:set>
                                    <p:animEffect transition="in" filter="fade">
                                      <p:cBhvr>
                                        <p:cTn id="20" dur="350"/>
                                        <p:tgtEl>
                                          <p:spTgt spid="803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037"/>
                                        </p:tgtEl>
                                        <p:attrNameLst>
                                          <p:attrName>style.visibility</p:attrName>
                                        </p:attrNameLst>
                                      </p:cBhvr>
                                      <p:to>
                                        <p:strVal val="visible"/>
                                      </p:to>
                                    </p:set>
                                    <p:animEffect transition="in" filter="fade">
                                      <p:cBhvr>
                                        <p:cTn id="25" dur="350"/>
                                        <p:tgtEl>
                                          <p:spTgt spid="8037"/>
                                        </p:tgtEl>
                                      </p:cBhvr>
                                    </p:animEffect>
                                  </p:childTnLst>
                                </p:cTn>
                              </p:par>
                              <p:par>
                                <p:cTn id="26" presetID="1" presetClass="entr" presetSubtype="0" fill="hold" nodeType="withEffect">
                                  <p:stCondLst>
                                    <p:cond delay="0"/>
                                  </p:stCondLst>
                                  <p:childTnLst>
                                    <p:set>
                                      <p:cBhvr>
                                        <p:cTn id="27" dur="1" fill="hold">
                                          <p:stCondLst>
                                            <p:cond delay="0"/>
                                          </p:stCondLst>
                                        </p:cTn>
                                        <p:tgtEl>
                                          <p:spTgt spid="7"/>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6"/>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8038"/>
                                        </p:tgtEl>
                                        <p:attrNameLst>
                                          <p:attrName>style.visibility</p:attrName>
                                        </p:attrNameLst>
                                      </p:cBhvr>
                                      <p:to>
                                        <p:strVal val="visible"/>
                                      </p:to>
                                    </p:set>
                                    <p:animEffect transition="in" filter="fade">
                                      <p:cBhvr>
                                        <p:cTn id="38" dur="350"/>
                                        <p:tgtEl>
                                          <p:spTgt spid="803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8023"/>
                                        </p:tgtEl>
                                        <p:attrNameLst>
                                          <p:attrName>style.visibility</p:attrName>
                                        </p:attrNameLst>
                                      </p:cBhvr>
                                      <p:to>
                                        <p:strVal val="visible"/>
                                      </p:to>
                                    </p:set>
                                    <p:animEffect transition="in" filter="fade">
                                      <p:cBhvr>
                                        <p:cTn id="43" dur="350"/>
                                        <p:tgtEl>
                                          <p:spTgt spid="80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8024"/>
                                        </p:tgtEl>
                                        <p:attrNameLst>
                                          <p:attrName>style.visibility</p:attrName>
                                        </p:attrNameLst>
                                      </p:cBhvr>
                                      <p:to>
                                        <p:strVal val="visible"/>
                                      </p:to>
                                    </p:set>
                                    <p:animEffect transition="in" filter="fade">
                                      <p:cBhvr>
                                        <p:cTn id="46" dur="350"/>
                                        <p:tgtEl>
                                          <p:spTgt spid="8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81" y="2564134"/>
            <a:ext cx="1809448"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9450" y="2579366"/>
            <a:ext cx="1809448"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9450"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mc:Choice xmlns:a14="http://schemas.microsoft.com/office/drawing/2010/main"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mc:Choice xmlns:a14="http://schemas.microsoft.com/office/drawing/2010/main"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1" presetClass="entr" presetSubtype="0" fill="hold" grpId="0" nodeType="withEffect">
                                  <p:stCondLst>
                                    <p:cond delay="0"/>
                                  </p:stCondLst>
                                  <p:childTnLst>
                                    <p:set>
                                      <p:cBhvr>
                                        <p:cTn id="17" dur="1" fill="hold">
                                          <p:stCondLst>
                                            <p:cond delay="0"/>
                                          </p:stCondLst>
                                        </p:cTn>
                                        <p:tgtEl>
                                          <p:spTgt spid="52"/>
                                        </p:tgtEl>
                                        <p:attrNameLst>
                                          <p:attrName>style.visibility</p:attrName>
                                        </p:attrNameLst>
                                      </p:cBhvr>
                                      <p:to>
                                        <p:strVal val="visible"/>
                                      </p:to>
                                    </p:set>
                                  </p:childTnLst>
                                </p:cTn>
                              </p:par>
                              <p:par>
                                <p:cTn id="18" presetID="3" presetClass="emph" presetSubtype="2" fill="hold" grpId="2" nodeType="withEffect">
                                  <p:stCondLst>
                                    <p:cond delay="0"/>
                                  </p:stCondLst>
                                  <p:childTnLst>
                                    <p:animClr clrSpc="rgb" dir="cw">
                                      <p:cBhvr override="childStyle">
                                        <p:cTn id="19" dur="100" fill="hold"/>
                                        <p:tgtEl>
                                          <p:spTgt spid="62"/>
                                        </p:tgtEl>
                                        <p:attrNameLst>
                                          <p:attrName>style.color</p:attrName>
                                        </p:attrNameLst>
                                      </p:cBhvr>
                                      <p:to>
                                        <a:schemeClr val="tx1"/>
                                      </p:to>
                                    </p:animClr>
                                  </p:childTnLst>
                                </p:cTn>
                              </p:par>
                              <p:par>
                                <p:cTn id="20" presetID="1" presetClass="entr" presetSubtype="0" fill="hold" grpId="0" nodeType="withEffect">
                                  <p:stCondLst>
                                    <p:cond delay="0"/>
                                  </p:stCondLst>
                                  <p:childTnLst>
                                    <p:set>
                                      <p:cBhvr>
                                        <p:cTn id="21" dur="1" fill="hold">
                                          <p:stCondLst>
                                            <p:cond delay="0"/>
                                          </p:stCondLst>
                                        </p:cTn>
                                        <p:tgtEl>
                                          <p:spTgt spid="58"/>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5"/>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9" grpId="0" animBg="1"/>
      <p:bldP spid="60" grpId="0"/>
      <p:bldP spid="61" grpId="0" animBg="1"/>
      <p:bldP spid="62" grpId="0"/>
      <p:bldP spid="62" grpId="2"/>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47</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48</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50</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5628</TotalTime>
  <Words>8071</Words>
  <Application>Microsoft Office PowerPoint</Application>
  <PresentationFormat>On-screen Show (16:9)</PresentationFormat>
  <Paragraphs>1074</Paragraphs>
  <Slides>58</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42</cp:revision>
  <dcterms:created xsi:type="dcterms:W3CDTF">2019-11-27T15:26:32Z</dcterms:created>
  <dcterms:modified xsi:type="dcterms:W3CDTF">2026-09-27T18:09:41Z</dcterms:modified>
</cp:coreProperties>
</file>