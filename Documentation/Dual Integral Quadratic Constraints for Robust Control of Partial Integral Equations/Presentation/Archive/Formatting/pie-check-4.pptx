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301" r:id="rIdStage1"/>
    <p:sldId id="302" r:id="rIdStage2"/>
    <p:sldId id="303" r:id="rIdStage3"/>
    <p:sldId id="304" r:id="rIdStage4"/>
    <p:sldId id="305" r:id="rIdStage5"/>
    <p:sldId id="306" r:id="rIdStage6"/>
    <p:sldId id="307" r:id="rIdStage7"/>
    <p:sldId id="308" r:id="rIdStage8"/>
    <p:sldId id="309" r:id="rIdStage9"/>
    <p:sldId id="310" r:id="rIdStage10"/>
    <p:sldId id="311" r:id="rIdStage11"/>
    <p:sldId id="312" r:id="rIdStage12"/>
    <p:sldId id="313" r:id="rIdStage13"/>
    <p:sldId id="314" r:id="rIdStage14"/>
    <p:sldId id="315" r:id="rIdStage15"/>
    <p:sldId id="316" r:id="rIdStage16"/>
    <p:sldId id="317" r:id="rIdStage1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notesMaster" Target="notesMasters/notesMaster1.xml"/><Relationship Id="rId17" Type="http://schemas.openxmlformats.org/officeDocument/2006/relationships/tableStyles" Target="tableStyles.xml"/><Relationship Id="rId16" Type="http://schemas.openxmlformats.org/officeDocument/2006/relationships/theme" Target="theme/theme1.xml"/><Relationship Id="rId1" Type="http://schemas.openxmlformats.org/officeDocument/2006/relationships/slideMaster" Target="slideMasters/slideMaster1.xml"/><Relationship Id="rId15" Type="http://schemas.openxmlformats.org/officeDocument/2006/relationships/viewProps" Target="viewProps.xml"/><Relationship Id="rId14" Type="http://schemas.openxmlformats.org/officeDocument/2006/relationships/presProps" Target="presProps.xml"/><Relationship Id="rIdStage1" Type="http://schemas.openxmlformats.org/officeDocument/2006/relationships/slide" Target="slides/slide1.xml"/><Relationship Id="rIdStage2" Type="http://schemas.openxmlformats.org/officeDocument/2006/relationships/slide" Target="slides/slide2.xml"/><Relationship Id="rIdStage3" Type="http://schemas.openxmlformats.org/officeDocument/2006/relationships/slide" Target="slides/slide3.xml"/><Relationship Id="rIdStage4" Type="http://schemas.openxmlformats.org/officeDocument/2006/relationships/slide" Target="slides/slide4.xml"/><Relationship Id="rIdStage5" Type="http://schemas.openxmlformats.org/officeDocument/2006/relationships/slide" Target="slides/slide5.xml"/><Relationship Id="rIdStage6" Type="http://schemas.openxmlformats.org/officeDocument/2006/relationships/slide" Target="slides/slide6.xml"/><Relationship Id="rIdStage7" Type="http://schemas.openxmlformats.org/officeDocument/2006/relationships/slide" Target="slides/slide7.xml"/><Relationship Id="rIdStage8" Type="http://schemas.openxmlformats.org/officeDocument/2006/relationships/slide" Target="slides/slide8.xml"/><Relationship Id="rIdStage9" Type="http://schemas.openxmlformats.org/officeDocument/2006/relationships/slide" Target="slides/slide9.xml"/><Relationship Id="rIdStage10" Type="http://schemas.openxmlformats.org/officeDocument/2006/relationships/slide" Target="slides/slide10.xml"/><Relationship Id="rIdStage11" Type="http://schemas.openxmlformats.org/officeDocument/2006/relationships/slide" Target="slides/slide11.xml"/><Relationship Id="rIdStage12" Type="http://schemas.openxmlformats.org/officeDocument/2006/relationships/slide" Target="slides/slide12.xml"/><Relationship Id="rIdStage13" Type="http://schemas.openxmlformats.org/officeDocument/2006/relationships/slide" Target="slides/slide13.xml"/><Relationship Id="rIdStage14" Type="http://schemas.openxmlformats.org/officeDocument/2006/relationships/slide" Target="slides/slide14.xml"/><Relationship Id="rIdStage15" Type="http://schemas.openxmlformats.org/officeDocument/2006/relationships/slide" Target="slides/slide15.xml"/><Relationship Id="rIdStage16" Type="http://schemas.openxmlformats.org/officeDocument/2006/relationships/slide" Target="slides/slide16.xml"/><Relationship Id="rIdStage1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Clean10" Type="http://schemas.openxmlformats.org/officeDocument/2006/relationships/image" Target="../media/image3.png"/><Relationship Id="rIdClean11" Type="http://schemas.openxmlformats.org/officeDocument/2006/relationships/image" Target="../media/image2.png"/></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Clean22" Type="http://schemas.openxmlformats.org/officeDocument/2006/relationships/image" Target="../media/image1.png"/></Relationships>
</file>

<file path=ppt/slides/_rels/slide3.xml.rels><?xml version="1.0" encoding="utf-8"?><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 Id="rIdClean32" Type="http://schemas.openxmlformats.org/officeDocument/2006/relationships/image" Target="../media/image1.png"/></Relationships>
</file>

<file path=ppt/slides/_rels/slide4.xml.rels><?xml version="1.0" encoding="utf-8"?><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Clean24" Type="http://schemas.openxmlformats.org/officeDocument/2006/relationships/image" Target="../media/image1.png"/></Relationships>
</file>

<file path=ppt/slides/_rels/slide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 Id="rIdClean23" Type="http://schemas.openxmlformats.org/officeDocument/2006/relationships/image" Target="../media/image1.png"/></Relationships>
</file>

<file path=ppt/slides/_rels/slide6.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7.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8.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 Id="rIdClean19" Type="http://schemas.openxmlformats.org/officeDocument/2006/relationships/image" Target="../media/image1.png"/></Relationships>
</file>

<file path=ppt/slides/_rels/slide9.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0.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1.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2.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2.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2" Type="http://schemas.openxmlformats.org/officeDocument/2006/relationships/image" Target="../media/image1.png"/></Relationships>
</file>

<file path=ppt/slides/_rels/slide13.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4.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4.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77" Type="http://schemas.openxmlformats.org/officeDocument/2006/relationships/image" Target="../media/image1.png"/></Relationships>
</file>

<file path=ppt/slides/_rels/slide15.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5.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1" Type="http://schemas.openxmlformats.org/officeDocument/2006/relationships/image" Target="../media/image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7.xml"/><Relationship Id="rIdClean6" Type="http://schemas.openxmlformats.org/officeDocument/2006/relationships/image" Target="../media/image1.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Clean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lIns="0" rIns="0" tIns="0" bIns="0" anchor="t" wrap="square">
            <a:noAutofit/>
          </a:bodyPr>
          <a:lstStyle/>
          <a:p>
            <a:pPr algn="l" marL="0" indent="0" defTabSz="1">
              <a:lnSpc>
                <a:spcPct val="112000"/>
              </a:lnSpc>
              <a:spcAft>
                <a:spcPts val="0"/>
              </a:spcAft>
              <a:buNone/>
              <a:defRPr sz="2800" b="1" u="none" cap="none">
                <a:solidFill>
                  <a:srgbClr val="252529"/>
                </a:solidFill>
                <a:latin typeface="Aptos"/>
                <a:ea typeface="Aptos"/>
                <a:cs typeface="Aptos"/>
              </a:defRPr>
            </a:pPr>
            <a:r>
              <a:rPr lang="en-GB" dirty="0" sz="2800" b="1" u="none" cap="none">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lIns="0" rIns="0" tIns="0" bIns="0" anchor="t" wrap="square">
            <a:noAutofit/>
          </a:bodyPr>
          <a:lstStyle/>
          <a:p>
            <a:pPr algn="l" marL="0" indent="0" defTabSz="1">
              <a:lnSpc>
                <a:spcPct val="112000"/>
              </a:lnSpc>
              <a:spcAft>
                <a:spcPts val="0"/>
              </a:spcAft>
              <a:buNone/>
              <a:defRPr sz="1600" b="0" u="none" cap="none">
                <a:solidFill>
                  <a:srgbClr val="C71919"/>
                </a:solidFill>
                <a:latin typeface="Aptos"/>
                <a:ea typeface="Aptos"/>
                <a:cs typeface="Aptos"/>
              </a:defRPr>
            </a:pPr>
            <a:r>
              <a:rPr lang="en-GB" dirty="0" sz="1600" b="0" u="none" cap="none">
                <a:solidFill>
                  <a:srgbClr val="C7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lIns="0" rIns="0" tIns="0" bIns="0" anchor="t" wrap="square">
            <a:noAutofit/>
          </a:bodyPr>
          <a:lstStyle/>
          <a:p>
            <a:pPr algn="l" marL="0" indent="0" defTabSz="1">
              <a:lnSpc>
                <a:spcPct val="120000"/>
              </a:lnSpc>
              <a:spcAft>
                <a:spcPts val="0"/>
              </a:spcAft>
              <a:buNone/>
              <a:defRPr sz="1300" b="0" u="none" cap="none">
                <a:solidFill>
                  <a:srgbClr val="252529"/>
                </a:solidFill>
                <a:latin typeface="Aptos"/>
                <a:ea typeface="Aptos"/>
                <a:cs typeface="Aptos"/>
              </a:defRPr>
            </a:pPr>
            <a:r>
              <a:rPr lang="en-GB" dirty="0" sz="1300" b="0" u="none" cap="none">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lIns="0" rIns="0" tIns="0" bIns="0" anchor="t" wrap="square">
            <a:noAutofit/>
          </a:bodyPr>
          <a:lstStyle/>
          <a:p>
            <a:pPr algn="l" marL="0" indent="0" defTabSz="1">
              <a:lnSpc>
                <a:spcPct val="112000"/>
              </a:lnSpc>
              <a:spcAft>
                <a:spcPts val="0"/>
              </a:spcAft>
              <a:buNone/>
              <a:defRPr sz="1100" b="0" u="none" cap="none">
                <a:solidFill>
                  <a:srgbClr val="747B82"/>
                </a:solidFill>
                <a:latin typeface="Aptos"/>
                <a:ea typeface="Aptos"/>
                <a:cs typeface="Aptos"/>
              </a:defRPr>
            </a:pPr>
            <a:r>
              <a:rPr lang="en-GB" dirty="0" sz="1100" b="0" u="none" cap="none">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Clean10"/>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Clean11"/>
          <a:stretch>
            <a:fillRect/>
          </a:stretch>
        </p:blipFill>
        <p:spPr>
          <a:xfrm>
            <a:off x="457200" y="4635500"/>
            <a:ext cx="1587500" cy="395732"/>
          </a:xfrm>
          <a:prstGeom prst="rect">
            <a:avLst/>
          </a:prstGeom>
        </p:spPr>
      </p:pic>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Rigid body representation</a:t>
            </a:r>
            <a:br>
              <a:rPr lang="en-US" dirty="0" sz="1800" b="0" u="none" cap="none">
                <a:solidFill>
                  <a:srgbClr val="252529"/>
                </a:solidFill>
                <a:latin typeface="Aptos"/>
                <a:ea typeface="Aptos"/>
                <a:cs typeface="Aptos"/>
              </a:rPr>
            </a:br>
            <a:r>
              <a:rPr lang="en-US" dirty="0" sz="1800" b="0" u="none" cap="none">
                <a:solidFill>
                  <a:srgbClr val="252529"/>
                </a:solidFill>
                <a:latin typeface="Aptos"/>
                <a:ea typeface="Aptos"/>
                <a:cs typeface="Aptos"/>
              </a:rPr>
              <a:t>Ordinary Differential Equation (ODE)</a:t>
            </a:r>
            <a:endParaRPr lang="en-NL" dirty="0" sz="1800" b="0" u="none" cap="none">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2</a:t>
            </a:fld>
            <a:endParaRPr lang="en-GB" dirty="0" sz="800" b="0" u="none" cap="none">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Flexible body representation</a:t>
            </a:r>
            <a:endParaRPr lang="en-US" dirty="0" sz="1800" b="0" u="none" cap="none">
              <a:solidFill>
                <a:srgbClr val="252529"/>
              </a:solidFill>
              <a:latin typeface="Aptos"/>
              <a:ea typeface="Aptos"/>
              <a:cs typeface="Aptos"/>
            </a:endParaRPr>
          </a:p>
          <a:p>
            <a:pPr algn="l" marL="0" indent="0">
              <a:spcAft>
                <a:spcPts val="0"/>
              </a:spcAft>
              <a:buNone/>
              <a:defRPr sz="1800" b="0" u="none" cap="none">
                <a:solidFill>
                  <a:srgbClr val="252529"/>
                </a:solidFill>
                <a:latin typeface="Aptos"/>
                <a:ea typeface="Aptos"/>
                <a:cs typeface="Aptos"/>
              </a:defRPr>
            </a:pPr>
            <a:r>
              <a:rPr lang="en-US" dirty="0" sz="1800" b="0" u="none" cap="none">
                <a:solidFill>
                  <a:srgbClr val="252529"/>
                </a:solidFill>
                <a:latin typeface="Aptos"/>
                <a:ea typeface="Aptos"/>
                <a:cs typeface="Aptos"/>
              </a:rPr>
              <a:t>Partial Differential Equation (PDE)</a:t>
            </a:r>
            <a:endParaRPr lang="en-NL" dirty="0" sz="1800" b="0" u="none" cap="none">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p:spPr>
      </p:pic>
      <p:pic>
        <p:nvPicPr>
          <p:cNvPr id="22" name="Original TUe logo"/>
          <p:cNvPicPr>
            <a:picLocks noChangeAspect="1"/>
          </p:cNvPicPr>
          <p:nvPr/>
        </p:nvPicPr>
        <p:blipFill>
          <a:blip r:embed="rIdClean2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3</a:t>
            </a:fld>
            <a:endParaRPr lang="en-GB" dirty="0" sz="800" b="0" u="none" cap="none">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ASML wafer stage</a:t>
            </a:r>
            <a:endParaRPr lang="en-NL" sz="1600" b="1" dirty="0" u="none" cap="none">
              <a:solidFill>
                <a:srgbClr val="25252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Canon Production Printing</a:t>
            </a:r>
            <a:endParaRPr lang="en-NL" sz="1600" b="1" dirty="0" u="none" cap="none">
              <a:solidFill>
                <a:srgbClr val="25252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Parkinsons Disease</a:t>
            </a:r>
            <a:endParaRPr lang="en-NL" sz="1600" b="1" dirty="0" u="none" cap="none">
              <a:solidFill>
                <a:srgbClr val="25252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Diffusion-Reaction Equations (PDE)</a:t>
            </a:r>
            <a:endParaRPr lang="en-NL" dirty="0" sz="1300" b="0" u="none" cap="none">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Differential Delay Equations </a:t>
            </a:r>
          </a:p>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(DDE -&gt; PDE)</a:t>
            </a:r>
            <a:endParaRPr lang="en-NL" dirty="0" sz="1300" b="0" u="none" cap="none">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Wave/beam equations (PDE)</a:t>
            </a:r>
            <a:endParaRPr lang="en-NL" dirty="0" sz="1300" b="0" u="none" cap="none">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Clean3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b="1" dirty="0" sz="2500" u="none" cap="none">
                <a:solidFill>
                  <a:srgbClr val="252529"/>
                </a:solidFill>
                <a:latin typeface="Aptos"/>
                <a:ea typeface="Aptos"/>
                <a:cs typeface="Aptos"/>
              </a:rPr>
              <a:t>Partial Integral Equations</a:t>
            </a:r>
            <a:endParaRPr lang="en-NL" b="1" dirty="0" sz="2500" u="none" cap="none">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32100" cy="3251200"/>
          </a:xfrm>
          <a:noFill/>
          <a:ln>
            <a:noFill/>
          </a:ln>
        </p:spPr>
        <p:txBody>
          <a:bodyPr lIns="0" rIns="0" tIns="0" bIns="0" anchor="t" wrap="square">
            <a:noAutofit/>
          </a:bodyPr>
          <a:lstStyle/>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Controller synthesis for linear systems…..</a:t>
            </a:r>
            <a:endParaRPr lang="en-NL" dirty="0" sz="1600" b="0" u="none" cap="none">
              <a:solidFill>
                <a:srgbClr val="252529"/>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4</a:t>
            </a:fld>
            <a:endParaRPr lang="en-GB" dirty="0" sz="800" b="0" u="none" cap="none">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ODE-PDE</a:t>
            </a:r>
            <a:endParaRPr lang="en-NL" sz="2000" dirty="0" b="1" u="none" cap="none">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PIE</a:t>
            </a:r>
            <a:endParaRPr lang="en-NL" sz="2000" dirty="0" b="1" u="none" cap="none">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C71919"/>
                </a:solidFill>
                <a:latin typeface="Aptos"/>
                <a:ea typeface="Aptos"/>
                <a:cs typeface="Aptos"/>
              </a:defRPr>
            </a:pPr>
            <a:r>
              <a:rPr lang="en-US" sz="1300" dirty="0" b="0" u="none" cap="none">
                <a:solidFill>
                  <a:srgbClr val="C71919"/>
                </a:solidFill>
                <a:latin typeface="Aptos"/>
                <a:ea typeface="Aptos"/>
                <a:cs typeface="Aptos"/>
              </a:rPr>
              <a:t>Exact!</a:t>
            </a:r>
            <a:endParaRPr lang="en-NL" dirty="0" sz="1300" b="0" u="none" cap="none">
              <a:solidFill>
                <a:srgbClr val="C7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289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289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Clean2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5</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𝑡</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=0.01 </m:t>
                      </m:r>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𝑠𝑠</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d>
                        <m:dPr>
                          <m:begChr m:val="["/>
                          <m:endChr m:val="]"/>
                          <m:ctrlPr>
                            <a:rPr lang="nl-NL" i="1" sz="1800">
                              <a:latin typeface="Cambria Math" panose="02040503050406030204" pitchFamily="18" charset="0"/>
                            </a:rPr>
                          </m:ctrlPr>
                        </m:dPr>
                        <m:e>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0.25</m:t>
                                  </m:r>
                                  <m:d>
                                    <m:dPr>
                                      <m:ctrlPr>
                                        <a:rPr lang="nl-NL" i="1" sz="1800">
                                          <a:latin typeface="Cambria Math" panose="02040503050406030204" pitchFamily="18" charset="0"/>
                                        </a:rPr>
                                      </m:ctrlPr>
                                    </m:dPr>
                                    <m:e>
                                      <m:r>
                                        <a:rPr lang="nl-NL" i="1" sz="1800">
                                          <a:latin typeface="Cambria Math" panose="02040503050406030204" pitchFamily="18" charset="0"/>
                                        </a:rPr>
                                        <m:t>1+</m:t>
                                      </m:r>
                                      <m:r>
                                        <a:rPr lang="nl-NL" i="1" sz="1800">
                                          <a:latin typeface="Cambria Math" panose="02040503050406030204" pitchFamily="18" charset="0"/>
                                        </a:rPr>
                                        <m:t>𝛿</m:t>
                                      </m:r>
                                    </m:e>
                                  </m:d>
                                </m:e>
                              </m:groupChr>
                            </m:e>
                            <m:lim>
                              <m:r>
                                <m:rPr>
                                  <m:nor/>
                                </m:rPr>
                                <a:rPr lang="nl-NL" i="0" sz="1800">
                                  <a:latin typeface="Cambria Math" panose="02040503050406030204" pitchFamily="18" charset="0"/>
                                </a:rPr>
                                <m:t>heat generation</m:t>
                              </m:r>
                            </m:lim>
                          </m:limLow>
                          <m:r>
                            <a:rPr lang="nl-NL" i="1" sz="1800">
                              <a:latin typeface="Cambria Math" panose="02040503050406030204" pitchFamily="18" charset="0"/>
                            </a:rPr>
                            <m:t>−</m:t>
                          </m:r>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m:t>
                                  </m:r>
                                </m:e>
                              </m:groupChr>
                            </m:e>
                            <m:lim>
                              <m:r>
                                <m:rPr>
                                  <m:nor/>
                                </m:rPr>
                                <a:rPr lang="nl-NL" i="0" sz="1800">
                                  <a:latin typeface="Cambria Math" panose="02040503050406030204" pitchFamily="18" charset="0"/>
                                </a:rPr>
                                <m:t>cooling</m:t>
                              </m:r>
                            </m:lim>
                          </m:limLow>
                        </m:e>
                      </m:d>
                      <m:r>
                        <m:rPr>
                          <m:sty m:val="p"/>
                        </m:rPr>
                        <a:rPr lang="nl-NL" i="1" sz="1800">
                          <a:latin typeface="Cambria Math" panose="02040503050406030204" pitchFamily="18" charset="0"/>
                        </a:rPr>
                        <m:t>heat</m:t>
                      </m:r>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r>
                        <a:rPr lang="nl-NL" i="1" sz="1800">
                          <a:latin typeface="Cambria Math" panose="02040503050406030204" pitchFamily="18" charset="0"/>
                        </a:rPr>
                        <m:t>𝑢</m:t>
                      </m:r>
                      <m:d>
                        <m:dPr>
                          <m:ctrlPr>
                            <a:rPr lang="nl-NL" i="1" sz="1800">
                              <a:latin typeface="Cambria Math" panose="02040503050406030204" pitchFamily="18" charset="0"/>
                            </a:rPr>
                          </m:ctrlPr>
                        </m:dPr>
                        <m:e>
                          <m:r>
                            <a:rPr lang="nl-NL" i="1" sz="1800">
                              <a:latin typeface="Cambria Math" panose="02040503050406030204" pitchFamily="18" charset="0"/>
                            </a:rPr>
                            <m:t>𝑡</m:t>
                          </m:r>
                        </m:e>
                      </m:d>
                    </m:oMath>
                  </m:oMathPara>
                </a14:m>
                <a:endParaRPr lang="en-NL" dirty="0" sz="180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6643" y="2679700"/>
            <a:ext cx="3315113" cy="1981200"/>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lIns="0" rIns="0" tIns="0" bIns="0" anchor="ctr">
            <a:noAutofit/>
          </a:bodyPr>
          <a:lstStyle/>
          <a:p>
            <a:pPr algn="l" marL="0" indent="0" defTabSz="1">
              <a:lnSpc>
                <a:spcPct val="115000"/>
              </a:lnSpc>
              <a:spcAft>
                <a:spcPts val="0"/>
              </a:spcAft>
              <a:buNone/>
              <a:defRPr sz="1700" b="1" u="none" cap="none">
                <a:solidFill>
                  <a:srgbClr val="252529"/>
                </a:solidFill>
                <a:latin typeface="Aptos"/>
                <a:ea typeface="Aptos"/>
                <a:cs typeface="Aptos"/>
              </a:defRPr>
            </a:pPr>
            <a:r>
              <a:rPr lang="en-US" dirty="0" sz="1700" b="1" u="none" cap="none">
                <a:solidFill>
                  <a:srgbClr val="252529"/>
                </a:solidFill>
                <a:latin typeface="Aptos"/>
                <a:ea typeface="Aptos"/>
                <a:cs typeface="Aptos"/>
              </a:rPr>
              <a:t>	Solved during internship</a:t>
            </a:r>
            <a:endParaRPr lang="en-NL" dirty="0" sz="1700" b="1" u="none" cap="none">
              <a:solidFill>
                <a:srgbClr val="252529"/>
              </a:solidFill>
              <a:latin typeface="Aptos"/>
              <a:ea typeface="Aptos"/>
              <a:cs typeface="Aptos"/>
            </a:endParaRPr>
          </a:p>
        </p:txBody>
      </p:sp>
      <p:pic>
        <p:nvPicPr>
          <p:cNvPr id="23" name="Original TUe logo"/>
          <p:cNvPicPr>
            <a:picLocks noChangeAspect="1"/>
          </p:cNvPicPr>
          <p:nvPr/>
        </p:nvPicPr>
        <p:blipFill>
          <a:blip r:embed="rIdClean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6</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7</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8</a:t>
            </a:fld>
            <a:endParaRPr lang="en-GB" dirty="0" sz="800" b="0" u="none" cap="none">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rtlCol="0" lIns="0" rIns="0" tIns="0" bIns="0" anchor="t">
            <a:noAutofit/>
          </a:bodyPr>
          <a:lstStyle/>
          <a:p>
            <a:pPr algn="ctr" marL="0" indent="0">
              <a:spcAft>
                <a:spcPts val="0"/>
              </a:spcAft>
              <a:buNone/>
              <a:defRPr sz="1200" b="0" u="none" cap="none">
                <a:solidFill>
                  <a:srgbClr val="747B82"/>
                </a:solidFill>
                <a:latin typeface="Aptos"/>
                <a:ea typeface="Aptos"/>
                <a:cs typeface="Aptos"/>
              </a:defRPr>
            </a:pPr>
            <a:r>
              <a:rPr lang="en-US" dirty="0" sz="1200" b="0" u="none" cap="none">
                <a:solidFill>
                  <a:srgbClr val="747B82"/>
                </a:solidFill>
                <a:latin typeface="Aptos"/>
                <a:ea typeface="Aptos"/>
                <a:cs typeface="Aptos"/>
              </a:rPr>
              <a:t>[1] beta oscillatory activity in basal ganglia</a:t>
            </a:r>
            <a:endParaRPr lang="en-NL" dirty="0" sz="1200" b="0" u="none" cap="none">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Clean1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9</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10</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11</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12</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S</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G</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qArr>
                    </m:oMath>
                  </m:oMathPara>
                </a14:m>
                <a:endParaRPr lang="en-NL" dirty="0" sz="180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rtlCol="0" lIns="0" rIns="0" tIns="0" bIns="0" anchor="t">
            <a:noAutofit/>
          </a:bodyPr>
          <a:lstStyle/>
          <a:p>
            <a:pPr algn="ctr" marL="0" indent="0" defTabSz="1">
              <a:lnSpc>
                <a:spcPct val="110000"/>
              </a:lnSpc>
              <a:spcAft>
                <a:spcPts val="0"/>
              </a:spcAft>
              <a:buNone/>
              <a:defRPr sz="1300" b="1" u="none" cap="none">
                <a:solidFill>
                  <a:srgbClr val="252529"/>
                </a:solidFill>
                <a:latin typeface="Aptos"/>
                <a:ea typeface="Aptos"/>
                <a:cs typeface="Aptos"/>
              </a:defRPr>
            </a:pPr>
            <a:r>
              <a:rPr lang="en-US" b="1" dirty="0" sz="1300" u="none" cap="none">
                <a:solidFill>
                  <a:srgbClr val="252529"/>
                </a:solidFill>
                <a:latin typeface="Aptos"/>
                <a:ea typeface="Aptos"/>
                <a:cs typeface="Aptos"/>
              </a:rPr>
              <a:t>Model contains delays and nonlinear activation </a:t>
            </a:r>
            <a:r>
              <a:rPr lang="en-US" b="1" dirty="0" err="1" sz="1300" u="none" cap="none">
                <a:solidFill>
                  <a:srgbClr val="252529"/>
                </a:solidFill>
                <a:latin typeface="Aptos"/>
                <a:ea typeface="Aptos"/>
                <a:cs typeface="Aptos"/>
              </a:rPr>
              <a:t>funtions</a:t>
            </a:r>
            <a:r>
              <a:rPr lang="en-US" b="1" dirty="0" sz="1300" u="none" cap="none">
                <a:solidFill>
                  <a:srgbClr val="252529"/>
                </a:solidFill>
                <a:latin typeface="Aptos"/>
                <a:ea typeface="Aptos"/>
                <a:cs typeface="Aptos"/>
              </a:rPr>
              <a:t>!</a:t>
            </a:r>
            <a:endParaRPr lang="en-NL" b="1" dirty="0" sz="1300" u="none" cap="none">
              <a:solidFill>
                <a:srgbClr val="252529"/>
              </a:solidFill>
              <a:latin typeface="Aptos"/>
              <a:ea typeface="Aptos"/>
              <a:cs typeface="Aptos"/>
            </a:endParaRPr>
          </a:p>
        </p:txBody>
      </p:sp>
      <p:pic>
        <p:nvPicPr>
          <p:cNvPr id="82" name="Original TUe logo"/>
          <p:cNvPicPr>
            <a:picLocks noChangeAspect="1"/>
          </p:cNvPicPr>
          <p:nvPr/>
        </p:nvPicPr>
        <p:blipFill>
          <a:blip r:embed="rIdClean8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13</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700">
                              <a:latin typeface="Cambria Math" panose="02040503050406030204" pitchFamily="18" charset="0"/>
                            </a:rPr>
                          </m:ctrlPr>
                        </m:eqArr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GS</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GS</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SG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SG</m:t>
                                  </m:r>
                                </m:sub>
                              </m:sSub>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GG</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r>
                            <a:rPr lang="en-US" b="0" i="1" smtClean="0" sz="1700">
                              <a:solidFill>
                                <a:srgbClr val="00B050"/>
                              </a:solidFill>
                              <a:latin typeface="Cambria Math" panose="02040503050406030204" pitchFamily="18" charset="0"/>
                            </a:rPr>
                            <m:t>𝑢</m:t>
                          </m:r>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qArr>
                    </m:oMath>
                  </m:oMathPara>
                </a14:m>
                <a:endParaRPr lang="en-NL" dirty="0" sz="170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14</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Clean7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15</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Clean81"/>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References</a:t>
            </a:r>
            <a:endParaRPr lang="en-NL" dirty="0" sz="2500" b="1" u="none" cap="none">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16</a:t>
            </a:fld>
            <a:endParaRPr lang="en-GB" dirty="0" sz="800" b="0" u="none" cap="none">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lIns="0" rIns="0" tIns="0" bIns="0" anchor="t" wrap="square">
            <a:noAutofit/>
          </a:bodyPr>
          <a:lstStyle/>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[1] </a:t>
            </a:r>
            <a:r>
              <a:rPr lang="en-US" dirty="0" err="1" sz="1700" b="0" u="none" cap="none">
                <a:solidFill>
                  <a:srgbClr val="252529"/>
                </a:solidFill>
                <a:latin typeface="Aptos"/>
                <a:ea typeface="Aptos"/>
                <a:cs typeface="Aptos"/>
              </a:rPr>
              <a:t>B.De</a:t>
            </a:r>
            <a:r>
              <a:rPr lang="en-US" dirty="0" sz="1700" b="0" u="none" cap="none">
                <a:solidFill>
                  <a:srgbClr val="252529"/>
                </a:solidFill>
                <a:latin typeface="Aptos"/>
                <a:ea typeface="Aptos"/>
                <a:cs typeface="Aptos"/>
              </a:rPr>
              <a:t> la </a:t>
            </a:r>
            <a:r>
              <a:rPr lang="en-US" dirty="0" err="1" sz="1700" b="0" u="none" cap="none">
                <a:solidFill>
                  <a:srgbClr val="252529"/>
                </a:solidFill>
                <a:latin typeface="Aptos"/>
                <a:ea typeface="Aptos"/>
                <a:cs typeface="Aptos"/>
              </a:rPr>
              <a:t>Crompe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M.Deffains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A.Leblois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N.Mallet</a:t>
            </a:r>
            <a:r>
              <a:rPr lang="en-US" dirty="0" sz="1700" b="0" u="none" cap="none">
                <a:solidFill>
                  <a:srgbClr val="252529"/>
                </a:solidFill>
                <a:latin typeface="Aptos"/>
                <a:ea typeface="Aptos"/>
                <a:cs typeface="Aptos"/>
              </a:rPr>
              <a:t>, “Reevaluating the role of the STN-</a:t>
            </a:r>
            <a:r>
              <a:rPr lang="en-US" dirty="0" err="1" sz="1700" b="0" u="none" cap="none">
                <a:solidFill>
                  <a:srgbClr val="252529"/>
                </a:solidFill>
                <a:latin typeface="Aptos"/>
                <a:ea typeface="Aptos"/>
                <a:cs typeface="Aptos"/>
              </a:rPr>
              <a:t>Gpe</a:t>
            </a:r>
            <a:r>
              <a:rPr lang="en-US" dirty="0" sz="1700" b="0" u="none" cap="none">
                <a:solidFill>
                  <a:srgbClr val="252529"/>
                </a:solidFill>
                <a:latin typeface="Aptos"/>
                <a:ea typeface="Aptos"/>
                <a:cs typeface="Aptos"/>
              </a:rPr>
              <a:t> network in generating beta synchronized oscillatory activity in parkinsonism.”</a:t>
            </a:r>
          </a:p>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[2]A.J. Nevado </a:t>
            </a:r>
            <a:r>
              <a:rPr lang="en-US" dirty="0" err="1" sz="1700" b="0" u="none" cap="none">
                <a:solidFill>
                  <a:srgbClr val="252529"/>
                </a:solidFill>
                <a:latin typeface="Aptos"/>
                <a:ea typeface="Aptos"/>
                <a:cs typeface="Aptos"/>
              </a:rPr>
              <a:t>Holgade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J.R.Terry,R.Bogacz</a:t>
            </a:r>
            <a:r>
              <a:rPr lang="en-US" dirty="0" sz="1700" b="0" u="none" cap="none">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Clean6"/>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17</a:t>
            </a:fld>
            <a:endParaRPr lang="en-GB" dirty="0" sz="800" b="0" u="none" cap="none">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685800" y="609600"/>
            <a:ext cx="7772400" cy="1460500"/>
          </a:xfrm>
          <a:prstGeom prst="rect">
            <a:avLst/>
          </a:prstGeom>
          <a:noFill/>
          <a:ln>
            <a:noFill/>
          </a:ln>
        </p:spPr>
        <p:txBody>
          <a:bodyPr wrap="square" rtlCol="0" lIns="0" rIns="0" tIns="0" bIns="0" anchor="t">
            <a:noAutofit/>
          </a:bodyPr>
          <a:lstStyle/>
          <a:p>
            <a:pPr algn="l" marL="0" indent="0" defTabSz="1">
              <a:lnSpc>
                <a:spcPct val="120000"/>
              </a:lnSpc>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Goal: Can we find a single tool to </a:t>
            </a:r>
            <a:r>
              <a:rPr lang="en-US" dirty="0" err="1" sz="2500" b="1" u="none" cap="none">
                <a:solidFill>
                  <a:srgbClr val="252529"/>
                </a:solidFill>
                <a:latin typeface="Aptos"/>
                <a:ea typeface="Aptos"/>
                <a:cs typeface="Aptos"/>
              </a:rPr>
              <a:t>analyse</a:t>
            </a:r>
            <a:r>
              <a:rPr lang="en-US" dirty="0" sz="2500" b="1" u="none" cap="none">
                <a:solidFill>
                  <a:srgbClr val="252529"/>
                </a:solidFill>
                <a:latin typeface="Aptos"/>
                <a:ea typeface="Aptos"/>
                <a:cs typeface="Aptos"/>
              </a:rPr>
              <a:t> and control a large class of Partial Integral Equations(PIE)?</a:t>
            </a:r>
            <a:endParaRPr lang="en-NL" dirty="0" sz="2500" b="1" u="none" cap="none">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685800" y="2590800"/>
            <a:ext cx="7772400" cy="1841500"/>
          </a:xfrm>
          <a:prstGeom prst="rect">
            <a:avLst/>
          </a:prstGeom>
          <a:noFill/>
          <a:ln>
            <a:noFill/>
          </a:ln>
        </p:spPr>
        <p:txBody>
          <a:bodyPr wrap="square" rtlCol="0" lIns="0" rIns="0" tIns="0" bIns="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Analysis capabilities</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Duality argument</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Convex state feedback synthesis</a:t>
            </a:r>
            <a:endParaRPr lang="en-NL" dirty="0" sz="2100" b="0" u="none" cap="none">
              <a:solidFill>
                <a:srgbClr val="252529"/>
              </a:solidFill>
              <a:latin typeface="Aptos"/>
              <a:ea typeface="Aptos"/>
              <a:cs typeface="Aptos"/>
            </a:endParaRPr>
          </a:p>
        </p:txBody>
      </p:sp>
      <p:pic>
        <p:nvPicPr>
          <p:cNvPr id="8" name="Original TUe logo"/>
          <p:cNvPicPr>
            <a:picLocks noChangeAspect="1"/>
          </p:cNvPicPr>
          <p:nvPr/>
        </p:nvPicPr>
        <p:blipFill>
          <a:blip r:embed="rIdClean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