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3"/>
  </p:notesMasterIdLst>
  <p:sldIdLst>
    <p:sldId id="301" r:id="rIdStage1"/>
    <p:sldId id="302" r:id="rIdStage2"/>
    <p:sldId id="303" r:id="rIdStage3"/>
    <p:sldId id="304" r:id="rIdStage4"/>
    <p:sldId id="305" r:id="rIdStage5"/>
    <p:sldId id="306" r:id="rIdStage6"/>
    <p:sldId id="307" r:id="rIdStage7"/>
    <p:sldId id="308" r:id="rIdStage8"/>
    <p:sldId id="309" r:id="rIdStage9"/>
    <p:sldId id="310" r:id="rIdStage10"/>
    <p:sldId id="311" r:id="rIdStage11"/>
    <p:sldId id="312" r:id="rIdStage12"/>
    <p:sldId id="313" r:id="rIdStage13"/>
    <p:sldId id="314" r:id="rIdStage14"/>
    <p:sldId id="315" r:id="rIdStage15"/>
    <p:sldId id="316" r:id="rIdStage16"/>
    <p:sldId id="317" r:id="rIdStage1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63568" autoAdjust="0"/>
  </p:normalViewPr>
  <p:slideViewPr>
    <p:cSldViewPr snapToGrid="0" showGuides="1">
      <p:cViewPr varScale="1">
        <p:scale>
          <a:sx n="89" d="100"/>
          <a:sy n="89" d="100"/>
        </p:scale>
        <p:origin x="792" y="8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notesMaster" Target="notesMasters/notesMaster1.xml"/><Relationship Id="rId17" Type="http://schemas.openxmlformats.org/officeDocument/2006/relationships/tableStyles" Target="tableStyles.xml"/><Relationship Id="rId16" Type="http://schemas.openxmlformats.org/officeDocument/2006/relationships/theme" Target="theme/theme1.xml"/><Relationship Id="rId1" Type="http://schemas.openxmlformats.org/officeDocument/2006/relationships/slideMaster" Target="slideMasters/slideMaster1.xml"/><Relationship Id="rId15" Type="http://schemas.openxmlformats.org/officeDocument/2006/relationships/viewProps" Target="viewProps.xml"/><Relationship Id="rId14" Type="http://schemas.openxmlformats.org/officeDocument/2006/relationships/presProps" Target="presProps.xml"/><Relationship Id="rIdStage1" Type="http://schemas.openxmlformats.org/officeDocument/2006/relationships/slide" Target="slides/slide1.xml"/><Relationship Id="rIdStage2" Type="http://schemas.openxmlformats.org/officeDocument/2006/relationships/slide" Target="slides/slide2.xml"/><Relationship Id="rIdStage3" Type="http://schemas.openxmlformats.org/officeDocument/2006/relationships/slide" Target="slides/slide3.xml"/><Relationship Id="rIdStage4" Type="http://schemas.openxmlformats.org/officeDocument/2006/relationships/slide" Target="slides/slide4.xml"/><Relationship Id="rIdStage5" Type="http://schemas.openxmlformats.org/officeDocument/2006/relationships/slide" Target="slides/slide5.xml"/><Relationship Id="rIdStage6" Type="http://schemas.openxmlformats.org/officeDocument/2006/relationships/slide" Target="slides/slide6.xml"/><Relationship Id="rIdStage7" Type="http://schemas.openxmlformats.org/officeDocument/2006/relationships/slide" Target="slides/slide7.xml"/><Relationship Id="rIdStage8" Type="http://schemas.openxmlformats.org/officeDocument/2006/relationships/slide" Target="slides/slide8.xml"/><Relationship Id="rIdStage9" Type="http://schemas.openxmlformats.org/officeDocument/2006/relationships/slide" Target="slides/slide9.xml"/><Relationship Id="rIdStage10" Type="http://schemas.openxmlformats.org/officeDocument/2006/relationships/slide" Target="slides/slide10.xml"/><Relationship Id="rIdStage11" Type="http://schemas.openxmlformats.org/officeDocument/2006/relationships/slide" Target="slides/slide11.xml"/><Relationship Id="rIdStage12" Type="http://schemas.openxmlformats.org/officeDocument/2006/relationships/slide" Target="slides/slide12.xml"/><Relationship Id="rIdStage13" Type="http://schemas.openxmlformats.org/officeDocument/2006/relationships/slide" Target="slides/slide13.xml"/><Relationship Id="rIdStage14" Type="http://schemas.openxmlformats.org/officeDocument/2006/relationships/slide" Target="slides/slide14.xml"/><Relationship Id="rIdStage15" Type="http://schemas.openxmlformats.org/officeDocument/2006/relationships/slide" Target="slides/slide15.xml"/><Relationship Id="rIdStage16" Type="http://schemas.openxmlformats.org/officeDocument/2006/relationships/slide" Target="slides/slide16.xml"/><Relationship Id="rIdStage17"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23/09/2026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mn-lt"/>
                        <a:ea typeface="+mn-ea"/>
                        <a:cs typeface="+mn-cs"/>
                      </a:rPr>
                      <m:t>𝛿</m:t>
                    </m:r>
                  </m:oMath>
                </a14:m>
                <a:r>
                  <a:rPr lang="en-NL" dirty="0"/>
                  <a:t>. As we increase </a:t>
                </a:r>
                <a14:m>
                  <m:oMath xmlns:m="http://schemas.openxmlformats.org/officeDocument/2006/math">
                    <m:r>
                      <a:rPr lang="en-NL" sz="900" i="1" kern="1200">
                        <a:solidFill>
                          <a:schemeClr val="tx1"/>
                        </a:solidFill>
                        <a:latin typeface="+mn-lt"/>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mn-lt"/>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mn-lt"/>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5</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consensus around the inner workings of the basal ganglia</a:t>
            </a:r>
          </a:p>
          <a:p>
            <a:endParaRPr lang="en-US" dirty="0"/>
          </a:p>
          <a:p>
            <a:r>
              <a:rPr lang="en-US" dirty="0"/>
              <a:t>Dit </a:t>
            </a:r>
            <a:r>
              <a:rPr lang="en-US" dirty="0" err="1"/>
              <a:t>laat</a:t>
            </a:r>
            <a:r>
              <a:rPr lang="en-US" dirty="0"/>
              <a:t> de </a:t>
            </a:r>
            <a:r>
              <a:rPr lang="en-US" dirty="0" err="1"/>
              <a:t>connectie</a:t>
            </a:r>
            <a:r>
              <a:rPr lang="en-US" dirty="0"/>
              <a:t> </a:t>
            </a:r>
            <a:r>
              <a:rPr lang="en-US" dirty="0" err="1"/>
              <a:t>tussen</a:t>
            </a:r>
            <a:r>
              <a:rPr lang="en-US" dirty="0"/>
              <a:t> de </a:t>
            </a:r>
            <a:r>
              <a:rPr lang="en-US" dirty="0" err="1"/>
              <a:t>verschillende</a:t>
            </a:r>
            <a:r>
              <a:rPr lang="en-US" dirty="0"/>
              <a:t> </a:t>
            </a:r>
            <a:r>
              <a:rPr lang="en-US" dirty="0" err="1"/>
              <a:t>neuronen</a:t>
            </a:r>
            <a:r>
              <a:rPr lang="en-US" dirty="0"/>
              <a:t> </a:t>
            </a:r>
            <a:r>
              <a:rPr lang="en-US" dirty="0" err="1"/>
              <a:t>populaties</a:t>
            </a:r>
            <a:r>
              <a:rPr lang="en-US" dirty="0"/>
              <a:t> </a:t>
            </a:r>
            <a:r>
              <a:rPr lang="en-US" dirty="0" err="1"/>
              <a:t>zien</a:t>
            </a:r>
            <a:r>
              <a:rPr lang="en-US" dirty="0"/>
              <a:t>. </a:t>
            </a:r>
            <a:r>
              <a:rPr lang="en-US" dirty="0" err="1"/>
              <a:t>Deze</a:t>
            </a:r>
            <a:r>
              <a:rPr lang="en-US" dirty="0"/>
              <a:t> </a:t>
            </a:r>
            <a:r>
              <a:rPr lang="en-US" dirty="0" err="1"/>
              <a:t>populaties</a:t>
            </a:r>
            <a:r>
              <a:rPr lang="en-US" dirty="0"/>
              <a:t> </a:t>
            </a:r>
            <a:r>
              <a:rPr lang="en-US" dirty="0" err="1"/>
              <a:t>communiceren</a:t>
            </a:r>
            <a:r>
              <a:rPr lang="en-US" dirty="0"/>
              <a:t> met </a:t>
            </a:r>
            <a:r>
              <a:rPr lang="en-US" dirty="0" err="1"/>
              <a:t>elkaar</a:t>
            </a:r>
            <a:r>
              <a:rPr lang="en-US" dirty="0"/>
              <a:t> </a:t>
            </a:r>
            <a:r>
              <a:rPr lang="en-US" dirty="0" err="1"/>
              <a:t>doormiddel</a:t>
            </a:r>
            <a:r>
              <a:rPr lang="en-US" dirty="0"/>
              <a:t> van het </a:t>
            </a:r>
            <a:r>
              <a:rPr lang="en-US" dirty="0" err="1"/>
              <a:t>sturen</a:t>
            </a:r>
            <a:r>
              <a:rPr lang="en-US" dirty="0"/>
              <a:t> van spikes </a:t>
            </a:r>
            <a:r>
              <a:rPr lang="en-US" dirty="0" err="1"/>
              <a:t>een</a:t>
            </a:r>
            <a:r>
              <a:rPr lang="en-US" dirty="0"/>
              <a:t> </a:t>
            </a:r>
            <a:r>
              <a:rPr lang="en-US" dirty="0" err="1"/>
              <a:t>kleine</a:t>
            </a:r>
            <a:r>
              <a:rPr lang="en-US" dirty="0"/>
              <a:t> Bij </a:t>
            </a:r>
            <a:r>
              <a:rPr lang="en-US" dirty="0" err="1"/>
              <a:t>patienten</a:t>
            </a:r>
            <a:r>
              <a:rPr lang="en-US" dirty="0"/>
              <a:t> met </a:t>
            </a:r>
            <a:r>
              <a:rPr lang="en-US" dirty="0" err="1"/>
              <a:t>parkinson</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563000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Title at the top">
    <p:bg>
      <p:bgPr>
        <a:solidFill>
          <a:srgbClr val="EEE8E8"/>
        </a:solidFill>
        <a:effectLst/>
      </p:bgPr>
    </p:bg>
    <p:spTree>
      <p:nvGrpSpPr>
        <p:cNvPr id="1" name=""/>
        <p:cNvGrpSpPr/>
        <p:nvPr/>
      </p:nvGrpSpPr>
      <p:grpSpPr>
        <a:xfrm>
          <a:off x="0" y="0"/>
          <a:ext cx="0" cy="0"/>
          <a:chOff x="0" y="0"/>
          <a:chExt cx="0" cy="0"/>
        </a:xfrm>
      </p:grpSpPr>
      <p:sp>
        <p:nvSpPr>
          <p:cNvPr id="10" name="Black75"/>
          <p:cNvSpPr/>
          <p:nvPr userDrawn="1"/>
        </p:nvSpPr>
        <p:spPr>
          <a:xfrm>
            <a:off x="0" y="75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756049"/>
            <a:ext cx="9143999" cy="792000"/>
          </a:xfrm>
          <a:solidFill>
            <a:schemeClr val="tx2">
              <a:alpha val="50000"/>
            </a:schemeClr>
          </a:solidFill>
        </p:spPr>
        <p:txBody>
          <a:bodyPr lIns="756000" rIns="1962000" anchor="ctr"/>
          <a:lstStyle>
            <a:lvl1pPr algn="l">
              <a:lnSpc>
                <a:spcPts val="2300"/>
              </a:lnSpc>
              <a:defRPr sz="2200" baseline="0">
                <a:solidFill>
                  <a:schemeClr val="bg1"/>
                </a:solidFill>
              </a:defRPr>
            </a:lvl1pPr>
          </a:lstStyle>
          <a:p>
            <a:r>
              <a:rPr lang="en-GB" dirty="0"/>
              <a:t>Example of a title at the top</a:t>
            </a:r>
          </a:p>
        </p:txBody>
      </p:sp>
      <p:sp>
        <p:nvSpPr>
          <p:cNvPr id="3" name="Subtitle 2"/>
          <p:cNvSpPr>
            <a:spLocks noGrp="1"/>
          </p:cNvSpPr>
          <p:nvPr>
            <p:ph type="subTitle" idx="1" hasCustomPrompt="1"/>
          </p:nvPr>
        </p:nvSpPr>
        <p:spPr>
          <a:xfrm>
            <a:off x="-1" y="1548000"/>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00"/>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1644222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Title in the middle">
    <p:spTree>
      <p:nvGrpSpPr>
        <p:cNvPr id="1" name=""/>
        <p:cNvGrpSpPr/>
        <p:nvPr/>
      </p:nvGrpSpPr>
      <p:grpSpPr>
        <a:xfrm>
          <a:off x="0" y="0"/>
          <a:ext cx="0" cy="0"/>
          <a:chOff x="0" y="0"/>
          <a:chExt cx="0" cy="0"/>
        </a:xfrm>
      </p:grpSpPr>
      <p:sp>
        <p:nvSpPr>
          <p:cNvPr id="4" name="Black75"/>
          <p:cNvSpPr/>
          <p:nvPr userDrawn="1"/>
        </p:nvSpPr>
        <p:spPr>
          <a:xfrm>
            <a:off x="0" y="183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18355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in the middle</a:t>
            </a:r>
          </a:p>
        </p:txBody>
      </p:sp>
      <p:sp>
        <p:nvSpPr>
          <p:cNvPr id="3" name="Subtitle 2"/>
          <p:cNvSpPr>
            <a:spLocks noGrp="1"/>
          </p:cNvSpPr>
          <p:nvPr>
            <p:ph type="subTitle" idx="1" hasCustomPrompt="1"/>
          </p:nvPr>
        </p:nvSpPr>
        <p:spPr>
          <a:xfrm>
            <a:off x="-1" y="2628097"/>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93110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Title at the bottom">
    <p:spTree>
      <p:nvGrpSpPr>
        <p:cNvPr id="1" name=""/>
        <p:cNvGrpSpPr/>
        <p:nvPr/>
      </p:nvGrpSpPr>
      <p:grpSpPr>
        <a:xfrm>
          <a:off x="0" y="0"/>
          <a:ext cx="0" cy="0"/>
          <a:chOff x="0" y="0"/>
          <a:chExt cx="0" cy="0"/>
        </a:xfrm>
      </p:grpSpPr>
      <p:sp>
        <p:nvSpPr>
          <p:cNvPr id="8" name="Black75"/>
          <p:cNvSpPr/>
          <p:nvPr userDrawn="1"/>
        </p:nvSpPr>
        <p:spPr>
          <a:xfrm>
            <a:off x="0" y="291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29150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at the bottom</a:t>
            </a:r>
          </a:p>
        </p:txBody>
      </p:sp>
      <p:sp>
        <p:nvSpPr>
          <p:cNvPr id="3" name="Subtitle 2"/>
          <p:cNvSpPr>
            <a:spLocks noGrp="1"/>
          </p:cNvSpPr>
          <p:nvPr>
            <p:ph type="subTitle" idx="1" hasCustomPrompt="1"/>
          </p:nvPr>
        </p:nvSpPr>
        <p:spPr>
          <a:xfrm>
            <a:off x="-1" y="3708591"/>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23749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4194838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85793"/>
            <a:ext cx="359568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Content Placeholder 3"/>
          <p:cNvSpPr>
            <a:spLocks noGrp="1"/>
          </p:cNvSpPr>
          <p:nvPr>
            <p:ph sz="half" idx="2" hasCustomPrompt="1"/>
          </p:nvPr>
        </p:nvSpPr>
        <p:spPr>
          <a:xfrm>
            <a:off x="4723606" y="1296000"/>
            <a:ext cx="3595688" cy="2933101"/>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ext Placeholder 2"/>
          <p:cNvSpPr>
            <a:spLocks noGrp="1"/>
          </p:cNvSpPr>
          <p:nvPr>
            <p:ph type="body" idx="13" hasCustomPrompt="1"/>
          </p:nvPr>
        </p:nvSpPr>
        <p:spPr>
          <a:xfrm>
            <a:off x="4714875" y="586800"/>
            <a:ext cx="3604419" cy="732238"/>
          </a:xfrm>
        </p:spPr>
        <p:txBody>
          <a:bodyPr anchor="t"/>
          <a:lstStyle>
            <a:lvl1pPr marL="0" indent="0">
              <a:buNone/>
              <a:defRPr lang="nl-NL" sz="1950" b="0" kern="1200" baseline="0" dirty="0" smtClean="0">
                <a:solidFill>
                  <a:schemeClr val="tx1"/>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enter text</a:t>
            </a:r>
          </a:p>
        </p:txBody>
      </p:sp>
    </p:spTree>
    <p:extLst>
      <p:ext uri="{BB962C8B-B14F-4D97-AF65-F5344CB8AC3E}">
        <p14:creationId xmlns:p14="http://schemas.microsoft.com/office/powerpoint/2010/main" val="168240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 text - 1/2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4714875" y="0"/>
            <a:ext cx="4429125"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981543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text - 1/3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491013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491331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6046788" y="0"/>
            <a:ext cx="3097212"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3272405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 image/movie 16:9">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wrap="none"/>
          <a:lstStyle/>
          <a:p>
            <a:r>
              <a:rPr lang="en-GB" dirty="0"/>
              <a:t>This is an example of a 27 </a:t>
            </a:r>
            <a:r>
              <a:rPr lang="en-GB" dirty="0" err="1"/>
              <a:t>pt</a:t>
            </a:r>
            <a:r>
              <a:rPr lang="en-GB" dirty="0"/>
              <a:t> headline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inhoud 9"/>
          <p:cNvSpPr>
            <a:spLocks noGrp="1" noChangeAspect="1"/>
          </p:cNvSpPr>
          <p:nvPr>
            <p:ph sz="quarter" idx="13" hasCustomPrompt="1"/>
          </p:nvPr>
        </p:nvSpPr>
        <p:spPr>
          <a:xfrm>
            <a:off x="1889125" y="1079501"/>
            <a:ext cx="5292725" cy="2977200"/>
          </a:xfrm>
        </p:spPr>
        <p:txBody>
          <a:bodyPr/>
          <a:lstStyle>
            <a:lvl1pPr>
              <a:defRPr baseline="0"/>
            </a:lvl1pPr>
          </a:lstStyle>
          <a:p>
            <a:pPr lvl="0"/>
            <a:r>
              <a:rPr lang="en-GB" dirty="0"/>
              <a:t>Click icon to insert 16x9 image or movie</a:t>
            </a:r>
          </a:p>
        </p:txBody>
      </p:sp>
      <p:sp>
        <p:nvSpPr>
          <p:cNvPr id="12" name="Tijdelijke aanduiding voor tekst 11"/>
          <p:cNvSpPr>
            <a:spLocks noGrp="1"/>
          </p:cNvSpPr>
          <p:nvPr>
            <p:ph type="body" sz="quarter" idx="14" hasCustomPrompt="1"/>
          </p:nvPr>
        </p:nvSpPr>
        <p:spPr>
          <a:xfrm>
            <a:off x="1889125" y="4106268"/>
            <a:ext cx="5292725" cy="165100"/>
          </a:xfrm>
        </p:spPr>
        <p:txBody>
          <a:bodyPr/>
          <a:lstStyle>
            <a:lvl1pPr>
              <a:defRPr sz="1100" i="1"/>
            </a:lvl1pPr>
          </a:lstStyle>
          <a:p>
            <a:pPr lvl="0"/>
            <a:r>
              <a:rPr lang="en-GB" dirty="0"/>
              <a:t>Click to insert Caption under image or movie</a:t>
            </a:r>
          </a:p>
        </p:txBody>
      </p:sp>
    </p:spTree>
    <p:extLst>
      <p:ext uri="{BB962C8B-B14F-4D97-AF65-F5344CB8AC3E}">
        <p14:creationId xmlns:p14="http://schemas.microsoft.com/office/powerpoint/2010/main" val="1938494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3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A 27pt headline on a slide with three images</a:t>
            </a:r>
            <a:endParaRPr lang="en-GB" dirty="0"/>
          </a:p>
        </p:txBody>
      </p:sp>
      <p:sp>
        <p:nvSpPr>
          <p:cNvPr id="3" name="Content Placeholder 2"/>
          <p:cNvSpPr>
            <a:spLocks noGrp="1"/>
          </p:cNvSpPr>
          <p:nvPr>
            <p:ph idx="1" hasCustomPrompt="1"/>
          </p:nvPr>
        </p:nvSpPr>
        <p:spPr>
          <a:xfrm>
            <a:off x="758824" y="1306642"/>
            <a:ext cx="2084389" cy="636458"/>
          </a:xfrm>
        </p:spPr>
        <p:txBody>
          <a:bodyPr/>
          <a:lstStyle>
            <a:lvl1pPr>
              <a:defRPr sz="1650"/>
            </a:lvl1pPr>
          </a:lstStyle>
          <a:p>
            <a:pPr lvl="0"/>
            <a:r>
              <a:rPr lang="en-GB" dirty="0"/>
              <a:t>Click to enter text</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7" name="Content Placeholder 2"/>
          <p:cNvSpPr>
            <a:spLocks noGrp="1"/>
          </p:cNvSpPr>
          <p:nvPr>
            <p:ph idx="13" hasCustomPrompt="1"/>
          </p:nvPr>
        </p:nvSpPr>
        <p:spPr>
          <a:xfrm>
            <a:off x="3490913" y="1302661"/>
            <a:ext cx="2084389" cy="636458"/>
          </a:xfrm>
        </p:spPr>
        <p:txBody>
          <a:bodyPr/>
          <a:lstStyle>
            <a:lvl1pPr>
              <a:defRPr sz="1650"/>
            </a:lvl1pPr>
          </a:lstStyle>
          <a:p>
            <a:pPr lvl="0"/>
            <a:r>
              <a:rPr lang="en-GB" dirty="0"/>
              <a:t>Click to enter text</a:t>
            </a:r>
          </a:p>
        </p:txBody>
      </p:sp>
      <p:sp>
        <p:nvSpPr>
          <p:cNvPr id="8" name="Content Placeholder 2"/>
          <p:cNvSpPr>
            <a:spLocks noGrp="1"/>
          </p:cNvSpPr>
          <p:nvPr>
            <p:ph idx="14" hasCustomPrompt="1"/>
          </p:nvPr>
        </p:nvSpPr>
        <p:spPr>
          <a:xfrm>
            <a:off x="6235414" y="1302661"/>
            <a:ext cx="2084389" cy="636458"/>
          </a:xfrm>
        </p:spPr>
        <p:txBody>
          <a:bodyPr/>
          <a:lstStyle>
            <a:lvl1pPr>
              <a:defRPr sz="1650"/>
            </a:lvl1pPr>
          </a:lstStyle>
          <a:p>
            <a:pPr lvl="0"/>
            <a:r>
              <a:rPr lang="en-GB" dirty="0"/>
              <a:t>Click to enter text</a:t>
            </a:r>
          </a:p>
        </p:txBody>
      </p:sp>
      <p:sp>
        <p:nvSpPr>
          <p:cNvPr id="10" name="Tijdelijke aanduiding voor afbeelding 9"/>
          <p:cNvSpPr>
            <a:spLocks noGrp="1"/>
          </p:cNvSpPr>
          <p:nvPr>
            <p:ph type="pic" sz="quarter" idx="15" hasCustomPrompt="1"/>
          </p:nvPr>
        </p:nvSpPr>
        <p:spPr>
          <a:xfrm>
            <a:off x="755650" y="1943101"/>
            <a:ext cx="2087563" cy="2625298"/>
          </a:xfrm>
        </p:spPr>
        <p:txBody>
          <a:bodyPr/>
          <a:lstStyle>
            <a:lvl1pPr>
              <a:defRPr baseline="0"/>
            </a:lvl1pPr>
          </a:lstStyle>
          <a:p>
            <a:r>
              <a:rPr lang="en-GB" dirty="0"/>
              <a:t>Click to insert image</a:t>
            </a:r>
          </a:p>
        </p:txBody>
      </p:sp>
      <p:sp>
        <p:nvSpPr>
          <p:cNvPr id="11" name="Tijdelijke aanduiding voor afbeelding 9"/>
          <p:cNvSpPr>
            <a:spLocks noGrp="1"/>
          </p:cNvSpPr>
          <p:nvPr>
            <p:ph type="pic" sz="quarter" idx="16" hasCustomPrompt="1"/>
          </p:nvPr>
        </p:nvSpPr>
        <p:spPr>
          <a:xfrm>
            <a:off x="3487739"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
        <p:nvSpPr>
          <p:cNvPr id="12" name="Tijdelijke aanduiding voor afbeelding 9"/>
          <p:cNvSpPr>
            <a:spLocks noGrp="1"/>
          </p:cNvSpPr>
          <p:nvPr>
            <p:ph type="pic" sz="quarter" idx="17" hasCustomPrompt="1"/>
          </p:nvPr>
        </p:nvSpPr>
        <p:spPr>
          <a:xfrm>
            <a:off x="6235414"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244920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image - 1/2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23518"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4720343"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4354513" cy="456723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p:txBody>
      </p:sp>
    </p:spTree>
    <p:extLst>
      <p:ext uri="{BB962C8B-B14F-4D97-AF65-F5344CB8AC3E}">
        <p14:creationId xmlns:p14="http://schemas.microsoft.com/office/powerpoint/2010/main" val="18872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 image - 2/3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94405" y="586800"/>
            <a:ext cx="482092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3491230" y="1295401"/>
            <a:ext cx="4824095" cy="2933700"/>
          </a:xfrm>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3022600" cy="4567238"/>
          </a:xfrm>
        </p:spPr>
        <p:txBody>
          <a:bodyPr/>
          <a:lstStyle/>
          <a:p>
            <a:r>
              <a:rPr lang="en-GB" dirty="0"/>
              <a:t>Click to insert image</a:t>
            </a:r>
          </a:p>
        </p:txBody>
      </p:sp>
    </p:spTree>
    <p:extLst>
      <p:ext uri="{BB962C8B-B14F-4D97-AF65-F5344CB8AC3E}">
        <p14:creationId xmlns:p14="http://schemas.microsoft.com/office/powerpoint/2010/main" val="68122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ing + full screen dark image">
    <p:bg>
      <p:bgPr>
        <a:solidFill>
          <a:schemeClr val="bg1">
            <a:lumMod val="6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bg1"/>
                </a:solidFill>
              </a:defRPr>
            </a:lvl1pPr>
          </a:lstStyle>
          <a:p>
            <a:r>
              <a:rPr lang="en-GB" dirty="0"/>
              <a:t>This is an example of a white headline on a full screen, dark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77015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ing + full screen light imag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full screen, light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69683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hite backgroun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white background</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cxnSp>
        <p:nvCxnSpPr>
          <p:cNvPr id="7" name="Rechte verbindingslijn 6"/>
          <p:cNvCxnSpPr/>
          <p:nvPr userDrawn="1"/>
        </p:nvCxnSpPr>
        <p:spPr>
          <a:xfrm>
            <a:off x="0" y="4563782"/>
            <a:ext cx="91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jdelijke aanduiding voor afbeelding 8"/>
          <p:cNvSpPr>
            <a:spLocks noGrp="1"/>
          </p:cNvSpPr>
          <p:nvPr>
            <p:ph type="pic" sz="quarter" idx="13" hasCustomPrompt="1"/>
          </p:nvPr>
        </p:nvSpPr>
        <p:spPr>
          <a:xfrm>
            <a:off x="1890000" y="1299075"/>
            <a:ext cx="5292725" cy="2977200"/>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3881866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Scarlet backgroun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533965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US" dirty="0"/>
              <a:t>Sample slide with table and text</a:t>
            </a:r>
            <a:endParaRPr lang="en-GB" dirty="0"/>
          </a:p>
        </p:txBody>
      </p:sp>
      <p:sp>
        <p:nvSpPr>
          <p:cNvPr id="3" name="Content Placeholder 2"/>
          <p:cNvSpPr>
            <a:spLocks noGrp="1"/>
          </p:cNvSpPr>
          <p:nvPr>
            <p:ph sz="half" idx="1" hasCustomPrompt="1"/>
          </p:nvPr>
        </p:nvSpPr>
        <p:spPr>
          <a:xfrm>
            <a:off x="755651" y="2638425"/>
            <a:ext cx="7563556" cy="1590675"/>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8" name="Tijdelijke aanduiding voor tabel 7"/>
          <p:cNvSpPr>
            <a:spLocks noGrp="1"/>
          </p:cNvSpPr>
          <p:nvPr>
            <p:ph type="tbl" sz="quarter" idx="13" hasCustomPrompt="1"/>
          </p:nvPr>
        </p:nvSpPr>
        <p:spPr>
          <a:xfrm>
            <a:off x="755650" y="1079501"/>
            <a:ext cx="7559675" cy="1152000"/>
          </a:xfrm>
        </p:spPr>
        <p:txBody>
          <a:bodyPr/>
          <a:lstStyle>
            <a:lvl1pPr>
              <a:defRPr/>
            </a:lvl1pPr>
          </a:lstStyle>
          <a:p>
            <a:r>
              <a:rPr lang="en-GB" dirty="0"/>
              <a:t>Click to insert table</a:t>
            </a:r>
          </a:p>
        </p:txBody>
      </p:sp>
    </p:spTree>
    <p:extLst>
      <p:ext uri="{BB962C8B-B14F-4D97-AF65-F5344CB8AC3E}">
        <p14:creationId xmlns:p14="http://schemas.microsoft.com/office/powerpoint/2010/main" val="2399389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GB" dirty="0"/>
              <a:t>Example chart</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ijdelijke aanduiding voor grafiek 8"/>
          <p:cNvSpPr>
            <a:spLocks noGrp="1"/>
          </p:cNvSpPr>
          <p:nvPr>
            <p:ph type="chart" sz="quarter" idx="13" hasCustomPrompt="1"/>
          </p:nvPr>
        </p:nvSpPr>
        <p:spPr>
          <a:xfrm>
            <a:off x="755650" y="1079500"/>
            <a:ext cx="7559675" cy="3149600"/>
          </a:xfrm>
        </p:spPr>
        <p:txBody>
          <a:bodyPr/>
          <a:lstStyle>
            <a:lvl1pPr>
              <a:defRPr/>
            </a:lvl1pPr>
          </a:lstStyle>
          <a:p>
            <a:r>
              <a:rPr lang="en-GB" dirty="0"/>
              <a:t>Click to insert chart</a:t>
            </a:r>
          </a:p>
        </p:txBody>
      </p:sp>
    </p:spTree>
    <p:extLst>
      <p:ext uri="{BB962C8B-B14F-4D97-AF65-F5344CB8AC3E}">
        <p14:creationId xmlns:p14="http://schemas.microsoft.com/office/powerpoint/2010/main" val="4202347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8E8"/>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2" y="4568400"/>
            <a:ext cx="1114424" cy="572286"/>
          </a:xfrm>
          <a:prstGeom prst="rect">
            <a:avLst/>
          </a:prstGeom>
          <a:solidFill>
            <a:schemeClr val="bg1"/>
          </a:solidFill>
        </p:spPr>
        <p:txBody>
          <a:bodyPr vert="horz" lIns="756000" tIns="0" rIns="0" bIns="0" rtlCol="0" anchor="ctr"/>
          <a:lstStyle>
            <a:lvl1pPr algn="l">
              <a:defRPr sz="1100" b="0">
                <a:solidFill>
                  <a:schemeClr val="tx1"/>
                </a:solidFill>
              </a:defRPr>
            </a:lvl1pPr>
          </a:lstStyle>
          <a:p>
            <a:fld id="{C194BDB0-F4EA-4DD6-8281-CCE2440D0CE0}" type="slidenum">
              <a:rPr lang="en-GB" smtClean="0"/>
              <a:pPr/>
              <a:t>‹#›</a:t>
            </a:fld>
            <a:endParaRPr lang="en-GB" dirty="0"/>
          </a:p>
        </p:txBody>
      </p:sp>
      <p:sp>
        <p:nvSpPr>
          <p:cNvPr id="2" name="Title Placeholder 1"/>
          <p:cNvSpPr>
            <a:spLocks noGrp="1"/>
          </p:cNvSpPr>
          <p:nvPr>
            <p:ph type="title"/>
          </p:nvPr>
        </p:nvSpPr>
        <p:spPr>
          <a:xfrm>
            <a:off x="758825" y="518711"/>
            <a:ext cx="7556500" cy="539038"/>
          </a:xfrm>
          <a:prstGeom prst="rect">
            <a:avLst/>
          </a:prstGeom>
        </p:spPr>
        <p:txBody>
          <a:bodyPr vert="horz" lIns="0" tIns="0" rIns="0" bIns="0" rtlCol="0" anchor="t" anchorCtr="0">
            <a:noAutofit/>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Text Placeholder 2"/>
          <p:cNvSpPr>
            <a:spLocks noGrp="1"/>
          </p:cNvSpPr>
          <p:nvPr>
            <p:ph type="body" idx="1"/>
          </p:nvPr>
        </p:nvSpPr>
        <p:spPr>
          <a:xfrm>
            <a:off x="758824" y="1306642"/>
            <a:ext cx="7556501" cy="2922458"/>
          </a:xfrm>
          <a:prstGeom prst="rect">
            <a:avLst/>
          </a:prstGeom>
        </p:spPr>
        <p:txBody>
          <a:bodyPr vert="horz" lIns="0" tIns="0" rIns="0" bIns="0" rtlCol="0">
            <a:noAutofit/>
          </a:bodyPr>
          <a:lstStyle/>
          <a:p>
            <a:pPr lvl="0"/>
            <a:r>
              <a:rPr lang="en-GB" dirty="0" err="1"/>
              <a:t>Klik</a:t>
            </a:r>
            <a:r>
              <a:rPr lang="en-GB" dirty="0"/>
              <a:t> om de </a:t>
            </a:r>
            <a:r>
              <a:rPr lang="en-GB" dirty="0" err="1"/>
              <a:t>modelstijlen</a:t>
            </a:r>
            <a:r>
              <a:rPr lang="en-GB" dirty="0"/>
              <a:t> </a:t>
            </a:r>
            <a:r>
              <a:rPr lang="en-GB" dirty="0" err="1"/>
              <a:t>te</a:t>
            </a:r>
            <a:r>
              <a:rPr lang="en-GB" dirty="0"/>
              <a:t> </a:t>
            </a:r>
            <a:r>
              <a:rPr lang="en-GB" dirty="0" err="1"/>
              <a:t>bewerken</a:t>
            </a:r>
            <a:endParaRPr lang="en-GB" dirty="0"/>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Footer Placeholder 4"/>
          <p:cNvSpPr>
            <a:spLocks noGrp="1"/>
          </p:cNvSpPr>
          <p:nvPr>
            <p:ph type="ftr" sz="quarter" idx="3"/>
          </p:nvPr>
        </p:nvSpPr>
        <p:spPr>
          <a:xfrm>
            <a:off x="1114426" y="4568400"/>
            <a:ext cx="7042149" cy="576000"/>
          </a:xfrm>
          <a:prstGeom prst="rect">
            <a:avLst/>
          </a:prstGeom>
          <a:solidFill>
            <a:schemeClr val="bg1"/>
          </a:solidFill>
        </p:spPr>
        <p:txBody>
          <a:bodyPr vert="horz" lIns="0" tIns="0" rIns="0" bIns="0" rtlCol="0" anchor="ctr"/>
          <a:lstStyle>
            <a:lvl1pPr algn="l">
              <a:defRPr sz="1100" b="0">
                <a:solidFill>
                  <a:schemeClr val="tx1"/>
                </a:solidFill>
              </a:defRPr>
            </a:lvl1pPr>
          </a:lstStyle>
          <a:p>
            <a:r>
              <a:rPr lang="nb-NO"/>
              <a:t>Msc Defence T.M. Lenssen</a:t>
            </a:r>
            <a:endParaRPr lang="en-GB" dirty="0"/>
          </a:p>
        </p:txBody>
      </p:sp>
      <p:pic>
        <p:nvPicPr>
          <p:cNvPr id="66" name="Picture 4">
            <a:extLst>
              <a:ext uri="{FF2B5EF4-FFF2-40B4-BE49-F238E27FC236}">
                <a16:creationId xmlns:a16="http://schemas.microsoft.com/office/drawing/2014/main" id="{93FD69BB-9D62-3A4C-8433-C5954D52BB6F}"/>
              </a:ext>
            </a:extLst>
          </p:cNvPr>
          <p:cNvPicPr>
            <a:picLocks noChangeAspect="1"/>
          </p:cNvPicPr>
          <p:nvPr userDrawn="1"/>
        </p:nvPicPr>
        <p:blipFill>
          <a:blip r:embed="rId19"/>
          <a:stretch>
            <a:fillRect/>
          </a:stretch>
        </p:blipFill>
        <p:spPr>
          <a:xfrm>
            <a:off x="8156575" y="4568825"/>
            <a:ext cx="987425" cy="574675"/>
          </a:xfrm>
          <a:prstGeom prst="rect">
            <a:avLst/>
          </a:prstGeom>
        </p:spPr>
      </p:pic>
    </p:spTree>
    <p:extLst>
      <p:ext uri="{BB962C8B-B14F-4D97-AF65-F5344CB8AC3E}">
        <p14:creationId xmlns:p14="http://schemas.microsoft.com/office/powerpoint/2010/main" val="242279190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ts val="2700"/>
        </a:lnSpc>
        <a:spcBef>
          <a:spcPct val="0"/>
        </a:spcBef>
        <a:buNone/>
        <a:defRPr sz="2700" b="1" kern="120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1950" kern="120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s>
</file>

<file path=ppt/slides/_rels/slide3.xml.rels><?xml version="1.0" encoding="utf-8"?><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gi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g"/></Relationships>
</file>

<file path=ppt/slides/_rels/slide4.xml.rels><?xml version="1.0" encoding="utf-8"?><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7.xml.rels><?xml version="1.0" encoding="utf-8"?><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8.xml.rels><?xml version="1.0" encoding="utf-8"?><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9.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0.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0.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1.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1.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2.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2.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3.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3.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4.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4.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5.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5.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p:txBody>
          <a:bodyPr/>
          <a:lstStyle/>
          <a:p>
            <a:r>
              <a:rPr lang="en-GB" dirty="0"/>
              <a:t>Dual Integral Quadratic Constraints for Robust Control of Partial Integral Equations </a:t>
            </a:r>
          </a:p>
        </p:txBody>
      </p:sp>
      <p:sp>
        <p:nvSpPr>
          <p:cNvPr id="7" name="Ondertitel 6"/>
          <p:cNvSpPr>
            <a:spLocks noGrp="1"/>
          </p:cNvSpPr>
          <p:nvPr>
            <p:ph type="subTitle" idx="1"/>
          </p:nvPr>
        </p:nvSpPr>
        <p:spPr/>
        <p:txBody>
          <a:bodyPr/>
          <a:lstStyle/>
          <a:p>
            <a:r>
              <a:rPr lang="en-GB" dirty="0"/>
              <a:t>An engineering overview</a:t>
            </a:r>
          </a:p>
        </p:txBody>
      </p:sp>
      <p:sp>
        <p:nvSpPr>
          <p:cNvPr id="8" name="Tijdelijke aanduiding voor tekst 7"/>
          <p:cNvSpPr>
            <a:spLocks noGrp="1"/>
          </p:cNvSpPr>
          <p:nvPr>
            <p:ph type="body" sz="quarter" idx="13"/>
          </p:nvPr>
        </p:nvSpPr>
        <p:spPr/>
        <p:txBody>
          <a:bodyPr/>
          <a:lstStyle/>
          <a:p>
            <a:r>
              <a:rPr lang="en-GB" dirty="0"/>
              <a:t>T.M. Lenssen – supervisor: Amritam Das</a:t>
            </a:r>
          </a:p>
        </p:txBody>
      </p:sp>
      <p:sp>
        <p:nvSpPr>
          <p:cNvPr id="9" name="Tijdelijke aanduiding voor tekst 8"/>
          <p:cNvSpPr>
            <a:spLocks noGrp="1"/>
          </p:cNvSpPr>
          <p:nvPr>
            <p:ph type="body" sz="quarter" idx="14"/>
          </p:nvPr>
        </p:nvSpPr>
        <p:spPr/>
        <p:txBody>
          <a:bodyPr/>
          <a:lstStyle/>
          <a:p>
            <a:r>
              <a:rPr lang="en-GB" dirty="0"/>
              <a:t>CS – System &amp; Control / 30-09-2026</a:t>
            </a:r>
          </a:p>
        </p:txBody>
      </p:sp>
    </p:spTree>
    <p:extLst>
      <p:ext uri="{BB962C8B-B14F-4D97-AF65-F5344CB8AC3E}">
        <p14:creationId xmlns:p14="http://schemas.microsoft.com/office/powerpoint/2010/main" val="13470964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578181" y="588714"/>
            <a:ext cx="3595688" cy="732238"/>
          </a:xfrm>
        </p:spPr>
        <p:txBody>
          <a:bodyPr/>
          <a:lstStyle/>
          <a:p>
            <a:r>
              <a:rPr lang="en-US" b="1" dirty="0"/>
              <a:t>Rigid body representation</a:t>
            </a:r>
            <a:br>
              <a:rPr lang="en-US" dirty="0"/>
            </a:br>
            <a:r>
              <a:rPr lang="en-US" dirty="0"/>
              <a:t>Ordinary Differential Equation (ODE)</a:t>
            </a:r>
            <a:endParaRPr lang="en-NL" dirty="0"/>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p:txBody>
          <a:bodyPr/>
          <a:lstStyle/>
          <a:p>
            <a:fld id="{C194BDB0-F4EA-4DD6-8281-CCE2440D0CE0}" type="slidenum">
              <a:rPr lang="en-GB" smtClean="0"/>
              <a:t>2</a:t>
            </a:fld>
            <a:endParaRPr lang="en-GB" dirty="0"/>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p:txBody>
          <a:bodyPr/>
          <a:lstStyle/>
          <a:p>
            <a:r>
              <a:rPr lang="en-US" b="1" dirty="0"/>
              <a:t>Flexible body representation</a:t>
            </a:r>
            <a:endParaRPr lang="en-US" dirty="0"/>
          </a:p>
          <a:p>
            <a:r>
              <a:rPr lang="en-US" dirty="0"/>
              <a:t>Partial Differential Equation (PDE)</a:t>
            </a:r>
            <a:endParaRPr lang="en-NL" dirty="0"/>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p:ph sz="half" idx="1"/>
            <a:videoFile r:link="rId2"/>
            <p:extLst>
              <p:ext uri="{DAA4B4D4-6D71-4841-9C94-3DE7FCFB9230}">
                <p14:media xmlns:p14="http://schemas.microsoft.com/office/powerpoint/2010/main" r:embed="rId1"/>
              </p:ext>
            </p:extLst>
          </p:nvPr>
        </p:nvPicPr>
        <p:blipFill>
          <a:blip r:embed="rId7"/>
          <a:stretch>
            <a:fillRect/>
          </a:stretch>
        </p:blipFill>
        <p:spPr>
          <a:xfrm>
            <a:off x="755650" y="1749425"/>
            <a:ext cx="3598863" cy="2024063"/>
          </a:xfr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p:ph sz="half" idx="2"/>
            <a:videoFile r:link="rId4"/>
            <p:extLst>
              <p:ext uri="{DAA4B4D4-6D71-4841-9C94-3DE7FCFB9230}">
                <p14:media xmlns:p14="http://schemas.microsoft.com/office/powerpoint/2010/main" r:embed="rId3"/>
              </p:ext>
            </p:extLst>
          </p:nvPr>
        </p:nvPicPr>
        <p:blipFill>
          <a:blip r:embed="rId8"/>
          <a:stretch>
            <a:fillRect/>
          </a:stretch>
        </p:blipFill>
        <p:spPr>
          <a:xfrm>
            <a:off x="4722813" y="1749425"/>
            <a:ext cx="3597275" cy="2024063"/>
          </a:xfrm>
        </p:spPr>
      </p:pic>
    </p:spTree>
    <p:extLst>
      <p:ext uri="{BB962C8B-B14F-4D97-AF65-F5344CB8AC3E}">
        <p14:creationId xmlns:p14="http://schemas.microsoft.com/office/powerpoint/2010/main" val="3822285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p:txBody>
          <a:bodyPr/>
          <a:lstStyle/>
          <a:p>
            <a:r>
              <a:rPr lang="nb-NO"/>
              <a:t>Msc Defence T.M. Lenssen</a:t>
            </a:r>
            <a:endParaRPr lang="en-GB" dirty="0"/>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p:txBody>
          <a:bodyPr/>
          <a:lstStyle/>
          <a:p>
            <a:fld id="{C194BDB0-F4EA-4DD6-8281-CCE2440D0CE0}" type="slidenum">
              <a:rPr lang="en-GB" smtClean="0"/>
              <a:t>3</a:t>
            </a:fld>
            <a:endParaRPr lang="en-GB" dirty="0"/>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79420" y="731106"/>
            <a:ext cx="3063532" cy="1721084"/>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79420" y="242803"/>
            <a:ext cx="3063532" cy="369332"/>
          </a:xfrm>
          <a:prstGeom prst="rect">
            <a:avLst/>
          </a:prstGeom>
          <a:noFill/>
        </p:spPr>
        <p:txBody>
          <a:bodyPr wrap="square" rtlCol="0">
            <a:spAutoFit/>
          </a:bodyPr>
          <a:lstStyle/>
          <a:p>
            <a:pPr algn="ctr"/>
            <a:r>
              <a:rPr lang="en-US" sz="1800" b="1" dirty="0"/>
              <a:t>ASML wafer stage</a:t>
            </a:r>
            <a:endParaRPr lang="en-NL" sz="1800" b="1" dirty="0"/>
          </a:p>
        </p:txBody>
      </p:sp>
      <p:sp>
        <p:nvSpPr>
          <p:cNvPr id="18" name="TextBox 17">
            <a:extLst>
              <a:ext uri="{FF2B5EF4-FFF2-40B4-BE49-F238E27FC236}">
                <a16:creationId xmlns:a16="http://schemas.microsoft.com/office/drawing/2014/main" id="{1439CADF-05D4-7D60-D962-6667713AE717}"/>
              </a:ext>
            </a:extLst>
          </p:cNvPr>
          <p:cNvSpPr txBox="1"/>
          <p:nvPr/>
        </p:nvSpPr>
        <p:spPr>
          <a:xfrm>
            <a:off x="3103734" y="242803"/>
            <a:ext cx="3063532" cy="369332"/>
          </a:xfrm>
          <a:prstGeom prst="rect">
            <a:avLst/>
          </a:prstGeom>
          <a:noFill/>
        </p:spPr>
        <p:txBody>
          <a:bodyPr wrap="square" rtlCol="0">
            <a:spAutoFit/>
          </a:bodyPr>
          <a:lstStyle/>
          <a:p>
            <a:pPr algn="ctr"/>
            <a:r>
              <a:rPr lang="en-US" sz="1800" b="1" dirty="0"/>
              <a:t>Canon Production Printing</a:t>
            </a:r>
            <a:endParaRPr lang="en-NL" sz="1800" b="1" dirty="0"/>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206850" y="761797"/>
            <a:ext cx="3063532" cy="1724832"/>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167266" y="242803"/>
            <a:ext cx="3063532" cy="369332"/>
          </a:xfrm>
          <a:prstGeom prst="rect">
            <a:avLst/>
          </a:prstGeom>
          <a:noFill/>
        </p:spPr>
        <p:txBody>
          <a:bodyPr wrap="square" rtlCol="0">
            <a:spAutoFit/>
          </a:bodyPr>
          <a:lstStyle/>
          <a:p>
            <a:pPr algn="ctr"/>
            <a:r>
              <a:rPr lang="en-US" sz="1800" b="1" dirty="0"/>
              <a:t>Parkinsons Disease</a:t>
            </a:r>
            <a:endParaRPr lang="en-NL" sz="1800" b="1" dirty="0"/>
          </a:p>
        </p:txBody>
      </p:sp>
      <p:pic>
        <p:nvPicPr>
          <p:cNvPr id="24" name="Picture 23" descr="basal ganglia 1">
            <a:extLst>
              <a:ext uri="{FF2B5EF4-FFF2-40B4-BE49-F238E27FC236}">
                <a16:creationId xmlns:a16="http://schemas.microsoft.com/office/drawing/2014/main" id="{A6E636D6-25C1-A448-E6C2-44FBF9AB74C9}"/>
              </a:ext>
            </a:extLst>
          </p:cNvPr>
          <p:cNvPicPr>
            <a:picLocks noChangeAspect="1"/>
          </p:cNvPicPr>
          <p:nvPr/>
        </p:nvPicPr>
        <p:blipFill>
          <a:blip r:embed="rId5"/>
          <a:stretch>
            <a:fillRect/>
          </a:stretch>
        </p:blipFill>
        <p:spPr>
          <a:xfrm>
            <a:off x="6334280" y="770298"/>
            <a:ext cx="2730300" cy="27303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462978" y="3585293"/>
            <a:ext cx="2642839" cy="300082"/>
          </a:xfrm>
          <a:prstGeom prst="rect">
            <a:avLst/>
          </a:prstGeom>
          <a:noFill/>
        </p:spPr>
        <p:txBody>
          <a:bodyPr wrap="none" rtlCol="0">
            <a:spAutoFit/>
          </a:bodyPr>
          <a:lstStyle/>
          <a:p>
            <a:r>
              <a:rPr lang="en-US" dirty="0"/>
              <a:t>Diffusion-Reaction Equations (PDE)</a:t>
            </a:r>
            <a:endParaRPr lang="en-NL" dirty="0"/>
          </a:p>
        </p:txBody>
      </p:sp>
      <p:sp>
        <p:nvSpPr>
          <p:cNvPr id="26" name="TextBox 25">
            <a:extLst>
              <a:ext uri="{FF2B5EF4-FFF2-40B4-BE49-F238E27FC236}">
                <a16:creationId xmlns:a16="http://schemas.microsoft.com/office/drawing/2014/main" id="{2F1903D6-4357-9D9B-6625-8DD12CD399A3}"/>
              </a:ext>
            </a:extLst>
          </p:cNvPr>
          <p:cNvSpPr txBox="1"/>
          <p:nvPr/>
        </p:nvSpPr>
        <p:spPr>
          <a:xfrm>
            <a:off x="6631079" y="3584376"/>
            <a:ext cx="2174378" cy="507831"/>
          </a:xfrm>
          <a:prstGeom prst="rect">
            <a:avLst/>
          </a:prstGeom>
          <a:noFill/>
        </p:spPr>
        <p:txBody>
          <a:bodyPr wrap="none" rtlCol="0">
            <a:spAutoFit/>
          </a:bodyPr>
          <a:lstStyle/>
          <a:p>
            <a:r>
              <a:rPr lang="en-US" dirty="0"/>
              <a:t>Differential Delay Equations </a:t>
            </a:r>
          </a:p>
          <a:p>
            <a:r>
              <a:rPr lang="en-US" dirty="0"/>
              <a:t>(DDE -&gt; PDE)</a:t>
            </a:r>
            <a:endParaRPr lang="en-NL" dirty="0"/>
          </a:p>
        </p:txBody>
      </p:sp>
      <p:sp>
        <p:nvSpPr>
          <p:cNvPr id="27" name="TextBox 26">
            <a:extLst>
              <a:ext uri="{FF2B5EF4-FFF2-40B4-BE49-F238E27FC236}">
                <a16:creationId xmlns:a16="http://schemas.microsoft.com/office/drawing/2014/main" id="{B3155AC1-FC2D-454D-38A1-B2C4E5F12CF3}"/>
              </a:ext>
            </a:extLst>
          </p:cNvPr>
          <p:cNvSpPr txBox="1"/>
          <p:nvPr/>
        </p:nvSpPr>
        <p:spPr>
          <a:xfrm>
            <a:off x="557214" y="3584376"/>
            <a:ext cx="2205091" cy="300082"/>
          </a:xfrm>
          <a:prstGeom prst="rect">
            <a:avLst/>
          </a:prstGeom>
          <a:noFill/>
        </p:spPr>
        <p:txBody>
          <a:bodyPr wrap="none" rtlCol="0">
            <a:spAutoFit/>
          </a:bodyPr>
          <a:lstStyle/>
          <a:p>
            <a:r>
              <a:rPr lang="en-US" dirty="0"/>
              <a:t>Wave/beam equations (PDE)</a:t>
            </a:r>
            <a:endParaRPr lang="en-NL" dirty="0"/>
          </a:p>
        </p:txBody>
      </p:sp>
      <p:pic>
        <p:nvPicPr>
          <p:cNvPr id="29" name="Picture 28">
            <a:extLst>
              <a:ext uri="{FF2B5EF4-FFF2-40B4-BE49-F238E27FC236}">
                <a16:creationId xmlns:a16="http://schemas.microsoft.com/office/drawing/2014/main" id="{AAE4B616-1EB2-3538-1878-10B55C2CE316}"/>
              </a:ext>
            </a:extLst>
          </p:cNvPr>
          <p:cNvPicPr>
            <a:picLocks noChangeAspect="1"/>
          </p:cNvPicPr>
          <p:nvPr/>
        </p:nvPicPr>
        <p:blipFill>
          <a:blip r:embed="rId6"/>
          <a:stretch>
            <a:fillRect/>
          </a:stretch>
        </p:blipFill>
        <p:spPr>
          <a:xfrm>
            <a:off x="3206850" y="2451057"/>
            <a:ext cx="3063532" cy="1023530"/>
          </a:xfrm>
          <a:prstGeom prst="rect">
            <a:avLst/>
          </a:prstGeom>
        </p:spPr>
      </p:pic>
      <p:pic>
        <p:nvPicPr>
          <p:cNvPr id="31" name="Picture 30">
            <a:extLst>
              <a:ext uri="{FF2B5EF4-FFF2-40B4-BE49-F238E27FC236}">
                <a16:creationId xmlns:a16="http://schemas.microsoft.com/office/drawing/2014/main" id="{DAAC8EA2-C55F-BCFB-1194-292E0CC634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34280" y="799017"/>
            <a:ext cx="2905249" cy="2163805"/>
          </a:xfrm>
          <a:prstGeom prst="rect">
            <a:avLst/>
          </a:prstGeom>
        </p:spPr>
      </p:pic>
    </p:spTree>
    <p:extLst>
      <p:ext uri="{BB962C8B-B14F-4D97-AF65-F5344CB8AC3E}">
        <p14:creationId xmlns:p14="http://schemas.microsoft.com/office/powerpoint/2010/main" val="1516338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p:txBody>
          <a:bodyPr/>
          <a:lstStyle/>
          <a:p>
            <a:r>
              <a:rPr lang="en-US" b="1" dirty="0"/>
              <a:t>Partial Integral Equations</a:t>
            </a:r>
            <a:endParaRPr lang="en-NL" b="1" dirty="0"/>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755650" y="1032734"/>
            <a:ext cx="3598863" cy="3196367"/>
          </a:xfrm>
        </p:spPr>
        <p:txBody>
          <a:bodyPr/>
          <a:lstStyle/>
          <a:p>
            <a:pPr marL="342900" indent="-342900">
              <a:buFont typeface="Arial" panose="020B0604020202020204" pitchFamily="34" charset="0"/>
              <a:buChar char="•"/>
            </a:pPr>
            <a:r>
              <a:rPr lang="en-US" dirty="0"/>
              <a:t>Equivalent dynamics</a:t>
            </a:r>
          </a:p>
          <a:p>
            <a:pPr marL="342900" indent="-342900">
              <a:buFont typeface="Arial" panose="020B0604020202020204" pitchFamily="34" charset="0"/>
              <a:buChar char="•"/>
            </a:pPr>
            <a:r>
              <a:rPr lang="en-US" dirty="0"/>
              <a:t>Built in boundary conditions</a:t>
            </a:r>
          </a:p>
          <a:p>
            <a:pPr marL="342900" indent="-342900">
              <a:buFont typeface="Arial" panose="020B0604020202020204" pitchFamily="34" charset="0"/>
              <a:buChar char="•"/>
            </a:pPr>
            <a:r>
              <a:rPr lang="en-US" dirty="0"/>
              <a:t>Bounded operators</a:t>
            </a:r>
          </a:p>
          <a:p>
            <a:pPr marL="342900" indent="-342900">
              <a:buFont typeface="Arial" panose="020B0604020202020204" pitchFamily="34" charset="0"/>
              <a:buChar char="•"/>
            </a:pPr>
            <a:r>
              <a:rPr lang="en-US" b="1" u="sng" dirty="0"/>
              <a:t>Matrix-like algebra</a:t>
            </a:r>
          </a:p>
          <a:p>
            <a:pPr marL="342900" indent="-342900">
              <a:buFont typeface="Arial" panose="020B0604020202020204" pitchFamily="34" charset="0"/>
              <a:buChar char="•"/>
            </a:pPr>
            <a:r>
              <a:rPr lang="en-US" b="1" u="sng" dirty="0"/>
              <a:t>LMI-like computations</a:t>
            </a:r>
          </a:p>
          <a:p>
            <a:pPr marL="342900" indent="-342900">
              <a:buFont typeface="Arial" panose="020B0604020202020204" pitchFamily="34" charset="0"/>
              <a:buChar char="•"/>
            </a:pPr>
            <a:r>
              <a:rPr lang="en-US" dirty="0"/>
              <a:t>Controller synthesis for linear systems…..</a:t>
            </a:r>
            <a:endParaRPr lang="en-NL" dirty="0"/>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p:txBody>
          <a:bodyPr/>
          <a:lstStyle/>
          <a:p>
            <a:r>
              <a:rPr lang="nb-NO" dirty="0"/>
              <a:t>Msc Defence T.M. Lenssen</a:t>
            </a:r>
            <a:endParaRPr lang="en-GB" dirty="0"/>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p:txBody>
          <a:bodyPr/>
          <a:lstStyle/>
          <a:p>
            <a:fld id="{C194BDB0-F4EA-4DD6-8281-CCE2440D0CE0}" type="slidenum">
              <a:rPr lang="en-GB" smtClean="0"/>
              <a:t>4</a:t>
            </a:fld>
            <a:endParaRPr lang="en-GB" dirty="0"/>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4354513" y="586800"/>
            <a:ext cx="1533525" cy="10038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ODE-PDE</a:t>
            </a:r>
            <a:endParaRPr lang="en-NL" sz="2400" dirty="0"/>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069138" y="586800"/>
            <a:ext cx="1533525" cy="10038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PIE</a:t>
            </a:r>
            <a:endParaRPr lang="en-NL" sz="2400" dirty="0"/>
          </a:p>
        </p:txBody>
      </p:sp>
      <p:sp>
        <p:nvSpPr>
          <p:cNvPr id="14" name="Arrow: Left-Right 13">
            <a:extLst>
              <a:ext uri="{FF2B5EF4-FFF2-40B4-BE49-F238E27FC236}">
                <a16:creationId xmlns:a16="http://schemas.microsoft.com/office/drawing/2014/main" id="{A23F5219-74E1-ACD0-29BD-58B5CE4B6421}"/>
              </a:ext>
            </a:extLst>
          </p:cNvPr>
          <p:cNvSpPr/>
          <p:nvPr/>
        </p:nvSpPr>
        <p:spPr>
          <a:xfrm>
            <a:off x="6172200" y="960360"/>
            <a:ext cx="609600" cy="256756"/>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6067978" y="1390621"/>
            <a:ext cx="818044" cy="400110"/>
          </a:xfrm>
          <a:prstGeom prst="rect">
            <a:avLst/>
          </a:prstGeom>
          <a:noFill/>
        </p:spPr>
        <p:txBody>
          <a:bodyPr wrap="none" rtlCol="0">
            <a:spAutoFit/>
          </a:bodyPr>
          <a:lstStyle/>
          <a:p>
            <a:r>
              <a:rPr lang="en-US" sz="2000" dirty="0">
                <a:solidFill>
                  <a:srgbClr val="FF0000"/>
                </a:solidFill>
              </a:rPr>
              <a:t>Exact!</a:t>
            </a:r>
            <a:endParaRPr lang="en-NL" dirty="0">
              <a:solidFill>
                <a:srgbClr val="FF0000"/>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4421854" y="1788615"/>
                <a:ext cx="1250599" cy="629852"/>
              </a:xfrm>
              <a:prstGeom prst="rect">
                <a:avLst/>
              </a:prstGeom>
              <a:noFill/>
            </p:spPr>
            <p:txBody>
              <a:bodyPr wrap="none" lIns="0" tIns="0" rIns="0" bIns="0"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𝑇</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oMath>
                  </m:oMathPara>
                </a14:m>
                <a:endParaRPr lang="en-US" b="0" i="1" dirty="0">
                  <a:latin typeface="Cambria Math" panose="02040503050406030204" pitchFamily="18" charset="0"/>
                </a:endParaRPr>
              </a:p>
              <a:p>
                <a:pPr/>
                <a14:m>
                  <m:oMathPara xmlns:m="http://schemas.openxmlformats.org/officeDocument/2006/math">
                    <m:o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,0</m:t>
                          </m:r>
                        </m:e>
                      </m:d>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US" b="0" i="1" dirty="0">
                  <a:latin typeface="Cambria Math" panose="02040503050406030204" pitchFamily="18" charset="0"/>
                </a:endParaRPr>
              </a:p>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𝑠</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,0</m:t>
                          </m:r>
                        </m:e>
                      </m:d>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m:t>
                      </m:r>
                    </m:oMath>
                  </m:oMathPara>
                </a14:m>
                <a:endParaRPr lang="en-NL"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4421854" y="1788615"/>
                <a:ext cx="1250599" cy="629852"/>
              </a:xfrm>
              <a:prstGeom prst="rect">
                <a:avLst/>
              </a:prstGeom>
              <a:blipFill>
                <a:blip r:embed="rId3"/>
                <a:stretch>
                  <a:fillRect l="-2913" t="-3846" r="-1456" b="-1057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7065962" y="1784863"/>
                <a:ext cx="1952625" cy="948529"/>
              </a:xfrm>
              <a:prstGeom prst="rect">
                <a:avLst/>
              </a:prstGeom>
              <a:noFill/>
            </p:spPr>
            <p:txBody>
              <a:bodyPr wrap="square"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a:rPr lang="en-US" b="0" i="1" smtClean="0">
                              <a:solidFill>
                                <a:srgbClr val="00B050"/>
                              </a:solidFill>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𝑠</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a:rPr lang="en-US" b="0" i="1" smtClean="0">
                              <a:solidFill>
                                <a:srgbClr val="00B050"/>
                              </a:solidFill>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𝑠</m:t>
                          </m:r>
                        </m:sup>
                        <m:e>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𝜉</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𝜉𝜉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𝜉</m:t>
                              </m:r>
                            </m:e>
                          </m:d>
                          <m:r>
                            <a:rPr lang="en-US" b="0" i="1" smtClean="0">
                              <a:latin typeface="Cambria Math" panose="02040503050406030204" pitchFamily="18" charset="0"/>
                            </a:rPr>
                            <m:t>𝑑</m:t>
                          </m:r>
                          <m:r>
                            <a:rPr lang="en-US" b="0" i="1" smtClean="0">
                              <a:latin typeface="Cambria Math" panose="02040503050406030204" pitchFamily="18" charset="0"/>
                            </a:rPr>
                            <m:t>𝜉</m:t>
                          </m:r>
                        </m:e>
                      </m:nary>
                    </m:oMath>
                  </m:oMathPara>
                </a14:m>
                <a:endParaRPr lang="en-NL"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7065962" y="1784863"/>
                <a:ext cx="1952625" cy="948529"/>
              </a:xfrm>
              <a:prstGeom prst="rect">
                <a:avLst/>
              </a:prstGeom>
              <a:blipFill>
                <a:blip r:embed="rId4"/>
                <a:stretch>
                  <a:fillRect l="-22188" t="-44516" b="-12709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2641601" y="2942701"/>
                <a:ext cx="4427537" cy="1792542"/>
              </a:xfrm>
              <a:prstGeom prst="rect">
                <a:avLst/>
              </a:prstGeom>
              <a:noFill/>
            </p:spPr>
            <p:txBody>
              <a:bodyPr wrap="square" lIns="0" tIns="0" rIns="0" bIns="0" rtlCol="0">
                <a:spAutoFit/>
              </a:bodyPr>
              <a:lstStyle/>
              <a:p>
                <a:pPr/>
                <a14:m>
                  <m:oMathPara xmlns:m="http://schemas.openxmlformats.org/officeDocument/2006/math">
                    <m:oMath>
                      <m:r>
                        <a:rPr lang="en-US" sz="2800" b="0" i="1" smtClean="0">
                          <a:solidFill>
                            <a:srgbClr val="00B050"/>
                          </a:solidFill>
                          <a:latin typeface="Cambria Math" panose="02040503050406030204" pitchFamily="18" charset="0"/>
                        </a:rPr>
                        <m:t>𝒯</m:t>
                      </m:r>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𝐱</m:t>
                              </m:r>
                            </m:e>
                          </m:acc>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𝒜</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𝐱</m:t>
                          </m:r>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ℬ</m:t>
                      </m:r>
                      <m:r>
                        <a:rPr lang="en-US" sz="2800" b="0" i="1" smtClean="0">
                          <a:latin typeface="Cambria Math" panose="02040503050406030204" pitchFamily="18" charset="0"/>
                        </a:rPr>
                        <m:t>𝑤</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oMath>
                  </m:oMathPara>
                </a14:m>
                <a:endParaRPr lang="en-US" sz="2800" b="0" i="1" dirty="0">
                  <a:latin typeface="Cambria Math" panose="02040503050406030204" pitchFamily="18" charset="0"/>
                </a:endParaRPr>
              </a:p>
              <a:p>
                <a:pPr/>
                <a14:m>
                  <m:oMathPara xmlns:m="http://schemas.openxmlformats.org/officeDocument/2006/math">
                    <m:oMath>
                      <m:r>
                        <a:rPr lang="en-US" sz="2800" b="0" i="1" smtClean="0">
                          <a:latin typeface="Cambria Math" panose="02040503050406030204" pitchFamily="18" charset="0"/>
                        </a:rPr>
                        <m:t>𝑧</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𝒞</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𝐱</m:t>
                          </m:r>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𝒟</m:t>
                      </m:r>
                      <m:r>
                        <a:rPr lang="en-US" sz="2800" b="0" i="1" smtClean="0">
                          <a:latin typeface="Cambria Math" panose="02040503050406030204" pitchFamily="18" charset="0"/>
                        </a:rPr>
                        <m:t>𝑤</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oMath>
                  </m:oMathPara>
                </a14:m>
                <a:endParaRPr lang="en-US" sz="2800" b="0" dirty="0"/>
              </a:p>
              <a:p>
                <a:pPr/>
                <a14:m>
                  <m:oMathPara xmlns:m="http://schemas.openxmlformats.org/officeDocument/2006/math">
                    <m:oMath>
                      <m:r>
                        <a:rPr lang="en-US" sz="2800" b="0" i="1" smtClean="0">
                          <a:solidFill>
                            <a:srgbClr val="00B050"/>
                          </a:solidFill>
                          <a:latin typeface="Cambria Math" panose="02040503050406030204" pitchFamily="18" charset="0"/>
                        </a:rPr>
                        <m:t>𝒯</m:t>
                      </m:r>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𝒜</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m:rPr>
                              <m:sty m:val="p"/>
                            </m:rPr>
                            <a:rPr lang="en-US" sz="2800" b="0" i="1" smtClean="0">
                              <a:latin typeface="Cambria Math" panose="02040503050406030204" pitchFamily="18" charset="0"/>
                            </a:rPr>
                            <m:t>Π</m:t>
                          </m:r>
                        </m:e>
                        <m:sub>
                          <m:r>
                            <a:rPr lang="en-US" sz="2800" b="0" i="1" smtClean="0">
                              <a:latin typeface="Cambria Math" panose="02040503050406030204" pitchFamily="18" charset="0"/>
                            </a:rPr>
                            <m:t>4</m:t>
                          </m:r>
                        </m:sub>
                      </m:sSub>
                    </m:oMath>
                  </m:oMathPara>
                </a14:m>
                <a:endParaRPr lang="en-US" sz="2800" b="0" dirty="0"/>
              </a:p>
              <a:p>
                <a:endParaRPr lang="en-NL" sz="28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2641601" y="2942701"/>
                <a:ext cx="4427537" cy="1792542"/>
              </a:xfrm>
              <a:prstGeom prst="rect">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2507669" y="3374832"/>
                <a:ext cx="14594316" cy="622158"/>
              </a:xfrm>
              <a:prstGeom prst="rect">
                <a:avLst/>
              </a:prstGeom>
              <a:noFill/>
            </p:spPr>
            <p:txBody>
              <a:bodyPr wrap="none" lIns="0" tIns="0" rIns="0" bIns="0" rtlCol="0">
                <a:spAutoFit/>
              </a:bodyPr>
              <a:lstStyle/>
              <a:p>
                <a:pPr/>
                <a14:m>
                  <m:oMathPara xmlns:m="http://schemas.openxmlformats.org/officeDocument/2006/math">
                    <m:oMath>
                      <m:r>
                        <a:rPr lang="en-US" sz="2400" b="0" i="1" smtClean="0">
                          <a:latin typeface="Cambria Math" panose="02040503050406030204" pitchFamily="18" charset="0"/>
                        </a:rPr>
                        <m:t>𝒜</m:t>
                      </m:r>
                      <m:r>
                        <a:rPr lang="en-US" sz="2400" b="0" i="1" smtClean="0">
                          <a:latin typeface="Cambria Math" panose="02040503050406030204" pitchFamily="18" charset="0"/>
                        </a:rPr>
                        <m:t>+</m:t>
                      </m:r>
                      <m:r>
                        <a:rPr lang="en-US" sz="2400" b="0" i="1" smtClean="0">
                          <a:latin typeface="Cambria Math" panose="02040503050406030204" pitchFamily="18" charset="0"/>
                        </a:rPr>
                        <m:t>ℬ</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r>
                        <a:rPr lang="en-US" sz="2400" b="0" i="1" smtClean="0">
                          <a:latin typeface="Cambria Math" panose="02040503050406030204" pitchFamily="18" charset="0"/>
                        </a:rPr>
                        <m:t>𝒜ℬ</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𝒜</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d>
                        <m:dPr>
                          <m:begChr m:val="["/>
                          <m:endChr m:val="]"/>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r>
                                  <a:rPr lang="en-US" sz="2400" b="0" i="1" smtClean="0">
                                    <a:latin typeface="Cambria Math" panose="02040503050406030204" pitchFamily="18" charset="0"/>
                                  </a:rPr>
                                  <m:t>𝒜</m:t>
                                </m:r>
                              </m:e>
                              <m:e>
                                <m:r>
                                  <a:rPr lang="en-US" sz="2400" b="0" i="1" smtClean="0">
                                    <a:latin typeface="Cambria Math" panose="02040503050406030204" pitchFamily="18" charset="0"/>
                                  </a:rPr>
                                  <m:t>ℬ</m:t>
                                </m:r>
                              </m:e>
                            </m:mr>
                          </m:m>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oMath>
                  </m:oMathPara>
                </a14:m>
                <a:endParaRPr lang="en-US" b="0" dirty="0"/>
              </a:p>
              <a:p>
                <a:endParaRPr lang="en-NL"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2507669" y="3374832"/>
                <a:ext cx="14594316" cy="622158"/>
              </a:xfrm>
              <a:prstGeom prst="rect">
                <a:avLst/>
              </a:prstGeom>
              <a:blipFill>
                <a:blip r:embed="rId6"/>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2854148" y="3031511"/>
                <a:ext cx="4386009" cy="960904"/>
              </a:xfrm>
              <a:prstGeom prst="rect">
                <a:avLst/>
              </a:prstGeom>
              <a:noFill/>
            </p:spPr>
            <p:txBody>
              <a:bodyPr wrap="none" lIns="0" tIns="0" rIns="0" bIns="0" rtlCol="0">
                <a:spAutoFit/>
              </a:bodyPr>
              <a:lstStyle/>
              <a:p>
                <a:r>
                  <a:rPr lang="en-US" sz="2000" b="0" i="1" dirty="0"/>
                  <a:t>Exponential stability  of PDE</a:t>
                </a:r>
              </a:p>
              <a:p>
                <a:pPr/>
                <a14:m>
                  <m:oMathPara xmlns:m="http://schemas.openxmlformats.org/officeDocument/2006/math">
                    <m:oMath>
                      <m:r>
                        <a:rPr lang="en-US" sz="2000" b="0" i="1" smtClean="0">
                          <a:latin typeface="Cambria Math" panose="02040503050406030204" pitchFamily="18" charset="0"/>
                        </a:rPr>
                        <m:t>∃</m:t>
                      </m:r>
                      <m:r>
                        <a:rPr lang="en-US" sz="2000" b="0" i="1" smtClean="0">
                          <a:latin typeface="Cambria Math" panose="02040503050406030204" pitchFamily="18" charset="0"/>
                        </a:rPr>
                        <m:t>𝒫</m:t>
                      </m:r>
                      <m:r>
                        <a:rPr lang="en-US" sz="2000" b="0" i="1" smtClean="0">
                          <a:latin typeface="Cambria Math" panose="02040503050406030204" pitchFamily="18" charset="0"/>
                        </a:rPr>
                        <m:t>≻0, 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𝒯</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𝒫𝒜</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𝒜</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𝒫𝒯</m:t>
                      </m:r>
                      <m:r>
                        <a:rPr lang="en-US" sz="2000" b="0" i="1" smtClean="0">
                          <a:latin typeface="Cambria Math" panose="02040503050406030204" pitchFamily="18" charset="0"/>
                        </a:rPr>
                        <m:t>⪯−</m:t>
                      </m:r>
                      <m:r>
                        <a:rPr lang="en-US" sz="2000" b="0" i="1" smtClean="0">
                          <a:latin typeface="Cambria Math" panose="02040503050406030204" pitchFamily="18" charset="0"/>
                        </a:rPr>
                        <m:t>𝛼</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𝒯</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𝒫𝒯</m:t>
                      </m:r>
                    </m:oMath>
                  </m:oMathPara>
                </a14:m>
                <a:endParaRPr lang="en-US" sz="2000" b="0" i="1" dirty="0">
                  <a:latin typeface="Cambria Math" panose="02040503050406030204" pitchFamily="18" charset="0"/>
                </a:endParaRPr>
              </a:p>
              <a:p>
                <a:pPr/>
                <a14:m>
                  <m:oMathPara xmlns:m="http://schemas.openxmlformats.org/officeDocument/2006/math">
                    <m:oMath>
                      <m:r>
                        <a:rPr lang="en-US" sz="2000" b="0" i="1" smtClean="0">
                          <a:latin typeface="Cambria Math" panose="02040503050406030204" pitchFamily="18" charset="0"/>
                        </a:rPr>
                        <m:t>  </m:t>
                      </m:r>
                    </m:oMath>
                  </m:oMathPara>
                </a14:m>
                <a:endParaRPr lang="en-NL" sz="20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2854148" y="3031511"/>
                <a:ext cx="4386009" cy="960904"/>
              </a:xfrm>
              <a:prstGeom prst="rect">
                <a:avLst/>
              </a:prstGeom>
              <a:blipFill>
                <a:blip r:embed="rId7"/>
                <a:stretch>
                  <a:fillRect l="-3472" t="-8228"/>
                </a:stretch>
              </a:blipFill>
            </p:spPr>
            <p:txBody>
              <a:bodyPr/>
              <a:lstStyle/>
              <a:p>
                <a:r>
                  <a:rPr lang="en-NL">
                    <a:noFill/>
                  </a:rPr>
                  <a:t> </a:t>
                </a:r>
              </a:p>
            </p:txBody>
          </p:sp>
        </mc:Fallback>
      </mc:AlternateContent>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par>
                                <p:cTn id="19" presetID="9" presetClass="emph" presetSubtype="0" grpId="1" nodeType="withEffect">
                                  <p:stCondLst>
                                    <p:cond delay="0"/>
                                  </p:stCondLst>
                                  <p:childTnLst>
                                    <p:set>
                                      <p:cBhvr>
                                        <p:cTn id="20" dur="indefinite"/>
                                        <p:tgtEl>
                                          <p:spTgt spid="3">
                                            <p:txEl>
                                              <p:pRg st="0" end="0"/>
                                            </p:txEl>
                                          </p:spTgt>
                                        </p:tgtEl>
                                        <p:attrNameLst>
                                          <p:attrName>style.opacity</p:attrName>
                                        </p:attrNameLst>
                                      </p:cBhvr>
                                      <p:to>
                                        <p:strVal val="0.5"/>
                                      </p:to>
                                    </p:set>
                                    <p:animEffect filter="image" prLst="opacity: 0.5">
                                      <p:cBhvr rctx="IE">
                                        <p:cTn id="21" dur="indefinite"/>
                                        <p:tgtEl>
                                          <p:spTgt spid="3">
                                            <p:txEl>
                                              <p:pRg st="0" end="0"/>
                                            </p:txEl>
                                          </p:spTgt>
                                        </p:tgtEl>
                                      </p:cBhvr>
                                    </p:animEffect>
                                  </p:childTnLst>
                                </p:cTn>
                              </p:par>
                              <p:par>
                                <p:cTn id="22" presetID="1"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childTnLst>
                                </p:cTn>
                              </p:par>
                              <p:par>
                                <p:cTn id="30" presetID="1" presetClass="exit" presetSubtype="0" fill="hold" grpId="1" nodeType="withEffect">
                                  <p:stCondLst>
                                    <p:cond delay="0"/>
                                  </p:stCondLst>
                                  <p:childTnLst>
                                    <p:set>
                                      <p:cBhvr>
                                        <p:cTn id="31" dur="1" fill="hold">
                                          <p:stCondLst>
                                            <p:cond delay="0"/>
                                          </p:stCondLst>
                                        </p:cTn>
                                        <p:tgtEl>
                                          <p:spTgt spid="18"/>
                                        </p:tgtEl>
                                        <p:attrNameLst>
                                          <p:attrName>style.visibility</p:attrName>
                                        </p:attrNameLst>
                                      </p:cBhvr>
                                      <p:to>
                                        <p:strVal val="hidden"/>
                                      </p:to>
                                    </p:set>
                                  </p:childTnLst>
                                </p:cTn>
                              </p:par>
                              <p:par>
                                <p:cTn id="32" presetID="1" presetClass="exit" presetSubtype="0" fill="hold" grpId="1" nodeType="withEffect">
                                  <p:stCondLst>
                                    <p:cond delay="0"/>
                                  </p:stCondLst>
                                  <p:childTnLst>
                                    <p:set>
                                      <p:cBhvr>
                                        <p:cTn id="33" dur="1" fill="hold">
                                          <p:stCondLst>
                                            <p:cond delay="0"/>
                                          </p:stCondLst>
                                        </p:cTn>
                                        <p:tgtEl>
                                          <p:spTgt spid="17"/>
                                        </p:tgtEl>
                                        <p:attrNameLst>
                                          <p:attrName>style.visibility</p:attrName>
                                        </p:attrNameLst>
                                      </p:cBhvr>
                                      <p:to>
                                        <p:strVal val="hidden"/>
                                      </p:to>
                                    </p:set>
                                  </p:childTnLst>
                                </p:cTn>
                              </p:par>
                              <p:par>
                                <p:cTn id="34" presetID="9" presetClass="emph" presetSubtype="0" grpId="1" nodeType="withEffect">
                                  <p:stCondLst>
                                    <p:cond delay="0"/>
                                  </p:stCondLst>
                                  <p:childTnLst>
                                    <p:set>
                                      <p:cBhvr>
                                        <p:cTn id="35" dur="indefinite"/>
                                        <p:tgtEl>
                                          <p:spTgt spid="3">
                                            <p:txEl>
                                              <p:pRg st="1" end="1"/>
                                            </p:txEl>
                                          </p:spTgt>
                                        </p:tgtEl>
                                        <p:attrNameLst>
                                          <p:attrName>style.opacity</p:attrName>
                                        </p:attrNameLst>
                                      </p:cBhvr>
                                      <p:to>
                                        <p:strVal val="0.5"/>
                                      </p:to>
                                    </p:set>
                                    <p:animEffect filter="image" prLst="opacity: 0.5">
                                      <p:cBhvr rctx="IE">
                                        <p:cTn id="36" dur="indefinite"/>
                                        <p:tgtEl>
                                          <p:spTgt spid="3">
                                            <p:txEl>
                                              <p:pRg st="1" end="1"/>
                                            </p:txEl>
                                          </p:spTgt>
                                        </p:tgtEl>
                                      </p:cBhvr>
                                    </p:animEffec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xit" presetSubtype="0" fill="hold" grpId="1" nodeType="withEffect">
                                  <p:stCondLst>
                                    <p:cond delay="0"/>
                                  </p:stCondLst>
                                  <p:childTnLst>
                                    <p:set>
                                      <p:cBhvr>
                                        <p:cTn id="46" dur="1" fill="hold">
                                          <p:stCondLst>
                                            <p:cond delay="0"/>
                                          </p:stCondLst>
                                        </p:cTn>
                                        <p:tgtEl>
                                          <p:spTgt spid="21"/>
                                        </p:tgtEl>
                                        <p:attrNameLst>
                                          <p:attrName>style.visibility</p:attrName>
                                        </p:attrNameLst>
                                      </p:cBhvr>
                                      <p:to>
                                        <p:strVal val="hidden"/>
                                      </p:to>
                                    </p:set>
                                  </p:childTnLst>
                                </p:cTn>
                              </p:par>
                              <p:par>
                                <p:cTn id="47" presetID="9" presetClass="emph" presetSubtype="0" grpId="1" nodeType="withEffect">
                                  <p:stCondLst>
                                    <p:cond delay="0"/>
                                  </p:stCondLst>
                                  <p:childTnLst>
                                    <p:set>
                                      <p:cBhvr>
                                        <p:cTn id="48" dur="indefinite"/>
                                        <p:tgtEl>
                                          <p:spTgt spid="3">
                                            <p:txEl>
                                              <p:pRg st="2" end="2"/>
                                            </p:txEl>
                                          </p:spTgt>
                                        </p:tgtEl>
                                        <p:attrNameLst>
                                          <p:attrName>style.opacity</p:attrName>
                                        </p:attrNameLst>
                                      </p:cBhvr>
                                      <p:to>
                                        <p:strVal val="0.5"/>
                                      </p:to>
                                    </p:set>
                                    <p:animEffect filter="image" prLst="opacity: 0.5">
                                      <p:cBhvr rctx="IE">
                                        <p:cTn id="49" dur="indefinite"/>
                                        <p:tgtEl>
                                          <p:spTgt spid="3">
                                            <p:txEl>
                                              <p:pRg st="2" end="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
                                            <p:txEl>
                                              <p:pRg st="4" end="4"/>
                                            </p:txEl>
                                          </p:spTgt>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childTnLst>
                                </p:cTn>
                              </p:par>
                              <p:par>
                                <p:cTn id="56" presetID="1" presetClass="exit" presetSubtype="0" fill="hold" grpId="1" nodeType="withEffect">
                                  <p:stCondLst>
                                    <p:cond delay="0"/>
                                  </p:stCondLst>
                                  <p:childTnLst>
                                    <p:set>
                                      <p:cBhvr>
                                        <p:cTn id="57" dur="1" fill="hold">
                                          <p:stCondLst>
                                            <p:cond delay="0"/>
                                          </p:stCondLst>
                                        </p:cTn>
                                        <p:tgtEl>
                                          <p:spTgt spid="22"/>
                                        </p:tgtEl>
                                        <p:attrNameLst>
                                          <p:attrName>style.visibility</p:attrName>
                                        </p:attrNameLst>
                                      </p:cBhvr>
                                      <p:to>
                                        <p:strVal val="hidden"/>
                                      </p:to>
                                    </p:set>
                                  </p:childTnLst>
                                </p:cTn>
                              </p:par>
                              <p:par>
                                <p:cTn id="58" presetID="9" presetClass="emph" presetSubtype="0" grpId="1" nodeType="withEffect">
                                  <p:stCondLst>
                                    <p:cond delay="0"/>
                                  </p:stCondLst>
                                  <p:childTnLst>
                                    <p:set>
                                      <p:cBhvr>
                                        <p:cTn id="59" dur="indefinite"/>
                                        <p:tgtEl>
                                          <p:spTgt spid="3">
                                            <p:txEl>
                                              <p:pRg st="3" end="3"/>
                                            </p:txEl>
                                          </p:spTgt>
                                        </p:tgtEl>
                                        <p:attrNameLst>
                                          <p:attrName>style.opacity</p:attrName>
                                        </p:attrNameLst>
                                      </p:cBhvr>
                                      <p:to>
                                        <p:strVal val="0.5"/>
                                      </p:to>
                                    </p:set>
                                    <p:animEffect filter="image" prLst="opacity: 0.5">
                                      <p:cBhvr rctx="IE">
                                        <p:cTn id="60" dur="indefinite"/>
                                        <p:tgtEl>
                                          <p:spTgt spid="3">
                                            <p:txEl>
                                              <p:pRg st="3" end="3"/>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
                                            <p:txEl>
                                              <p:pRg st="5" end="5"/>
                                            </p:txEl>
                                          </p:spTgt>
                                        </p:tgtEl>
                                        <p:attrNameLst>
                                          <p:attrName>style.visibility</p:attrName>
                                        </p:attrNameLst>
                                      </p:cBhvr>
                                      <p:to>
                                        <p:strVal val="visible"/>
                                      </p:to>
                                    </p:set>
                                  </p:childTnLst>
                                </p:cTn>
                              </p:par>
                              <p:par>
                                <p:cTn id="65" presetID="1" presetClass="exit" presetSubtype="0" fill="hold" grpId="1" nodeType="withEffect">
                                  <p:stCondLst>
                                    <p:cond delay="0"/>
                                  </p:stCondLst>
                                  <p:childTnLst>
                                    <p:set>
                                      <p:cBhvr>
                                        <p:cTn id="66" dur="1" fill="hold">
                                          <p:stCondLst>
                                            <p:cond delay="0"/>
                                          </p:stCondLst>
                                        </p:cTn>
                                        <p:tgtEl>
                                          <p:spTgt spid="23"/>
                                        </p:tgtEl>
                                        <p:attrNameLst>
                                          <p:attrName>style.visibility</p:attrName>
                                        </p:attrNameLst>
                                      </p:cBhvr>
                                      <p:to>
                                        <p:strVal val="hidden"/>
                                      </p:to>
                                    </p:set>
                                  </p:childTnLst>
                                </p:cTn>
                              </p:par>
                              <p:par>
                                <p:cTn id="67" presetID="9" presetClass="emph" presetSubtype="0" grpId="1" nodeType="withEffect">
                                  <p:stCondLst>
                                    <p:cond delay="0"/>
                                  </p:stCondLst>
                                  <p:childTnLst>
                                    <p:set>
                                      <p:cBhvr>
                                        <p:cTn id="68" dur="indefinite"/>
                                        <p:tgtEl>
                                          <p:spTgt spid="3">
                                            <p:txEl>
                                              <p:pRg st="4" end="4"/>
                                            </p:txEl>
                                          </p:spTgt>
                                        </p:tgtEl>
                                        <p:attrNameLst>
                                          <p:attrName>style.opacity</p:attrName>
                                        </p:attrNameLst>
                                      </p:cBhvr>
                                      <p:to>
                                        <p:strVal val="0.5"/>
                                      </p:to>
                                    </p:set>
                                    <p:animEffect filter="image" prLst="opacity: 0.5">
                                      <p:cBhvr rctx="IE">
                                        <p:cTn id="69" dur="indefinite"/>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P spid="11" grpId="0" animBg="1"/>
      <p:bldP spid="13" grpId="0" animBg="1"/>
      <p:bldP spid="14" grpId="0" animBg="1"/>
      <p:bldP spid="15" grpId="0"/>
      <p:bldP spid="17" grpId="0"/>
      <p:bldP spid="17" grpId="1"/>
      <p:bldP spid="18" grpId="0"/>
      <p:bldP spid="18" grpId="1"/>
      <p:bldP spid="21" grpId="0"/>
      <p:bldP spid="21" grpId="1"/>
      <p:bldP spid="22" grpId="0"/>
      <p:bldP spid="22" grpId="1"/>
      <p:bldP spid="23" grpId="0"/>
      <p:bldP spid="23"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p:txBody>
          <a:bodyPr/>
          <a:lstStyle/>
          <a:p>
            <a:fld id="{C194BDB0-F4EA-4DD6-8281-CCE2440D0CE0}" type="slidenum">
              <a:rPr lang="en-GB" smtClean="0"/>
              <a:t>5</a:t>
            </a:fld>
            <a:endParaRPr lang="en-GB" dirty="0"/>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E91D938-0D59-0E14-FC38-BDE168568AE5}"/>
                  </a:ext>
                </a:extLst>
              </p:cNvPr>
              <p:cNvSpPr txBox="1"/>
              <p:nvPr/>
            </p:nvSpPr>
            <p:spPr>
              <a:xfrm>
                <a:off x="1719776" y="1565551"/>
                <a:ext cx="5704447" cy="463653"/>
              </a:xfrm>
              <a:prstGeom prst="rect">
                <a:avLst/>
              </a:prstGeom>
              <a:noFill/>
            </p:spPr>
            <p:txBody>
              <a:bodyPr wrap="none" lIns="0" tIns="0" rIns="0" bIns="0" rtlCol="0">
                <a:spAutoFit/>
              </a:bodyPr>
              <a:lstStyle/>
              <a:p>
                <a14:m>
                  <m:oMathPara xmlns:m="http://schemas.openxmlformats.org/officeDocument/2006/math">
                    <m:oMath>
                      <m:sSub>
                        <m:sSubPr>
                          <m:ctrlPr>
                            <a:rPr lang="nl-NL" i="1">
                              <a:latin typeface="Cambria Math" panose="02040503050406030204" pitchFamily="18" charset="0"/>
                            </a:rPr>
                          </m:ctrlPr>
                        </m:sSubPr>
                        <m:e>
                          <m:r>
                            <m:rPr>
                              <m:sty m:val="p"/>
                            </m:rPr>
                            <a:rPr lang="nl-NL" i="1">
                              <a:latin typeface="Cambria Math" panose="02040503050406030204" pitchFamily="18" charset="0"/>
                            </a:rPr>
                            <m:t>heat</m:t>
                          </m:r>
                        </m:e>
                        <m:sub>
                          <m:r>
                            <a:rPr lang="nl-NL" i="1">
                              <a:latin typeface="Cambria Math" panose="02040503050406030204" pitchFamily="18" charset="0"/>
                            </a:rPr>
                            <m:t>𝑡</m:t>
                          </m:r>
                        </m:sub>
                      </m:sSub>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=0.01 </m:t>
                      </m:r>
                      <m:sSub>
                        <m:sSubPr>
                          <m:ctrlPr>
                            <a:rPr lang="nl-NL" i="1">
                              <a:latin typeface="Cambria Math" panose="02040503050406030204" pitchFamily="18" charset="0"/>
                            </a:rPr>
                          </m:ctrlPr>
                        </m:sSubPr>
                        <m:e>
                          <m:r>
                            <m:rPr>
                              <m:sty m:val="p"/>
                            </m:rPr>
                            <a:rPr lang="nl-NL" i="1">
                              <a:latin typeface="Cambria Math" panose="02040503050406030204" pitchFamily="18" charset="0"/>
                            </a:rPr>
                            <m:t>heat</m:t>
                          </m:r>
                        </m:e>
                        <m:sub>
                          <m:r>
                            <a:rPr lang="nl-NL" i="1">
                              <a:latin typeface="Cambria Math" panose="02040503050406030204" pitchFamily="18" charset="0"/>
                            </a:rPr>
                            <m:t>𝑠𝑠</m:t>
                          </m:r>
                        </m:sub>
                      </m:sSub>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m:t>
                      </m:r>
                      <m:d>
                        <m:dPr>
                          <m:begChr m:val="["/>
                          <m:endChr m:val="]"/>
                          <m:ctrlPr>
                            <a:rPr lang="nl-NL" i="1">
                              <a:latin typeface="Cambria Math" panose="02040503050406030204" pitchFamily="18" charset="0"/>
                            </a:rPr>
                          </m:ctrlPr>
                        </m:dPr>
                        <m:e>
                          <m:limLow>
                            <m:limLowPr>
                              <m:ctrlPr>
                                <a:rPr lang="nl-NL" i="1">
                                  <a:latin typeface="Cambria Math" panose="02040503050406030204" pitchFamily="18" charset="0"/>
                                </a:rPr>
                              </m:ctrlPr>
                            </m:limLowPr>
                            <m:e>
                              <m:groupChr>
                                <m:groupChrPr>
                                  <m:chr m:val="⏟"/>
                                  <m:pos m:val="bot"/>
                                  <m:vertJc m:val="top"/>
                                  <m:ctrlPr>
                                    <a:rPr lang="nl-NL" i="1">
                                      <a:latin typeface="Cambria Math" panose="02040503050406030204" pitchFamily="18" charset="0"/>
                                    </a:rPr>
                                  </m:ctrlPr>
                                </m:groupChrPr>
                                <m:e>
                                  <m:r>
                                    <a:rPr lang="nl-NL" i="1">
                                      <a:latin typeface="Cambria Math" panose="02040503050406030204" pitchFamily="18" charset="0"/>
                                    </a:rPr>
                                    <m:t>0.25</m:t>
                                  </m:r>
                                  <m:d>
                                    <m:dPr>
                                      <m:ctrlPr>
                                        <a:rPr lang="nl-NL" i="1">
                                          <a:latin typeface="Cambria Math" panose="02040503050406030204" pitchFamily="18" charset="0"/>
                                        </a:rPr>
                                      </m:ctrlPr>
                                    </m:dPr>
                                    <m:e>
                                      <m:r>
                                        <a:rPr lang="nl-NL" i="1">
                                          <a:latin typeface="Cambria Math" panose="02040503050406030204" pitchFamily="18" charset="0"/>
                                        </a:rPr>
                                        <m:t>1+</m:t>
                                      </m:r>
                                      <m:r>
                                        <a:rPr lang="nl-NL" i="1">
                                          <a:latin typeface="Cambria Math" panose="02040503050406030204" pitchFamily="18" charset="0"/>
                                        </a:rPr>
                                        <m:t>𝛿</m:t>
                                      </m:r>
                                    </m:e>
                                  </m:d>
                                </m:e>
                              </m:groupChr>
                            </m:e>
                            <m:lim>
                              <m:r>
                                <m:rPr>
                                  <m:nor/>
                                </m:rPr>
                                <a:rPr lang="nl-NL" i="0">
                                  <a:latin typeface="Cambria Math" panose="02040503050406030204" pitchFamily="18" charset="0"/>
                                </a:rPr>
                                <m:t>heat generation</m:t>
                              </m:r>
                            </m:lim>
                          </m:limLow>
                          <m:r>
                            <a:rPr lang="nl-NL" i="1">
                              <a:latin typeface="Cambria Math" panose="02040503050406030204" pitchFamily="18" charset="0"/>
                            </a:rPr>
                            <m:t>−</m:t>
                          </m:r>
                          <m:limLow>
                            <m:limLowPr>
                              <m:ctrlPr>
                                <a:rPr lang="nl-NL" i="1">
                                  <a:latin typeface="Cambria Math" panose="02040503050406030204" pitchFamily="18" charset="0"/>
                                </a:rPr>
                              </m:ctrlPr>
                            </m:limLowPr>
                            <m:e>
                              <m:groupChr>
                                <m:groupChrPr>
                                  <m:chr m:val="⏟"/>
                                  <m:pos m:val="bot"/>
                                  <m:vertJc m:val="top"/>
                                  <m:ctrlPr>
                                    <a:rPr lang="nl-NL" i="1">
                                      <a:latin typeface="Cambria Math" panose="02040503050406030204" pitchFamily="18" charset="0"/>
                                    </a:rPr>
                                  </m:ctrlPr>
                                </m:groupChrPr>
                                <m:e>
                                  <m:r>
                                    <a:rPr lang="nl-NL" i="1">
                                      <a:latin typeface="Cambria Math" panose="02040503050406030204" pitchFamily="18" charset="0"/>
                                    </a:rPr>
                                    <m:t>0.2</m:t>
                                  </m:r>
                                </m:e>
                              </m:groupChr>
                            </m:e>
                            <m:lim>
                              <m:r>
                                <m:rPr>
                                  <m:nor/>
                                </m:rPr>
                                <a:rPr lang="nl-NL" i="0">
                                  <a:latin typeface="Cambria Math" panose="02040503050406030204" pitchFamily="18" charset="0"/>
                                </a:rPr>
                                <m:t>cooling</m:t>
                              </m:r>
                            </m:lim>
                          </m:limLow>
                        </m:e>
                      </m:d>
                      <m:r>
                        <m:rPr>
                          <m:sty m:val="p"/>
                        </m:rPr>
                        <a:rPr lang="nl-NL" i="1">
                          <a:latin typeface="Cambria Math" panose="02040503050406030204" pitchFamily="18" charset="0"/>
                        </a:rPr>
                        <m:t>heat</m:t>
                      </m:r>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m:t>
                      </m:r>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oMath>
                  </m:oMathPara>
                </a14:m>
                <a:endParaRPr lang="en-NL" dirty="0"/>
              </a:p>
            </p:txBody>
          </p:sp>
        </mc:Choice>
        <mc:Fallback>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1719776" y="1565551"/>
                <a:ext cx="5704447" cy="463653"/>
              </a:xfrm>
              <a:prstGeom prst="rect">
                <a:avLst/>
              </a:prstGeom>
              <a:blipFill>
                <a:blip r:embed="rId3"/>
                <a:stretch>
                  <a:fillRect l="-214" b="-9211"/>
                </a:stretch>
              </a:blipFill>
            </p:spPr>
            <p:txBody>
              <a:bodyPr/>
              <a:lstStyle/>
              <a:p>
                <a:r>
                  <a:rPr lang="en-NL">
                    <a:noFill/>
                  </a:rPr>
                  <a:t> </a:t>
                </a:r>
              </a:p>
            </p:txBody>
          </p:sp>
        </mc:Fallback>
      </mc:AlternateContent>
      <p:pic>
        <p:nvPicPr>
          <p:cNvPr id="18" name="Picture 17">
            <a:extLst>
              <a:ext uri="{FF2B5EF4-FFF2-40B4-BE49-F238E27FC236}">
                <a16:creationId xmlns:a16="http://schemas.microsoft.com/office/drawing/2014/main" id="{154D371C-D7D6-BD77-3191-47D1C39F61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4426" y="2119148"/>
            <a:ext cx="3947796" cy="2359308"/>
          </a:xfrm>
          <a:prstGeom prst="rect">
            <a:avLst/>
          </a:prstGeom>
        </p:spPr>
      </p:pic>
      <p:pic>
        <p:nvPicPr>
          <p:cNvPr id="20" name="Picture 19">
            <a:extLst>
              <a:ext uri="{FF2B5EF4-FFF2-40B4-BE49-F238E27FC236}">
                <a16:creationId xmlns:a16="http://schemas.microsoft.com/office/drawing/2014/main" id="{1BFC85F7-0439-8706-F6DB-7D47B27E757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9862" y="0"/>
            <a:ext cx="9015684" cy="1713094"/>
          </a:xfrm>
          <a:prstGeom prst="rect">
            <a:avLst/>
          </a:prstGeom>
        </p:spPr>
      </p:pic>
      <p:sp>
        <p:nvSpPr>
          <p:cNvPr id="22" name="TextBox 21">
            <a:extLst>
              <a:ext uri="{FF2B5EF4-FFF2-40B4-BE49-F238E27FC236}">
                <a16:creationId xmlns:a16="http://schemas.microsoft.com/office/drawing/2014/main" id="{98D90A4C-307A-4FCB-1437-E81581434E8F}"/>
              </a:ext>
            </a:extLst>
          </p:cNvPr>
          <p:cNvSpPr txBox="1"/>
          <p:nvPr/>
        </p:nvSpPr>
        <p:spPr>
          <a:xfrm>
            <a:off x="5260489" y="2964256"/>
            <a:ext cx="3625327" cy="3000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	Solved during internship</a:t>
            </a:r>
            <a:endParaRPr lang="en-NL" dirty="0"/>
          </a:p>
        </p:txBody>
      </p:sp>
    </p:spTree>
    <p:extLst>
      <p:ext uri="{BB962C8B-B14F-4D97-AF65-F5344CB8AC3E}">
        <p14:creationId xmlns:p14="http://schemas.microsoft.com/office/powerpoint/2010/main" val="264913703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p:txBody>
          <a:bodyPr/>
          <a:lstStyle/>
          <a:p>
            <a:fld id="{C194BDB0-F4EA-4DD6-8281-CCE2440D0CE0}" type="slidenum">
              <a:rPr lang="en-GB" smtClean="0"/>
              <a:t>6</a:t>
            </a:fld>
            <a:endParaRPr lang="en-GB" dirty="0"/>
          </a:p>
        </p:txBody>
      </p:sp>
      <p:pic>
        <p:nvPicPr>
          <p:cNvPr id="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3600"/>
            <a:ext cx="4572000" cy="4572000"/>
          </a:xfrm>
          <a:prstGeom prst="rect">
            <a:avLst/>
          </a:prstGeom>
        </p:spPr>
      </p:pic>
    </p:spTree>
    <p:extLst>
      <p:ext uri="{BB962C8B-B14F-4D97-AF65-F5344CB8AC3E}">
        <p14:creationId xmlns:p14="http://schemas.microsoft.com/office/powerpoint/2010/main" val="6991813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27F09-7ADD-49F1-8361-533ABEBAB4C3}"/>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421E8028-3BC6-AFEA-87A8-4EEF49ABB32F}"/>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741D0091-5977-7310-9162-199421719A5D}"/>
              </a:ext>
            </a:extLst>
          </p:cNvPr>
          <p:cNvSpPr>
            <a:spLocks noGrp="1"/>
          </p:cNvSpPr>
          <p:nvPr>
            <p:ph type="sldNum" sz="quarter" idx="12"/>
          </p:nvPr>
        </p:nvSpPr>
        <p:spPr/>
        <p:txBody>
          <a:bodyPr/>
          <a:lstStyle/>
          <a:p>
            <a:fld id="{C194BDB0-F4EA-4DD6-8281-CCE2440D0CE0}" type="slidenum">
              <a:rPr lang="en-GB" smtClean="0"/>
              <a:t>7</a:t>
            </a:fld>
            <a:endParaRPr lang="en-GB" dirty="0"/>
          </a:p>
        </p:txBody>
      </p:sp>
      <p:pic>
        <p:nvPicPr>
          <p:cNvPr id="8" name="Picture 7" descr="basal ganglia 1">
            <a:extLst>
              <a:ext uri="{FF2B5EF4-FFF2-40B4-BE49-F238E27FC236}">
                <a16:creationId xmlns:a16="http://schemas.microsoft.com/office/drawing/2014/main" id="{A76B679E-E28B-96E0-5E0D-752CBF9D7320}"/>
              </a:ext>
            </a:extLst>
          </p:cNvPr>
          <p:cNvPicPr>
            <a:picLocks noChangeAspect="1"/>
          </p:cNvPicPr>
          <p:nvPr/>
        </p:nvPicPr>
        <p:blipFill>
          <a:blip r:embed="rId2"/>
          <a:srcRect l="26518" t="40198" r="27239" b="33833"/>
          <a:stretch>
            <a:fillRect/>
          </a:stretch>
        </p:blipFill>
        <p:spPr>
          <a:xfrm>
            <a:off x="0" y="0"/>
            <a:ext cx="9143998" cy="5135173"/>
          </a:xfrm>
          <a:prstGeom prst="rect">
            <a:avLst/>
          </a:prstGeom>
        </p:spPr>
      </p:pic>
    </p:spTree>
    <p:extLst>
      <p:ext uri="{BB962C8B-B14F-4D97-AF65-F5344CB8AC3E}">
        <p14:creationId xmlns:p14="http://schemas.microsoft.com/office/powerpoint/2010/main" val="25361970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0">
        <p159:morph option="byObject"/>
      </p:transition>
    </mc:Choice>
    <mc:Fallback>
      <p:transition spd="slow" advTm="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044FF13-72DA-8A91-3497-927C848DB90E}"/>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CD268D8F-D606-F686-A7E2-DC9C2DCCD261}"/>
              </a:ext>
            </a:extLst>
          </p:cNvPr>
          <p:cNvSpPr>
            <a:spLocks noGrp="1"/>
          </p:cNvSpPr>
          <p:nvPr>
            <p:ph type="sldNum" sz="quarter" idx="12"/>
          </p:nvPr>
        </p:nvSpPr>
        <p:spPr/>
        <p:txBody>
          <a:bodyPr/>
          <a:lstStyle/>
          <a:p>
            <a:fld id="{C194BDB0-F4EA-4DD6-8281-CCE2440D0CE0}" type="slidenum">
              <a:rPr lang="en-GB" smtClean="0"/>
              <a:t>8</a:t>
            </a:fld>
            <a:endParaRPr lang="en-GB" dirty="0"/>
          </a:p>
        </p:txBody>
      </p:sp>
      <p:pic>
        <p:nvPicPr>
          <p:cNvPr id="13" name="Picture 12">
            <a:extLst>
              <a:ext uri="{FF2B5EF4-FFF2-40B4-BE49-F238E27FC236}">
                <a16:creationId xmlns:a16="http://schemas.microsoft.com/office/drawing/2014/main" id="{B42275AF-475C-8088-3DD8-744DBC78D8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36730" y="0"/>
            <a:ext cx="3319826" cy="4132712"/>
          </a:xfrm>
          <a:prstGeom prst="rect">
            <a:avLst/>
          </a:prstGeom>
        </p:spPr>
      </p:pic>
      <p:sp>
        <p:nvSpPr>
          <p:cNvPr id="14" name="TextBox 13">
            <a:extLst>
              <a:ext uri="{FF2B5EF4-FFF2-40B4-BE49-F238E27FC236}">
                <a16:creationId xmlns:a16="http://schemas.microsoft.com/office/drawing/2014/main" id="{8C40AB9D-19FD-6C78-D5E8-40A0CB8B9631}"/>
              </a:ext>
            </a:extLst>
          </p:cNvPr>
          <p:cNvSpPr txBox="1"/>
          <p:nvPr/>
        </p:nvSpPr>
        <p:spPr>
          <a:xfrm>
            <a:off x="2736730" y="4132712"/>
            <a:ext cx="3152723" cy="300082"/>
          </a:xfrm>
          <a:prstGeom prst="rect">
            <a:avLst/>
          </a:prstGeom>
          <a:noFill/>
        </p:spPr>
        <p:txBody>
          <a:bodyPr wrap="none" rtlCol="0">
            <a:spAutoFit/>
          </a:bodyPr>
          <a:lstStyle/>
          <a:p>
            <a:r>
              <a:rPr lang="en-US" dirty="0"/>
              <a:t>[1] beta oscillatory activity in basal ganglia</a:t>
            </a:r>
            <a:endParaRPr lang="en-NL" dirty="0"/>
          </a:p>
        </p:txBody>
      </p:sp>
      <p:sp>
        <p:nvSpPr>
          <p:cNvPr id="15" name="Rectangle 14">
            <a:extLst>
              <a:ext uri="{FF2B5EF4-FFF2-40B4-BE49-F238E27FC236}">
                <a16:creationId xmlns:a16="http://schemas.microsoft.com/office/drawing/2014/main" id="{C0F45872-814F-5DFF-46B3-563E22BDF6BD}"/>
              </a:ext>
            </a:extLst>
          </p:cNvPr>
          <p:cNvSpPr/>
          <p:nvPr/>
        </p:nvSpPr>
        <p:spPr>
          <a:xfrm>
            <a:off x="3485478" y="1882588"/>
            <a:ext cx="1957890" cy="1140312"/>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Rectangle 16">
            <a:extLst>
              <a:ext uri="{FF2B5EF4-FFF2-40B4-BE49-F238E27FC236}">
                <a16:creationId xmlns:a16="http://schemas.microsoft.com/office/drawing/2014/main" id="{A7083375-9871-5280-E4BF-17CD4BA6A67E}"/>
              </a:ext>
            </a:extLst>
          </p:cNvPr>
          <p:cNvSpPr/>
          <p:nvPr/>
        </p:nvSpPr>
        <p:spPr>
          <a:xfrm>
            <a:off x="2736730" y="3022900"/>
            <a:ext cx="1361934" cy="1109812"/>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Multiplication Sign 17">
            <a:extLst>
              <a:ext uri="{FF2B5EF4-FFF2-40B4-BE49-F238E27FC236}">
                <a16:creationId xmlns:a16="http://schemas.microsoft.com/office/drawing/2014/main" id="{A5A353CB-8FCF-5451-37B1-5E85D08ACF38}"/>
              </a:ext>
            </a:extLst>
          </p:cNvPr>
          <p:cNvSpPr/>
          <p:nvPr/>
        </p:nvSpPr>
        <p:spPr>
          <a:xfrm>
            <a:off x="4173967" y="2248348"/>
            <a:ext cx="398033" cy="408791"/>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362144745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p:txBody>
          <a:bodyPr/>
          <a:lstStyle/>
          <a:p>
            <a:r>
              <a:rPr lang="nb-NO" dirty="0"/>
              <a:t>Msc Defence T.M. Lenssen</a:t>
            </a:r>
            <a:endParaRPr lang="en-GB" dirty="0"/>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p:txBody>
          <a:bodyPr/>
          <a:lstStyle/>
          <a:p>
            <a:fld id="{C194BDB0-F4EA-4DD6-8281-CCE2440D0CE0}" type="slidenum">
              <a:rPr lang="en-GB" smtClean="0"/>
              <a:t>9</a:t>
            </a:fld>
            <a:endParaRPr lang="en-GB" dirty="0"/>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A8C7EF67-BB4A-F683-C28D-D5A8BAFBA5AD}"/>
                  </a:ext>
                </a:extLst>
              </p:cNvPr>
              <p:cNvSpPr txBox="1"/>
              <p:nvPr/>
            </p:nvSpPr>
            <p:spPr>
              <a:xfrm>
                <a:off x="-3872"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3872" y="2764593"/>
                <a:ext cx="5781907" cy="806054"/>
              </a:xfrm>
              <a:prstGeom prst="rect">
                <a:avLst/>
              </a:prstGeom>
              <a:blipFill>
                <a:blip r:embed="rId3"/>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B0D55E98-9D19-4C86-FAFE-5E1AC73F146C}"/>
                  </a:ext>
                </a:extLst>
              </p:cNvPr>
              <p:cNvSpPr txBox="1"/>
              <p:nvPr/>
            </p:nvSpPr>
            <p:spPr>
              <a:xfrm>
                <a:off x="-3873"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3873" y="2764593"/>
                <a:ext cx="5781907" cy="806054"/>
              </a:xfrm>
              <a:prstGeom prst="rect">
                <a:avLst/>
              </a:prstGeom>
              <a:blipFill>
                <a:blip r:embed="rId4"/>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5EA4E13B-D65C-4F93-08F7-A77D18F6681B}"/>
                  </a:ext>
                </a:extLst>
              </p:cNvPr>
              <p:cNvSpPr txBox="1"/>
              <p:nvPr/>
            </p:nvSpPr>
            <p:spPr>
              <a:xfrm>
                <a:off x="291010" y="2766358"/>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291010" y="2766358"/>
                <a:ext cx="5781907" cy="806054"/>
              </a:xfrm>
              <a:prstGeom prst="rect">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95961" y="2768110"/>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95961" y="2768110"/>
                <a:ext cx="5781907" cy="941989"/>
              </a:xfrm>
              <a:prstGeom prst="rect">
                <a:avLst/>
              </a:prstGeom>
              <a:blipFill>
                <a:blip r:embed="rId6"/>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95961" y="2764396"/>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solidFill>
                                <a:srgbClr val="00B050"/>
                              </a:solidFill>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95961" y="2764396"/>
                <a:ext cx="5781907" cy="941989"/>
              </a:xfrm>
              <a:prstGeom prst="rect">
                <a:avLst/>
              </a:prstGeom>
              <a:blipFill>
                <a:blip r:embed="rId7"/>
                <a:stretch>
                  <a:fillRect/>
                </a:stretch>
              </a:blipFill>
            </p:spPr>
            <p:txBody>
              <a:bodyPr/>
              <a:lstStyle/>
              <a:p>
                <a:r>
                  <a:rPr lang="en-NL">
                    <a:noFill/>
                  </a:rPr>
                  <a:t> </a:t>
                </a:r>
              </a:p>
            </p:txBody>
          </p:sp>
        </mc:Fallback>
      </mc:AlternateContent>
      <p:pic>
        <p:nvPicPr>
          <p:cNvPr id="54" name="Picture 53">
            <a:extLst>
              <a:ext uri="{FF2B5EF4-FFF2-40B4-BE49-F238E27FC236}">
                <a16:creationId xmlns:a16="http://schemas.microsoft.com/office/drawing/2014/main" id="{BF35C9FF-9988-E0C7-FA0A-D263F9A46A4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875" y="0"/>
            <a:ext cx="5477073" cy="2738537"/>
          </a:xfrm>
          <a:prstGeom prst="rect">
            <a:avLst/>
          </a:prstGeom>
        </p:spPr>
      </p:pic>
      <p:pic>
        <p:nvPicPr>
          <p:cNvPr id="56" name="Picture 55">
            <a:extLst>
              <a:ext uri="{FF2B5EF4-FFF2-40B4-BE49-F238E27FC236}">
                <a16:creationId xmlns:a16="http://schemas.microsoft.com/office/drawing/2014/main" id="{A0437D6B-690D-B962-050A-C998FB5BECB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195" y="1676"/>
            <a:ext cx="5477073" cy="2738537"/>
          </a:xfrm>
          <a:prstGeom prst="rect">
            <a:avLst/>
          </a:prstGeom>
        </p:spPr>
      </p:pic>
      <p:pic>
        <p:nvPicPr>
          <p:cNvPr id="58" name="Picture 57">
            <a:extLst>
              <a:ext uri="{FF2B5EF4-FFF2-40B4-BE49-F238E27FC236}">
                <a16:creationId xmlns:a16="http://schemas.microsoft.com/office/drawing/2014/main" id="{1101D39B-E912-2D21-F890-7BB31C6B45F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0" y="7270"/>
            <a:ext cx="5477073" cy="2738537"/>
          </a:xfrm>
          <a:prstGeom prst="rect">
            <a:avLst/>
          </a:prstGeom>
        </p:spPr>
      </p:pic>
      <p:pic>
        <p:nvPicPr>
          <p:cNvPr id="60" name="Picture 59">
            <a:extLst>
              <a:ext uri="{FF2B5EF4-FFF2-40B4-BE49-F238E27FC236}">
                <a16:creationId xmlns:a16="http://schemas.microsoft.com/office/drawing/2014/main" id="{B9CD20A1-6BEB-6EA2-2BBF-9A6F621E6D1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515" y="6570"/>
            <a:ext cx="5477073" cy="2738537"/>
          </a:xfrm>
          <a:prstGeom prst="rect">
            <a:avLst/>
          </a:prstGeom>
        </p:spPr>
      </p:pic>
      <p:pic>
        <p:nvPicPr>
          <p:cNvPr id="62" name="Picture 61">
            <a:extLst>
              <a:ext uri="{FF2B5EF4-FFF2-40B4-BE49-F238E27FC236}">
                <a16:creationId xmlns:a16="http://schemas.microsoft.com/office/drawing/2014/main" id="{217FFABE-4965-400E-98AE-95B556B0044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233" y="6920"/>
            <a:ext cx="5477073" cy="2738537"/>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0" y="4264604"/>
            <a:ext cx="1727781" cy="300082"/>
          </a:xfrm>
          <a:prstGeom prst="rect">
            <a:avLst/>
          </a:prstGeom>
          <a:noFill/>
        </p:spPr>
        <p:txBody>
          <a:bodyPr wrap="none" rtlCol="0">
            <a:spAutoFit/>
          </a:bodyPr>
          <a:lstStyle/>
          <a:p>
            <a:r>
              <a:rPr lang="en-US" dirty="0"/>
              <a:t>[2] Firing rate models</a:t>
            </a:r>
            <a:endParaRPr lang="en-NL" dirty="0"/>
          </a:p>
        </p:txBody>
      </p:sp>
      <p:pic>
        <p:nvPicPr>
          <p:cNvPr id="70" name="Picture 69">
            <a:extLst>
              <a:ext uri="{FF2B5EF4-FFF2-40B4-BE49-F238E27FC236}">
                <a16:creationId xmlns:a16="http://schemas.microsoft.com/office/drawing/2014/main" id="{3520ACB8-69C3-62CF-3EBF-E1398D6F2C2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22" y="10590"/>
            <a:ext cx="5477075" cy="2738538"/>
          </a:xfrm>
          <a:prstGeom prst="rect">
            <a:avLst/>
          </a:prstGeom>
        </p:spPr>
      </p:pic>
      <p:pic>
        <p:nvPicPr>
          <p:cNvPr id="76" name="Picture 75">
            <a:extLst>
              <a:ext uri="{FF2B5EF4-FFF2-40B4-BE49-F238E27FC236}">
                <a16:creationId xmlns:a16="http://schemas.microsoft.com/office/drawing/2014/main" id="{031C1F21-C0EF-60F6-448F-D767FC8EF650}"/>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794222" y="2056104"/>
            <a:ext cx="4108345" cy="2508582"/>
          </a:xfrm>
          <a:prstGeom prst="rect">
            <a:avLst/>
          </a:prstGeom>
        </p:spPr>
      </p:pic>
      <p:pic>
        <p:nvPicPr>
          <p:cNvPr id="78" name="Picture 77">
            <a:extLst>
              <a:ext uri="{FF2B5EF4-FFF2-40B4-BE49-F238E27FC236}">
                <a16:creationId xmlns:a16="http://schemas.microsoft.com/office/drawing/2014/main" id="{A76AFA2A-1AA1-503D-3645-5495058CF83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806315" y="2431227"/>
            <a:ext cx="4141723" cy="1983417"/>
          </a:xfrm>
          <a:prstGeom prst="rect">
            <a:avLst/>
          </a:prstGeom>
        </p:spPr>
      </p:pic>
      <p:pic>
        <p:nvPicPr>
          <p:cNvPr id="80" name="Picture 79">
            <a:extLst>
              <a:ext uri="{FF2B5EF4-FFF2-40B4-BE49-F238E27FC236}">
                <a16:creationId xmlns:a16="http://schemas.microsoft.com/office/drawing/2014/main" id="{B0A62C5A-1170-6901-11F2-FB8E93EE57E6}"/>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775" y="1586"/>
            <a:ext cx="5473201" cy="2736601"/>
          </a:xfrm>
          <a:prstGeom prst="rect">
            <a:avLst/>
          </a:prstGeom>
        </p:spPr>
      </p:pic>
      <p:sp>
        <p:nvSpPr>
          <p:cNvPr id="81" name="TextBox 80">
            <a:extLst>
              <a:ext uri="{FF2B5EF4-FFF2-40B4-BE49-F238E27FC236}">
                <a16:creationId xmlns:a16="http://schemas.microsoft.com/office/drawing/2014/main" id="{BB047B88-FD1C-8DA5-3449-A3624FB9C737}"/>
              </a:ext>
            </a:extLst>
          </p:cNvPr>
          <p:cNvSpPr txBox="1"/>
          <p:nvPr/>
        </p:nvSpPr>
        <p:spPr>
          <a:xfrm>
            <a:off x="602348" y="3833596"/>
            <a:ext cx="4264629" cy="300082"/>
          </a:xfrm>
          <a:prstGeom prst="rect">
            <a:avLst/>
          </a:prstGeom>
          <a:noFill/>
        </p:spPr>
        <p:txBody>
          <a:bodyPr wrap="none" rtlCol="0">
            <a:spAutoFit/>
          </a:bodyPr>
          <a:lstStyle/>
          <a:p>
            <a:r>
              <a:rPr lang="en-US" b="1" dirty="0"/>
              <a:t>Model contains delays and nonlinear activation </a:t>
            </a:r>
            <a:r>
              <a:rPr lang="en-US" b="1" dirty="0" err="1"/>
              <a:t>funtions</a:t>
            </a:r>
            <a:r>
              <a:rPr lang="en-US" b="1" dirty="0"/>
              <a:t>!</a:t>
            </a:r>
            <a:endParaRPr lang="en-NL" b="1"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6"/>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62"/>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40"/>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60"/>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42"/>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58"/>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81"/>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44"/>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46"/>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54"/>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7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70"/>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76"/>
                                        </p:tgtEl>
                                        <p:attrNameLst>
                                          <p:attrName>style.visibility</p:attrName>
                                        </p:attrNameLst>
                                      </p:cBhvr>
                                      <p:to>
                                        <p:strVal val="hidden"/>
                                      </p:to>
                                    </p:set>
                                  </p:childTnLst>
                                </p:cTn>
                              </p:par>
                              <p:par>
                                <p:cTn id="63" presetID="1" presetClass="entr" presetSubtype="0" fill="hold" nodeType="withEffect">
                                  <p:stCondLst>
                                    <p:cond delay="0"/>
                                  </p:stCondLst>
                                  <p:childTnLst>
                                    <p:set>
                                      <p:cBhvr>
                                        <p:cTn id="64" dur="1" fill="hold">
                                          <p:stCondLst>
                                            <p:cond delay="0"/>
                                          </p:stCondLst>
                                        </p:cTn>
                                        <p:tgtEl>
                                          <p:spTgt spid="7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0" grpId="0"/>
      <p:bldP spid="40" grpId="1"/>
      <p:bldP spid="42" grpId="0"/>
      <p:bldP spid="42" grpId="1"/>
      <p:bldP spid="44" grpId="0"/>
      <p:bldP spid="44" grpId="1"/>
      <p:bldP spid="46" grpId="0"/>
      <p:bldP spid="46" grpId="1"/>
      <p:bldP spid="81" grpId="0"/>
      <p:bldP spid="81"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p:txBody>
          <a:bodyPr/>
          <a:lstStyle/>
          <a:p>
            <a:r>
              <a:rPr lang="nb-NO" dirty="0"/>
              <a:t>Msc Defence T.M. Lenssen</a:t>
            </a:r>
            <a:endParaRPr lang="en-GB" dirty="0"/>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p:txBody>
          <a:bodyPr/>
          <a:lstStyle/>
          <a:p>
            <a:fld id="{C194BDB0-F4EA-4DD6-8281-CCE2440D0CE0}" type="slidenum">
              <a:rPr lang="en-GB" smtClean="0"/>
              <a:t>9</a:t>
            </a:fld>
            <a:endParaRPr lang="en-GB" dirty="0"/>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A8C7EF67-BB4A-F683-C28D-D5A8BAFBA5AD}"/>
                  </a:ext>
                </a:extLst>
              </p:cNvPr>
              <p:cNvSpPr txBox="1"/>
              <p:nvPr/>
            </p:nvSpPr>
            <p:spPr>
              <a:xfrm>
                <a:off x="-3872"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3872" y="2764593"/>
                <a:ext cx="5781907" cy="806054"/>
              </a:xfrm>
              <a:prstGeom prst="rect">
                <a:avLst/>
              </a:prstGeom>
              <a:blipFill>
                <a:blip r:embed="rId3"/>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B0D55E98-9D19-4C86-FAFE-5E1AC73F146C}"/>
                  </a:ext>
                </a:extLst>
              </p:cNvPr>
              <p:cNvSpPr txBox="1"/>
              <p:nvPr/>
            </p:nvSpPr>
            <p:spPr>
              <a:xfrm>
                <a:off x="-3873"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3873" y="2764593"/>
                <a:ext cx="5781907" cy="806054"/>
              </a:xfrm>
              <a:prstGeom prst="rect">
                <a:avLst/>
              </a:prstGeom>
              <a:blipFill>
                <a:blip r:embed="rId4"/>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5EA4E13B-D65C-4F93-08F7-A77D18F6681B}"/>
                  </a:ext>
                </a:extLst>
              </p:cNvPr>
              <p:cNvSpPr txBox="1"/>
              <p:nvPr/>
            </p:nvSpPr>
            <p:spPr>
              <a:xfrm>
                <a:off x="291010" y="2766358"/>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291010" y="2766358"/>
                <a:ext cx="5781907" cy="806054"/>
              </a:xfrm>
              <a:prstGeom prst="rect">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95961" y="2768110"/>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95961" y="2768110"/>
                <a:ext cx="5781907" cy="941989"/>
              </a:xfrm>
              <a:prstGeom prst="rect">
                <a:avLst/>
              </a:prstGeom>
              <a:blipFill>
                <a:blip r:embed="rId6"/>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95961" y="2764396"/>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solidFill>
                                <a:srgbClr val="00B050"/>
                              </a:solidFill>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95961" y="2764396"/>
                <a:ext cx="5781907" cy="941989"/>
              </a:xfrm>
              <a:prstGeom prst="rect">
                <a:avLst/>
              </a:prstGeom>
              <a:blipFill>
                <a:blip r:embed="rId7"/>
                <a:stretch>
                  <a:fillRect/>
                </a:stretch>
              </a:blipFill>
            </p:spPr>
            <p:txBody>
              <a:bodyPr/>
              <a:lstStyle/>
              <a:p>
                <a:r>
                  <a:rPr lang="en-NL">
                    <a:noFill/>
                  </a:rPr>
                  <a:t> </a:t>
                </a:r>
              </a:p>
            </p:txBody>
          </p:sp>
        </mc:Fallback>
      </mc:AlternateContent>
      <p:pic>
        <p:nvPicPr>
          <p:cNvPr id="54" name="Picture 53">
            <a:extLst>
              <a:ext uri="{FF2B5EF4-FFF2-40B4-BE49-F238E27FC236}">
                <a16:creationId xmlns:a16="http://schemas.microsoft.com/office/drawing/2014/main" id="{BF35C9FF-9988-E0C7-FA0A-D263F9A46A4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875" y="0"/>
            <a:ext cx="5477073" cy="2738537"/>
          </a:xfrm>
          <a:prstGeom prst="rect">
            <a:avLst/>
          </a:prstGeom>
        </p:spPr>
      </p:pic>
      <p:pic>
        <p:nvPicPr>
          <p:cNvPr id="56" name="Picture 55">
            <a:extLst>
              <a:ext uri="{FF2B5EF4-FFF2-40B4-BE49-F238E27FC236}">
                <a16:creationId xmlns:a16="http://schemas.microsoft.com/office/drawing/2014/main" id="{A0437D6B-690D-B962-050A-C998FB5BECB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195" y="1676"/>
            <a:ext cx="5477073" cy="2738537"/>
          </a:xfrm>
          <a:prstGeom prst="rect">
            <a:avLst/>
          </a:prstGeom>
        </p:spPr>
      </p:pic>
      <p:pic>
        <p:nvPicPr>
          <p:cNvPr id="58" name="Picture 57">
            <a:extLst>
              <a:ext uri="{FF2B5EF4-FFF2-40B4-BE49-F238E27FC236}">
                <a16:creationId xmlns:a16="http://schemas.microsoft.com/office/drawing/2014/main" id="{1101D39B-E912-2D21-F890-7BB31C6B45F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0" y="7270"/>
            <a:ext cx="5477073" cy="2738537"/>
          </a:xfrm>
          <a:prstGeom prst="rect">
            <a:avLst/>
          </a:prstGeom>
        </p:spPr>
      </p:pic>
      <p:pic>
        <p:nvPicPr>
          <p:cNvPr id="60" name="Picture 59">
            <a:extLst>
              <a:ext uri="{FF2B5EF4-FFF2-40B4-BE49-F238E27FC236}">
                <a16:creationId xmlns:a16="http://schemas.microsoft.com/office/drawing/2014/main" id="{B9CD20A1-6BEB-6EA2-2BBF-9A6F621E6D1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515" y="6570"/>
            <a:ext cx="5477073" cy="2738537"/>
          </a:xfrm>
          <a:prstGeom prst="rect">
            <a:avLst/>
          </a:prstGeom>
        </p:spPr>
      </p:pic>
      <p:pic>
        <p:nvPicPr>
          <p:cNvPr id="62" name="Picture 61">
            <a:extLst>
              <a:ext uri="{FF2B5EF4-FFF2-40B4-BE49-F238E27FC236}">
                <a16:creationId xmlns:a16="http://schemas.microsoft.com/office/drawing/2014/main" id="{217FFABE-4965-400E-98AE-95B556B0044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233" y="6920"/>
            <a:ext cx="5477073" cy="2738537"/>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0" y="4264604"/>
            <a:ext cx="1727781" cy="300082"/>
          </a:xfrm>
          <a:prstGeom prst="rect">
            <a:avLst/>
          </a:prstGeom>
          <a:noFill/>
        </p:spPr>
        <p:txBody>
          <a:bodyPr wrap="none" rtlCol="0">
            <a:spAutoFit/>
          </a:bodyPr>
          <a:lstStyle/>
          <a:p>
            <a:r>
              <a:rPr lang="en-US" dirty="0"/>
              <a:t>[2] Firing rate models</a:t>
            </a:r>
            <a:endParaRPr lang="en-NL" dirty="0"/>
          </a:p>
        </p:txBody>
      </p:sp>
      <p:pic>
        <p:nvPicPr>
          <p:cNvPr id="70" name="Picture 69">
            <a:extLst>
              <a:ext uri="{FF2B5EF4-FFF2-40B4-BE49-F238E27FC236}">
                <a16:creationId xmlns:a16="http://schemas.microsoft.com/office/drawing/2014/main" id="{3520ACB8-69C3-62CF-3EBF-E1398D6F2C2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22" y="10590"/>
            <a:ext cx="5477075" cy="2738538"/>
          </a:xfrm>
          <a:prstGeom prst="rect">
            <a:avLst/>
          </a:prstGeom>
        </p:spPr>
      </p:pic>
      <p:pic>
        <p:nvPicPr>
          <p:cNvPr id="76" name="Picture 75">
            <a:extLst>
              <a:ext uri="{FF2B5EF4-FFF2-40B4-BE49-F238E27FC236}">
                <a16:creationId xmlns:a16="http://schemas.microsoft.com/office/drawing/2014/main" id="{031C1F21-C0EF-60F6-448F-D767FC8EF650}"/>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794222" y="2056104"/>
            <a:ext cx="4108345" cy="2508582"/>
          </a:xfrm>
          <a:prstGeom prst="rect">
            <a:avLst/>
          </a:prstGeom>
        </p:spPr>
      </p:pic>
      <p:pic>
        <p:nvPicPr>
          <p:cNvPr id="78" name="Picture 77">
            <a:extLst>
              <a:ext uri="{FF2B5EF4-FFF2-40B4-BE49-F238E27FC236}">
                <a16:creationId xmlns:a16="http://schemas.microsoft.com/office/drawing/2014/main" id="{A76AFA2A-1AA1-503D-3645-5495058CF83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806315" y="2431227"/>
            <a:ext cx="4141723" cy="1983417"/>
          </a:xfrm>
          <a:prstGeom prst="rect">
            <a:avLst/>
          </a:prstGeom>
        </p:spPr>
      </p:pic>
      <p:pic>
        <p:nvPicPr>
          <p:cNvPr id="80" name="Picture 79">
            <a:extLst>
              <a:ext uri="{FF2B5EF4-FFF2-40B4-BE49-F238E27FC236}">
                <a16:creationId xmlns:a16="http://schemas.microsoft.com/office/drawing/2014/main" id="{B0A62C5A-1170-6901-11F2-FB8E93EE57E6}"/>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775" y="1586"/>
            <a:ext cx="5473201" cy="2736601"/>
          </a:xfrm>
          <a:prstGeom prst="rect">
            <a:avLst/>
          </a:prstGeom>
        </p:spPr>
      </p:pic>
      <p:sp>
        <p:nvSpPr>
          <p:cNvPr id="81" name="TextBox 80">
            <a:extLst>
              <a:ext uri="{FF2B5EF4-FFF2-40B4-BE49-F238E27FC236}">
                <a16:creationId xmlns:a16="http://schemas.microsoft.com/office/drawing/2014/main" id="{BB047B88-FD1C-8DA5-3449-A3624FB9C737}"/>
              </a:ext>
            </a:extLst>
          </p:cNvPr>
          <p:cNvSpPr txBox="1"/>
          <p:nvPr/>
        </p:nvSpPr>
        <p:spPr>
          <a:xfrm>
            <a:off x="602348" y="3833596"/>
            <a:ext cx="4264629" cy="300082"/>
          </a:xfrm>
          <a:prstGeom prst="rect">
            <a:avLst/>
          </a:prstGeom>
          <a:noFill/>
        </p:spPr>
        <p:txBody>
          <a:bodyPr wrap="none" rtlCol="0">
            <a:spAutoFit/>
          </a:bodyPr>
          <a:lstStyle/>
          <a:p>
            <a:r>
              <a:rPr lang="en-US" b="1" dirty="0"/>
              <a:t>Model contains delays and nonlinear activation </a:t>
            </a:r>
            <a:r>
              <a:rPr lang="en-US" b="1" dirty="0" err="1"/>
              <a:t>funtions</a:t>
            </a:r>
            <a:r>
              <a:rPr lang="en-US" b="1" dirty="0"/>
              <a:t>!</a:t>
            </a:r>
            <a:endParaRPr lang="en-NL" b="1"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6"/>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62"/>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40"/>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60"/>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42"/>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58"/>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81"/>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44"/>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46"/>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54"/>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7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70"/>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76"/>
                                        </p:tgtEl>
                                        <p:attrNameLst>
                                          <p:attrName>style.visibility</p:attrName>
                                        </p:attrNameLst>
                                      </p:cBhvr>
                                      <p:to>
                                        <p:strVal val="hidden"/>
                                      </p:to>
                                    </p:set>
                                  </p:childTnLst>
                                </p:cTn>
                              </p:par>
                              <p:par>
                                <p:cTn id="63" presetID="1" presetClass="entr" presetSubtype="0" fill="hold" nodeType="withEffect">
                                  <p:stCondLst>
                                    <p:cond delay="0"/>
                                  </p:stCondLst>
                                  <p:childTnLst>
                                    <p:set>
                                      <p:cBhvr>
                                        <p:cTn id="64" dur="1" fill="hold">
                                          <p:stCondLst>
                                            <p:cond delay="0"/>
                                          </p:stCondLst>
                                        </p:cTn>
                                        <p:tgtEl>
                                          <p:spTgt spid="7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0" grpId="0"/>
      <p:bldP spid="40" grpId="1"/>
      <p:bldP spid="42" grpId="0"/>
      <p:bldP spid="42" grpId="1"/>
      <p:bldP spid="44" grpId="0"/>
      <p:bldP spid="44" grpId="1"/>
      <p:bldP spid="46" grpId="0"/>
      <p:bldP spid="46" grpId="1"/>
      <p:bldP spid="81" grpId="0"/>
      <p:bldP spid="81"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p:txBody>
          <a:bodyPr/>
          <a:lstStyle/>
          <a:p>
            <a:r>
              <a:rPr lang="nb-NO" dirty="0"/>
              <a:t>Msc Defence T.M. Lenssen</a:t>
            </a:r>
            <a:endParaRPr lang="en-GB" dirty="0"/>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p:txBody>
          <a:bodyPr/>
          <a:lstStyle/>
          <a:p>
            <a:fld id="{C194BDB0-F4EA-4DD6-8281-CCE2440D0CE0}" type="slidenum">
              <a:rPr lang="en-GB" smtClean="0"/>
              <a:t>9</a:t>
            </a:fld>
            <a:endParaRPr lang="en-GB" dirty="0"/>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A8C7EF67-BB4A-F683-C28D-D5A8BAFBA5AD}"/>
                  </a:ext>
                </a:extLst>
              </p:cNvPr>
              <p:cNvSpPr txBox="1"/>
              <p:nvPr/>
            </p:nvSpPr>
            <p:spPr>
              <a:xfrm>
                <a:off x="-3872"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3872" y="2764593"/>
                <a:ext cx="5781907" cy="806054"/>
              </a:xfrm>
              <a:prstGeom prst="rect">
                <a:avLst/>
              </a:prstGeom>
              <a:blipFill>
                <a:blip r:embed="rId3"/>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B0D55E98-9D19-4C86-FAFE-5E1AC73F146C}"/>
                  </a:ext>
                </a:extLst>
              </p:cNvPr>
              <p:cNvSpPr txBox="1"/>
              <p:nvPr/>
            </p:nvSpPr>
            <p:spPr>
              <a:xfrm>
                <a:off x="-3873"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3873" y="2764593"/>
                <a:ext cx="5781907" cy="806054"/>
              </a:xfrm>
              <a:prstGeom prst="rect">
                <a:avLst/>
              </a:prstGeom>
              <a:blipFill>
                <a:blip r:embed="rId4"/>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5EA4E13B-D65C-4F93-08F7-A77D18F6681B}"/>
                  </a:ext>
                </a:extLst>
              </p:cNvPr>
              <p:cNvSpPr txBox="1"/>
              <p:nvPr/>
            </p:nvSpPr>
            <p:spPr>
              <a:xfrm>
                <a:off x="291010" y="2766358"/>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291010" y="2766358"/>
                <a:ext cx="5781907" cy="806054"/>
              </a:xfrm>
              <a:prstGeom prst="rect">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95961" y="2768110"/>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95961" y="2768110"/>
                <a:ext cx="5781907" cy="941989"/>
              </a:xfrm>
              <a:prstGeom prst="rect">
                <a:avLst/>
              </a:prstGeom>
              <a:blipFill>
                <a:blip r:embed="rId6"/>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95961" y="2764396"/>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solidFill>
                                <a:srgbClr val="00B050"/>
                              </a:solidFill>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95961" y="2764396"/>
                <a:ext cx="5781907" cy="941989"/>
              </a:xfrm>
              <a:prstGeom prst="rect">
                <a:avLst/>
              </a:prstGeom>
              <a:blipFill>
                <a:blip r:embed="rId7"/>
                <a:stretch>
                  <a:fillRect/>
                </a:stretch>
              </a:blipFill>
            </p:spPr>
            <p:txBody>
              <a:bodyPr/>
              <a:lstStyle/>
              <a:p>
                <a:r>
                  <a:rPr lang="en-NL">
                    <a:noFill/>
                  </a:rPr>
                  <a:t> </a:t>
                </a:r>
              </a:p>
            </p:txBody>
          </p:sp>
        </mc:Fallback>
      </mc:AlternateContent>
      <p:pic>
        <p:nvPicPr>
          <p:cNvPr id="54" name="Picture 53">
            <a:extLst>
              <a:ext uri="{FF2B5EF4-FFF2-40B4-BE49-F238E27FC236}">
                <a16:creationId xmlns:a16="http://schemas.microsoft.com/office/drawing/2014/main" id="{BF35C9FF-9988-E0C7-FA0A-D263F9A46A4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875" y="0"/>
            <a:ext cx="5477073" cy="2738537"/>
          </a:xfrm>
          <a:prstGeom prst="rect">
            <a:avLst/>
          </a:prstGeom>
        </p:spPr>
      </p:pic>
      <p:pic>
        <p:nvPicPr>
          <p:cNvPr id="56" name="Picture 55">
            <a:extLst>
              <a:ext uri="{FF2B5EF4-FFF2-40B4-BE49-F238E27FC236}">
                <a16:creationId xmlns:a16="http://schemas.microsoft.com/office/drawing/2014/main" id="{A0437D6B-690D-B962-050A-C998FB5BECB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195" y="1676"/>
            <a:ext cx="5477073" cy="2738537"/>
          </a:xfrm>
          <a:prstGeom prst="rect">
            <a:avLst/>
          </a:prstGeom>
        </p:spPr>
      </p:pic>
      <p:pic>
        <p:nvPicPr>
          <p:cNvPr id="58" name="Picture 57">
            <a:extLst>
              <a:ext uri="{FF2B5EF4-FFF2-40B4-BE49-F238E27FC236}">
                <a16:creationId xmlns:a16="http://schemas.microsoft.com/office/drawing/2014/main" id="{1101D39B-E912-2D21-F890-7BB31C6B45F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0" y="7270"/>
            <a:ext cx="5477073" cy="2738537"/>
          </a:xfrm>
          <a:prstGeom prst="rect">
            <a:avLst/>
          </a:prstGeom>
        </p:spPr>
      </p:pic>
      <p:pic>
        <p:nvPicPr>
          <p:cNvPr id="60" name="Picture 59">
            <a:extLst>
              <a:ext uri="{FF2B5EF4-FFF2-40B4-BE49-F238E27FC236}">
                <a16:creationId xmlns:a16="http://schemas.microsoft.com/office/drawing/2014/main" id="{B9CD20A1-6BEB-6EA2-2BBF-9A6F621E6D1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515" y="6570"/>
            <a:ext cx="5477073" cy="2738537"/>
          </a:xfrm>
          <a:prstGeom prst="rect">
            <a:avLst/>
          </a:prstGeom>
        </p:spPr>
      </p:pic>
      <p:pic>
        <p:nvPicPr>
          <p:cNvPr id="62" name="Picture 61">
            <a:extLst>
              <a:ext uri="{FF2B5EF4-FFF2-40B4-BE49-F238E27FC236}">
                <a16:creationId xmlns:a16="http://schemas.microsoft.com/office/drawing/2014/main" id="{217FFABE-4965-400E-98AE-95B556B0044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233" y="6920"/>
            <a:ext cx="5477073" cy="2738537"/>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0" y="4264604"/>
            <a:ext cx="1727781" cy="300082"/>
          </a:xfrm>
          <a:prstGeom prst="rect">
            <a:avLst/>
          </a:prstGeom>
          <a:noFill/>
        </p:spPr>
        <p:txBody>
          <a:bodyPr wrap="none" rtlCol="0">
            <a:spAutoFit/>
          </a:bodyPr>
          <a:lstStyle/>
          <a:p>
            <a:r>
              <a:rPr lang="en-US" dirty="0"/>
              <a:t>[2] Firing rate models</a:t>
            </a:r>
            <a:endParaRPr lang="en-NL" dirty="0"/>
          </a:p>
        </p:txBody>
      </p:sp>
      <p:pic>
        <p:nvPicPr>
          <p:cNvPr id="70" name="Picture 69">
            <a:extLst>
              <a:ext uri="{FF2B5EF4-FFF2-40B4-BE49-F238E27FC236}">
                <a16:creationId xmlns:a16="http://schemas.microsoft.com/office/drawing/2014/main" id="{3520ACB8-69C3-62CF-3EBF-E1398D6F2C2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22" y="10590"/>
            <a:ext cx="5477075" cy="2738538"/>
          </a:xfrm>
          <a:prstGeom prst="rect">
            <a:avLst/>
          </a:prstGeom>
        </p:spPr>
      </p:pic>
      <p:pic>
        <p:nvPicPr>
          <p:cNvPr id="76" name="Picture 75">
            <a:extLst>
              <a:ext uri="{FF2B5EF4-FFF2-40B4-BE49-F238E27FC236}">
                <a16:creationId xmlns:a16="http://schemas.microsoft.com/office/drawing/2014/main" id="{031C1F21-C0EF-60F6-448F-D767FC8EF650}"/>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794222" y="2056104"/>
            <a:ext cx="4108345" cy="2508582"/>
          </a:xfrm>
          <a:prstGeom prst="rect">
            <a:avLst/>
          </a:prstGeom>
        </p:spPr>
      </p:pic>
      <p:pic>
        <p:nvPicPr>
          <p:cNvPr id="78" name="Picture 77">
            <a:extLst>
              <a:ext uri="{FF2B5EF4-FFF2-40B4-BE49-F238E27FC236}">
                <a16:creationId xmlns:a16="http://schemas.microsoft.com/office/drawing/2014/main" id="{A76AFA2A-1AA1-503D-3645-5495058CF83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806315" y="2431227"/>
            <a:ext cx="4141723" cy="1983417"/>
          </a:xfrm>
          <a:prstGeom prst="rect">
            <a:avLst/>
          </a:prstGeom>
        </p:spPr>
      </p:pic>
      <p:pic>
        <p:nvPicPr>
          <p:cNvPr id="80" name="Picture 79">
            <a:extLst>
              <a:ext uri="{FF2B5EF4-FFF2-40B4-BE49-F238E27FC236}">
                <a16:creationId xmlns:a16="http://schemas.microsoft.com/office/drawing/2014/main" id="{B0A62C5A-1170-6901-11F2-FB8E93EE57E6}"/>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775" y="1586"/>
            <a:ext cx="5473201" cy="2736601"/>
          </a:xfrm>
          <a:prstGeom prst="rect">
            <a:avLst/>
          </a:prstGeom>
        </p:spPr>
      </p:pic>
      <p:sp>
        <p:nvSpPr>
          <p:cNvPr id="81" name="TextBox 80">
            <a:extLst>
              <a:ext uri="{FF2B5EF4-FFF2-40B4-BE49-F238E27FC236}">
                <a16:creationId xmlns:a16="http://schemas.microsoft.com/office/drawing/2014/main" id="{BB047B88-FD1C-8DA5-3449-A3624FB9C737}"/>
              </a:ext>
            </a:extLst>
          </p:cNvPr>
          <p:cNvSpPr txBox="1"/>
          <p:nvPr/>
        </p:nvSpPr>
        <p:spPr>
          <a:xfrm>
            <a:off x="602348" y="3833596"/>
            <a:ext cx="4264629" cy="300082"/>
          </a:xfrm>
          <a:prstGeom prst="rect">
            <a:avLst/>
          </a:prstGeom>
          <a:noFill/>
        </p:spPr>
        <p:txBody>
          <a:bodyPr wrap="none" rtlCol="0">
            <a:spAutoFit/>
          </a:bodyPr>
          <a:lstStyle/>
          <a:p>
            <a:r>
              <a:rPr lang="en-US" b="1" dirty="0"/>
              <a:t>Model contains delays and nonlinear activation </a:t>
            </a:r>
            <a:r>
              <a:rPr lang="en-US" b="1" dirty="0" err="1"/>
              <a:t>funtions</a:t>
            </a:r>
            <a:r>
              <a:rPr lang="en-US" b="1" dirty="0"/>
              <a:t>!</a:t>
            </a:r>
            <a:endParaRPr lang="en-NL" b="1"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6"/>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62"/>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40"/>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60"/>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42"/>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58"/>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81"/>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44"/>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46"/>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54"/>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7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70"/>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76"/>
                                        </p:tgtEl>
                                        <p:attrNameLst>
                                          <p:attrName>style.visibility</p:attrName>
                                        </p:attrNameLst>
                                      </p:cBhvr>
                                      <p:to>
                                        <p:strVal val="hidden"/>
                                      </p:to>
                                    </p:set>
                                  </p:childTnLst>
                                </p:cTn>
                              </p:par>
                              <p:par>
                                <p:cTn id="63" presetID="1" presetClass="entr" presetSubtype="0" fill="hold" nodeType="withEffect">
                                  <p:stCondLst>
                                    <p:cond delay="0"/>
                                  </p:stCondLst>
                                  <p:childTnLst>
                                    <p:set>
                                      <p:cBhvr>
                                        <p:cTn id="64" dur="1" fill="hold">
                                          <p:stCondLst>
                                            <p:cond delay="0"/>
                                          </p:stCondLst>
                                        </p:cTn>
                                        <p:tgtEl>
                                          <p:spTgt spid="7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0" grpId="0"/>
      <p:bldP spid="40" grpId="1"/>
      <p:bldP spid="42" grpId="0"/>
      <p:bldP spid="42" grpId="1"/>
      <p:bldP spid="44" grpId="0"/>
      <p:bldP spid="44" grpId="1"/>
      <p:bldP spid="46" grpId="0"/>
      <p:bldP spid="46" grpId="1"/>
      <p:bldP spid="81" grpId="0"/>
      <p:bldP spid="81"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p:txBody>
          <a:bodyPr/>
          <a:lstStyle/>
          <a:p>
            <a:r>
              <a:rPr lang="nb-NO" dirty="0"/>
              <a:t>Msc Defence T.M. Lenssen</a:t>
            </a:r>
            <a:endParaRPr lang="en-GB" dirty="0"/>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p:txBody>
          <a:bodyPr/>
          <a:lstStyle/>
          <a:p>
            <a:fld id="{C194BDB0-F4EA-4DD6-8281-CCE2440D0CE0}" type="slidenum">
              <a:rPr lang="en-GB" smtClean="0"/>
              <a:t>9</a:t>
            </a:fld>
            <a:endParaRPr lang="en-GB" dirty="0"/>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A8C7EF67-BB4A-F683-C28D-D5A8BAFBA5AD}"/>
                  </a:ext>
                </a:extLst>
              </p:cNvPr>
              <p:cNvSpPr txBox="1"/>
              <p:nvPr/>
            </p:nvSpPr>
            <p:spPr>
              <a:xfrm>
                <a:off x="-3872"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3872" y="2764593"/>
                <a:ext cx="5781907" cy="806054"/>
              </a:xfrm>
              <a:prstGeom prst="rect">
                <a:avLst/>
              </a:prstGeom>
              <a:blipFill>
                <a:blip r:embed="rId3"/>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B0D55E98-9D19-4C86-FAFE-5E1AC73F146C}"/>
                  </a:ext>
                </a:extLst>
              </p:cNvPr>
              <p:cNvSpPr txBox="1"/>
              <p:nvPr/>
            </p:nvSpPr>
            <p:spPr>
              <a:xfrm>
                <a:off x="-3873"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3873" y="2764593"/>
                <a:ext cx="5781907" cy="806054"/>
              </a:xfrm>
              <a:prstGeom prst="rect">
                <a:avLst/>
              </a:prstGeom>
              <a:blipFill>
                <a:blip r:embed="rId4"/>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5EA4E13B-D65C-4F93-08F7-A77D18F6681B}"/>
                  </a:ext>
                </a:extLst>
              </p:cNvPr>
              <p:cNvSpPr txBox="1"/>
              <p:nvPr/>
            </p:nvSpPr>
            <p:spPr>
              <a:xfrm>
                <a:off x="291010" y="2766358"/>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291010" y="2766358"/>
                <a:ext cx="5781907" cy="806054"/>
              </a:xfrm>
              <a:prstGeom prst="rect">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95961" y="2768110"/>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95961" y="2768110"/>
                <a:ext cx="5781907" cy="941989"/>
              </a:xfrm>
              <a:prstGeom prst="rect">
                <a:avLst/>
              </a:prstGeom>
              <a:blipFill>
                <a:blip r:embed="rId6"/>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95961" y="2764396"/>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solidFill>
                                <a:srgbClr val="00B050"/>
                              </a:solidFill>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95961" y="2764396"/>
                <a:ext cx="5781907" cy="941989"/>
              </a:xfrm>
              <a:prstGeom prst="rect">
                <a:avLst/>
              </a:prstGeom>
              <a:blipFill>
                <a:blip r:embed="rId7"/>
                <a:stretch>
                  <a:fillRect/>
                </a:stretch>
              </a:blipFill>
            </p:spPr>
            <p:txBody>
              <a:bodyPr/>
              <a:lstStyle/>
              <a:p>
                <a:r>
                  <a:rPr lang="en-NL">
                    <a:noFill/>
                  </a:rPr>
                  <a:t> </a:t>
                </a:r>
              </a:p>
            </p:txBody>
          </p:sp>
        </mc:Fallback>
      </mc:AlternateContent>
      <p:pic>
        <p:nvPicPr>
          <p:cNvPr id="54" name="Picture 53">
            <a:extLst>
              <a:ext uri="{FF2B5EF4-FFF2-40B4-BE49-F238E27FC236}">
                <a16:creationId xmlns:a16="http://schemas.microsoft.com/office/drawing/2014/main" id="{BF35C9FF-9988-E0C7-FA0A-D263F9A46A4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875" y="0"/>
            <a:ext cx="5477073" cy="2738537"/>
          </a:xfrm>
          <a:prstGeom prst="rect">
            <a:avLst/>
          </a:prstGeom>
        </p:spPr>
      </p:pic>
      <p:pic>
        <p:nvPicPr>
          <p:cNvPr id="56" name="Picture 55">
            <a:extLst>
              <a:ext uri="{FF2B5EF4-FFF2-40B4-BE49-F238E27FC236}">
                <a16:creationId xmlns:a16="http://schemas.microsoft.com/office/drawing/2014/main" id="{A0437D6B-690D-B962-050A-C998FB5BECB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195" y="1676"/>
            <a:ext cx="5477073" cy="2738537"/>
          </a:xfrm>
          <a:prstGeom prst="rect">
            <a:avLst/>
          </a:prstGeom>
        </p:spPr>
      </p:pic>
      <p:pic>
        <p:nvPicPr>
          <p:cNvPr id="58" name="Picture 57">
            <a:extLst>
              <a:ext uri="{FF2B5EF4-FFF2-40B4-BE49-F238E27FC236}">
                <a16:creationId xmlns:a16="http://schemas.microsoft.com/office/drawing/2014/main" id="{1101D39B-E912-2D21-F890-7BB31C6B45F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0" y="7270"/>
            <a:ext cx="5477073" cy="2738537"/>
          </a:xfrm>
          <a:prstGeom prst="rect">
            <a:avLst/>
          </a:prstGeom>
        </p:spPr>
      </p:pic>
      <p:pic>
        <p:nvPicPr>
          <p:cNvPr id="60" name="Picture 59">
            <a:extLst>
              <a:ext uri="{FF2B5EF4-FFF2-40B4-BE49-F238E27FC236}">
                <a16:creationId xmlns:a16="http://schemas.microsoft.com/office/drawing/2014/main" id="{B9CD20A1-6BEB-6EA2-2BBF-9A6F621E6D1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515" y="6570"/>
            <a:ext cx="5477073" cy="2738537"/>
          </a:xfrm>
          <a:prstGeom prst="rect">
            <a:avLst/>
          </a:prstGeom>
        </p:spPr>
      </p:pic>
      <p:pic>
        <p:nvPicPr>
          <p:cNvPr id="62" name="Picture 61">
            <a:extLst>
              <a:ext uri="{FF2B5EF4-FFF2-40B4-BE49-F238E27FC236}">
                <a16:creationId xmlns:a16="http://schemas.microsoft.com/office/drawing/2014/main" id="{217FFABE-4965-400E-98AE-95B556B0044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233" y="6920"/>
            <a:ext cx="5477073" cy="2738537"/>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0" y="4264604"/>
            <a:ext cx="1727781" cy="300082"/>
          </a:xfrm>
          <a:prstGeom prst="rect">
            <a:avLst/>
          </a:prstGeom>
          <a:noFill/>
        </p:spPr>
        <p:txBody>
          <a:bodyPr wrap="none" rtlCol="0">
            <a:spAutoFit/>
          </a:bodyPr>
          <a:lstStyle/>
          <a:p>
            <a:r>
              <a:rPr lang="en-US" dirty="0"/>
              <a:t>[2] Firing rate models</a:t>
            </a:r>
            <a:endParaRPr lang="en-NL" dirty="0"/>
          </a:p>
        </p:txBody>
      </p:sp>
      <p:pic>
        <p:nvPicPr>
          <p:cNvPr id="70" name="Picture 69">
            <a:extLst>
              <a:ext uri="{FF2B5EF4-FFF2-40B4-BE49-F238E27FC236}">
                <a16:creationId xmlns:a16="http://schemas.microsoft.com/office/drawing/2014/main" id="{3520ACB8-69C3-62CF-3EBF-E1398D6F2C2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22" y="10590"/>
            <a:ext cx="5477075" cy="2738538"/>
          </a:xfrm>
          <a:prstGeom prst="rect">
            <a:avLst/>
          </a:prstGeom>
        </p:spPr>
      </p:pic>
      <p:pic>
        <p:nvPicPr>
          <p:cNvPr id="76" name="Picture 75">
            <a:extLst>
              <a:ext uri="{FF2B5EF4-FFF2-40B4-BE49-F238E27FC236}">
                <a16:creationId xmlns:a16="http://schemas.microsoft.com/office/drawing/2014/main" id="{031C1F21-C0EF-60F6-448F-D767FC8EF650}"/>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794222" y="2056104"/>
            <a:ext cx="4108345" cy="2508582"/>
          </a:xfrm>
          <a:prstGeom prst="rect">
            <a:avLst/>
          </a:prstGeom>
        </p:spPr>
      </p:pic>
      <p:pic>
        <p:nvPicPr>
          <p:cNvPr id="78" name="Picture 77">
            <a:extLst>
              <a:ext uri="{FF2B5EF4-FFF2-40B4-BE49-F238E27FC236}">
                <a16:creationId xmlns:a16="http://schemas.microsoft.com/office/drawing/2014/main" id="{A76AFA2A-1AA1-503D-3645-5495058CF83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806315" y="2431227"/>
            <a:ext cx="4141723" cy="1983417"/>
          </a:xfrm>
          <a:prstGeom prst="rect">
            <a:avLst/>
          </a:prstGeom>
        </p:spPr>
      </p:pic>
      <p:pic>
        <p:nvPicPr>
          <p:cNvPr id="80" name="Picture 79">
            <a:extLst>
              <a:ext uri="{FF2B5EF4-FFF2-40B4-BE49-F238E27FC236}">
                <a16:creationId xmlns:a16="http://schemas.microsoft.com/office/drawing/2014/main" id="{B0A62C5A-1170-6901-11F2-FB8E93EE57E6}"/>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775" y="1586"/>
            <a:ext cx="5473201" cy="2736601"/>
          </a:xfrm>
          <a:prstGeom prst="rect">
            <a:avLst/>
          </a:prstGeom>
        </p:spPr>
      </p:pic>
      <p:sp>
        <p:nvSpPr>
          <p:cNvPr id="81" name="TextBox 80">
            <a:extLst>
              <a:ext uri="{FF2B5EF4-FFF2-40B4-BE49-F238E27FC236}">
                <a16:creationId xmlns:a16="http://schemas.microsoft.com/office/drawing/2014/main" id="{BB047B88-FD1C-8DA5-3449-A3624FB9C737}"/>
              </a:ext>
            </a:extLst>
          </p:cNvPr>
          <p:cNvSpPr txBox="1"/>
          <p:nvPr/>
        </p:nvSpPr>
        <p:spPr>
          <a:xfrm>
            <a:off x="602348" y="3833596"/>
            <a:ext cx="4264629" cy="300082"/>
          </a:xfrm>
          <a:prstGeom prst="rect">
            <a:avLst/>
          </a:prstGeom>
          <a:noFill/>
        </p:spPr>
        <p:txBody>
          <a:bodyPr wrap="none" rtlCol="0">
            <a:spAutoFit/>
          </a:bodyPr>
          <a:lstStyle/>
          <a:p>
            <a:r>
              <a:rPr lang="en-US" b="1" dirty="0"/>
              <a:t>Model contains delays and nonlinear activation </a:t>
            </a:r>
            <a:r>
              <a:rPr lang="en-US" b="1" dirty="0" err="1"/>
              <a:t>funtions</a:t>
            </a:r>
            <a:r>
              <a:rPr lang="en-US" b="1" dirty="0"/>
              <a:t>!</a:t>
            </a:r>
            <a:endParaRPr lang="en-NL" b="1"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6"/>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62"/>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40"/>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60"/>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42"/>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58"/>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81"/>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44"/>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46"/>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54"/>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7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70"/>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76"/>
                                        </p:tgtEl>
                                        <p:attrNameLst>
                                          <p:attrName>style.visibility</p:attrName>
                                        </p:attrNameLst>
                                      </p:cBhvr>
                                      <p:to>
                                        <p:strVal val="hidden"/>
                                      </p:to>
                                    </p:set>
                                  </p:childTnLst>
                                </p:cTn>
                              </p:par>
                              <p:par>
                                <p:cTn id="63" presetID="1" presetClass="entr" presetSubtype="0" fill="hold" nodeType="withEffect">
                                  <p:stCondLst>
                                    <p:cond delay="0"/>
                                  </p:stCondLst>
                                  <p:childTnLst>
                                    <p:set>
                                      <p:cBhvr>
                                        <p:cTn id="64" dur="1" fill="hold">
                                          <p:stCondLst>
                                            <p:cond delay="0"/>
                                          </p:stCondLst>
                                        </p:cTn>
                                        <p:tgtEl>
                                          <p:spTgt spid="7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0" grpId="0"/>
      <p:bldP spid="40" grpId="1"/>
      <p:bldP spid="42" grpId="0"/>
      <p:bldP spid="42" grpId="1"/>
      <p:bldP spid="44" grpId="0"/>
      <p:bldP spid="44" grpId="1"/>
      <p:bldP spid="46" grpId="0"/>
      <p:bldP spid="46" grpId="1"/>
      <p:bldP spid="81" grpId="0"/>
      <p:bldP spid="81"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p:txBody>
          <a:bodyPr/>
          <a:lstStyle/>
          <a:p>
            <a:r>
              <a:rPr lang="nb-NO" dirty="0"/>
              <a:t>Msc Defence T.M. Lenssen</a:t>
            </a:r>
            <a:endParaRPr lang="en-GB" dirty="0"/>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p:txBody>
          <a:bodyPr/>
          <a:lstStyle/>
          <a:p>
            <a:fld id="{C194BDB0-F4EA-4DD6-8281-CCE2440D0CE0}" type="slidenum">
              <a:rPr lang="en-GB" smtClean="0"/>
              <a:t>9</a:t>
            </a:fld>
            <a:endParaRPr lang="en-GB" dirty="0"/>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A8C7EF67-BB4A-F683-C28D-D5A8BAFBA5AD}"/>
                  </a:ext>
                </a:extLst>
              </p:cNvPr>
              <p:cNvSpPr txBox="1"/>
              <p:nvPr/>
            </p:nvSpPr>
            <p:spPr>
              <a:xfrm>
                <a:off x="-3872"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3872" y="2764593"/>
                <a:ext cx="5781907" cy="806054"/>
              </a:xfrm>
              <a:prstGeom prst="rect">
                <a:avLst/>
              </a:prstGeom>
              <a:blipFill>
                <a:blip r:embed="rId3"/>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B0D55E98-9D19-4C86-FAFE-5E1AC73F146C}"/>
                  </a:ext>
                </a:extLst>
              </p:cNvPr>
              <p:cNvSpPr txBox="1"/>
              <p:nvPr/>
            </p:nvSpPr>
            <p:spPr>
              <a:xfrm>
                <a:off x="-3873"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3873" y="2764593"/>
                <a:ext cx="5781907" cy="806054"/>
              </a:xfrm>
              <a:prstGeom prst="rect">
                <a:avLst/>
              </a:prstGeom>
              <a:blipFill>
                <a:blip r:embed="rId4"/>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5EA4E13B-D65C-4F93-08F7-A77D18F6681B}"/>
                  </a:ext>
                </a:extLst>
              </p:cNvPr>
              <p:cNvSpPr txBox="1"/>
              <p:nvPr/>
            </p:nvSpPr>
            <p:spPr>
              <a:xfrm>
                <a:off x="291010" y="2766358"/>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291010" y="2766358"/>
                <a:ext cx="5781907" cy="806054"/>
              </a:xfrm>
              <a:prstGeom prst="rect">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95961" y="2768110"/>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95961" y="2768110"/>
                <a:ext cx="5781907" cy="941989"/>
              </a:xfrm>
              <a:prstGeom prst="rect">
                <a:avLst/>
              </a:prstGeom>
              <a:blipFill>
                <a:blip r:embed="rId6"/>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95961" y="2764396"/>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solidFill>
                                <a:srgbClr val="00B050"/>
                              </a:solidFill>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95961" y="2764396"/>
                <a:ext cx="5781907" cy="941989"/>
              </a:xfrm>
              <a:prstGeom prst="rect">
                <a:avLst/>
              </a:prstGeom>
              <a:blipFill>
                <a:blip r:embed="rId7"/>
                <a:stretch>
                  <a:fillRect/>
                </a:stretch>
              </a:blipFill>
            </p:spPr>
            <p:txBody>
              <a:bodyPr/>
              <a:lstStyle/>
              <a:p>
                <a:r>
                  <a:rPr lang="en-NL">
                    <a:noFill/>
                  </a:rPr>
                  <a:t> </a:t>
                </a:r>
              </a:p>
            </p:txBody>
          </p:sp>
        </mc:Fallback>
      </mc:AlternateContent>
      <p:pic>
        <p:nvPicPr>
          <p:cNvPr id="54" name="Picture 53">
            <a:extLst>
              <a:ext uri="{FF2B5EF4-FFF2-40B4-BE49-F238E27FC236}">
                <a16:creationId xmlns:a16="http://schemas.microsoft.com/office/drawing/2014/main" id="{BF35C9FF-9988-E0C7-FA0A-D263F9A46A4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875" y="0"/>
            <a:ext cx="5477073" cy="2738537"/>
          </a:xfrm>
          <a:prstGeom prst="rect">
            <a:avLst/>
          </a:prstGeom>
        </p:spPr>
      </p:pic>
      <p:pic>
        <p:nvPicPr>
          <p:cNvPr id="56" name="Picture 55">
            <a:extLst>
              <a:ext uri="{FF2B5EF4-FFF2-40B4-BE49-F238E27FC236}">
                <a16:creationId xmlns:a16="http://schemas.microsoft.com/office/drawing/2014/main" id="{A0437D6B-690D-B962-050A-C998FB5BECB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195" y="1676"/>
            <a:ext cx="5477073" cy="2738537"/>
          </a:xfrm>
          <a:prstGeom prst="rect">
            <a:avLst/>
          </a:prstGeom>
        </p:spPr>
      </p:pic>
      <p:pic>
        <p:nvPicPr>
          <p:cNvPr id="58" name="Picture 57">
            <a:extLst>
              <a:ext uri="{FF2B5EF4-FFF2-40B4-BE49-F238E27FC236}">
                <a16:creationId xmlns:a16="http://schemas.microsoft.com/office/drawing/2014/main" id="{1101D39B-E912-2D21-F890-7BB31C6B45F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0" y="7270"/>
            <a:ext cx="5477073" cy="2738537"/>
          </a:xfrm>
          <a:prstGeom prst="rect">
            <a:avLst/>
          </a:prstGeom>
        </p:spPr>
      </p:pic>
      <p:pic>
        <p:nvPicPr>
          <p:cNvPr id="60" name="Picture 59">
            <a:extLst>
              <a:ext uri="{FF2B5EF4-FFF2-40B4-BE49-F238E27FC236}">
                <a16:creationId xmlns:a16="http://schemas.microsoft.com/office/drawing/2014/main" id="{B9CD20A1-6BEB-6EA2-2BBF-9A6F621E6D1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515" y="6570"/>
            <a:ext cx="5477073" cy="2738537"/>
          </a:xfrm>
          <a:prstGeom prst="rect">
            <a:avLst/>
          </a:prstGeom>
        </p:spPr>
      </p:pic>
      <p:pic>
        <p:nvPicPr>
          <p:cNvPr id="62" name="Picture 61">
            <a:extLst>
              <a:ext uri="{FF2B5EF4-FFF2-40B4-BE49-F238E27FC236}">
                <a16:creationId xmlns:a16="http://schemas.microsoft.com/office/drawing/2014/main" id="{217FFABE-4965-400E-98AE-95B556B0044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233" y="6920"/>
            <a:ext cx="5477073" cy="2738537"/>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0" y="4264604"/>
            <a:ext cx="1727781" cy="300082"/>
          </a:xfrm>
          <a:prstGeom prst="rect">
            <a:avLst/>
          </a:prstGeom>
          <a:noFill/>
        </p:spPr>
        <p:txBody>
          <a:bodyPr wrap="none" rtlCol="0">
            <a:spAutoFit/>
          </a:bodyPr>
          <a:lstStyle/>
          <a:p>
            <a:r>
              <a:rPr lang="en-US" dirty="0"/>
              <a:t>[2] Firing rate models</a:t>
            </a:r>
            <a:endParaRPr lang="en-NL" dirty="0"/>
          </a:p>
        </p:txBody>
      </p:sp>
      <p:pic>
        <p:nvPicPr>
          <p:cNvPr id="70" name="Picture 69">
            <a:extLst>
              <a:ext uri="{FF2B5EF4-FFF2-40B4-BE49-F238E27FC236}">
                <a16:creationId xmlns:a16="http://schemas.microsoft.com/office/drawing/2014/main" id="{3520ACB8-69C3-62CF-3EBF-E1398D6F2C2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22" y="10590"/>
            <a:ext cx="5477075" cy="2738538"/>
          </a:xfrm>
          <a:prstGeom prst="rect">
            <a:avLst/>
          </a:prstGeom>
        </p:spPr>
      </p:pic>
      <p:pic>
        <p:nvPicPr>
          <p:cNvPr id="76" name="Picture 75">
            <a:extLst>
              <a:ext uri="{FF2B5EF4-FFF2-40B4-BE49-F238E27FC236}">
                <a16:creationId xmlns:a16="http://schemas.microsoft.com/office/drawing/2014/main" id="{031C1F21-C0EF-60F6-448F-D767FC8EF650}"/>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794222" y="2056104"/>
            <a:ext cx="4108345" cy="2508582"/>
          </a:xfrm>
          <a:prstGeom prst="rect">
            <a:avLst/>
          </a:prstGeom>
        </p:spPr>
      </p:pic>
      <p:pic>
        <p:nvPicPr>
          <p:cNvPr id="78" name="Picture 77">
            <a:extLst>
              <a:ext uri="{FF2B5EF4-FFF2-40B4-BE49-F238E27FC236}">
                <a16:creationId xmlns:a16="http://schemas.microsoft.com/office/drawing/2014/main" id="{A76AFA2A-1AA1-503D-3645-5495058CF83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806315" y="2431227"/>
            <a:ext cx="4141723" cy="1983417"/>
          </a:xfrm>
          <a:prstGeom prst="rect">
            <a:avLst/>
          </a:prstGeom>
        </p:spPr>
      </p:pic>
      <p:pic>
        <p:nvPicPr>
          <p:cNvPr id="80" name="Picture 79">
            <a:extLst>
              <a:ext uri="{FF2B5EF4-FFF2-40B4-BE49-F238E27FC236}">
                <a16:creationId xmlns:a16="http://schemas.microsoft.com/office/drawing/2014/main" id="{B0A62C5A-1170-6901-11F2-FB8E93EE57E6}"/>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775" y="1586"/>
            <a:ext cx="5473201" cy="2736601"/>
          </a:xfrm>
          <a:prstGeom prst="rect">
            <a:avLst/>
          </a:prstGeom>
        </p:spPr>
      </p:pic>
      <p:sp>
        <p:nvSpPr>
          <p:cNvPr id="81" name="TextBox 80">
            <a:extLst>
              <a:ext uri="{FF2B5EF4-FFF2-40B4-BE49-F238E27FC236}">
                <a16:creationId xmlns:a16="http://schemas.microsoft.com/office/drawing/2014/main" id="{BB047B88-FD1C-8DA5-3449-A3624FB9C737}"/>
              </a:ext>
            </a:extLst>
          </p:cNvPr>
          <p:cNvSpPr txBox="1"/>
          <p:nvPr/>
        </p:nvSpPr>
        <p:spPr>
          <a:xfrm>
            <a:off x="602348" y="3833596"/>
            <a:ext cx="4264629" cy="300082"/>
          </a:xfrm>
          <a:prstGeom prst="rect">
            <a:avLst/>
          </a:prstGeom>
          <a:noFill/>
        </p:spPr>
        <p:txBody>
          <a:bodyPr wrap="none" rtlCol="0">
            <a:spAutoFit/>
          </a:bodyPr>
          <a:lstStyle/>
          <a:p>
            <a:r>
              <a:rPr lang="en-US" b="1" dirty="0"/>
              <a:t>Model contains delays and nonlinear activation </a:t>
            </a:r>
            <a:r>
              <a:rPr lang="en-US" b="1" dirty="0" err="1"/>
              <a:t>funtions</a:t>
            </a:r>
            <a:r>
              <a:rPr lang="en-US" b="1" dirty="0"/>
              <a:t>!</a:t>
            </a:r>
            <a:endParaRPr lang="en-NL" b="1"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6"/>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62"/>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40"/>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60"/>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42"/>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58"/>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81"/>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44"/>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46"/>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54"/>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7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70"/>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76"/>
                                        </p:tgtEl>
                                        <p:attrNameLst>
                                          <p:attrName>style.visibility</p:attrName>
                                        </p:attrNameLst>
                                      </p:cBhvr>
                                      <p:to>
                                        <p:strVal val="hidden"/>
                                      </p:to>
                                    </p:set>
                                  </p:childTnLst>
                                </p:cTn>
                              </p:par>
                              <p:par>
                                <p:cTn id="63" presetID="1" presetClass="entr" presetSubtype="0" fill="hold" nodeType="withEffect">
                                  <p:stCondLst>
                                    <p:cond delay="0"/>
                                  </p:stCondLst>
                                  <p:childTnLst>
                                    <p:set>
                                      <p:cBhvr>
                                        <p:cTn id="64" dur="1" fill="hold">
                                          <p:stCondLst>
                                            <p:cond delay="0"/>
                                          </p:stCondLst>
                                        </p:cTn>
                                        <p:tgtEl>
                                          <p:spTgt spid="7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0" grpId="0"/>
      <p:bldP spid="40" grpId="1"/>
      <p:bldP spid="42" grpId="0"/>
      <p:bldP spid="42" grpId="1"/>
      <p:bldP spid="44" grpId="0"/>
      <p:bldP spid="44" grpId="1"/>
      <p:bldP spid="46" grpId="0"/>
      <p:bldP spid="46" grpId="1"/>
      <p:bldP spid="81" grpId="0"/>
      <p:bldP spid="81"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p:txBody>
          <a:bodyPr/>
          <a:lstStyle/>
          <a:p>
            <a:r>
              <a:rPr lang="nb-NO" dirty="0"/>
              <a:t>Msc Defence T.M. Lenssen</a:t>
            </a:r>
            <a:endParaRPr lang="en-GB" dirty="0"/>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p:txBody>
          <a:bodyPr/>
          <a:lstStyle/>
          <a:p>
            <a:fld id="{C194BDB0-F4EA-4DD6-8281-CCE2440D0CE0}" type="slidenum">
              <a:rPr lang="en-GB" smtClean="0"/>
              <a:t>9</a:t>
            </a:fld>
            <a:endParaRPr lang="en-GB" dirty="0"/>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A8C7EF67-BB4A-F683-C28D-D5A8BAFBA5AD}"/>
                  </a:ext>
                </a:extLst>
              </p:cNvPr>
              <p:cNvSpPr txBox="1"/>
              <p:nvPr/>
            </p:nvSpPr>
            <p:spPr>
              <a:xfrm>
                <a:off x="-3872"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3872" y="2764593"/>
                <a:ext cx="5781907" cy="806054"/>
              </a:xfrm>
              <a:prstGeom prst="rect">
                <a:avLst/>
              </a:prstGeom>
              <a:blipFill>
                <a:blip r:embed="rId3"/>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B0D55E98-9D19-4C86-FAFE-5E1AC73F146C}"/>
                  </a:ext>
                </a:extLst>
              </p:cNvPr>
              <p:cNvSpPr txBox="1"/>
              <p:nvPr/>
            </p:nvSpPr>
            <p:spPr>
              <a:xfrm>
                <a:off x="-3873"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3873" y="2764593"/>
                <a:ext cx="5781907" cy="806054"/>
              </a:xfrm>
              <a:prstGeom prst="rect">
                <a:avLst/>
              </a:prstGeom>
              <a:blipFill>
                <a:blip r:embed="rId4"/>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5EA4E13B-D65C-4F93-08F7-A77D18F6681B}"/>
                  </a:ext>
                </a:extLst>
              </p:cNvPr>
              <p:cNvSpPr txBox="1"/>
              <p:nvPr/>
            </p:nvSpPr>
            <p:spPr>
              <a:xfrm>
                <a:off x="291010" y="2766358"/>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291010" y="2766358"/>
                <a:ext cx="5781907" cy="806054"/>
              </a:xfrm>
              <a:prstGeom prst="rect">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95961" y="2768110"/>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95961" y="2768110"/>
                <a:ext cx="5781907" cy="941989"/>
              </a:xfrm>
              <a:prstGeom prst="rect">
                <a:avLst/>
              </a:prstGeom>
              <a:blipFill>
                <a:blip r:embed="rId6"/>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95961" y="2764396"/>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solidFill>
                                <a:srgbClr val="00B050"/>
                              </a:solidFill>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95961" y="2764396"/>
                <a:ext cx="5781907" cy="941989"/>
              </a:xfrm>
              <a:prstGeom prst="rect">
                <a:avLst/>
              </a:prstGeom>
              <a:blipFill>
                <a:blip r:embed="rId7"/>
                <a:stretch>
                  <a:fillRect/>
                </a:stretch>
              </a:blipFill>
            </p:spPr>
            <p:txBody>
              <a:bodyPr/>
              <a:lstStyle/>
              <a:p>
                <a:r>
                  <a:rPr lang="en-NL">
                    <a:noFill/>
                  </a:rPr>
                  <a:t> </a:t>
                </a:r>
              </a:p>
            </p:txBody>
          </p:sp>
        </mc:Fallback>
      </mc:AlternateContent>
      <p:pic>
        <p:nvPicPr>
          <p:cNvPr id="54" name="Picture 53">
            <a:extLst>
              <a:ext uri="{FF2B5EF4-FFF2-40B4-BE49-F238E27FC236}">
                <a16:creationId xmlns:a16="http://schemas.microsoft.com/office/drawing/2014/main" id="{BF35C9FF-9988-E0C7-FA0A-D263F9A46A4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875" y="0"/>
            <a:ext cx="5477073" cy="2738537"/>
          </a:xfrm>
          <a:prstGeom prst="rect">
            <a:avLst/>
          </a:prstGeom>
        </p:spPr>
      </p:pic>
      <p:pic>
        <p:nvPicPr>
          <p:cNvPr id="56" name="Picture 55">
            <a:extLst>
              <a:ext uri="{FF2B5EF4-FFF2-40B4-BE49-F238E27FC236}">
                <a16:creationId xmlns:a16="http://schemas.microsoft.com/office/drawing/2014/main" id="{A0437D6B-690D-B962-050A-C998FB5BECB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195" y="1676"/>
            <a:ext cx="5477073" cy="2738537"/>
          </a:xfrm>
          <a:prstGeom prst="rect">
            <a:avLst/>
          </a:prstGeom>
        </p:spPr>
      </p:pic>
      <p:pic>
        <p:nvPicPr>
          <p:cNvPr id="58" name="Picture 57">
            <a:extLst>
              <a:ext uri="{FF2B5EF4-FFF2-40B4-BE49-F238E27FC236}">
                <a16:creationId xmlns:a16="http://schemas.microsoft.com/office/drawing/2014/main" id="{1101D39B-E912-2D21-F890-7BB31C6B45F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0" y="7270"/>
            <a:ext cx="5477073" cy="2738537"/>
          </a:xfrm>
          <a:prstGeom prst="rect">
            <a:avLst/>
          </a:prstGeom>
        </p:spPr>
      </p:pic>
      <p:pic>
        <p:nvPicPr>
          <p:cNvPr id="60" name="Picture 59">
            <a:extLst>
              <a:ext uri="{FF2B5EF4-FFF2-40B4-BE49-F238E27FC236}">
                <a16:creationId xmlns:a16="http://schemas.microsoft.com/office/drawing/2014/main" id="{B9CD20A1-6BEB-6EA2-2BBF-9A6F621E6D1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515" y="6570"/>
            <a:ext cx="5477073" cy="2738537"/>
          </a:xfrm>
          <a:prstGeom prst="rect">
            <a:avLst/>
          </a:prstGeom>
        </p:spPr>
      </p:pic>
      <p:pic>
        <p:nvPicPr>
          <p:cNvPr id="62" name="Picture 61">
            <a:extLst>
              <a:ext uri="{FF2B5EF4-FFF2-40B4-BE49-F238E27FC236}">
                <a16:creationId xmlns:a16="http://schemas.microsoft.com/office/drawing/2014/main" id="{217FFABE-4965-400E-98AE-95B556B0044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233" y="6920"/>
            <a:ext cx="5477073" cy="2738537"/>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0" y="4264604"/>
            <a:ext cx="1727781" cy="300082"/>
          </a:xfrm>
          <a:prstGeom prst="rect">
            <a:avLst/>
          </a:prstGeom>
          <a:noFill/>
        </p:spPr>
        <p:txBody>
          <a:bodyPr wrap="none" rtlCol="0">
            <a:spAutoFit/>
          </a:bodyPr>
          <a:lstStyle/>
          <a:p>
            <a:r>
              <a:rPr lang="en-US" dirty="0"/>
              <a:t>[2] Firing rate models</a:t>
            </a:r>
            <a:endParaRPr lang="en-NL" dirty="0"/>
          </a:p>
        </p:txBody>
      </p:sp>
      <p:pic>
        <p:nvPicPr>
          <p:cNvPr id="70" name="Picture 69">
            <a:extLst>
              <a:ext uri="{FF2B5EF4-FFF2-40B4-BE49-F238E27FC236}">
                <a16:creationId xmlns:a16="http://schemas.microsoft.com/office/drawing/2014/main" id="{3520ACB8-69C3-62CF-3EBF-E1398D6F2C2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22" y="10590"/>
            <a:ext cx="5477075" cy="2738538"/>
          </a:xfrm>
          <a:prstGeom prst="rect">
            <a:avLst/>
          </a:prstGeom>
        </p:spPr>
      </p:pic>
      <p:pic>
        <p:nvPicPr>
          <p:cNvPr id="76" name="Picture 75">
            <a:extLst>
              <a:ext uri="{FF2B5EF4-FFF2-40B4-BE49-F238E27FC236}">
                <a16:creationId xmlns:a16="http://schemas.microsoft.com/office/drawing/2014/main" id="{031C1F21-C0EF-60F6-448F-D767FC8EF650}"/>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794222" y="2056104"/>
            <a:ext cx="4108345" cy="2508582"/>
          </a:xfrm>
          <a:prstGeom prst="rect">
            <a:avLst/>
          </a:prstGeom>
        </p:spPr>
      </p:pic>
      <p:pic>
        <p:nvPicPr>
          <p:cNvPr id="78" name="Picture 77">
            <a:extLst>
              <a:ext uri="{FF2B5EF4-FFF2-40B4-BE49-F238E27FC236}">
                <a16:creationId xmlns:a16="http://schemas.microsoft.com/office/drawing/2014/main" id="{A76AFA2A-1AA1-503D-3645-5495058CF83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806315" y="2431227"/>
            <a:ext cx="4141723" cy="1983417"/>
          </a:xfrm>
          <a:prstGeom prst="rect">
            <a:avLst/>
          </a:prstGeom>
        </p:spPr>
      </p:pic>
      <p:pic>
        <p:nvPicPr>
          <p:cNvPr id="80" name="Picture 79">
            <a:extLst>
              <a:ext uri="{FF2B5EF4-FFF2-40B4-BE49-F238E27FC236}">
                <a16:creationId xmlns:a16="http://schemas.microsoft.com/office/drawing/2014/main" id="{B0A62C5A-1170-6901-11F2-FB8E93EE57E6}"/>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775" y="1586"/>
            <a:ext cx="5473201" cy="2736601"/>
          </a:xfrm>
          <a:prstGeom prst="rect">
            <a:avLst/>
          </a:prstGeom>
        </p:spPr>
      </p:pic>
      <p:sp>
        <p:nvSpPr>
          <p:cNvPr id="81" name="TextBox 80">
            <a:extLst>
              <a:ext uri="{FF2B5EF4-FFF2-40B4-BE49-F238E27FC236}">
                <a16:creationId xmlns:a16="http://schemas.microsoft.com/office/drawing/2014/main" id="{BB047B88-FD1C-8DA5-3449-A3624FB9C737}"/>
              </a:ext>
            </a:extLst>
          </p:cNvPr>
          <p:cNvSpPr txBox="1"/>
          <p:nvPr/>
        </p:nvSpPr>
        <p:spPr>
          <a:xfrm>
            <a:off x="602348" y="3833596"/>
            <a:ext cx="4264629" cy="300082"/>
          </a:xfrm>
          <a:prstGeom prst="rect">
            <a:avLst/>
          </a:prstGeom>
          <a:noFill/>
        </p:spPr>
        <p:txBody>
          <a:bodyPr wrap="none" rtlCol="0">
            <a:spAutoFit/>
          </a:bodyPr>
          <a:lstStyle/>
          <a:p>
            <a:r>
              <a:rPr lang="en-US" b="1" dirty="0"/>
              <a:t>Model contains delays and nonlinear activation </a:t>
            </a:r>
            <a:r>
              <a:rPr lang="en-US" b="1" dirty="0" err="1"/>
              <a:t>funtions</a:t>
            </a:r>
            <a:r>
              <a:rPr lang="en-US" b="1" dirty="0"/>
              <a:t>!</a:t>
            </a:r>
            <a:endParaRPr lang="en-NL" b="1"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6"/>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62"/>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40"/>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60"/>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42"/>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58"/>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81"/>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44"/>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46"/>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54"/>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7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70"/>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76"/>
                                        </p:tgtEl>
                                        <p:attrNameLst>
                                          <p:attrName>style.visibility</p:attrName>
                                        </p:attrNameLst>
                                      </p:cBhvr>
                                      <p:to>
                                        <p:strVal val="hidden"/>
                                      </p:to>
                                    </p:set>
                                  </p:childTnLst>
                                </p:cTn>
                              </p:par>
                              <p:par>
                                <p:cTn id="63" presetID="1" presetClass="entr" presetSubtype="0" fill="hold" nodeType="withEffect">
                                  <p:stCondLst>
                                    <p:cond delay="0"/>
                                  </p:stCondLst>
                                  <p:childTnLst>
                                    <p:set>
                                      <p:cBhvr>
                                        <p:cTn id="64" dur="1" fill="hold">
                                          <p:stCondLst>
                                            <p:cond delay="0"/>
                                          </p:stCondLst>
                                        </p:cTn>
                                        <p:tgtEl>
                                          <p:spTgt spid="7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0" grpId="0"/>
      <p:bldP spid="40" grpId="1"/>
      <p:bldP spid="42" grpId="0"/>
      <p:bldP spid="42" grpId="1"/>
      <p:bldP spid="44" grpId="0"/>
      <p:bldP spid="44" grpId="1"/>
      <p:bldP spid="46" grpId="0"/>
      <p:bldP spid="46" grpId="1"/>
      <p:bldP spid="81" grpId="0"/>
      <p:bldP spid="81"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p:txBody>
          <a:bodyPr/>
          <a:lstStyle/>
          <a:p>
            <a:r>
              <a:rPr lang="nb-NO" dirty="0"/>
              <a:t>Msc Defence T.M. Lenssen</a:t>
            </a:r>
            <a:endParaRPr lang="en-GB" dirty="0"/>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p:txBody>
          <a:bodyPr/>
          <a:lstStyle/>
          <a:p>
            <a:fld id="{C194BDB0-F4EA-4DD6-8281-CCE2440D0CE0}" type="slidenum">
              <a:rPr lang="en-GB" smtClean="0"/>
              <a:t>9</a:t>
            </a:fld>
            <a:endParaRPr lang="en-GB" dirty="0"/>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A8C7EF67-BB4A-F683-C28D-D5A8BAFBA5AD}"/>
                  </a:ext>
                </a:extLst>
              </p:cNvPr>
              <p:cNvSpPr txBox="1"/>
              <p:nvPr/>
            </p:nvSpPr>
            <p:spPr>
              <a:xfrm>
                <a:off x="-3872"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3872" y="2764593"/>
                <a:ext cx="5781907" cy="806054"/>
              </a:xfrm>
              <a:prstGeom prst="rect">
                <a:avLst/>
              </a:prstGeom>
              <a:blipFill>
                <a:blip r:embed="rId3"/>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B0D55E98-9D19-4C86-FAFE-5E1AC73F146C}"/>
                  </a:ext>
                </a:extLst>
              </p:cNvPr>
              <p:cNvSpPr txBox="1"/>
              <p:nvPr/>
            </p:nvSpPr>
            <p:spPr>
              <a:xfrm>
                <a:off x="-3873"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3873" y="2764593"/>
                <a:ext cx="5781907" cy="806054"/>
              </a:xfrm>
              <a:prstGeom prst="rect">
                <a:avLst/>
              </a:prstGeom>
              <a:blipFill>
                <a:blip r:embed="rId4"/>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5EA4E13B-D65C-4F93-08F7-A77D18F6681B}"/>
                  </a:ext>
                </a:extLst>
              </p:cNvPr>
              <p:cNvSpPr txBox="1"/>
              <p:nvPr/>
            </p:nvSpPr>
            <p:spPr>
              <a:xfrm>
                <a:off x="291010" y="2766358"/>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291010" y="2766358"/>
                <a:ext cx="5781907" cy="806054"/>
              </a:xfrm>
              <a:prstGeom prst="rect">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95961" y="2768110"/>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95961" y="2768110"/>
                <a:ext cx="5781907" cy="941989"/>
              </a:xfrm>
              <a:prstGeom prst="rect">
                <a:avLst/>
              </a:prstGeom>
              <a:blipFill>
                <a:blip r:embed="rId6"/>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95961" y="2764396"/>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solidFill>
                                <a:srgbClr val="00B050"/>
                              </a:solidFill>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95961" y="2764396"/>
                <a:ext cx="5781907" cy="941989"/>
              </a:xfrm>
              <a:prstGeom prst="rect">
                <a:avLst/>
              </a:prstGeom>
              <a:blipFill>
                <a:blip r:embed="rId7"/>
                <a:stretch>
                  <a:fillRect/>
                </a:stretch>
              </a:blipFill>
            </p:spPr>
            <p:txBody>
              <a:bodyPr/>
              <a:lstStyle/>
              <a:p>
                <a:r>
                  <a:rPr lang="en-NL">
                    <a:noFill/>
                  </a:rPr>
                  <a:t> </a:t>
                </a:r>
              </a:p>
            </p:txBody>
          </p:sp>
        </mc:Fallback>
      </mc:AlternateContent>
      <p:pic>
        <p:nvPicPr>
          <p:cNvPr id="54" name="Picture 53">
            <a:extLst>
              <a:ext uri="{FF2B5EF4-FFF2-40B4-BE49-F238E27FC236}">
                <a16:creationId xmlns:a16="http://schemas.microsoft.com/office/drawing/2014/main" id="{BF35C9FF-9988-E0C7-FA0A-D263F9A46A4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875" y="0"/>
            <a:ext cx="5477073" cy="2738537"/>
          </a:xfrm>
          <a:prstGeom prst="rect">
            <a:avLst/>
          </a:prstGeom>
        </p:spPr>
      </p:pic>
      <p:pic>
        <p:nvPicPr>
          <p:cNvPr id="56" name="Picture 55">
            <a:extLst>
              <a:ext uri="{FF2B5EF4-FFF2-40B4-BE49-F238E27FC236}">
                <a16:creationId xmlns:a16="http://schemas.microsoft.com/office/drawing/2014/main" id="{A0437D6B-690D-B962-050A-C998FB5BECB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195" y="1676"/>
            <a:ext cx="5477073" cy="2738537"/>
          </a:xfrm>
          <a:prstGeom prst="rect">
            <a:avLst/>
          </a:prstGeom>
        </p:spPr>
      </p:pic>
      <p:pic>
        <p:nvPicPr>
          <p:cNvPr id="58" name="Picture 57">
            <a:extLst>
              <a:ext uri="{FF2B5EF4-FFF2-40B4-BE49-F238E27FC236}">
                <a16:creationId xmlns:a16="http://schemas.microsoft.com/office/drawing/2014/main" id="{1101D39B-E912-2D21-F890-7BB31C6B45F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0" y="7270"/>
            <a:ext cx="5477073" cy="2738537"/>
          </a:xfrm>
          <a:prstGeom prst="rect">
            <a:avLst/>
          </a:prstGeom>
        </p:spPr>
      </p:pic>
      <p:pic>
        <p:nvPicPr>
          <p:cNvPr id="60" name="Picture 59">
            <a:extLst>
              <a:ext uri="{FF2B5EF4-FFF2-40B4-BE49-F238E27FC236}">
                <a16:creationId xmlns:a16="http://schemas.microsoft.com/office/drawing/2014/main" id="{B9CD20A1-6BEB-6EA2-2BBF-9A6F621E6D1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515" y="6570"/>
            <a:ext cx="5477073" cy="2738537"/>
          </a:xfrm>
          <a:prstGeom prst="rect">
            <a:avLst/>
          </a:prstGeom>
        </p:spPr>
      </p:pic>
      <p:pic>
        <p:nvPicPr>
          <p:cNvPr id="62" name="Picture 61">
            <a:extLst>
              <a:ext uri="{FF2B5EF4-FFF2-40B4-BE49-F238E27FC236}">
                <a16:creationId xmlns:a16="http://schemas.microsoft.com/office/drawing/2014/main" id="{217FFABE-4965-400E-98AE-95B556B0044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233" y="6920"/>
            <a:ext cx="5477073" cy="2738537"/>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0" y="4264604"/>
            <a:ext cx="1727781" cy="300082"/>
          </a:xfrm>
          <a:prstGeom prst="rect">
            <a:avLst/>
          </a:prstGeom>
          <a:noFill/>
        </p:spPr>
        <p:txBody>
          <a:bodyPr wrap="none" rtlCol="0">
            <a:spAutoFit/>
          </a:bodyPr>
          <a:lstStyle/>
          <a:p>
            <a:r>
              <a:rPr lang="en-US" dirty="0"/>
              <a:t>[2] Firing rate models</a:t>
            </a:r>
            <a:endParaRPr lang="en-NL" dirty="0"/>
          </a:p>
        </p:txBody>
      </p:sp>
      <p:pic>
        <p:nvPicPr>
          <p:cNvPr id="70" name="Picture 69">
            <a:extLst>
              <a:ext uri="{FF2B5EF4-FFF2-40B4-BE49-F238E27FC236}">
                <a16:creationId xmlns:a16="http://schemas.microsoft.com/office/drawing/2014/main" id="{3520ACB8-69C3-62CF-3EBF-E1398D6F2C2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22" y="10590"/>
            <a:ext cx="5477075" cy="2738538"/>
          </a:xfrm>
          <a:prstGeom prst="rect">
            <a:avLst/>
          </a:prstGeom>
        </p:spPr>
      </p:pic>
      <p:pic>
        <p:nvPicPr>
          <p:cNvPr id="76" name="Picture 75">
            <a:extLst>
              <a:ext uri="{FF2B5EF4-FFF2-40B4-BE49-F238E27FC236}">
                <a16:creationId xmlns:a16="http://schemas.microsoft.com/office/drawing/2014/main" id="{031C1F21-C0EF-60F6-448F-D767FC8EF650}"/>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794222" y="2056104"/>
            <a:ext cx="4108345" cy="2508582"/>
          </a:xfrm>
          <a:prstGeom prst="rect">
            <a:avLst/>
          </a:prstGeom>
        </p:spPr>
      </p:pic>
      <p:pic>
        <p:nvPicPr>
          <p:cNvPr id="78" name="Picture 77">
            <a:extLst>
              <a:ext uri="{FF2B5EF4-FFF2-40B4-BE49-F238E27FC236}">
                <a16:creationId xmlns:a16="http://schemas.microsoft.com/office/drawing/2014/main" id="{A76AFA2A-1AA1-503D-3645-5495058CF83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806315" y="2431227"/>
            <a:ext cx="4141723" cy="1983417"/>
          </a:xfrm>
          <a:prstGeom prst="rect">
            <a:avLst/>
          </a:prstGeom>
        </p:spPr>
      </p:pic>
      <p:pic>
        <p:nvPicPr>
          <p:cNvPr id="80" name="Picture 79">
            <a:extLst>
              <a:ext uri="{FF2B5EF4-FFF2-40B4-BE49-F238E27FC236}">
                <a16:creationId xmlns:a16="http://schemas.microsoft.com/office/drawing/2014/main" id="{B0A62C5A-1170-6901-11F2-FB8E93EE57E6}"/>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775" y="1586"/>
            <a:ext cx="5473201" cy="2736601"/>
          </a:xfrm>
          <a:prstGeom prst="rect">
            <a:avLst/>
          </a:prstGeom>
        </p:spPr>
      </p:pic>
      <p:sp>
        <p:nvSpPr>
          <p:cNvPr id="81" name="TextBox 80">
            <a:extLst>
              <a:ext uri="{FF2B5EF4-FFF2-40B4-BE49-F238E27FC236}">
                <a16:creationId xmlns:a16="http://schemas.microsoft.com/office/drawing/2014/main" id="{BB047B88-FD1C-8DA5-3449-A3624FB9C737}"/>
              </a:ext>
            </a:extLst>
          </p:cNvPr>
          <p:cNvSpPr txBox="1"/>
          <p:nvPr/>
        </p:nvSpPr>
        <p:spPr>
          <a:xfrm>
            <a:off x="602348" y="3833596"/>
            <a:ext cx="4264629" cy="300082"/>
          </a:xfrm>
          <a:prstGeom prst="rect">
            <a:avLst/>
          </a:prstGeom>
          <a:noFill/>
        </p:spPr>
        <p:txBody>
          <a:bodyPr wrap="none" rtlCol="0">
            <a:spAutoFit/>
          </a:bodyPr>
          <a:lstStyle/>
          <a:p>
            <a:r>
              <a:rPr lang="en-US" b="1" dirty="0"/>
              <a:t>Model contains delays and nonlinear activation </a:t>
            </a:r>
            <a:r>
              <a:rPr lang="en-US" b="1" dirty="0" err="1"/>
              <a:t>funtions</a:t>
            </a:r>
            <a:r>
              <a:rPr lang="en-US" b="1" dirty="0"/>
              <a:t>!</a:t>
            </a:r>
            <a:endParaRPr lang="en-NL" b="1"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6"/>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62"/>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40"/>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60"/>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42"/>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58"/>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81"/>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44"/>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46"/>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54"/>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7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70"/>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76"/>
                                        </p:tgtEl>
                                        <p:attrNameLst>
                                          <p:attrName>style.visibility</p:attrName>
                                        </p:attrNameLst>
                                      </p:cBhvr>
                                      <p:to>
                                        <p:strVal val="hidden"/>
                                      </p:to>
                                    </p:set>
                                  </p:childTnLst>
                                </p:cTn>
                              </p:par>
                              <p:par>
                                <p:cTn id="63" presetID="1" presetClass="entr" presetSubtype="0" fill="hold" nodeType="withEffect">
                                  <p:stCondLst>
                                    <p:cond delay="0"/>
                                  </p:stCondLst>
                                  <p:childTnLst>
                                    <p:set>
                                      <p:cBhvr>
                                        <p:cTn id="64" dur="1" fill="hold">
                                          <p:stCondLst>
                                            <p:cond delay="0"/>
                                          </p:stCondLst>
                                        </p:cTn>
                                        <p:tgtEl>
                                          <p:spTgt spid="7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0" grpId="0"/>
      <p:bldP spid="40" grpId="1"/>
      <p:bldP spid="42" grpId="0"/>
      <p:bldP spid="42" grpId="1"/>
      <p:bldP spid="44" grpId="0"/>
      <p:bldP spid="44" grpId="1"/>
      <p:bldP spid="46" grpId="0"/>
      <p:bldP spid="46" grpId="1"/>
      <p:bldP spid="81" grpId="0"/>
      <p:bldP spid="81"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p:txBody>
          <a:bodyPr/>
          <a:lstStyle/>
          <a:p>
            <a:r>
              <a:rPr lang="en-US" dirty="0"/>
              <a:t>References</a:t>
            </a:r>
            <a:endParaRPr lang="en-NL" dirty="0"/>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p:txBody>
          <a:bodyPr/>
          <a:lstStyle/>
          <a:p>
            <a:r>
              <a:rPr lang="nb-NO"/>
              <a:t>Msc Defence T.M. Lenssen</a:t>
            </a:r>
            <a:endParaRPr lang="en-GB" dirty="0"/>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p:txBody>
          <a:bodyPr/>
          <a:lstStyle/>
          <a:p>
            <a:fld id="{C194BDB0-F4EA-4DD6-8281-CCE2440D0CE0}" type="slidenum">
              <a:rPr lang="en-GB" smtClean="0"/>
              <a:t>10</a:t>
            </a:fld>
            <a:endParaRPr lang="en-GB" dirty="0"/>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p:txBody>
          <a:bodyPr/>
          <a:lstStyle/>
          <a:p>
            <a:r>
              <a:rPr lang="en-US" dirty="0"/>
              <a:t>[1] </a:t>
            </a:r>
            <a:r>
              <a:rPr lang="en-US" dirty="0" err="1"/>
              <a:t>B.De</a:t>
            </a:r>
            <a:r>
              <a:rPr lang="en-US" dirty="0"/>
              <a:t> la </a:t>
            </a:r>
            <a:r>
              <a:rPr lang="en-US" dirty="0" err="1"/>
              <a:t>Crompe</a:t>
            </a:r>
            <a:r>
              <a:rPr lang="en-US" dirty="0"/>
              <a:t>, </a:t>
            </a:r>
            <a:r>
              <a:rPr lang="en-US" dirty="0" err="1"/>
              <a:t>M.Deffains</a:t>
            </a:r>
            <a:r>
              <a:rPr lang="en-US" dirty="0"/>
              <a:t>, </a:t>
            </a:r>
            <a:r>
              <a:rPr lang="en-US" dirty="0" err="1"/>
              <a:t>A.Leblois</a:t>
            </a:r>
            <a:r>
              <a:rPr lang="en-US" dirty="0"/>
              <a:t>, </a:t>
            </a:r>
            <a:r>
              <a:rPr lang="en-US" dirty="0" err="1"/>
              <a:t>N.Mallet</a:t>
            </a:r>
            <a:r>
              <a:rPr lang="en-US" dirty="0"/>
              <a:t>, “Reevaluating the role of the STN-</a:t>
            </a:r>
            <a:r>
              <a:rPr lang="en-US" dirty="0" err="1"/>
              <a:t>Gpe</a:t>
            </a:r>
            <a:r>
              <a:rPr lang="en-US" dirty="0"/>
              <a:t> network in generating beta synchronized oscillatory activity in parkinsonism.”</a:t>
            </a:r>
          </a:p>
          <a:p>
            <a:r>
              <a:rPr lang="en-US" dirty="0"/>
              <a:t>[2]A.J. Nevado </a:t>
            </a:r>
            <a:r>
              <a:rPr lang="en-US" dirty="0" err="1"/>
              <a:t>Holgade</a:t>
            </a:r>
            <a:r>
              <a:rPr lang="en-US" dirty="0"/>
              <a:t>, </a:t>
            </a:r>
            <a:r>
              <a:rPr lang="en-US" dirty="0" err="1"/>
              <a:t>J.R.Terry,R.Bogacz</a:t>
            </a:r>
            <a:r>
              <a:rPr lang="en-US" dirty="0"/>
              <a:t>, “Conditions for the Generation of Beta Oscillations in the Subthalamic Nucleus-Globus Pallidus Network”</a:t>
            </a:r>
          </a:p>
        </p:txBody>
      </p:sp>
    </p:spTree>
    <p:extLst>
      <p:ext uri="{BB962C8B-B14F-4D97-AF65-F5344CB8AC3E}">
        <p14:creationId xmlns:p14="http://schemas.microsoft.com/office/powerpoint/2010/main" val="3922683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p:txBody>
          <a:bodyPr/>
          <a:lstStyle/>
          <a:p>
            <a:r>
              <a:rPr lang="nb-NO"/>
              <a:t>Msc Defence T.M. Lenssen</a:t>
            </a:r>
            <a:endParaRPr lang="en-GB" dirty="0"/>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p:txBody>
          <a:bodyPr/>
          <a:lstStyle/>
          <a:p>
            <a:fld id="{C194BDB0-F4EA-4DD6-8281-CCE2440D0CE0}" type="slidenum">
              <a:rPr lang="en-GB" smtClean="0"/>
              <a:t>11</a:t>
            </a:fld>
            <a:endParaRPr lang="en-GB" dirty="0"/>
          </a:p>
        </p:txBody>
      </p:sp>
      <p:sp>
        <p:nvSpPr>
          <p:cNvPr id="6" name="TextBox 5">
            <a:extLst>
              <a:ext uri="{FF2B5EF4-FFF2-40B4-BE49-F238E27FC236}">
                <a16:creationId xmlns:a16="http://schemas.microsoft.com/office/drawing/2014/main" id="{3412D5D6-0185-91C2-2A41-6C3B78B8A65C}"/>
              </a:ext>
            </a:extLst>
          </p:cNvPr>
          <p:cNvSpPr txBox="1"/>
          <p:nvPr/>
        </p:nvSpPr>
        <p:spPr>
          <a:xfrm>
            <a:off x="986980" y="817582"/>
            <a:ext cx="7170040" cy="300082"/>
          </a:xfrm>
          <a:prstGeom prst="rect">
            <a:avLst/>
          </a:prstGeom>
          <a:noFill/>
        </p:spPr>
        <p:txBody>
          <a:bodyPr wrap="none" rtlCol="0">
            <a:spAutoFit/>
          </a:bodyPr>
          <a:lstStyle/>
          <a:p>
            <a:r>
              <a:rPr lang="en-US" dirty="0"/>
              <a:t>Goal: Can we find a single tool to </a:t>
            </a:r>
            <a:r>
              <a:rPr lang="en-US" dirty="0" err="1"/>
              <a:t>analyse</a:t>
            </a:r>
            <a:r>
              <a:rPr lang="en-US" dirty="0"/>
              <a:t> and control a large class of Partial Integral Equations(PIE)?</a:t>
            </a:r>
            <a:endParaRPr lang="en-NL" dirty="0"/>
          </a:p>
        </p:txBody>
      </p:sp>
      <p:sp>
        <p:nvSpPr>
          <p:cNvPr id="7" name="TextBox 6">
            <a:extLst>
              <a:ext uri="{FF2B5EF4-FFF2-40B4-BE49-F238E27FC236}">
                <a16:creationId xmlns:a16="http://schemas.microsoft.com/office/drawing/2014/main" id="{1E839C8E-BE40-063E-7661-6AADA38550E1}"/>
              </a:ext>
            </a:extLst>
          </p:cNvPr>
          <p:cNvSpPr txBox="1"/>
          <p:nvPr/>
        </p:nvSpPr>
        <p:spPr>
          <a:xfrm>
            <a:off x="2786231" y="1430767"/>
            <a:ext cx="2725746" cy="715581"/>
          </a:xfrm>
          <a:prstGeom prst="rect">
            <a:avLst/>
          </a:prstGeom>
          <a:noFill/>
        </p:spPr>
        <p:txBody>
          <a:bodyPr wrap="none" rtlCol="0">
            <a:spAutoFit/>
          </a:bodyPr>
          <a:lstStyle/>
          <a:p>
            <a:pPr marL="285750" indent="-285750">
              <a:buFont typeface="Arial" panose="020B0604020202020204" pitchFamily="34" charset="0"/>
              <a:buChar char="•"/>
            </a:pPr>
            <a:r>
              <a:rPr lang="en-US" dirty="0"/>
              <a:t>Analysis capabilities</a:t>
            </a:r>
          </a:p>
          <a:p>
            <a:pPr marL="285750" indent="-285750">
              <a:buFont typeface="Arial" panose="020B0604020202020204" pitchFamily="34" charset="0"/>
              <a:buChar char="•"/>
            </a:pPr>
            <a:r>
              <a:rPr lang="en-US" dirty="0"/>
              <a:t>Duality argument</a:t>
            </a:r>
          </a:p>
          <a:p>
            <a:pPr marL="285750" indent="-285750">
              <a:buFont typeface="Arial" panose="020B0604020202020204" pitchFamily="34" charset="0"/>
              <a:buChar char="•"/>
            </a:pPr>
            <a:r>
              <a:rPr lang="en-US" dirty="0"/>
              <a:t>Convex state feedback synthesis</a:t>
            </a:r>
            <a:endParaRPr lang="en-NL" dirty="0"/>
          </a:p>
        </p:txBody>
      </p:sp>
    </p:spTree>
    <p:extLst>
      <p:ext uri="{BB962C8B-B14F-4D97-AF65-F5344CB8AC3E}">
        <p14:creationId xmlns:p14="http://schemas.microsoft.com/office/powerpoint/2010/main" val="4073738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Kantoorthema">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TUe_Calibri">
      <a:majorFont>
        <a:latin typeface="Calibri"/>
        <a:ea typeface=""/>
        <a:cs typeface=""/>
      </a:majorFont>
      <a:minorFont>
        <a:latin typeface="Calibri"/>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_16x9.potx"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2077</TotalTime>
  <Words>1323</Words>
  <Application>Microsoft Office PowerPoint</Application>
  <PresentationFormat>On-screen Show (16:9)</PresentationFormat>
  <Paragraphs>108</Paragraphs>
  <Slides>11</Slides>
  <Notes>7</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 Math</vt:lpstr>
      <vt:lpstr>Kantoorthema</vt:lpstr>
      <vt:lpstr>Dual Integral Quadratic Constraints for Robust Control of Partial Integral Equations </vt:lpstr>
      <vt:lpstr>Rigid body representation Ordinary Differential Equation (ODE)</vt:lpstr>
      <vt:lpstr>PowerPoint Presentation</vt:lpstr>
      <vt:lpstr>Partial Integral Equations</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8</cp:revision>
  <dcterms:created xsi:type="dcterms:W3CDTF">2019-11-27T15:26:32Z</dcterms:created>
  <dcterms:modified xsi:type="dcterms:W3CDTF">2026-09-23T15:34:01Z</dcterms:modified>
</cp:coreProperties>
</file>