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3"/>
  </p:notesMasterIdLst>
  <p:sldIdLst>
    <p:sldId id="268" r:id="rId2"/>
    <p:sldId id="271" r:id="rId3"/>
    <p:sldId id="269" r:id="rId4"/>
    <p:sldId id="272" r:id="rId5"/>
    <p:sldId id="273" r:id="rId6"/>
    <p:sldId id="274" r:id="rId7"/>
    <p:sldId id="275" r:id="rId8"/>
    <p:sldId id="276" r:id="rId9"/>
    <p:sldId id="277" r:id="rId10"/>
    <p:sldId id="278" r:id="rId11"/>
    <p:sldId id="279" r:id="rId12"/>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clrMru>
    <a:srgbClr val="FFFFFF"/>
    <a:srgbClr val="000000"/>
    <a:srgbClr val="EEE8E8"/>
  </p:clrMru>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63568" autoAdjust="0"/>
  </p:normalViewPr>
  <p:slideViewPr>
    <p:cSldViewPr snapToGrid="0" showGuides="1">
      <p:cViewPr varScale="1">
        <p:scale>
          <a:sx n="89" d="100"/>
          <a:sy n="89" d="100"/>
        </p:scale>
        <p:origin x="792" y="84"/>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23/09/2026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mn-lt"/>
                        <a:ea typeface="+mn-ea"/>
                        <a:cs typeface="+mn-cs"/>
                      </a:rPr>
                      <m:t>𝛿</m:t>
                    </m:r>
                  </m:oMath>
                </a14:m>
                <a:r>
                  <a:rPr lang="en-NL" dirty="0"/>
                  <a:t>. As we increase </a:t>
                </a:r>
                <a14:m>
                  <m:oMath xmlns:m="http://schemas.openxmlformats.org/officeDocument/2006/math">
                    <m:r>
                      <a:rPr lang="en-NL" sz="900" i="1" kern="1200">
                        <a:solidFill>
                          <a:schemeClr val="tx1"/>
                        </a:solidFill>
                        <a:latin typeface="+mn-lt"/>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mn-lt"/>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mn-lt"/>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5</a:t>
            </a:fld>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current consensus around the inner workings of the basal ganglia</a:t>
            </a:r>
          </a:p>
          <a:p>
            <a:endParaRPr lang="en-US" dirty="0"/>
          </a:p>
          <a:p>
            <a:r>
              <a:rPr lang="en-US" dirty="0"/>
              <a:t>Dit </a:t>
            </a:r>
            <a:r>
              <a:rPr lang="en-US" dirty="0" err="1"/>
              <a:t>laat</a:t>
            </a:r>
            <a:r>
              <a:rPr lang="en-US" dirty="0"/>
              <a:t> de </a:t>
            </a:r>
            <a:r>
              <a:rPr lang="en-US" dirty="0" err="1"/>
              <a:t>connectie</a:t>
            </a:r>
            <a:r>
              <a:rPr lang="en-US" dirty="0"/>
              <a:t> </a:t>
            </a:r>
            <a:r>
              <a:rPr lang="en-US" dirty="0" err="1"/>
              <a:t>tussen</a:t>
            </a:r>
            <a:r>
              <a:rPr lang="en-US" dirty="0"/>
              <a:t> de </a:t>
            </a:r>
            <a:r>
              <a:rPr lang="en-US" dirty="0" err="1"/>
              <a:t>verschillende</a:t>
            </a:r>
            <a:r>
              <a:rPr lang="en-US" dirty="0"/>
              <a:t> </a:t>
            </a:r>
            <a:r>
              <a:rPr lang="en-US" dirty="0" err="1"/>
              <a:t>neuronen</a:t>
            </a:r>
            <a:r>
              <a:rPr lang="en-US" dirty="0"/>
              <a:t> </a:t>
            </a:r>
            <a:r>
              <a:rPr lang="en-US" dirty="0" err="1"/>
              <a:t>populaties</a:t>
            </a:r>
            <a:r>
              <a:rPr lang="en-US" dirty="0"/>
              <a:t> </a:t>
            </a:r>
            <a:r>
              <a:rPr lang="en-US" dirty="0" err="1"/>
              <a:t>zien</a:t>
            </a:r>
            <a:r>
              <a:rPr lang="en-US" dirty="0"/>
              <a:t>. </a:t>
            </a:r>
            <a:r>
              <a:rPr lang="en-US" dirty="0" err="1"/>
              <a:t>Deze</a:t>
            </a:r>
            <a:r>
              <a:rPr lang="en-US" dirty="0"/>
              <a:t> </a:t>
            </a:r>
            <a:r>
              <a:rPr lang="en-US" dirty="0" err="1"/>
              <a:t>populaties</a:t>
            </a:r>
            <a:r>
              <a:rPr lang="en-US" dirty="0"/>
              <a:t> </a:t>
            </a:r>
            <a:r>
              <a:rPr lang="en-US" dirty="0" err="1"/>
              <a:t>communiceren</a:t>
            </a:r>
            <a:r>
              <a:rPr lang="en-US" dirty="0"/>
              <a:t> met </a:t>
            </a:r>
            <a:r>
              <a:rPr lang="en-US" dirty="0" err="1"/>
              <a:t>elkaar</a:t>
            </a:r>
            <a:r>
              <a:rPr lang="en-US" dirty="0"/>
              <a:t> </a:t>
            </a:r>
            <a:r>
              <a:rPr lang="en-US" dirty="0" err="1"/>
              <a:t>doormiddel</a:t>
            </a:r>
            <a:r>
              <a:rPr lang="en-US" dirty="0"/>
              <a:t> van het </a:t>
            </a:r>
            <a:r>
              <a:rPr lang="en-US" dirty="0" err="1"/>
              <a:t>sturen</a:t>
            </a:r>
            <a:r>
              <a:rPr lang="en-US" dirty="0"/>
              <a:t> van spikes </a:t>
            </a:r>
            <a:r>
              <a:rPr lang="en-US" dirty="0" err="1"/>
              <a:t>een</a:t>
            </a:r>
            <a:r>
              <a:rPr lang="en-US" dirty="0"/>
              <a:t> </a:t>
            </a:r>
            <a:r>
              <a:rPr lang="en-US" dirty="0" err="1"/>
              <a:t>kleine</a:t>
            </a:r>
            <a:r>
              <a:rPr lang="en-US" dirty="0"/>
              <a:t> Bij </a:t>
            </a:r>
            <a:r>
              <a:rPr lang="en-US" dirty="0" err="1"/>
              <a:t>patienten</a:t>
            </a:r>
            <a:r>
              <a:rPr lang="en-US" dirty="0"/>
              <a:t> met </a:t>
            </a:r>
            <a:r>
              <a:rPr lang="en-US" dirty="0" err="1"/>
              <a:t>parkinson</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Title at the top">
    <p:bg>
      <p:bgPr>
        <a:solidFill>
          <a:srgbClr val="EEE8E8"/>
        </a:solidFill>
        <a:effectLst/>
      </p:bgPr>
    </p:bg>
    <p:spTree>
      <p:nvGrpSpPr>
        <p:cNvPr id="1" name=""/>
        <p:cNvGrpSpPr/>
        <p:nvPr/>
      </p:nvGrpSpPr>
      <p:grpSpPr>
        <a:xfrm>
          <a:off x="0" y="0"/>
          <a:ext cx="0" cy="0"/>
          <a:chOff x="0" y="0"/>
          <a:chExt cx="0" cy="0"/>
        </a:xfrm>
      </p:grpSpPr>
      <p:sp>
        <p:nvSpPr>
          <p:cNvPr id="10" name="Black75"/>
          <p:cNvSpPr/>
          <p:nvPr userDrawn="1"/>
        </p:nvSpPr>
        <p:spPr>
          <a:xfrm>
            <a:off x="0" y="75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756049"/>
            <a:ext cx="9143999" cy="792000"/>
          </a:xfrm>
          <a:solidFill>
            <a:schemeClr val="tx2">
              <a:alpha val="50000"/>
            </a:schemeClr>
          </a:solidFill>
        </p:spPr>
        <p:txBody>
          <a:bodyPr lIns="756000" rIns="1962000" anchor="ctr"/>
          <a:lstStyle>
            <a:lvl1pPr algn="l">
              <a:lnSpc>
                <a:spcPts val="2300"/>
              </a:lnSpc>
              <a:defRPr sz="2200" baseline="0">
                <a:solidFill>
                  <a:schemeClr val="bg1"/>
                </a:solidFill>
              </a:defRPr>
            </a:lvl1pPr>
          </a:lstStyle>
          <a:p>
            <a:r>
              <a:rPr lang="en-GB" dirty="0"/>
              <a:t>Example of a title at the top</a:t>
            </a:r>
          </a:p>
        </p:txBody>
      </p:sp>
      <p:sp>
        <p:nvSpPr>
          <p:cNvPr id="3" name="Subtitle 2"/>
          <p:cNvSpPr>
            <a:spLocks noGrp="1"/>
          </p:cNvSpPr>
          <p:nvPr>
            <p:ph type="subTitle" idx="1" hasCustomPrompt="1"/>
          </p:nvPr>
        </p:nvSpPr>
        <p:spPr>
          <a:xfrm>
            <a:off x="-1" y="1548000"/>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00"/>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cSld>
  <p:clrMapOvr>
    <a:masterClrMapping/>
  </p:clrMapOvr>
  <mc:AlternateContent xmlns:mc="http://schemas.openxmlformats.org/markup-compatibility/2006" xmlns:p14="http://schemas.microsoft.com/office/powerpoint/2010/main">
    <mc:Choice Requires="p14"/>
    <mc:Fallback xmlns=""/>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Title in the middle">
    <p:spTree>
      <p:nvGrpSpPr>
        <p:cNvPr id="1" name=""/>
        <p:cNvGrpSpPr/>
        <p:nvPr/>
      </p:nvGrpSpPr>
      <p:grpSpPr>
        <a:xfrm>
          <a:off x="0" y="0"/>
          <a:ext cx="0" cy="0"/>
          <a:chOff x="0" y="0"/>
          <a:chExt cx="0" cy="0"/>
        </a:xfrm>
      </p:grpSpPr>
      <p:sp>
        <p:nvSpPr>
          <p:cNvPr id="4" name="Black75"/>
          <p:cNvSpPr/>
          <p:nvPr userDrawn="1"/>
        </p:nvSpPr>
        <p:spPr>
          <a:xfrm>
            <a:off x="0" y="183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1835549"/>
            <a:ext cx="9143999" cy="792000"/>
          </a:xfrm>
          <a:solidFill>
            <a:schemeClr val="tx2">
              <a:alpha val="50000"/>
            </a:schemeClr>
          </a:solidFill>
        </p:spPr>
        <p:txBody>
          <a:bodyPr lIns="756000" rIns="1962000" anchor="ctr"/>
          <a:lstStyle>
            <a:lvl1pPr algn="l">
              <a:lnSpc>
                <a:spcPts val="2300"/>
              </a:lnSpc>
              <a:defRPr sz="2200">
                <a:solidFill>
                  <a:schemeClr val="bg1"/>
                </a:solidFill>
              </a:defRPr>
            </a:lvl1pPr>
          </a:lstStyle>
          <a:p>
            <a:r>
              <a:rPr lang="en-GB" dirty="0"/>
              <a:t>Example of a title in the middle</a:t>
            </a:r>
          </a:p>
        </p:txBody>
      </p:sp>
      <p:sp>
        <p:nvSpPr>
          <p:cNvPr id="3" name="Subtitle 2"/>
          <p:cNvSpPr>
            <a:spLocks noGrp="1"/>
          </p:cNvSpPr>
          <p:nvPr>
            <p:ph type="subTitle" idx="1" hasCustomPrompt="1"/>
          </p:nvPr>
        </p:nvSpPr>
        <p:spPr>
          <a:xfrm>
            <a:off x="-1" y="2628097"/>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98"/>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cSld>
  <p:clrMapOvr>
    <a:masterClrMapping/>
  </p:clrMapOvr>
  <mc:AlternateContent xmlns:mc="http://schemas.openxmlformats.org/markup-compatibility/2006" xmlns:p14="http://schemas.microsoft.com/office/powerpoint/2010/main">
    <mc:Choice Requires="p14"/>
    <mc:Fallback xmlns=""/>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Title at the bottom">
    <p:spTree>
      <p:nvGrpSpPr>
        <p:cNvPr id="1" name=""/>
        <p:cNvGrpSpPr/>
        <p:nvPr/>
      </p:nvGrpSpPr>
      <p:grpSpPr>
        <a:xfrm>
          <a:off x="0" y="0"/>
          <a:ext cx="0" cy="0"/>
          <a:chOff x="0" y="0"/>
          <a:chExt cx="0" cy="0"/>
        </a:xfrm>
      </p:grpSpPr>
      <p:sp>
        <p:nvSpPr>
          <p:cNvPr id="8" name="Black75"/>
          <p:cNvSpPr/>
          <p:nvPr userDrawn="1"/>
        </p:nvSpPr>
        <p:spPr>
          <a:xfrm>
            <a:off x="0" y="291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2915049"/>
            <a:ext cx="9143999" cy="792000"/>
          </a:xfrm>
          <a:solidFill>
            <a:schemeClr val="tx2">
              <a:alpha val="50000"/>
            </a:schemeClr>
          </a:solidFill>
        </p:spPr>
        <p:txBody>
          <a:bodyPr lIns="756000" rIns="1962000" anchor="ctr"/>
          <a:lstStyle>
            <a:lvl1pPr algn="l">
              <a:lnSpc>
                <a:spcPts val="2300"/>
              </a:lnSpc>
              <a:defRPr sz="2200">
                <a:solidFill>
                  <a:schemeClr val="bg1"/>
                </a:solidFill>
              </a:defRPr>
            </a:lvl1pPr>
          </a:lstStyle>
          <a:p>
            <a:r>
              <a:rPr lang="en-GB" dirty="0"/>
              <a:t>Example of a title at the bottom</a:t>
            </a:r>
          </a:p>
        </p:txBody>
      </p:sp>
      <p:sp>
        <p:nvSpPr>
          <p:cNvPr id="3" name="Subtitle 2"/>
          <p:cNvSpPr>
            <a:spLocks noGrp="1"/>
          </p:cNvSpPr>
          <p:nvPr>
            <p:ph type="subTitle" idx="1" hasCustomPrompt="1"/>
          </p:nvPr>
        </p:nvSpPr>
        <p:spPr>
          <a:xfrm>
            <a:off x="-1" y="3708591"/>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98"/>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cSld>
  <p:clrMapOvr>
    <a:masterClrMapping/>
  </p:clrMapOvr>
  <mc:AlternateContent xmlns:mc="http://schemas.openxmlformats.org/markup-compatibility/2006" xmlns:p14="http://schemas.microsoft.com/office/powerpoint/2010/main">
    <mc:Choice Requires="p14"/>
    <mc:Fallback xmlns=""/>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ex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Content Placeholder 2"/>
          <p:cNvSpPr>
            <a:spLocks noGrp="1"/>
          </p:cNvSpPr>
          <p:nvPr>
            <p:ph idx="1" hasCustomPrompt="1"/>
          </p:nvPr>
        </p:nvSpPr>
        <p:spPr/>
        <p:txBody>
          <a:bodyPr/>
          <a:lstStyle>
            <a:lvl1pPr>
              <a:defRPr baseline="0"/>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cSld>
  <p:clrMapOvr>
    <a:masterClrMapping/>
  </p:clrMapOvr>
  <mc:AlternateContent xmlns:mc="http://schemas.openxmlformats.org/markup-compatibility/2006" xmlns:p14="http://schemas.microsoft.com/office/powerpoint/2010/main">
    <mc:Choice Requires="p14"/>
    <mc:Fallback xmlns=""/>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slide - 2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85793"/>
            <a:ext cx="3595688"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Content Placeholder 3"/>
          <p:cNvSpPr>
            <a:spLocks noGrp="1"/>
          </p:cNvSpPr>
          <p:nvPr>
            <p:ph sz="half" idx="2" hasCustomPrompt="1"/>
          </p:nvPr>
        </p:nvSpPr>
        <p:spPr>
          <a:xfrm>
            <a:off x="4723606" y="1296000"/>
            <a:ext cx="3595688" cy="2933101"/>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9" name="Text Placeholder 2"/>
          <p:cNvSpPr>
            <a:spLocks noGrp="1"/>
          </p:cNvSpPr>
          <p:nvPr>
            <p:ph type="body" idx="13" hasCustomPrompt="1"/>
          </p:nvPr>
        </p:nvSpPr>
        <p:spPr>
          <a:xfrm>
            <a:off x="4714875" y="586800"/>
            <a:ext cx="3604419" cy="732238"/>
          </a:xfrm>
        </p:spPr>
        <p:txBody>
          <a:bodyPr anchor="t"/>
          <a:lstStyle>
            <a:lvl1pPr marL="0" indent="0">
              <a:buNone/>
              <a:defRPr lang="nl-NL" sz="1950" b="0" kern="1200" baseline="0" dirty="0" smtClean="0">
                <a:solidFill>
                  <a:schemeClr val="tx1"/>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enter text</a:t>
            </a:r>
          </a:p>
        </p:txBody>
      </p:sp>
    </p:spTree>
  </p:cSld>
  <p:clrMapOvr>
    <a:masterClrMapping/>
  </p:clrMapOvr>
  <mc:AlternateContent xmlns:mc="http://schemas.openxmlformats.org/markup-compatibility/2006" xmlns:p14="http://schemas.microsoft.com/office/powerpoint/2010/main">
    <mc:Choice Requires="p14"/>
    <mc:Fallback xmlns=""/>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2 text - 1/2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6000" y="586800"/>
            <a:ext cx="360000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4714875" y="0"/>
            <a:ext cx="4429125" cy="4567238"/>
          </a:xfrm>
        </p:spPr>
        <p:txBody>
          <a:bodyPr/>
          <a:lstStyle>
            <a:lvl1pPr>
              <a:defRPr/>
            </a:lvl1pPr>
          </a:lstStyle>
          <a:p>
            <a:r>
              <a:rPr lang="en-GB" dirty="0"/>
              <a:t>Click to insert image</a:t>
            </a:r>
          </a:p>
        </p:txBody>
      </p:sp>
    </p:spTree>
  </p:cSld>
  <p:clrMapOvr>
    <a:masterClrMapping/>
  </p:clrMapOvr>
  <mc:AlternateContent xmlns:mc="http://schemas.openxmlformats.org/markup-compatibility/2006" xmlns:p14="http://schemas.microsoft.com/office/powerpoint/2010/main">
    <mc:Choice Requires="p14"/>
    <mc:Fallback xmlns=""/>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3 text - 1/3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6000" y="586800"/>
            <a:ext cx="4910138"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491331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6046788" y="0"/>
            <a:ext cx="3097212" cy="4567238"/>
          </a:xfrm>
        </p:spPr>
        <p:txBody>
          <a:bodyPr/>
          <a:lstStyle>
            <a:lvl1pPr>
              <a:defRPr/>
            </a:lvl1pPr>
          </a:lstStyle>
          <a:p>
            <a:r>
              <a:rPr lang="en-GB" dirty="0"/>
              <a:t>Click to insert image</a:t>
            </a:r>
          </a:p>
        </p:txBody>
      </p:sp>
    </p:spTree>
  </p:cSld>
  <p:clrMapOvr>
    <a:masterClrMapping/>
  </p:clrMapOvr>
  <mc:AlternateContent xmlns:mc="http://schemas.openxmlformats.org/markup-compatibility/2006" xmlns:p14="http://schemas.microsoft.com/office/powerpoint/2010/main">
    <mc:Choice Requires="p14"/>
    <mc:Fallback xmlns=""/>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eadline + image/movie 16:9">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wrap="none"/>
          <a:lstStyle/>
          <a:p>
            <a:r>
              <a:rPr lang="en-GB" dirty="0"/>
              <a:t>This is an example of a 27 </a:t>
            </a:r>
            <a:r>
              <a:rPr lang="en-GB" dirty="0" err="1"/>
              <a:t>pt</a:t>
            </a:r>
            <a:r>
              <a:rPr lang="en-GB" dirty="0"/>
              <a:t> headline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inhoud 9"/>
          <p:cNvSpPr>
            <a:spLocks noGrp="1" noChangeAspect="1"/>
          </p:cNvSpPr>
          <p:nvPr>
            <p:ph sz="quarter" idx="13" hasCustomPrompt="1"/>
          </p:nvPr>
        </p:nvSpPr>
        <p:spPr>
          <a:xfrm>
            <a:off x="1889125" y="1079501"/>
            <a:ext cx="5292725" cy="2977200"/>
          </a:xfrm>
        </p:spPr>
        <p:txBody>
          <a:bodyPr/>
          <a:lstStyle>
            <a:lvl1pPr>
              <a:defRPr baseline="0"/>
            </a:lvl1pPr>
          </a:lstStyle>
          <a:p>
            <a:pPr lvl="0"/>
            <a:r>
              <a:rPr lang="en-GB" dirty="0"/>
              <a:t>Click icon to insert 16x9 image or movie</a:t>
            </a:r>
          </a:p>
        </p:txBody>
      </p:sp>
      <p:sp>
        <p:nvSpPr>
          <p:cNvPr id="12" name="Tijdelijke aanduiding voor tekst 11"/>
          <p:cNvSpPr>
            <a:spLocks noGrp="1"/>
          </p:cNvSpPr>
          <p:nvPr>
            <p:ph type="body" sz="quarter" idx="14" hasCustomPrompt="1"/>
          </p:nvPr>
        </p:nvSpPr>
        <p:spPr>
          <a:xfrm>
            <a:off x="1889125" y="4106268"/>
            <a:ext cx="5292725" cy="165100"/>
          </a:xfrm>
        </p:spPr>
        <p:txBody>
          <a:bodyPr/>
          <a:lstStyle>
            <a:lvl1pPr>
              <a:defRPr sz="1100" i="1"/>
            </a:lvl1pPr>
          </a:lstStyle>
          <a:p>
            <a:pPr lvl="0"/>
            <a:r>
              <a:rPr lang="en-GB" dirty="0"/>
              <a:t>Click to insert Caption under image or movie</a:t>
            </a:r>
          </a:p>
        </p:txBody>
      </p:sp>
    </p:spTree>
  </p:cSld>
  <p:clrMapOvr>
    <a:masterClrMapping/>
  </p:clrMapOvr>
  <mc:AlternateContent xmlns:mc="http://schemas.openxmlformats.org/markup-compatibility/2006" xmlns:p14="http://schemas.microsoft.com/office/powerpoint/2010/main">
    <mc:Choice Requires="p14"/>
    <mc:Fallback xmlns=""/>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 3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A 27pt headline on a slide with three images</a:t>
            </a:r>
            <a:endParaRPr lang="en-GB" dirty="0"/>
          </a:p>
        </p:txBody>
      </p:sp>
      <p:sp>
        <p:nvSpPr>
          <p:cNvPr id="3" name="Content Placeholder 2"/>
          <p:cNvSpPr>
            <a:spLocks noGrp="1"/>
          </p:cNvSpPr>
          <p:nvPr>
            <p:ph idx="1" hasCustomPrompt="1"/>
          </p:nvPr>
        </p:nvSpPr>
        <p:spPr>
          <a:xfrm>
            <a:off x="758824" y="1306642"/>
            <a:ext cx="2084389" cy="636458"/>
          </a:xfrm>
        </p:spPr>
        <p:txBody>
          <a:bodyPr/>
          <a:lstStyle>
            <a:lvl1pPr>
              <a:defRPr sz="1650"/>
            </a:lvl1pPr>
          </a:lstStyle>
          <a:p>
            <a:pPr lvl="0"/>
            <a:r>
              <a:rPr lang="en-GB" dirty="0"/>
              <a:t>Click to enter text</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
        <p:nvSpPr>
          <p:cNvPr id="7" name="Content Placeholder 2"/>
          <p:cNvSpPr>
            <a:spLocks noGrp="1"/>
          </p:cNvSpPr>
          <p:nvPr>
            <p:ph idx="13" hasCustomPrompt="1"/>
          </p:nvPr>
        </p:nvSpPr>
        <p:spPr>
          <a:xfrm>
            <a:off x="3490913" y="1302661"/>
            <a:ext cx="2084389" cy="636458"/>
          </a:xfrm>
        </p:spPr>
        <p:txBody>
          <a:bodyPr/>
          <a:lstStyle>
            <a:lvl1pPr>
              <a:defRPr sz="1650"/>
            </a:lvl1pPr>
          </a:lstStyle>
          <a:p>
            <a:pPr lvl="0"/>
            <a:r>
              <a:rPr lang="en-GB" dirty="0"/>
              <a:t>Click to enter text</a:t>
            </a:r>
          </a:p>
        </p:txBody>
      </p:sp>
      <p:sp>
        <p:nvSpPr>
          <p:cNvPr id="8" name="Content Placeholder 2"/>
          <p:cNvSpPr>
            <a:spLocks noGrp="1"/>
          </p:cNvSpPr>
          <p:nvPr>
            <p:ph idx="14" hasCustomPrompt="1"/>
          </p:nvPr>
        </p:nvSpPr>
        <p:spPr>
          <a:xfrm>
            <a:off x="6235414" y="1302661"/>
            <a:ext cx="2084389" cy="636458"/>
          </a:xfrm>
        </p:spPr>
        <p:txBody>
          <a:bodyPr/>
          <a:lstStyle>
            <a:lvl1pPr>
              <a:defRPr sz="1650"/>
            </a:lvl1pPr>
          </a:lstStyle>
          <a:p>
            <a:pPr lvl="0"/>
            <a:r>
              <a:rPr lang="en-GB" dirty="0"/>
              <a:t>Click to enter text</a:t>
            </a:r>
          </a:p>
        </p:txBody>
      </p:sp>
      <p:sp>
        <p:nvSpPr>
          <p:cNvPr id="10" name="Tijdelijke aanduiding voor afbeelding 9"/>
          <p:cNvSpPr>
            <a:spLocks noGrp="1"/>
          </p:cNvSpPr>
          <p:nvPr>
            <p:ph type="pic" sz="quarter" idx="15" hasCustomPrompt="1"/>
          </p:nvPr>
        </p:nvSpPr>
        <p:spPr>
          <a:xfrm>
            <a:off x="755650" y="1943101"/>
            <a:ext cx="2087563" cy="2625298"/>
          </a:xfrm>
        </p:spPr>
        <p:txBody>
          <a:bodyPr/>
          <a:lstStyle>
            <a:lvl1pPr>
              <a:defRPr baseline="0"/>
            </a:lvl1pPr>
          </a:lstStyle>
          <a:p>
            <a:r>
              <a:rPr lang="en-GB" dirty="0"/>
              <a:t>Click to insert image</a:t>
            </a:r>
          </a:p>
        </p:txBody>
      </p:sp>
      <p:sp>
        <p:nvSpPr>
          <p:cNvPr id="11" name="Tijdelijke aanduiding voor afbeelding 9"/>
          <p:cNvSpPr>
            <a:spLocks noGrp="1"/>
          </p:cNvSpPr>
          <p:nvPr>
            <p:ph type="pic" sz="quarter" idx="16" hasCustomPrompt="1"/>
          </p:nvPr>
        </p:nvSpPr>
        <p:spPr>
          <a:xfrm>
            <a:off x="3487739" y="1943101"/>
            <a:ext cx="2087563" cy="262529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
        <p:nvSpPr>
          <p:cNvPr id="12" name="Tijdelijke aanduiding voor afbeelding 9"/>
          <p:cNvSpPr>
            <a:spLocks noGrp="1"/>
          </p:cNvSpPr>
          <p:nvPr>
            <p:ph type="pic" sz="quarter" idx="17" hasCustomPrompt="1"/>
          </p:nvPr>
        </p:nvSpPr>
        <p:spPr>
          <a:xfrm>
            <a:off x="6235414" y="1943101"/>
            <a:ext cx="2087563" cy="262529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Tree>
  </p:cSld>
  <p:clrMapOvr>
    <a:masterClrMapping/>
  </p:clrMapOvr>
  <mc:AlternateContent xmlns:mc="http://schemas.openxmlformats.org/markup-compatibility/2006" xmlns:p14="http://schemas.microsoft.com/office/powerpoint/2010/main">
    <mc:Choice Requires="p14"/>
    <mc:Fallback xmlns=""/>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 image - 1/2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23518" y="586800"/>
            <a:ext cx="360000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4720343"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0" y="0"/>
            <a:ext cx="4354513" cy="456723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p:txBody>
      </p:sp>
    </p:spTree>
  </p:cSld>
  <p:clrMapOvr>
    <a:masterClrMapping/>
  </p:clrMapOvr>
  <mc:AlternateContent xmlns:mc="http://schemas.openxmlformats.org/markup-compatibility/2006" xmlns:p14="http://schemas.microsoft.com/office/powerpoint/2010/main">
    <mc:Choice Requires="p14"/>
    <mc:Fallback xmlns=""/>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3 image - 2/3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94405" y="586800"/>
            <a:ext cx="482092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3491230" y="1295401"/>
            <a:ext cx="4824095" cy="2933700"/>
          </a:xfrm>
        </p:spPr>
        <p:txBody>
          <a:bodyPr/>
          <a:lstStyle>
            <a:lvl1pPr>
              <a:defRPr baseline="0"/>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0" y="0"/>
            <a:ext cx="3022600" cy="4567238"/>
          </a:xfrm>
        </p:spPr>
        <p:txBody>
          <a:bodyPr/>
          <a:lstStyle/>
          <a:p>
            <a:r>
              <a:rPr lang="en-GB" dirty="0"/>
              <a:t>Click to insert image</a:t>
            </a:r>
          </a:p>
        </p:txBody>
      </p:sp>
    </p:spTree>
  </p:cSld>
  <p:clrMapOvr>
    <a:masterClrMapping/>
  </p:clrMapOvr>
  <mc:AlternateContent xmlns:mc="http://schemas.openxmlformats.org/markup-compatibility/2006" xmlns:p14="http://schemas.microsoft.com/office/powerpoint/2010/main">
    <mc:Choice Requires="p14"/>
    <mc:Fallback xmlns=""/>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eading + full screen dark image">
    <p:bg>
      <p:bgPr>
        <a:solidFill>
          <a:schemeClr val="bg1">
            <a:lumMod val="6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bg1"/>
                </a:solidFill>
              </a:defRPr>
            </a:lvl1pPr>
          </a:lstStyle>
          <a:p>
            <a:r>
              <a:rPr lang="en-GB" dirty="0"/>
              <a:t>This is an example of a white headline on a full screen, dark image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cSld>
  <p:clrMapOvr>
    <a:masterClrMapping/>
  </p:clrMapOvr>
  <mc:AlternateContent xmlns:mc="http://schemas.openxmlformats.org/markup-compatibility/2006" xmlns:p14="http://schemas.microsoft.com/office/powerpoint/2010/main">
    <mc:Choice Requires="p14"/>
    <mc:Fallback xmlns=""/>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eading + full screen light image">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tx1"/>
                </a:solidFill>
              </a:defRPr>
            </a:lvl1pPr>
          </a:lstStyle>
          <a:p>
            <a:r>
              <a:rPr lang="en-GB" dirty="0"/>
              <a:t>This is an example of a black headline on a full screen, light image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cSld>
  <p:clrMapOvr>
    <a:masterClrMapping/>
  </p:clrMapOvr>
  <mc:AlternateContent xmlns:mc="http://schemas.openxmlformats.org/markup-compatibility/2006" xmlns:p14="http://schemas.microsoft.com/office/powerpoint/2010/main">
    <mc:Choice Requires="p14"/>
    <mc:Fallback xmlns=""/>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White backgroun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tx1"/>
                </a:solidFill>
              </a:defRPr>
            </a:lvl1pPr>
          </a:lstStyle>
          <a:p>
            <a:r>
              <a:rPr lang="en-GB" dirty="0"/>
              <a:t>This is an example of a black headline on a white background</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cxnSp>
        <p:nvCxnSpPr>
          <p:cNvPr id="7" name="Rechte verbindingslijn 6"/>
          <p:cNvCxnSpPr/>
          <p:nvPr userDrawn="1"/>
        </p:nvCxnSpPr>
        <p:spPr>
          <a:xfrm>
            <a:off x="0" y="4563782"/>
            <a:ext cx="914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ijdelijke aanduiding voor afbeelding 8"/>
          <p:cNvSpPr>
            <a:spLocks noGrp="1"/>
          </p:cNvSpPr>
          <p:nvPr>
            <p:ph type="pic" sz="quarter" idx="13" hasCustomPrompt="1"/>
          </p:nvPr>
        </p:nvSpPr>
        <p:spPr>
          <a:xfrm>
            <a:off x="1890000" y="1299075"/>
            <a:ext cx="5292725" cy="2977200"/>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Tree>
  </p:cSld>
  <p:clrMapOvr>
    <a:masterClrMapping/>
  </p:clrMapOvr>
  <mc:AlternateContent xmlns:mc="http://schemas.openxmlformats.org/markup-compatibility/2006" xmlns:p14="http://schemas.microsoft.com/office/powerpoint/2010/main">
    <mc:Choice Requires="p14"/>
    <mc:Fallback xmlns=""/>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Scarlet background">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Content Placeholder 2"/>
          <p:cNvSpPr>
            <a:spLocks noGrp="1"/>
          </p:cNvSpPr>
          <p:nvPr>
            <p:ph idx="1" hasCustomPrompt="1"/>
          </p:nvPr>
        </p:nvSpPr>
        <p:spPr/>
        <p:txBody>
          <a:bodyPr/>
          <a:lstStyle>
            <a:lvl1pPr>
              <a:defRPr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cSld>
  <p:clrMapOvr>
    <a:masterClrMapping/>
  </p:clrMapOvr>
  <mc:AlternateContent xmlns:mc="http://schemas.openxmlformats.org/markup-compatibility/2006" xmlns:p14="http://schemas.microsoft.com/office/powerpoint/2010/main">
    <mc:Choice Requires="p14"/>
    <mc:Fallback xmlns=""/>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5650" y="586800"/>
            <a:ext cx="7563556" cy="516339"/>
          </a:xfrm>
        </p:spPr>
        <p:txBody>
          <a:bodyPr wrap="none"/>
          <a:lstStyle>
            <a:lvl1pPr>
              <a:lnSpc>
                <a:spcPct val="100000"/>
              </a:lnSpc>
              <a:defRPr sz="1950" b="0" baseline="0"/>
            </a:lvl1pPr>
          </a:lstStyle>
          <a:p>
            <a:r>
              <a:rPr lang="en-US" dirty="0"/>
              <a:t>Sample slide with table and text</a:t>
            </a:r>
            <a:endParaRPr lang="en-GB" dirty="0"/>
          </a:p>
        </p:txBody>
      </p:sp>
      <p:sp>
        <p:nvSpPr>
          <p:cNvPr id="3" name="Content Placeholder 2"/>
          <p:cNvSpPr>
            <a:spLocks noGrp="1"/>
          </p:cNvSpPr>
          <p:nvPr>
            <p:ph sz="half" idx="1" hasCustomPrompt="1"/>
          </p:nvPr>
        </p:nvSpPr>
        <p:spPr>
          <a:xfrm>
            <a:off x="755651" y="2638425"/>
            <a:ext cx="7563556" cy="1590675"/>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8" name="Tijdelijke aanduiding voor tabel 7"/>
          <p:cNvSpPr>
            <a:spLocks noGrp="1"/>
          </p:cNvSpPr>
          <p:nvPr>
            <p:ph type="tbl" sz="quarter" idx="13" hasCustomPrompt="1"/>
          </p:nvPr>
        </p:nvSpPr>
        <p:spPr>
          <a:xfrm>
            <a:off x="755650" y="1079501"/>
            <a:ext cx="7559675" cy="1152000"/>
          </a:xfrm>
        </p:spPr>
        <p:txBody>
          <a:bodyPr/>
          <a:lstStyle>
            <a:lvl1pPr>
              <a:defRPr/>
            </a:lvl1pPr>
          </a:lstStyle>
          <a:p>
            <a:r>
              <a:rPr lang="en-GB" dirty="0"/>
              <a:t>Click to insert table</a:t>
            </a:r>
          </a:p>
        </p:txBody>
      </p:sp>
    </p:spTree>
  </p:cSld>
  <p:clrMapOvr>
    <a:masterClrMapping/>
  </p:clrMapOvr>
  <mc:AlternateContent xmlns:mc="http://schemas.openxmlformats.org/markup-compatibility/2006" xmlns:p14="http://schemas.microsoft.com/office/powerpoint/2010/main">
    <mc:Choice Requires="p14"/>
    <mc:Fallback xmlns=""/>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5650" y="586800"/>
            <a:ext cx="7563556" cy="516339"/>
          </a:xfrm>
        </p:spPr>
        <p:txBody>
          <a:bodyPr wrap="none"/>
          <a:lstStyle>
            <a:lvl1pPr>
              <a:lnSpc>
                <a:spcPct val="100000"/>
              </a:lnSpc>
              <a:defRPr sz="1950" b="0" baseline="0"/>
            </a:lvl1pPr>
          </a:lstStyle>
          <a:p>
            <a:r>
              <a:rPr lang="en-GB" dirty="0"/>
              <a:t>Example chart</a:t>
            </a:r>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9" name="Tijdelijke aanduiding voor grafiek 8"/>
          <p:cNvSpPr>
            <a:spLocks noGrp="1"/>
          </p:cNvSpPr>
          <p:nvPr>
            <p:ph type="chart" sz="quarter" idx="13" hasCustomPrompt="1"/>
          </p:nvPr>
        </p:nvSpPr>
        <p:spPr>
          <a:xfrm>
            <a:off x="755650" y="1079500"/>
            <a:ext cx="7559675" cy="3149600"/>
          </a:xfrm>
        </p:spPr>
        <p:txBody>
          <a:bodyPr/>
          <a:lstStyle>
            <a:lvl1pPr>
              <a:defRPr/>
            </a:lvl1pPr>
          </a:lstStyle>
          <a:p>
            <a:r>
              <a:rPr lang="en-GB" dirty="0"/>
              <a:t>Click to insert chart</a:t>
            </a:r>
          </a:p>
        </p:txBody>
      </p:sp>
    </p:spTree>
  </p:cSld>
  <p:clrMapOvr>
    <a:masterClrMapping/>
  </p:clrMapOvr>
  <mc:AlternateContent xmlns:mc="http://schemas.openxmlformats.org/markup-compatibility/2006" xmlns:p14="http://schemas.microsoft.com/office/powerpoint/2010/main">
    <mc:Choice Requires="p14"/>
    <mc:Fallback xmlns=""/>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E8E8"/>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2" y="4568400"/>
            <a:ext cx="1114424" cy="572286"/>
          </a:xfrm>
          <a:prstGeom prst="rect">
            <a:avLst/>
          </a:prstGeom>
          <a:solidFill>
            <a:schemeClr val="bg1"/>
          </a:solidFill>
        </p:spPr>
        <p:txBody>
          <a:bodyPr vert="horz" lIns="756000" tIns="0" rIns="0" bIns="0" rtlCol="0" anchor="ctr"/>
          <a:lstStyle>
            <a:lvl1pPr algn="l">
              <a:defRPr sz="1100" b="0">
                <a:solidFill>
                  <a:schemeClr val="tx1"/>
                </a:solidFill>
              </a:defRPr>
            </a:lvl1pPr>
          </a:lstStyle>
          <a:p>
            <a:fld id="{C194BDB0-F4EA-4DD6-8281-CCE2440D0CE0}" type="slidenum">
              <a:rPr lang="en-GB" smtClean="0"/>
              <a:pPr/>
              <a:t>‹#›</a:t>
            </a:fld>
            <a:endParaRPr lang="en-GB" dirty="0"/>
          </a:p>
        </p:txBody>
      </p:sp>
      <p:sp>
        <p:nvSpPr>
          <p:cNvPr id="2" name="Title Placeholder 1"/>
          <p:cNvSpPr>
            <a:spLocks noGrp="1"/>
          </p:cNvSpPr>
          <p:nvPr>
            <p:ph type="title"/>
          </p:nvPr>
        </p:nvSpPr>
        <p:spPr>
          <a:xfrm>
            <a:off x="758825" y="518711"/>
            <a:ext cx="7556500" cy="539038"/>
          </a:xfrm>
          <a:prstGeom prst="rect">
            <a:avLst/>
          </a:prstGeom>
        </p:spPr>
        <p:txBody>
          <a:bodyPr vert="horz" lIns="0" tIns="0" rIns="0" bIns="0" rtlCol="0" anchor="t" anchorCtr="0">
            <a:noAutofit/>
          </a:body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Text Placeholder 2"/>
          <p:cNvSpPr>
            <a:spLocks noGrp="1"/>
          </p:cNvSpPr>
          <p:nvPr>
            <p:ph type="body" idx="1"/>
          </p:nvPr>
        </p:nvSpPr>
        <p:spPr>
          <a:xfrm>
            <a:off x="758824" y="1306642"/>
            <a:ext cx="7556501" cy="2922458"/>
          </a:xfrm>
          <a:prstGeom prst="rect">
            <a:avLst/>
          </a:prstGeom>
        </p:spPr>
        <p:txBody>
          <a:bodyPr vert="horz" lIns="0" tIns="0" rIns="0" bIns="0" rtlCol="0">
            <a:noAutofit/>
          </a:bodyPr>
          <a:lstStyle/>
          <a:p>
            <a:pPr lvl="0"/>
            <a:r>
              <a:rPr lang="en-GB" dirty="0" err="1"/>
              <a:t>Klik</a:t>
            </a:r>
            <a:r>
              <a:rPr lang="en-GB" dirty="0"/>
              <a:t> om de </a:t>
            </a:r>
            <a:r>
              <a:rPr lang="en-GB" dirty="0" err="1"/>
              <a:t>modelstijlen</a:t>
            </a:r>
            <a:r>
              <a:rPr lang="en-GB" dirty="0"/>
              <a:t> </a:t>
            </a:r>
            <a:r>
              <a:rPr lang="en-GB" dirty="0" err="1"/>
              <a:t>te</a:t>
            </a:r>
            <a:r>
              <a:rPr lang="en-GB" dirty="0"/>
              <a:t> </a:t>
            </a:r>
            <a:r>
              <a:rPr lang="en-GB" dirty="0" err="1"/>
              <a:t>bewerken</a:t>
            </a:r>
            <a:endParaRPr lang="en-GB" dirty="0"/>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Footer Placeholder 4"/>
          <p:cNvSpPr>
            <a:spLocks noGrp="1"/>
          </p:cNvSpPr>
          <p:nvPr>
            <p:ph type="ftr" sz="quarter" idx="3"/>
          </p:nvPr>
        </p:nvSpPr>
        <p:spPr>
          <a:xfrm>
            <a:off x="1114426" y="4568400"/>
            <a:ext cx="7042149" cy="576000"/>
          </a:xfrm>
          <a:prstGeom prst="rect">
            <a:avLst/>
          </a:prstGeom>
          <a:solidFill>
            <a:schemeClr val="bg1"/>
          </a:solidFill>
        </p:spPr>
        <p:txBody>
          <a:bodyPr vert="horz" lIns="0" tIns="0" rIns="0" bIns="0" rtlCol="0" anchor="ctr"/>
          <a:lstStyle>
            <a:lvl1pPr algn="l">
              <a:defRPr sz="1100" b="0">
                <a:solidFill>
                  <a:schemeClr val="tx1"/>
                </a:solidFill>
              </a:defRPr>
            </a:lvl1pPr>
          </a:lstStyle>
          <a:p>
            <a:r>
              <a:rPr lang="nb-NO"/>
              <a:t>Msc Defence T.M. Lenssen</a:t>
            </a:r>
            <a:endParaRPr lang="en-GB" dirty="0"/>
          </a:p>
        </p:txBody>
      </p:sp>
      <p:pic>
        <p:nvPicPr>
          <p:cNvPr id="66" name="Picture 4"/>
          <p:cNvPicPr>
            <a:picLocks noChangeAspect="1"/>
          </p:cNvPicPr>
          <p:nvPr userDrawn="1"/>
        </p:nvPicPr>
        <p:blipFill>
          <a:blip r:embed="rId19"/>
          <a:stretch>
            <a:fillRect/>
          </a:stretch>
        </p:blipFill>
        <p:spPr>
          <a:xfrm>
            <a:off x="8156575" y="4568825"/>
            <a:ext cx="987425" cy="574675"/>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mc:AlternateContent xmlns:mc="http://schemas.openxmlformats.org/markup-compatibility/2006" xmlns:p14="http://schemas.microsoft.com/office/powerpoint/2010/main">
    <mc:Choice Requires="p14"/>
    <mc:Fallback xmlns=""/>
  </mc:AlternateContent>
  <p:hf hdr="0" dt="0"/>
  <p:txStyles>
    <p:titleStyle>
      <a:lvl1pPr algn="l" defTabSz="685800" rtl="0" eaLnBrk="1" latinLnBrk="0" hangingPunct="1">
        <a:lnSpc>
          <a:spcPts val="2700"/>
        </a:lnSpc>
        <a:spcBef>
          <a:spcPct val="0"/>
        </a:spcBef>
        <a:buNone/>
        <a:defRPr sz="2700" b="1" kern="1200">
          <a:solidFill>
            <a:schemeClr val="tx1"/>
          </a:solidFill>
          <a:latin typeface="+mj-lt"/>
          <a:ea typeface="+mj-ea"/>
          <a:cs typeface="+mj-cs"/>
        </a:defRPr>
      </a:lvl1pPr>
    </p:titleStyle>
    <p:bodyStyle>
      <a:lvl1pPr marL="0" indent="0" algn="l" defTabSz="685800" rtl="0" eaLnBrk="1" latinLnBrk="0" hangingPunct="1">
        <a:lnSpc>
          <a:spcPct val="100000"/>
        </a:lnSpc>
        <a:spcBef>
          <a:spcPts val="0"/>
        </a:spcBef>
        <a:buFont typeface="Arial" panose="020B0604020202020204" pitchFamily="34" charset="0"/>
        <a:buNone/>
        <a:defRPr sz="1950" kern="1200">
          <a:solidFill>
            <a:schemeClr val="tx1"/>
          </a:solidFill>
          <a:latin typeface="+mn-lt"/>
          <a:ea typeface="+mn-ea"/>
          <a:cs typeface="+mn-cs"/>
        </a:defRPr>
      </a:lvl1pPr>
      <a:lvl2pPr marL="0" indent="0" algn="l" defTabSz="685800" rtl="0" eaLnBrk="1" latinLnBrk="0" hangingPunct="1">
        <a:lnSpc>
          <a:spcPct val="100000"/>
        </a:lnSpc>
        <a:spcBef>
          <a:spcPts val="0"/>
        </a:spcBef>
        <a:buFont typeface="Arial" panose="020B0604020202020204" pitchFamily="34" charset="0"/>
        <a:buNone/>
        <a:defRPr sz="1650" kern="1200">
          <a:solidFill>
            <a:schemeClr val="tx1"/>
          </a:solidFill>
          <a:latin typeface="+mn-lt"/>
          <a:ea typeface="+mn-ea"/>
          <a:cs typeface="+mn-cs"/>
        </a:defRPr>
      </a:lvl2pPr>
      <a:lvl3pPr marL="180975"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3pPr>
      <a:lvl4pPr marL="360000"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4pPr>
      <a:lvl5pPr marL="539750" indent="-177800"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gif"/><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jp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7.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p:txBody>
          <a:bodyPr/>
          <a:lstStyle/>
          <a:p>
            <a:r>
              <a:rPr lang="en-GB" dirty="0"/>
              <a:t>Dual Integral Quadratic Constraints for Robust Control of Partial Integral Equations </a:t>
            </a:r>
          </a:p>
        </p:txBody>
      </p:sp>
      <p:sp>
        <p:nvSpPr>
          <p:cNvPr id="7" name="Ondertitel 6"/>
          <p:cNvSpPr>
            <a:spLocks noGrp="1"/>
          </p:cNvSpPr>
          <p:nvPr>
            <p:ph type="subTitle" idx="1"/>
          </p:nvPr>
        </p:nvSpPr>
        <p:spPr/>
        <p:txBody>
          <a:bodyPr/>
          <a:lstStyle/>
          <a:p>
            <a:r>
              <a:rPr lang="en-GB" dirty="0"/>
              <a:t>An engineering overview</a:t>
            </a:r>
          </a:p>
        </p:txBody>
      </p:sp>
      <p:sp>
        <p:nvSpPr>
          <p:cNvPr id="8" name="Tijdelijke aanduiding voor tekst 7"/>
          <p:cNvSpPr>
            <a:spLocks noGrp="1"/>
          </p:cNvSpPr>
          <p:nvPr>
            <p:ph type="body" sz="quarter" idx="13"/>
          </p:nvPr>
        </p:nvSpPr>
        <p:spPr/>
        <p:txBody>
          <a:bodyPr/>
          <a:lstStyle/>
          <a:p>
            <a:r>
              <a:rPr lang="en-GB" dirty="0"/>
              <a:t>T.M. Lenssen – supervisor: Amritam Das</a:t>
            </a:r>
          </a:p>
        </p:txBody>
      </p:sp>
      <p:sp>
        <p:nvSpPr>
          <p:cNvPr id="9" name="Tijdelijke aanduiding voor tekst 8"/>
          <p:cNvSpPr>
            <a:spLocks noGrp="1"/>
          </p:cNvSpPr>
          <p:nvPr>
            <p:ph type="body" sz="quarter" idx="14"/>
          </p:nvPr>
        </p:nvSpPr>
        <p:spPr/>
        <p:txBody>
          <a:bodyPr/>
          <a:lstStyle/>
          <a:p>
            <a:r>
              <a:rPr lang="en-GB" dirty="0"/>
              <a:t>CS – System &amp; Control / 30-09-2026</a:t>
            </a:r>
          </a:p>
        </p:txBody>
      </p:sp>
    </p:spTree>
  </p:cSld>
  <p:clrMapOvr>
    <a:masterClrMapping/>
  </p:clrMapOvr>
  <mc:AlternateContent xmlns:mc="http://schemas.openxmlformats.org/markup-compatibility/2006" xmlns:p14="http://schemas.microsoft.com/office/powerpoint/2010/main">
    <mc:Choice Requires="p14"/>
    <mc:Fallback xmlns=""/>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8181" y="588714"/>
            <a:ext cx="3595688" cy="732238"/>
          </a:xfrm>
        </p:spPr>
        <p:txBody>
          <a:bodyPr/>
          <a:lstStyle/>
          <a:p>
            <a:r>
              <a:rPr lang="en-US" b="1" dirty="0"/>
              <a:t>Rigid body representation</a:t>
            </a:r>
            <a:br>
              <a:rPr lang="en-US" dirty="0"/>
            </a:br>
            <a:r>
              <a:rPr lang="en-US" dirty="0"/>
              <a:t>Ordinary Differential Equation (ODE)</a:t>
            </a:r>
            <a:endParaRPr lang="en-NL"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2</a:t>
            </a:fld>
            <a:endParaRPr lang="en-GB" dirty="0"/>
          </a:p>
        </p:txBody>
      </p:sp>
      <p:sp>
        <p:nvSpPr>
          <p:cNvPr id="7" name="Text Placeholder 6"/>
          <p:cNvSpPr>
            <a:spLocks noGrp="1"/>
          </p:cNvSpPr>
          <p:nvPr>
            <p:ph type="body" idx="13"/>
          </p:nvPr>
        </p:nvSpPr>
        <p:spPr/>
        <p:txBody>
          <a:bodyPr/>
          <a:lstStyle/>
          <a:p>
            <a:r>
              <a:rPr lang="en-US" b="1" dirty="0"/>
              <a:t>Flexible body representation</a:t>
            </a:r>
            <a:endParaRPr lang="en-US" dirty="0"/>
          </a:p>
          <a:p>
            <a:r>
              <a:rPr lang="en-US" dirty="0"/>
              <a:t>Partial Differential Equation (PDE)</a:t>
            </a:r>
            <a:endParaRPr lang="en-NL" dirty="0"/>
          </a:p>
        </p:txBody>
      </p:sp>
      <p:pic>
        <p:nvPicPr>
          <p:cNvPr id="20" name="cart_rigid">
            <a:hlinkClick r:id="" action="ppaction://media"/>
          </p:cNvPr>
          <p:cNvPicPr>
            <a:picLocks noGrp="1" noChangeAspect="1"/>
          </p:cNvPicPr>
          <p:nvPr>
            <p:ph sz="half" idx="1"/>
            <a:videoFile r:link="rId2"/>
          </p:nvPr>
        </p:nvPicPr>
        <p:blipFill>
          <a:blip r:embed="rId7"/>
          <a:stretch>
            <a:fillRect/>
          </a:stretch>
        </p:blipFill>
        <p:spPr>
          <a:xfrm>
            <a:off x="755650" y="1749425"/>
            <a:ext cx="3598863" cy="2024063"/>
          </a:xfrm>
        </p:spPr>
      </p:pic>
      <p:pic>
        <p:nvPicPr>
          <p:cNvPr id="21" name="cart_flexible">
            <a:hlinkClick r:id="" action="ppaction://media"/>
          </p:cNvPr>
          <p:cNvPicPr>
            <a:picLocks noGrp="1" noChangeAspect="1"/>
          </p:cNvPicPr>
          <p:nvPr>
            <p:ph sz="half" idx="2"/>
            <a:videoFile r:link="rId4"/>
          </p:nvPr>
        </p:nvPicPr>
        <p:blipFill>
          <a:blip r:embed="rId8"/>
          <a:stretch>
            <a:fillRect/>
          </a:stretch>
        </p:blipFill>
        <p:spPr>
          <a:xfrm>
            <a:off x="4722813" y="1749425"/>
            <a:ext cx="3597275" cy="2024063"/>
          </a:xfrm>
        </p:spPr>
      </p:pic>
    </p:spTree>
  </p:cSld>
  <p:clrMapOvr>
    <a:masterClrMapping/>
  </p:clrMapOvr>
  <mc:AlternateContent xmlns:mc="http://schemas.openxmlformats.org/markup-compatibility/2006" xmlns:p14="http://schemas.microsoft.com/office/powerpoint/2010/main">
    <mc:Choice Requires="p14"/>
    <mc:Fallback xmlns=""/>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nb-NO"/>
              <a:t>Msc Defence T.M. Lenssen</a:t>
            </a:r>
            <a:endParaRPr lang="en-GB" dirty="0"/>
          </a:p>
        </p:txBody>
      </p:sp>
      <p:sp>
        <p:nvSpPr>
          <p:cNvPr id="5" name="Slide Number Placeholder 4"/>
          <p:cNvSpPr>
            <a:spLocks noGrp="1"/>
          </p:cNvSpPr>
          <p:nvPr>
            <p:ph type="sldNum" sz="quarter" idx="12"/>
          </p:nvPr>
        </p:nvSpPr>
        <p:spPr/>
        <p:txBody>
          <a:bodyPr/>
          <a:lstStyle/>
          <a:p>
            <a:fld id="{C194BDB0-F4EA-4DD6-8281-CCE2440D0CE0}" type="slidenum">
              <a:rPr lang="en-GB" smtClean="0"/>
              <a:t>3</a:t>
            </a:fld>
            <a:endParaRPr lang="en-GB" dirty="0"/>
          </a:p>
        </p:txBody>
      </p:sp>
      <p:pic>
        <p:nvPicPr>
          <p:cNvPr id="7" name="Picture 6"/>
          <p:cNvPicPr>
            <a:picLocks noChangeAspect="1"/>
          </p:cNvPicPr>
          <p:nvPr/>
        </p:nvPicPr>
        <p:blipFill>
          <a:blip r:embed="rId3" cstate="print"/>
          <a:srcRect l="6208" r="6507" b="12822"/>
          <a:stretch>
            <a:fillRect/>
          </a:stretch>
        </p:blipFill>
        <p:spPr>
          <a:xfrm>
            <a:off x="79420" y="731106"/>
            <a:ext cx="3063532" cy="1721084"/>
          </a:xfrm>
          <a:prstGeom prst="rect">
            <a:avLst/>
          </a:prstGeom>
        </p:spPr>
      </p:pic>
      <p:sp>
        <p:nvSpPr>
          <p:cNvPr id="16" name="TextBox 15"/>
          <p:cNvSpPr txBox="1"/>
          <p:nvPr/>
        </p:nvSpPr>
        <p:spPr>
          <a:xfrm>
            <a:off x="79420" y="242803"/>
            <a:ext cx="3063532" cy="369332"/>
          </a:xfrm>
          <a:prstGeom prst="rect">
            <a:avLst/>
          </a:prstGeom>
          <a:noFill/>
        </p:spPr>
        <p:txBody>
          <a:bodyPr wrap="square" rtlCol="0">
            <a:spAutoFit/>
          </a:bodyPr>
          <a:lstStyle/>
          <a:p>
            <a:pPr algn="ctr"/>
            <a:r>
              <a:rPr lang="en-US" sz="1800" b="1" dirty="0"/>
              <a:t>ASML wafer stage</a:t>
            </a:r>
            <a:endParaRPr lang="en-NL" sz="1800" b="1" dirty="0"/>
          </a:p>
        </p:txBody>
      </p:sp>
      <p:sp>
        <p:nvSpPr>
          <p:cNvPr id="18" name="TextBox 17"/>
          <p:cNvSpPr txBox="1"/>
          <p:nvPr/>
        </p:nvSpPr>
        <p:spPr>
          <a:xfrm>
            <a:off x="3103734" y="242803"/>
            <a:ext cx="3063532" cy="369332"/>
          </a:xfrm>
          <a:prstGeom prst="rect">
            <a:avLst/>
          </a:prstGeom>
          <a:noFill/>
        </p:spPr>
        <p:txBody>
          <a:bodyPr wrap="square" rtlCol="0">
            <a:spAutoFit/>
          </a:bodyPr>
          <a:lstStyle/>
          <a:p>
            <a:pPr algn="ctr"/>
            <a:r>
              <a:rPr lang="en-US" sz="1800" b="1" dirty="0"/>
              <a:t>Canon Production Printing</a:t>
            </a:r>
            <a:endParaRPr lang="en-NL" sz="1800" b="1" dirty="0"/>
          </a:p>
        </p:txBody>
      </p:sp>
      <p:pic>
        <p:nvPicPr>
          <p:cNvPr id="19" name="Picture 18" descr="Products and Technologies - Canon Production Printing"/>
          <p:cNvPicPr>
            <a:picLocks noChangeAspect="1"/>
          </p:cNvPicPr>
          <p:nvPr/>
        </p:nvPicPr>
        <p:blipFill>
          <a:blip r:embed="rId4"/>
          <a:stretch>
            <a:fillRect/>
          </a:stretch>
        </p:blipFill>
        <p:spPr>
          <a:xfrm>
            <a:off x="3206850" y="761797"/>
            <a:ext cx="3063532" cy="1724832"/>
          </a:xfrm>
          <a:prstGeom prst="rect">
            <a:avLst/>
          </a:prstGeom>
        </p:spPr>
      </p:pic>
      <p:sp>
        <p:nvSpPr>
          <p:cNvPr id="23" name="TextBox 22"/>
          <p:cNvSpPr txBox="1"/>
          <p:nvPr/>
        </p:nvSpPr>
        <p:spPr>
          <a:xfrm>
            <a:off x="6167266" y="242803"/>
            <a:ext cx="3063532" cy="369332"/>
          </a:xfrm>
          <a:prstGeom prst="rect">
            <a:avLst/>
          </a:prstGeom>
          <a:noFill/>
        </p:spPr>
        <p:txBody>
          <a:bodyPr wrap="square" rtlCol="0">
            <a:spAutoFit/>
          </a:bodyPr>
          <a:lstStyle/>
          <a:p>
            <a:pPr algn="ctr"/>
            <a:r>
              <a:rPr lang="en-US" sz="1800" b="1" dirty="0"/>
              <a:t>Parkinsons Disease</a:t>
            </a:r>
            <a:endParaRPr lang="en-NL" sz="1800" b="1" dirty="0"/>
          </a:p>
        </p:txBody>
      </p:sp>
      <p:pic>
        <p:nvPicPr>
          <p:cNvPr id="24" name="Picture 23" descr="basal ganglia 1"/>
          <p:cNvPicPr>
            <a:picLocks noChangeAspect="1"/>
          </p:cNvPicPr>
          <p:nvPr/>
        </p:nvPicPr>
        <p:blipFill>
          <a:blip r:embed="rId5"/>
          <a:stretch>
            <a:fillRect/>
          </a:stretch>
        </p:blipFill>
        <p:spPr>
          <a:xfrm>
            <a:off x="6334280" y="770298"/>
            <a:ext cx="2730300" cy="2730300"/>
          </a:xfrm>
          <a:prstGeom prst="rect">
            <a:avLst/>
          </a:prstGeom>
        </p:spPr>
      </p:pic>
      <p:sp>
        <p:nvSpPr>
          <p:cNvPr id="25" name="TextBox 24"/>
          <p:cNvSpPr txBox="1"/>
          <p:nvPr/>
        </p:nvSpPr>
        <p:spPr>
          <a:xfrm>
            <a:off x="3462978" y="3585293"/>
            <a:ext cx="2642839" cy="300082"/>
          </a:xfrm>
          <a:prstGeom prst="rect">
            <a:avLst/>
          </a:prstGeom>
          <a:noFill/>
        </p:spPr>
        <p:txBody>
          <a:bodyPr wrap="none" rtlCol="0">
            <a:spAutoFit/>
          </a:bodyPr>
          <a:lstStyle/>
          <a:p>
            <a:r>
              <a:rPr lang="en-US" dirty="0"/>
              <a:t>Diffusion-Reaction Equations (PDE)</a:t>
            </a:r>
            <a:endParaRPr lang="en-NL" dirty="0"/>
          </a:p>
        </p:txBody>
      </p:sp>
      <p:sp>
        <p:nvSpPr>
          <p:cNvPr id="26" name="TextBox 25"/>
          <p:cNvSpPr txBox="1"/>
          <p:nvPr/>
        </p:nvSpPr>
        <p:spPr>
          <a:xfrm>
            <a:off x="6631079" y="3584376"/>
            <a:ext cx="2174378" cy="507831"/>
          </a:xfrm>
          <a:prstGeom prst="rect">
            <a:avLst/>
          </a:prstGeom>
          <a:noFill/>
        </p:spPr>
        <p:txBody>
          <a:bodyPr wrap="none" rtlCol="0">
            <a:spAutoFit/>
          </a:bodyPr>
          <a:lstStyle/>
          <a:p>
            <a:r>
              <a:rPr lang="en-US" dirty="0"/>
              <a:t>Differential Delay Equations </a:t>
            </a:r>
          </a:p>
          <a:p>
            <a:r>
              <a:rPr lang="en-US" dirty="0"/>
              <a:t>(DDE -&gt; PDE)</a:t>
            </a:r>
            <a:endParaRPr lang="en-NL" dirty="0"/>
          </a:p>
        </p:txBody>
      </p:sp>
      <p:sp>
        <p:nvSpPr>
          <p:cNvPr id="27" name="TextBox 26"/>
          <p:cNvSpPr txBox="1"/>
          <p:nvPr/>
        </p:nvSpPr>
        <p:spPr>
          <a:xfrm>
            <a:off x="557214" y="3584376"/>
            <a:ext cx="2205091" cy="300082"/>
          </a:xfrm>
          <a:prstGeom prst="rect">
            <a:avLst/>
          </a:prstGeom>
          <a:noFill/>
        </p:spPr>
        <p:txBody>
          <a:bodyPr wrap="none" rtlCol="0">
            <a:spAutoFit/>
          </a:bodyPr>
          <a:lstStyle/>
          <a:p>
            <a:r>
              <a:rPr lang="en-US" dirty="0"/>
              <a:t>Wave/beam equations (PDE)</a:t>
            </a:r>
            <a:endParaRPr lang="en-NL" dirty="0"/>
          </a:p>
        </p:txBody>
      </p:sp>
      <p:pic>
        <p:nvPicPr>
          <p:cNvPr id="29" name="Picture 28"/>
          <p:cNvPicPr>
            <a:picLocks noChangeAspect="1"/>
          </p:cNvPicPr>
          <p:nvPr/>
        </p:nvPicPr>
        <p:blipFill>
          <a:blip r:embed="rId6"/>
          <a:stretch>
            <a:fillRect/>
          </a:stretch>
        </p:blipFill>
        <p:spPr>
          <a:xfrm>
            <a:off x="3206850" y="2451057"/>
            <a:ext cx="3063532" cy="1023530"/>
          </a:xfrm>
          <a:prstGeom prst="rect">
            <a:avLst/>
          </a:prstGeom>
        </p:spPr>
      </p:pic>
      <p:pic>
        <p:nvPicPr>
          <p:cNvPr id="31" name="Picture 30"/>
          <p:cNvPicPr>
            <a:picLocks noChangeAspect="1"/>
          </p:cNvPicPr>
          <p:nvPr/>
        </p:nvPicPr>
        <p:blipFill>
          <a:blip r:embed="rId7"/>
          <a:stretch>
            <a:fillRect/>
          </a:stretch>
        </p:blipFill>
        <p:spPr>
          <a:xfrm>
            <a:off x="6334280" y="799017"/>
            <a:ext cx="2905249" cy="2163805"/>
          </a:xfrm>
          <a:prstGeom prst="rect">
            <a:avLst/>
          </a:prstGeom>
        </p:spPr>
      </p:pic>
    </p:spTree>
  </p:cSld>
  <p:clrMapOvr>
    <a:masterClrMapping/>
  </p:clrMapOvr>
  <mc:AlternateContent xmlns:mc="http://schemas.openxmlformats.org/markup-compatibility/2006" xmlns:p14="http://schemas.microsoft.com/office/powerpoint/2010/main">
    <mc:Choice Requires="p14"/>
    <mc:Fallback xmlns=""/>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Partial Integral Equations</a:t>
            </a:r>
            <a:endParaRPr lang="en-NL" b="1" dirty="0"/>
          </a:p>
        </p:txBody>
      </p:sp>
      <p:sp>
        <p:nvSpPr>
          <p:cNvPr id="3" name="Content Placeholder 2"/>
          <p:cNvSpPr>
            <a:spLocks noGrp="1"/>
          </p:cNvSpPr>
          <p:nvPr>
            <p:ph sz="half" idx="1"/>
          </p:nvPr>
        </p:nvSpPr>
        <p:spPr>
          <a:xfrm>
            <a:off x="755650" y="1032734"/>
            <a:ext cx="3598863" cy="3196367"/>
          </a:xfrm>
        </p:spPr>
        <p:txBody>
          <a:bodyPr/>
          <a:lstStyle/>
          <a:p>
            <a:pPr marL="342900" indent="-342900">
              <a:buFont typeface="Arial" panose="020B0604020202020204" pitchFamily="34" charset="0"/>
              <a:buChar char="•"/>
            </a:pPr>
            <a:r>
              <a:rPr lang="en-US" dirty="0"/>
              <a:t>Equivalent dynamics</a:t>
            </a:r>
          </a:p>
          <a:p>
            <a:pPr marL="342900" indent="-342900">
              <a:buFont typeface="Arial" panose="020B0604020202020204" pitchFamily="34" charset="0"/>
              <a:buChar char="•"/>
            </a:pPr>
            <a:r>
              <a:rPr lang="en-US" dirty="0"/>
              <a:t>Built in boundary conditions</a:t>
            </a:r>
          </a:p>
          <a:p>
            <a:pPr marL="342900" indent="-342900">
              <a:buFont typeface="Arial" panose="020B0604020202020204" pitchFamily="34" charset="0"/>
              <a:buChar char="•"/>
            </a:pPr>
            <a:r>
              <a:rPr lang="en-US" dirty="0"/>
              <a:t>Bounded operators</a:t>
            </a:r>
          </a:p>
          <a:p>
            <a:pPr marL="342900" indent="-342900">
              <a:buFont typeface="Arial" panose="020B0604020202020204" pitchFamily="34" charset="0"/>
              <a:buChar char="•"/>
            </a:pPr>
            <a:r>
              <a:rPr lang="en-US" b="1" u="sng" dirty="0"/>
              <a:t>Matrix-like algebra</a:t>
            </a:r>
          </a:p>
          <a:p>
            <a:pPr marL="342900" indent="-342900">
              <a:buFont typeface="Arial" panose="020B0604020202020204" pitchFamily="34" charset="0"/>
              <a:buChar char="•"/>
            </a:pPr>
            <a:r>
              <a:rPr lang="en-US" b="1" u="sng" dirty="0"/>
              <a:t>LMI-like computations</a:t>
            </a:r>
          </a:p>
          <a:p>
            <a:pPr marL="342900" indent="-342900">
              <a:buFont typeface="Arial" panose="020B0604020202020204" pitchFamily="34" charset="0"/>
              <a:buChar char="•"/>
            </a:pPr>
            <a:r>
              <a:rPr lang="en-US" dirty="0"/>
              <a:t>Controller synthesis for linear systems…..</a:t>
            </a:r>
            <a:endParaRPr lang="en-NL" dirty="0"/>
          </a:p>
        </p:txBody>
      </p:sp>
      <p:sp>
        <p:nvSpPr>
          <p:cNvPr id="4" name="Footer Placeholder 3"/>
          <p:cNvSpPr>
            <a:spLocks noGrp="1"/>
          </p:cNvSpPr>
          <p:nvPr>
            <p:ph type="ftr" sz="quarter" idx="11"/>
          </p:nvPr>
        </p:nvSpPr>
        <p:spPr/>
        <p:txBody>
          <a:bodyPr/>
          <a:lstStyle/>
          <a:p>
            <a:r>
              <a:rPr lang="nb-NO" dirty="0"/>
              <a:t>Msc Defence T.M. Lenssen</a:t>
            </a:r>
            <a:endParaRPr lang="en-GB" dirty="0"/>
          </a:p>
        </p:txBody>
      </p:sp>
      <p:sp>
        <p:nvSpPr>
          <p:cNvPr id="5" name="Slide Number Placeholder 4"/>
          <p:cNvSpPr>
            <a:spLocks noGrp="1"/>
          </p:cNvSpPr>
          <p:nvPr>
            <p:ph type="sldNum" sz="quarter" idx="12"/>
          </p:nvPr>
        </p:nvSpPr>
        <p:spPr/>
        <p:txBody>
          <a:bodyPr/>
          <a:lstStyle/>
          <a:p>
            <a:fld id="{C194BDB0-F4EA-4DD6-8281-CCE2440D0CE0}" type="slidenum">
              <a:rPr lang="en-GB" smtClean="0"/>
              <a:t>4</a:t>
            </a:fld>
            <a:endParaRPr lang="en-GB" dirty="0"/>
          </a:p>
        </p:txBody>
      </p:sp>
      <p:sp>
        <p:nvSpPr>
          <p:cNvPr id="11" name="Rectangle: Rounded Corners 10"/>
          <p:cNvSpPr/>
          <p:nvPr/>
        </p:nvSpPr>
        <p:spPr>
          <a:xfrm>
            <a:off x="4354513" y="586800"/>
            <a:ext cx="1533525" cy="100387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ODE-PDE</a:t>
            </a:r>
            <a:endParaRPr lang="en-NL" sz="2400" dirty="0"/>
          </a:p>
        </p:txBody>
      </p:sp>
      <p:sp>
        <p:nvSpPr>
          <p:cNvPr id="13" name="Rectangle: Rounded Corners 12"/>
          <p:cNvSpPr/>
          <p:nvPr/>
        </p:nvSpPr>
        <p:spPr>
          <a:xfrm>
            <a:off x="7069138" y="586800"/>
            <a:ext cx="1533525" cy="100387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PIE</a:t>
            </a:r>
            <a:endParaRPr lang="en-NL" sz="2400" dirty="0"/>
          </a:p>
        </p:txBody>
      </p:sp>
      <p:sp>
        <p:nvSpPr>
          <p:cNvPr id="14" name="Arrow: Left-Right 13"/>
          <p:cNvSpPr/>
          <p:nvPr/>
        </p:nvSpPr>
        <p:spPr>
          <a:xfrm>
            <a:off x="6172200" y="960360"/>
            <a:ext cx="609600" cy="256756"/>
          </a:xfrm>
          <a:prstGeom prst="lef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p:cNvSpPr txBox="1"/>
          <p:nvPr/>
        </p:nvSpPr>
        <p:spPr>
          <a:xfrm>
            <a:off x="6067978" y="1390621"/>
            <a:ext cx="818044" cy="400110"/>
          </a:xfrm>
          <a:prstGeom prst="rect">
            <a:avLst/>
          </a:prstGeom>
          <a:noFill/>
        </p:spPr>
        <p:txBody>
          <a:bodyPr wrap="none" rtlCol="0">
            <a:spAutoFit/>
          </a:bodyPr>
          <a:lstStyle/>
          <a:p>
            <a:r>
              <a:rPr lang="en-US" sz="2000" dirty="0">
                <a:solidFill>
                  <a:srgbClr val="FF0000"/>
                </a:solidFill>
              </a:rPr>
              <a:t>Exact!</a:t>
            </a:r>
            <a:endParaRPr lang="en-NL" dirty="0">
              <a:solidFill>
                <a:srgbClr val="FF0000"/>
              </a:solidFill>
            </a:endParaRPr>
          </a:p>
        </p:txBody>
      </p:sp>
      <mc:AlternateContent xmlns:mc="http://schemas.openxmlformats.org/markup-compatibility/2006" xmlns:a14="http://schemas.microsoft.com/office/drawing/2010/main">
        <mc:Choice Requires="a14">
          <p:sp>
            <p:nvSpPr>
              <p:cNvPr id="17" name="TextBox 16"/>
              <p:cNvSpPr txBox="1"/>
              <p:nvPr/>
            </p:nvSpPr>
            <p:spPr>
              <a:xfrm>
                <a:off x="4421854" y="1788615"/>
                <a:ext cx="1250599" cy="629852"/>
              </a:xfrm>
              <a:prstGeom prst="rect">
                <a:avLst/>
              </a:prstGeom>
              <a:noFill/>
            </p:spPr>
            <p:txBody>
              <a:bodyPr wrap="none" lIns="0" tIns="0" rIns="0" bIns="0" rtlCol="0">
                <a:spAutoFit/>
              </a:bodyPr>
              <a:lstStyle/>
              <a:p>
                <a:pPr/>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𝑇</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𝑠</m:t>
                          </m:r>
                        </m:e>
                      </m:d>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𝑠</m:t>
                          </m:r>
                        </m:e>
                      </m:d>
                    </m:oMath>
                  </m:oMathPara>
                </a14:m>
                <a:endParaRPr lang="en-US" b="0" i="1" dirty="0">
                  <a:latin typeface="Cambria Math" panose="02040503050406030204" pitchFamily="18" charset="0"/>
                </a:endParaRPr>
              </a:p>
              <a:p>
                <a:pPr/>
                <a14:m>
                  <m:oMathPara xmlns:m="http://schemas.openxmlformats.org/officeDocument/2006/math">
                    <m:o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,0</m:t>
                          </m:r>
                        </m:e>
                      </m:d>
                      <m:r>
                        <a:rPr lang="en-US" b="0" i="1" smtClean="0">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𝑤</m:t>
                          </m:r>
                        </m:e>
                        <m:sub>
                          <m:r>
                            <a:rPr lang="en-US" b="0" i="1" smtClean="0">
                              <a:solidFill>
                                <a:srgbClr val="FF0000"/>
                              </a:solidFill>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US" b="0" i="1" dirty="0">
                  <a:latin typeface="Cambria Math" panose="02040503050406030204" pitchFamily="18" charset="0"/>
                </a:endParaRPr>
              </a:p>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𝑠</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,0</m:t>
                          </m:r>
                        </m:e>
                      </m:d>
                      <m:r>
                        <a:rPr lang="en-US" b="0" i="1" smtClean="0">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𝑤</m:t>
                          </m:r>
                        </m:e>
                        <m:sub>
                          <m:r>
                            <a:rPr lang="en-US" b="0" i="1" smtClean="0">
                              <a:solidFill>
                                <a:srgbClr val="FF0000"/>
                              </a:solidFill>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 </m:t>
                      </m:r>
                    </m:oMath>
                  </m:oMathPara>
                </a14:m>
                <a:endParaRPr lang="en-NL" dirty="0"/>
              </a:p>
            </p:txBody>
          </p:sp>
        </mc:Choice>
        <mc:Fallback xmlns="">
          <p:sp>
            <p:nvSpPr>
              <p:cNvPr id="17" name="TextBox 16"/>
              <p:cNvSpPr txBox="1">
                <a:spLocks noRot="1" noChangeAspect="1" noMove="1" noResize="1" noEditPoints="1" noAdjustHandles="1" noChangeArrowheads="1" noChangeShapeType="1" noTextEdit="1"/>
              </p:cNvSpPr>
              <p:nvPr/>
            </p:nvSpPr>
            <p:spPr>
              <a:xfrm>
                <a:off x="4421854" y="1788615"/>
                <a:ext cx="1250599" cy="629852"/>
              </a:xfrm>
              <a:prstGeom prst="rect">
                <a:avLst/>
              </a:prstGeom>
              <a:blipFill>
                <a:blip r:embed="rId3"/>
                <a:stretch>
                  <a:fillRect l="-2913" t="-3846" r="-1456" b="-1057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7065962" y="1784863"/>
                <a:ext cx="1952625" cy="948529"/>
              </a:xfrm>
              <a:prstGeom prst="rect">
                <a:avLst/>
              </a:prstGeom>
              <a:noFill/>
            </p:spPr>
            <p:txBody>
              <a:bodyPr wrap="square" rtlCol="0">
                <a:spAutoFit/>
              </a:bodyPr>
              <a:lstStyle/>
              <a:p>
                <a:pPr/>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𝑠</m:t>
                          </m:r>
                        </m:e>
                      </m:d>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a:rPr lang="en-US" b="0" i="1" smtClean="0">
                              <a:solidFill>
                                <a:srgbClr val="00B050"/>
                              </a:solidFill>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𝑠</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a:rPr lang="en-US" b="0" i="1" smtClean="0">
                              <a:solidFill>
                                <a:srgbClr val="00B050"/>
                              </a:solidFill>
                              <a:latin typeface="Cambria Math" panose="02040503050406030204" pitchFamily="18" charset="0"/>
                            </a:rPr>
                            <m:t>2</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nary>
                        <m:naryPr>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𝑠</m:t>
                          </m:r>
                        </m:sup>
                        <m:e>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𝜉</m:t>
                              </m:r>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𝜉𝜉</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𝜉</m:t>
                              </m:r>
                            </m:e>
                          </m:d>
                          <m:r>
                            <a:rPr lang="en-US" b="0" i="1" smtClean="0">
                              <a:latin typeface="Cambria Math" panose="02040503050406030204" pitchFamily="18" charset="0"/>
                            </a:rPr>
                            <m:t>𝑑</m:t>
                          </m:r>
                          <m:r>
                            <a:rPr lang="en-US" b="0" i="1" smtClean="0">
                              <a:latin typeface="Cambria Math" panose="02040503050406030204" pitchFamily="18" charset="0"/>
                            </a:rPr>
                            <m:t>𝜉</m:t>
                          </m:r>
                        </m:e>
                      </m:nary>
                    </m:oMath>
                  </m:oMathPara>
                </a14:m>
                <a:endParaRPr lang="en-NL" dirty="0"/>
              </a:p>
            </p:txBody>
          </p:sp>
        </mc:Choice>
        <mc:Fallback xmlns="">
          <p:sp>
            <p:nvSpPr>
              <p:cNvPr id="18" name="TextBox 17"/>
              <p:cNvSpPr txBox="1">
                <a:spLocks noRot="1" noChangeAspect="1" noMove="1" noResize="1" noEditPoints="1" noAdjustHandles="1" noChangeArrowheads="1" noChangeShapeType="1" noTextEdit="1"/>
              </p:cNvSpPr>
              <p:nvPr/>
            </p:nvSpPr>
            <p:spPr>
              <a:xfrm>
                <a:off x="7065962" y="1784863"/>
                <a:ext cx="1952625" cy="948529"/>
              </a:xfrm>
              <a:prstGeom prst="rect">
                <a:avLst/>
              </a:prstGeom>
              <a:blipFill>
                <a:blip r:embed="rId4"/>
                <a:stretch>
                  <a:fillRect l="-22188" t="-44516" b="-12709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2641601" y="2942701"/>
                <a:ext cx="4427537" cy="1792542"/>
              </a:xfrm>
              <a:prstGeom prst="rect">
                <a:avLst/>
              </a:prstGeom>
              <a:noFill/>
            </p:spPr>
            <p:txBody>
              <a:bodyPr wrap="square" lIns="0" tIns="0" rIns="0" bIns="0" rtlCol="0">
                <a:spAutoFit/>
              </a:bodyPr>
              <a:lstStyle/>
              <a:p>
                <a:pPr/>
                <a14:m>
                  <m:oMathPara xmlns:m="http://schemas.openxmlformats.org/officeDocument/2006/math">
                    <m:oMath>
                      <m:r>
                        <a:rPr lang="en-US" sz="2800" b="0" i="1" smtClean="0">
                          <a:solidFill>
                            <a:srgbClr val="00B050"/>
                          </a:solidFill>
                          <a:latin typeface="Cambria Math" panose="02040503050406030204" pitchFamily="18" charset="0"/>
                        </a:rPr>
                        <m:t>𝒯</m:t>
                      </m:r>
                      <m:sSub>
                        <m:sSubPr>
                          <m:ctrlPr>
                            <a:rPr lang="en-US" sz="2800" b="0" i="1" smtClean="0">
                              <a:latin typeface="Cambria Math" panose="02040503050406030204" pitchFamily="18" charset="0"/>
                            </a:rPr>
                          </m:ctrlPr>
                        </m:sSubPr>
                        <m:e>
                          <m:acc>
                            <m:accPr>
                              <m:chr m:val="̇"/>
                              <m:ctrlPr>
                                <a:rPr lang="en-US" sz="2800" b="0" i="1" smtClean="0">
                                  <a:latin typeface="Cambria Math" panose="02040503050406030204" pitchFamily="18" charset="0"/>
                                </a:rPr>
                              </m:ctrlPr>
                            </m:accPr>
                            <m:e>
                              <m:r>
                                <a:rPr lang="en-US" sz="2800" b="0" i="1" smtClean="0">
                                  <a:latin typeface="Cambria Math" panose="02040503050406030204" pitchFamily="18" charset="0"/>
                                </a:rPr>
                                <m:t>𝐱</m:t>
                              </m:r>
                            </m:e>
                          </m:acc>
                        </m:e>
                        <m:sub>
                          <m:r>
                            <a:rPr lang="en-US" sz="2800" b="0" i="1" smtClean="0">
                              <a:latin typeface="Cambria Math" panose="02040503050406030204" pitchFamily="18" charset="0"/>
                            </a:rPr>
                            <m:t>𝑓</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𝒜</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𝐱</m:t>
                          </m:r>
                        </m:e>
                        <m:sub>
                          <m:r>
                            <a:rPr lang="en-US" sz="2800" b="0" i="1" smtClean="0">
                              <a:latin typeface="Cambria Math" panose="02040503050406030204" pitchFamily="18" charset="0"/>
                            </a:rPr>
                            <m:t>𝑓</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ℬ</m:t>
                      </m:r>
                      <m:r>
                        <a:rPr lang="en-US" sz="2800" b="0" i="1" smtClean="0">
                          <a:latin typeface="Cambria Math" panose="02040503050406030204" pitchFamily="18" charset="0"/>
                        </a:rPr>
                        <m:t>𝑤</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oMath>
                  </m:oMathPara>
                </a14:m>
                <a:endParaRPr lang="en-US" sz="2800" b="0" i="1" dirty="0">
                  <a:latin typeface="Cambria Math" panose="02040503050406030204" pitchFamily="18" charset="0"/>
                </a:endParaRPr>
              </a:p>
              <a:p>
                <a:pPr/>
                <a14:m>
                  <m:oMathPara xmlns:m="http://schemas.openxmlformats.org/officeDocument/2006/math">
                    <m:oMath>
                      <m:r>
                        <a:rPr lang="en-US" sz="2800" b="0" i="1" smtClean="0">
                          <a:latin typeface="Cambria Math" panose="02040503050406030204" pitchFamily="18" charset="0"/>
                        </a:rPr>
                        <m:t>𝑧</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𝒞</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𝐱</m:t>
                          </m:r>
                        </m:e>
                        <m:sub>
                          <m:r>
                            <a:rPr lang="en-US" sz="2800" b="0" i="1" smtClean="0">
                              <a:latin typeface="Cambria Math" panose="02040503050406030204" pitchFamily="18" charset="0"/>
                            </a:rPr>
                            <m:t>𝑓</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𝒟</m:t>
                      </m:r>
                      <m:r>
                        <a:rPr lang="en-US" sz="2800" b="0" i="1" smtClean="0">
                          <a:latin typeface="Cambria Math" panose="02040503050406030204" pitchFamily="18" charset="0"/>
                        </a:rPr>
                        <m:t>𝑤</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oMath>
                  </m:oMathPara>
                </a14:m>
                <a:endParaRPr lang="en-US" sz="2800" b="0" dirty="0"/>
              </a:p>
              <a:p>
                <a:pPr/>
                <a14:m>
                  <m:oMathPara xmlns:m="http://schemas.openxmlformats.org/officeDocument/2006/math">
                    <m:oMath>
                      <m:r>
                        <a:rPr lang="en-US" sz="2800" b="0" i="1" smtClean="0">
                          <a:solidFill>
                            <a:srgbClr val="00B050"/>
                          </a:solidFill>
                          <a:latin typeface="Cambria Math" panose="02040503050406030204" pitchFamily="18" charset="0"/>
                        </a:rPr>
                        <m:t>𝒯</m:t>
                      </m:r>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𝒜</m:t>
                      </m:r>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m:rPr>
                              <m:sty m:val="p"/>
                            </m:rPr>
                            <a:rPr lang="en-US" sz="2800" b="0" i="1" smtClean="0">
                              <a:latin typeface="Cambria Math" panose="02040503050406030204" pitchFamily="18" charset="0"/>
                            </a:rPr>
                            <m:t>Π</m:t>
                          </m:r>
                        </m:e>
                        <m:sub>
                          <m:r>
                            <a:rPr lang="en-US" sz="2800" b="0" i="1" smtClean="0">
                              <a:latin typeface="Cambria Math" panose="02040503050406030204" pitchFamily="18" charset="0"/>
                            </a:rPr>
                            <m:t>4</m:t>
                          </m:r>
                        </m:sub>
                      </m:sSub>
                    </m:oMath>
                  </m:oMathPara>
                </a14:m>
                <a:endParaRPr lang="en-US" sz="2800" b="0" dirty="0"/>
              </a:p>
              <a:p>
                <a:endParaRPr lang="en-NL" sz="2800" dirty="0"/>
              </a:p>
            </p:txBody>
          </p:sp>
        </mc:Choice>
        <mc:Fallback xmlns="">
          <p:sp>
            <p:nvSpPr>
              <p:cNvPr id="21" name="TextBox 20"/>
              <p:cNvSpPr txBox="1">
                <a:spLocks noRot="1" noChangeAspect="1" noMove="1" noResize="1" noEditPoints="1" noAdjustHandles="1" noChangeArrowheads="1" noChangeShapeType="1" noTextEdit="1"/>
              </p:cNvSpPr>
              <p:nvPr/>
            </p:nvSpPr>
            <p:spPr>
              <a:xfrm>
                <a:off x="2641601" y="2942701"/>
                <a:ext cx="4427537" cy="1792542"/>
              </a:xfrm>
              <a:prstGeom prst="rect">
                <a:avLst/>
              </a:prstGeom>
              <a:blipFill>
                <a:blip r:embed="rId5"/>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2507669" y="3374832"/>
                <a:ext cx="14594316" cy="622158"/>
              </a:xfrm>
              <a:prstGeom prst="rect">
                <a:avLst/>
              </a:prstGeom>
              <a:noFill/>
            </p:spPr>
            <p:txBody>
              <a:bodyPr wrap="none" lIns="0" tIns="0" rIns="0" bIns="0" rtlCol="0">
                <a:spAutoFit/>
              </a:bodyPr>
              <a:lstStyle/>
              <a:p>
                <a:pPr/>
                <a14:m>
                  <m:oMathPara xmlns:m="http://schemas.openxmlformats.org/officeDocument/2006/math">
                    <m:oMath>
                      <m:r>
                        <a:rPr lang="en-US" sz="2400" b="0" i="1" smtClean="0">
                          <a:latin typeface="Cambria Math" panose="02040503050406030204" pitchFamily="18" charset="0"/>
                        </a:rPr>
                        <m:t>𝒜</m:t>
                      </m:r>
                      <m:r>
                        <a:rPr lang="en-US" sz="2400" b="0" i="1" smtClean="0">
                          <a:latin typeface="Cambria Math" panose="02040503050406030204" pitchFamily="18" charset="0"/>
                        </a:rPr>
                        <m:t>+</m:t>
                      </m:r>
                      <m:r>
                        <a:rPr lang="en-US" sz="2400" b="0" i="1" smtClean="0">
                          <a:latin typeface="Cambria Math" panose="02040503050406030204" pitchFamily="18" charset="0"/>
                        </a:rPr>
                        <m:t>ℬ</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Π</m:t>
                          </m:r>
                        </m:e>
                        <m:sub>
                          <m:r>
                            <a:rPr lang="en-US" sz="2400" b="0" i="1" smtClean="0">
                              <a:latin typeface="Cambria Math" panose="02040503050406030204" pitchFamily="18" charset="0"/>
                            </a:rPr>
                            <m:t>4</m:t>
                          </m:r>
                        </m:sub>
                      </m:sSub>
                      <m:r>
                        <a:rPr lang="en-US" sz="2400" b="0" i="1" smtClean="0">
                          <a:latin typeface="Cambria Math" panose="02040503050406030204" pitchFamily="18" charset="0"/>
                        </a:rPr>
                        <m:t>, </m:t>
                      </m:r>
                      <m:r>
                        <a:rPr lang="en-US" sz="2400" b="0" i="1" smtClean="0">
                          <a:latin typeface="Cambria Math" panose="02040503050406030204" pitchFamily="18" charset="0"/>
                        </a:rPr>
                        <m:t>𝒜ℬ</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Π</m:t>
                          </m:r>
                        </m:e>
                        <m:sub>
                          <m:r>
                            <a:rPr lang="en-US" sz="2400" b="0" i="1" smtClean="0">
                              <a:latin typeface="Cambria Math" panose="02040503050406030204" pitchFamily="18" charset="0"/>
                            </a:rPr>
                            <m:t>4</m:t>
                          </m:r>
                        </m:sub>
                      </m:sSub>
                      <m:r>
                        <a:rPr lang="en-US" sz="2400" b="0" i="1" smtClean="0">
                          <a:latin typeface="Cambria Math" panose="02040503050406030204" pitchFamily="18" charset="0"/>
                        </a:rPr>
                        <m:t>, </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𝒜</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Π</m:t>
                          </m:r>
                        </m:e>
                        <m:sub>
                          <m:r>
                            <a:rPr lang="en-US" sz="2400" b="0" i="1" smtClean="0">
                              <a:latin typeface="Cambria Math" panose="02040503050406030204" pitchFamily="18" charset="0"/>
                            </a:rPr>
                            <m:t>4</m:t>
                          </m:r>
                        </m:sub>
                      </m:sSub>
                      <m:r>
                        <a:rPr lang="en-US" sz="2400" b="0" i="1" smtClean="0">
                          <a:latin typeface="Cambria Math" panose="02040503050406030204" pitchFamily="18" charset="0"/>
                        </a:rPr>
                        <m:t>, </m:t>
                      </m:r>
                      <m:d>
                        <m:dPr>
                          <m:begChr m:val="["/>
                          <m:endChr m:val="]"/>
                          <m:ctrlPr>
                            <a:rPr lang="en-US" sz="2400" b="0" i="1" smtClean="0">
                              <a:latin typeface="Cambria Math" panose="02040503050406030204" pitchFamily="18" charset="0"/>
                            </a:rPr>
                          </m:ctrlPr>
                        </m:dPr>
                        <m:e>
                          <m:m>
                            <m:mPr>
                              <m:mcs>
                                <m:mc>
                                  <m:mcPr>
                                    <m:count m:val="2"/>
                                    <m:mcJc m:val="center"/>
                                  </m:mcPr>
                                </m:mc>
                              </m:mcs>
                              <m:ctrlPr>
                                <a:rPr lang="en-US" sz="2400" b="0" i="1" smtClean="0">
                                  <a:latin typeface="Cambria Math" panose="02040503050406030204" pitchFamily="18" charset="0"/>
                                </a:rPr>
                              </m:ctrlPr>
                            </m:mPr>
                            <m:mr>
                              <m:e>
                                <m:r>
                                  <a:rPr lang="en-US" sz="2400" b="0" i="1" smtClean="0">
                                    <a:latin typeface="Cambria Math" panose="02040503050406030204" pitchFamily="18" charset="0"/>
                                  </a:rPr>
                                  <m:t>𝒜</m:t>
                                </m:r>
                              </m:e>
                              <m:e>
                                <m:r>
                                  <a:rPr lang="en-US" sz="2400" b="0" i="1" smtClean="0">
                                    <a:latin typeface="Cambria Math" panose="02040503050406030204" pitchFamily="18" charset="0"/>
                                  </a:rPr>
                                  <m:t>ℬ</m:t>
                                </m:r>
                              </m:e>
                            </m:mr>
                          </m:m>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Π</m:t>
                          </m:r>
                        </m:e>
                        <m:sub>
                          <m:r>
                            <a:rPr lang="en-US" sz="2400" b="0" i="1" smtClean="0">
                              <a:latin typeface="Cambria Math" panose="02040503050406030204" pitchFamily="18" charset="0"/>
                            </a:rPr>
                            <m:t>4</m:t>
                          </m:r>
                        </m:sub>
                      </m:sSub>
                    </m:oMath>
                  </m:oMathPara>
                </a14:m>
                <a:endParaRPr lang="en-US" b="0" dirty="0"/>
              </a:p>
              <a:p>
                <a:endParaRPr lang="en-NL" dirty="0"/>
              </a:p>
            </p:txBody>
          </p:sp>
        </mc:Choice>
        <mc:Fallback xmlns="">
          <p:sp>
            <p:nvSpPr>
              <p:cNvPr id="22" name="TextBox 21"/>
              <p:cNvSpPr txBox="1">
                <a:spLocks noRot="1" noChangeAspect="1" noMove="1" noResize="1" noEditPoints="1" noAdjustHandles="1" noChangeArrowheads="1" noChangeShapeType="1" noTextEdit="1"/>
              </p:cNvSpPr>
              <p:nvPr/>
            </p:nvSpPr>
            <p:spPr>
              <a:xfrm>
                <a:off x="-2507669" y="3374832"/>
                <a:ext cx="14594316" cy="622158"/>
              </a:xfrm>
              <a:prstGeom prst="rect">
                <a:avLst/>
              </a:prstGeom>
              <a:blipFill>
                <a:blip r:embed="rId6"/>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2854148" y="3031511"/>
                <a:ext cx="4386009" cy="960904"/>
              </a:xfrm>
              <a:prstGeom prst="rect">
                <a:avLst/>
              </a:prstGeom>
              <a:noFill/>
            </p:spPr>
            <p:txBody>
              <a:bodyPr wrap="none" lIns="0" tIns="0" rIns="0" bIns="0" rtlCol="0">
                <a:spAutoFit/>
              </a:bodyPr>
              <a:lstStyle/>
              <a:p>
                <a:r>
                  <a:rPr lang="en-US" sz="2000" b="0" i="1" dirty="0"/>
                  <a:t>Exponential stability  of PDE</a:t>
                </a:r>
              </a:p>
              <a:p>
                <a:pPr/>
                <a14:m>
                  <m:oMathPara xmlns:m="http://schemas.openxmlformats.org/officeDocument/2006/math">
                    <m:oMath>
                      <m:r>
                        <a:rPr lang="en-US" sz="2000" b="0" i="1" smtClean="0">
                          <a:latin typeface="Cambria Math" panose="02040503050406030204" pitchFamily="18" charset="0"/>
                        </a:rPr>
                        <m:t>∃</m:t>
                      </m:r>
                      <m:r>
                        <a:rPr lang="en-US" sz="2000" b="0" i="1" smtClean="0">
                          <a:latin typeface="Cambria Math" panose="02040503050406030204" pitchFamily="18" charset="0"/>
                        </a:rPr>
                        <m:t>𝒫</m:t>
                      </m:r>
                      <m:r>
                        <a:rPr lang="en-US" sz="2000" b="0" i="1" smtClean="0">
                          <a:latin typeface="Cambria Math" panose="02040503050406030204" pitchFamily="18" charset="0"/>
                        </a:rPr>
                        <m:t>≻0, </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𝒯</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𝒫𝒜</m:t>
                      </m:r>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𝒜</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𝒫𝒯</m:t>
                      </m:r>
                      <m:r>
                        <a:rPr lang="en-US" sz="2000" b="0" i="1" smtClean="0">
                          <a:latin typeface="Cambria Math" panose="02040503050406030204" pitchFamily="18" charset="0"/>
                        </a:rPr>
                        <m:t>⪯−</m:t>
                      </m:r>
                      <m:r>
                        <a:rPr lang="en-US" sz="2000" b="0" i="1" smtClean="0">
                          <a:latin typeface="Cambria Math" panose="02040503050406030204" pitchFamily="18" charset="0"/>
                        </a:rPr>
                        <m:t>𝛼</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𝒯</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𝒫𝒯</m:t>
                      </m:r>
                    </m:oMath>
                  </m:oMathPara>
                </a14:m>
                <a:endParaRPr lang="en-US" sz="2000" b="0" i="1" dirty="0">
                  <a:latin typeface="Cambria Math" panose="02040503050406030204" pitchFamily="18" charset="0"/>
                </a:endParaRPr>
              </a:p>
              <a:p>
                <a:pPr/>
                <a14:m>
                  <m:oMathPara xmlns:m="http://schemas.openxmlformats.org/officeDocument/2006/math">
                    <m:oMath>
                      <m:r>
                        <a:rPr lang="en-US" sz="2000" b="0" i="1" smtClean="0">
                          <a:latin typeface="Cambria Math" panose="02040503050406030204" pitchFamily="18" charset="0"/>
                        </a:rPr>
                        <m:t>  </m:t>
                      </m:r>
                    </m:oMath>
                  </m:oMathPara>
                </a14:m>
                <a:endParaRPr lang="en-NL" sz="2000" dirty="0"/>
              </a:p>
            </p:txBody>
          </p:sp>
        </mc:Choice>
        <mc:Fallback xmlns="">
          <p:sp>
            <p:nvSpPr>
              <p:cNvPr id="23" name="TextBox 22"/>
              <p:cNvSpPr txBox="1">
                <a:spLocks noRot="1" noChangeAspect="1" noMove="1" noResize="1" noEditPoints="1" noAdjustHandles="1" noChangeArrowheads="1" noChangeShapeType="1" noTextEdit="1"/>
              </p:cNvSpPr>
              <p:nvPr/>
            </p:nvSpPr>
            <p:spPr>
              <a:xfrm>
                <a:off x="2854148" y="3031511"/>
                <a:ext cx="4386009" cy="960904"/>
              </a:xfrm>
              <a:prstGeom prst="rect">
                <a:avLst/>
              </a:prstGeom>
              <a:blipFill>
                <a:blip r:embed="rId7"/>
                <a:stretch>
                  <a:fillRect l="-3472" t="-8228"/>
                </a:stretch>
              </a:blipFill>
            </p:spPr>
            <p:txBody>
              <a:bodyPr/>
              <a:lstStyle/>
              <a:p>
                <a:r>
                  <a:rPr lang="en-NL">
                    <a:noFill/>
                  </a:rPr>
                  <a:t> </a:t>
                </a:r>
              </a:p>
            </p:txBody>
          </p:sp>
        </mc:Fallback>
      </mc:AlternateContent>
    </p:spTree>
  </p:cSld>
  <p:clrMapOvr>
    <a:masterClrMapping/>
  </p:clrMapOvr>
  <mc:AlternateContent xmlns:mc="http://schemas.openxmlformats.org/markup-compatibility/2006" xmlns:p14="http://schemas.microsoft.com/office/powerpoint/2010/main">
    <mc:Choice Requires="p14"/>
    <mc:Fallback xmlns=""/>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5</a:t>
            </a:fld>
            <a:endParaRPr lang="en-GB" dirty="0"/>
          </a:p>
        </p:txBody>
      </p:sp>
      <mc:AlternateContent xmlns:mc="http://schemas.openxmlformats.org/markup-compatibility/2006">
        <mc:Choice xmlns:a14="http://schemas.microsoft.com/office/drawing/2010/main" Requires="a14">
          <p:sp>
            <p:nvSpPr>
              <p:cNvPr id="14" name="TextBox 13"/>
              <p:cNvSpPr txBox="1"/>
              <p:nvPr/>
            </p:nvSpPr>
            <p:spPr>
              <a:xfrm>
                <a:off x="1719776" y="1565551"/>
                <a:ext cx="5704447" cy="463653"/>
              </a:xfrm>
              <a:prstGeom prst="rect">
                <a:avLst/>
              </a:prstGeom>
              <a:noFill/>
            </p:spPr>
            <p:txBody>
              <a:bodyPr wrap="none" lIns="0" tIns="0" rIns="0" bIns="0" rtlCol="0">
                <a:spAutoFit/>
              </a:bodyPr>
              <a:lstStyle/>
              <a:p>
                <a14:m>
                  <m:oMathPara xmlns:m="http://schemas.openxmlformats.org/officeDocument/2006/math">
                    <m:oMath>
                      <m:sSub>
                        <m:sSubPr>
                          <m:ctrlPr>
                            <a:rPr lang="nl-NL" i="1">
                              <a:latin typeface="Cambria Math" panose="02040503050406030204" pitchFamily="18" charset="0"/>
                            </a:rPr>
                          </m:ctrlPr>
                        </m:sSubPr>
                        <m:e>
                          <m:r>
                            <m:rPr>
                              <m:sty m:val="p"/>
                            </m:rPr>
                            <a:rPr lang="nl-NL" i="1">
                              <a:latin typeface="Cambria Math" panose="02040503050406030204" pitchFamily="18" charset="0"/>
                            </a:rPr>
                            <m:t>heat</m:t>
                          </m:r>
                        </m:e>
                        <m:sub>
                          <m:r>
                            <a:rPr lang="nl-NL" i="1">
                              <a:latin typeface="Cambria Math" panose="02040503050406030204" pitchFamily="18" charset="0"/>
                            </a:rPr>
                            <m:t>𝑡</m:t>
                          </m:r>
                        </m:sub>
                      </m:sSub>
                      <m:d>
                        <m:dPr>
                          <m:ctrlPr>
                            <a:rPr lang="nl-NL" i="1">
                              <a:latin typeface="Cambria Math" panose="02040503050406030204" pitchFamily="18" charset="0"/>
                            </a:rPr>
                          </m:ctrlPr>
                        </m:dPr>
                        <m:e>
                          <m:r>
                            <a:rPr lang="nl-NL" i="1">
                              <a:latin typeface="Cambria Math" panose="02040503050406030204" pitchFamily="18" charset="0"/>
                            </a:rPr>
                            <m:t>𝑡</m:t>
                          </m:r>
                          <m:r>
                            <a:rPr lang="nl-NL" i="1">
                              <a:latin typeface="Cambria Math" panose="02040503050406030204" pitchFamily="18" charset="0"/>
                            </a:rPr>
                            <m:t>,</m:t>
                          </m:r>
                          <m:r>
                            <a:rPr lang="nl-NL" i="1">
                              <a:latin typeface="Cambria Math" panose="02040503050406030204" pitchFamily="18" charset="0"/>
                            </a:rPr>
                            <m:t>𝑠</m:t>
                          </m:r>
                        </m:e>
                      </m:d>
                      <m:r>
                        <a:rPr lang="nl-NL" i="1">
                          <a:latin typeface="Cambria Math" panose="02040503050406030204" pitchFamily="18" charset="0"/>
                        </a:rPr>
                        <m:t>=0.01 </m:t>
                      </m:r>
                      <m:sSub>
                        <m:sSubPr>
                          <m:ctrlPr>
                            <a:rPr lang="nl-NL" i="1">
                              <a:latin typeface="Cambria Math" panose="02040503050406030204" pitchFamily="18" charset="0"/>
                            </a:rPr>
                          </m:ctrlPr>
                        </m:sSubPr>
                        <m:e>
                          <m:r>
                            <m:rPr>
                              <m:sty m:val="p"/>
                            </m:rPr>
                            <a:rPr lang="nl-NL" i="1">
                              <a:latin typeface="Cambria Math" panose="02040503050406030204" pitchFamily="18" charset="0"/>
                            </a:rPr>
                            <m:t>heat</m:t>
                          </m:r>
                        </m:e>
                        <m:sub>
                          <m:r>
                            <a:rPr lang="nl-NL" i="1">
                              <a:latin typeface="Cambria Math" panose="02040503050406030204" pitchFamily="18" charset="0"/>
                            </a:rPr>
                            <m:t>𝑠𝑠</m:t>
                          </m:r>
                        </m:sub>
                      </m:sSub>
                      <m:d>
                        <m:dPr>
                          <m:ctrlPr>
                            <a:rPr lang="nl-NL" i="1">
                              <a:latin typeface="Cambria Math" panose="02040503050406030204" pitchFamily="18" charset="0"/>
                            </a:rPr>
                          </m:ctrlPr>
                        </m:dPr>
                        <m:e>
                          <m:r>
                            <a:rPr lang="nl-NL" i="1">
                              <a:latin typeface="Cambria Math" panose="02040503050406030204" pitchFamily="18" charset="0"/>
                            </a:rPr>
                            <m:t>𝑡</m:t>
                          </m:r>
                          <m:r>
                            <a:rPr lang="nl-NL" i="1">
                              <a:latin typeface="Cambria Math" panose="02040503050406030204" pitchFamily="18" charset="0"/>
                            </a:rPr>
                            <m:t>,</m:t>
                          </m:r>
                          <m:r>
                            <a:rPr lang="nl-NL" i="1">
                              <a:latin typeface="Cambria Math" panose="02040503050406030204" pitchFamily="18" charset="0"/>
                            </a:rPr>
                            <m:t>𝑠</m:t>
                          </m:r>
                        </m:e>
                      </m:d>
                      <m:r>
                        <a:rPr lang="nl-NL" i="1">
                          <a:latin typeface="Cambria Math" panose="02040503050406030204" pitchFamily="18" charset="0"/>
                        </a:rPr>
                        <m:t>+</m:t>
                      </m:r>
                      <m:d>
                        <m:dPr>
                          <m:begChr m:val="["/>
                          <m:endChr m:val="]"/>
                          <m:ctrlPr>
                            <a:rPr lang="nl-NL" i="1">
                              <a:latin typeface="Cambria Math" panose="02040503050406030204" pitchFamily="18" charset="0"/>
                            </a:rPr>
                          </m:ctrlPr>
                        </m:dPr>
                        <m:e>
                          <m:limLow>
                            <m:limLowPr>
                              <m:ctrlPr>
                                <a:rPr lang="nl-NL" i="1">
                                  <a:latin typeface="Cambria Math" panose="02040503050406030204" pitchFamily="18" charset="0"/>
                                </a:rPr>
                              </m:ctrlPr>
                            </m:limLowPr>
                            <m:e>
                              <m:groupChr>
                                <m:groupChrPr>
                                  <m:chr m:val="⏟"/>
                                  <m:pos m:val="bot"/>
                                  <m:vertJc m:val="top"/>
                                  <m:ctrlPr>
                                    <a:rPr lang="nl-NL" i="1">
                                      <a:latin typeface="Cambria Math" panose="02040503050406030204" pitchFamily="18" charset="0"/>
                                    </a:rPr>
                                  </m:ctrlPr>
                                </m:groupChrPr>
                                <m:e>
                                  <m:r>
                                    <a:rPr lang="nl-NL" i="1">
                                      <a:latin typeface="Cambria Math" panose="02040503050406030204" pitchFamily="18" charset="0"/>
                                    </a:rPr>
                                    <m:t>0.25</m:t>
                                  </m:r>
                                  <m:d>
                                    <m:dPr>
                                      <m:ctrlPr>
                                        <a:rPr lang="nl-NL" i="1">
                                          <a:latin typeface="Cambria Math" panose="02040503050406030204" pitchFamily="18" charset="0"/>
                                        </a:rPr>
                                      </m:ctrlPr>
                                    </m:dPr>
                                    <m:e>
                                      <m:r>
                                        <a:rPr lang="nl-NL" i="1">
                                          <a:latin typeface="Cambria Math" panose="02040503050406030204" pitchFamily="18" charset="0"/>
                                        </a:rPr>
                                        <m:t>1+</m:t>
                                      </m:r>
                                      <m:r>
                                        <a:rPr lang="nl-NL" i="1">
                                          <a:latin typeface="Cambria Math" panose="02040503050406030204" pitchFamily="18" charset="0"/>
                                        </a:rPr>
                                        <m:t>𝛿</m:t>
                                      </m:r>
                                    </m:e>
                                  </m:d>
                                </m:e>
                              </m:groupChr>
                            </m:e>
                            <m:lim>
                              <m:r>
                                <m:rPr>
                                  <m:nor/>
                                </m:rPr>
                                <a:rPr lang="nl-NL" i="0">
                                  <a:latin typeface="Cambria Math" panose="02040503050406030204" pitchFamily="18" charset="0"/>
                                </a:rPr>
                                <m:t>heat generation</m:t>
                              </m:r>
                            </m:lim>
                          </m:limLow>
                          <m:r>
                            <a:rPr lang="nl-NL" i="1">
                              <a:latin typeface="Cambria Math" panose="02040503050406030204" pitchFamily="18" charset="0"/>
                            </a:rPr>
                            <m:t>−</m:t>
                          </m:r>
                          <m:limLow>
                            <m:limLowPr>
                              <m:ctrlPr>
                                <a:rPr lang="nl-NL" i="1">
                                  <a:latin typeface="Cambria Math" panose="02040503050406030204" pitchFamily="18" charset="0"/>
                                </a:rPr>
                              </m:ctrlPr>
                            </m:limLowPr>
                            <m:e>
                              <m:groupChr>
                                <m:groupChrPr>
                                  <m:chr m:val="⏟"/>
                                  <m:pos m:val="bot"/>
                                  <m:vertJc m:val="top"/>
                                  <m:ctrlPr>
                                    <a:rPr lang="nl-NL" i="1">
                                      <a:latin typeface="Cambria Math" panose="02040503050406030204" pitchFamily="18" charset="0"/>
                                    </a:rPr>
                                  </m:ctrlPr>
                                </m:groupChrPr>
                                <m:e>
                                  <m:r>
                                    <a:rPr lang="nl-NL" i="1">
                                      <a:latin typeface="Cambria Math" panose="02040503050406030204" pitchFamily="18" charset="0"/>
                                    </a:rPr>
                                    <m:t>0.2</m:t>
                                  </m:r>
                                </m:e>
                              </m:groupChr>
                            </m:e>
                            <m:lim>
                              <m:r>
                                <m:rPr>
                                  <m:nor/>
                                </m:rPr>
                                <a:rPr lang="nl-NL" i="0">
                                  <a:latin typeface="Cambria Math" panose="02040503050406030204" pitchFamily="18" charset="0"/>
                                </a:rPr>
                                <m:t>cooling</m:t>
                              </m:r>
                            </m:lim>
                          </m:limLow>
                        </m:e>
                      </m:d>
                      <m:r>
                        <m:rPr>
                          <m:sty m:val="p"/>
                        </m:rPr>
                        <a:rPr lang="nl-NL" i="1">
                          <a:latin typeface="Cambria Math" panose="02040503050406030204" pitchFamily="18" charset="0"/>
                        </a:rPr>
                        <m:t>heat</m:t>
                      </m:r>
                      <m:d>
                        <m:dPr>
                          <m:ctrlPr>
                            <a:rPr lang="nl-NL" i="1">
                              <a:latin typeface="Cambria Math" panose="02040503050406030204" pitchFamily="18" charset="0"/>
                            </a:rPr>
                          </m:ctrlPr>
                        </m:dPr>
                        <m:e>
                          <m:r>
                            <a:rPr lang="nl-NL" i="1">
                              <a:latin typeface="Cambria Math" panose="02040503050406030204" pitchFamily="18" charset="0"/>
                            </a:rPr>
                            <m:t>𝑡</m:t>
                          </m:r>
                          <m:r>
                            <a:rPr lang="nl-NL" i="1">
                              <a:latin typeface="Cambria Math" panose="02040503050406030204" pitchFamily="18" charset="0"/>
                            </a:rPr>
                            <m:t>,</m:t>
                          </m:r>
                          <m:r>
                            <a:rPr lang="nl-NL" i="1">
                              <a:latin typeface="Cambria Math" panose="02040503050406030204" pitchFamily="18" charset="0"/>
                            </a:rPr>
                            <m:t>𝑠</m:t>
                          </m:r>
                        </m:e>
                      </m:d>
                      <m:r>
                        <a:rPr lang="nl-NL" i="1">
                          <a:latin typeface="Cambria Math" panose="02040503050406030204" pitchFamily="18" charset="0"/>
                        </a:rPr>
                        <m:t>+</m:t>
                      </m:r>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oMath>
                  </m:oMathPara>
                </a14:m>
                <a:endParaRPr lang="en-NL" dirty="0"/>
              </a:p>
            </p:txBody>
          </p:sp>
        </mc:Choice>
        <mc:Fallback>
          <p:sp>
            <p:nvSpPr>
              <p:cNvPr id="14" name="TextBox 13"/>
              <p:cNvSpPr txBox="1">
                <a:spLocks noRot="1" noChangeAspect="1" noMove="1" noResize="1" noEditPoints="1" noAdjustHandles="1" noChangeArrowheads="1" noChangeShapeType="1" noTextEdit="1"/>
              </p:cNvSpPr>
              <p:nvPr/>
            </p:nvSpPr>
            <p:spPr>
              <a:xfrm>
                <a:off x="1719776" y="1565551"/>
                <a:ext cx="5704447" cy="463653"/>
              </a:xfrm>
              <a:prstGeom prst="rect">
                <a:avLst/>
              </a:prstGeom>
              <a:blipFill>
                <a:blip r:embed="rId3"/>
                <a:stretch>
                  <a:fillRect l="-214" b="-9211"/>
                </a:stretch>
              </a:blipFill>
            </p:spPr>
            <p:txBody>
              <a:bodyPr/>
              <a:lstStyle/>
              <a:p>
                <a:r>
                  <a:rPr lang="en-NL">
                    <a:noFill/>
                  </a:rPr>
                  <a:t> </a:t>
                </a:r>
              </a:p>
            </p:txBody>
          </p:sp>
        </mc:Fallback>
      </mc:AlternateContent>
      <p:pic>
        <p:nvPicPr>
          <p:cNvPr id="18" name="Picture 17"/>
          <p:cNvPicPr>
            <a:picLocks noChangeAspect="1"/>
          </p:cNvPicPr>
          <p:nvPr/>
        </p:nvPicPr>
        <p:blipFill>
          <a:blip r:embed="rId4" cstate="print"/>
          <a:stretch>
            <a:fillRect/>
          </a:stretch>
        </p:blipFill>
        <p:spPr>
          <a:xfrm>
            <a:off x="1114426" y="2119148"/>
            <a:ext cx="3947796" cy="2359308"/>
          </a:xfrm>
          <a:prstGeom prst="rect">
            <a:avLst/>
          </a:prstGeom>
        </p:spPr>
      </p:pic>
      <p:pic>
        <p:nvPicPr>
          <p:cNvPr id="20" name="Picture 19"/>
          <p:cNvPicPr>
            <a:picLocks noChangeAspect="1"/>
          </p:cNvPicPr>
          <p:nvPr/>
        </p:nvPicPr>
        <p:blipFill>
          <a:blip r:embed="rId5" cstate="print"/>
          <a:stretch>
            <a:fillRect/>
          </a:stretch>
        </p:blipFill>
        <p:spPr>
          <a:xfrm>
            <a:off x="359862" y="0"/>
            <a:ext cx="9015684" cy="1713094"/>
          </a:xfrm>
          <a:prstGeom prst="rect">
            <a:avLst/>
          </a:prstGeom>
        </p:spPr>
      </p:pic>
      <p:sp>
        <p:nvSpPr>
          <p:cNvPr id="22" name="TextBox 21"/>
          <p:cNvSpPr txBox="1"/>
          <p:nvPr/>
        </p:nvSpPr>
        <p:spPr>
          <a:xfrm>
            <a:off x="5260489" y="2964256"/>
            <a:ext cx="3625327" cy="30008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	Solved during internship</a:t>
            </a:r>
            <a:endParaRPr lang="en-NL" dirty="0"/>
          </a:p>
        </p:txBody>
      </p:sp>
    </p:spTree>
  </p:cSld>
  <p:clrMapOvr>
    <a:masterClrMapping/>
  </p:clrMapOvr>
  <mc:AlternateContent xmlns:mc="http://schemas.openxmlformats.org/markup-compatibility/2006">
    <mc:Choice xmlns:p14="http://schemas.microsoft.com/office/powerpoint/2010/main" Requires="p14"/>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6</a:t>
            </a:fld>
            <a:endParaRPr lang="en-GB" dirty="0"/>
          </a:p>
        </p:txBody>
      </p:sp>
      <p:pic>
        <p:nvPicPr>
          <p:cNvPr id="8" name="Picture 7" descr="basal ganglia 1"/>
          <p:cNvPicPr>
            <a:picLocks noChangeAspect="1"/>
          </p:cNvPicPr>
          <p:nvPr/>
        </p:nvPicPr>
        <p:blipFill>
          <a:blip r:embed="rId2"/>
          <a:stretch>
            <a:fillRect/>
          </a:stretch>
        </p:blipFill>
        <p:spPr>
          <a:xfrm>
            <a:off x="2349500" y="-3600"/>
            <a:ext cx="4572000" cy="4572000"/>
          </a:xfrm>
          <a:prstGeom prst="rect">
            <a:avLst/>
          </a:prstGeom>
        </p:spPr>
      </p:pic>
    </p:spTree>
  </p:cSld>
  <p:clrMapOvr>
    <a:masterClrMapping/>
  </p:clrMapOvr>
  <mc:AlternateContent xmlns:mc="http://schemas.openxmlformats.org/markup-compatibility/2006">
    <mc:Choice xmlns:p14="http://schemas.microsoft.com/office/powerpoint/2010/main" Requires="p14"/>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7</a:t>
            </a:fld>
            <a:endParaRPr lang="en-GB" dirty="0"/>
          </a:p>
        </p:txBody>
      </p:sp>
      <p:pic>
        <p:nvPicPr>
          <p:cNvPr id="8" name="Picture 7" descr="basal ganglia 1"/>
          <p:cNvPicPr>
            <a:picLocks noChangeAspect="1"/>
          </p:cNvPicPr>
          <p:nvPr/>
        </p:nvPicPr>
        <p:blipFill>
          <a:blip r:embed="rId2"/>
          <a:srcRect l="26518" t="40198" r="27239" b="33833"/>
          <a:stretch>
            <a:fillRect/>
          </a:stretch>
        </p:blipFill>
        <p:spPr>
          <a:xfrm>
            <a:off x="0" y="0"/>
            <a:ext cx="9143998" cy="5135173"/>
          </a:xfrm>
          <a:prstGeom prst="rect">
            <a:avLst/>
          </a:prstGeom>
        </p:spPr>
      </p:pic>
    </p:spTree>
  </p:cSld>
  <p:clrMapOvr>
    <a:masterClrMapping/>
  </p:clrMapOvr>
  <mc:AlternateContent xmlns:mc="http://schemas.openxmlformats.org/markup-compatibility/2006">
    <mc:Choice xmlns:p159="http://schemas.microsoft.com/office/powerpoint/2015/09/main" Requires="p159"/>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8</a:t>
            </a:fld>
            <a:endParaRPr lang="en-GB" dirty="0"/>
          </a:p>
        </p:txBody>
      </p:sp>
      <p:pic>
        <p:nvPicPr>
          <p:cNvPr id="13" name="Picture 12"/>
          <p:cNvPicPr>
            <a:picLocks noChangeAspect="1"/>
          </p:cNvPicPr>
          <p:nvPr/>
        </p:nvPicPr>
        <p:blipFill>
          <a:blip r:embed="rId3" cstate="print"/>
          <a:stretch>
            <a:fillRect/>
          </a:stretch>
        </p:blipFill>
        <p:spPr>
          <a:xfrm>
            <a:off x="2736730" y="0"/>
            <a:ext cx="3319826" cy="4132712"/>
          </a:xfrm>
          <a:prstGeom prst="rect">
            <a:avLst/>
          </a:prstGeom>
        </p:spPr>
      </p:pic>
      <p:sp>
        <p:nvSpPr>
          <p:cNvPr id="14" name="TextBox 13"/>
          <p:cNvSpPr txBox="1"/>
          <p:nvPr/>
        </p:nvSpPr>
        <p:spPr>
          <a:xfrm>
            <a:off x="2736730" y="4132712"/>
            <a:ext cx="3152723" cy="300082"/>
          </a:xfrm>
          <a:prstGeom prst="rect">
            <a:avLst/>
          </a:prstGeom>
          <a:noFill/>
        </p:spPr>
        <p:txBody>
          <a:bodyPr wrap="none" rtlCol="0">
            <a:spAutoFit/>
          </a:bodyPr>
          <a:lstStyle/>
          <a:p>
            <a:r>
              <a:rPr lang="en-US" dirty="0"/>
              <a:t>[1] beta oscillatory activity in basal ganglia</a:t>
            </a:r>
            <a:endParaRPr lang="en-NL" dirty="0"/>
          </a:p>
        </p:txBody>
      </p:sp>
      <p:sp>
        <p:nvSpPr>
          <p:cNvPr id="15" name="Rectangle 14"/>
          <p:cNvSpPr/>
          <p:nvPr/>
        </p:nvSpPr>
        <p:spPr>
          <a:xfrm>
            <a:off x="3485478" y="1882588"/>
            <a:ext cx="1957890" cy="1140312"/>
          </a:xfrm>
          <a:prstGeom prst="rect">
            <a:avLst/>
          </a:prstGeom>
          <a:no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Rectangle 16"/>
          <p:cNvSpPr/>
          <p:nvPr/>
        </p:nvSpPr>
        <p:spPr>
          <a:xfrm>
            <a:off x="2736730" y="3022900"/>
            <a:ext cx="1361934" cy="1109812"/>
          </a:xfrm>
          <a:prstGeom prst="rect">
            <a:avLst/>
          </a:prstGeom>
          <a:no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8" name="Multiplication Sign 17"/>
          <p:cNvSpPr/>
          <p:nvPr/>
        </p:nvSpPr>
        <p:spPr>
          <a:xfrm>
            <a:off x="4173967" y="2248348"/>
            <a:ext cx="398033" cy="408791"/>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mc:Choice xmlns:p14="http://schemas.microsoft.com/office/powerpoint/2010/main" Requires="p14"/>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nb-NO" dirty="0"/>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9</a:t>
            </a:fld>
            <a:endParaRPr lang="en-GB" dirty="0"/>
          </a:p>
        </p:txBody>
      </p:sp>
      <mc:AlternateContent xmlns:mc="http://schemas.openxmlformats.org/markup-compatibility/2006">
        <mc:Choice xmlns:a14="http://schemas.microsoft.com/office/drawing/2010/main" Requires="a14">
          <p:sp>
            <p:nvSpPr>
              <p:cNvPr id="38" name="TextBox 37"/>
              <p:cNvSpPr txBox="1"/>
              <p:nvPr/>
            </p:nvSpPr>
            <p:spPr>
              <a:xfrm>
                <a:off x="-3872" y="2764593"/>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38" name="TextBox 37"/>
              <p:cNvSpPr txBox="1">
                <a:spLocks noRot="1" noChangeAspect="1" noMove="1" noResize="1" noEditPoints="1" noAdjustHandles="1" noChangeArrowheads="1" noChangeShapeType="1" noTextEdit="1"/>
              </p:cNvSpPr>
              <p:nvPr/>
            </p:nvSpPr>
            <p:spPr>
              <a:xfrm>
                <a:off x="-3872" y="2764593"/>
                <a:ext cx="5781907" cy="806054"/>
              </a:xfrm>
              <a:prstGeom prst="rect">
                <a:avLst/>
              </a:prstGeom>
              <a:blipFill>
                <a:blip r:embed="rId3"/>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 name="TextBox 39"/>
              <p:cNvSpPr txBox="1"/>
              <p:nvPr/>
            </p:nvSpPr>
            <p:spPr>
              <a:xfrm>
                <a:off x="-3873" y="2764593"/>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40" name="TextBox 39"/>
              <p:cNvSpPr txBox="1">
                <a:spLocks noRot="1" noChangeAspect="1" noMove="1" noResize="1" noEditPoints="1" noAdjustHandles="1" noChangeArrowheads="1" noChangeShapeType="1" noTextEdit="1"/>
              </p:cNvSpPr>
              <p:nvPr/>
            </p:nvSpPr>
            <p:spPr>
              <a:xfrm>
                <a:off x="-3873" y="2764593"/>
                <a:ext cx="5781907" cy="806054"/>
              </a:xfrm>
              <a:prstGeom prst="rect">
                <a:avLst/>
              </a:prstGeom>
              <a:blipFill>
                <a:blip r:embed="rId4"/>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2" name="TextBox 41"/>
              <p:cNvSpPr txBox="1"/>
              <p:nvPr/>
            </p:nvSpPr>
            <p:spPr>
              <a:xfrm>
                <a:off x="291010" y="2766358"/>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42" name="TextBox 41"/>
              <p:cNvSpPr txBox="1">
                <a:spLocks noRot="1" noChangeAspect="1" noMove="1" noResize="1" noEditPoints="1" noAdjustHandles="1" noChangeArrowheads="1" noChangeShapeType="1" noTextEdit="1"/>
              </p:cNvSpPr>
              <p:nvPr/>
            </p:nvSpPr>
            <p:spPr>
              <a:xfrm>
                <a:off x="291010" y="2766358"/>
                <a:ext cx="5781907" cy="806054"/>
              </a:xfrm>
              <a:prstGeom prst="rect">
                <a:avLst/>
              </a:prstGeom>
              <a:blipFill>
                <a:blip r:embed="rId5"/>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4" name="TextBox 43"/>
              <p:cNvSpPr txBox="1"/>
              <p:nvPr/>
            </p:nvSpPr>
            <p:spPr>
              <a:xfrm>
                <a:off x="195961" y="2768110"/>
                <a:ext cx="5781907" cy="941989"/>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𝛿</m:t>
                              </m:r>
                            </m:e>
                            <m:sub>
                              <m:r>
                                <m:rPr>
                                  <m:sty m:val="p"/>
                                </m:rPr>
                                <a:rPr lang="en-US" b="0" i="1" smtClean="0">
                                  <a:solidFill>
                                    <a:srgbClr val="00B050"/>
                                  </a:solidFill>
                                  <a:latin typeface="Cambria Math" panose="02040503050406030204" pitchFamily="18" charset="0"/>
                                </a:rPr>
                                <m:t>S</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𝛿</m:t>
                              </m:r>
                            </m:e>
                            <m:sub>
                              <m:r>
                                <m:rPr>
                                  <m:sty m:val="p"/>
                                </m:rPr>
                                <a:rPr lang="en-US" b="0" i="1" smtClean="0">
                                  <a:solidFill>
                                    <a:srgbClr val="00B050"/>
                                  </a:solidFill>
                                  <a:latin typeface="Cambria Math" panose="02040503050406030204" pitchFamily="18" charset="0"/>
                                </a:rPr>
                                <m:t>G</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qArr>
                    </m:oMath>
                  </m:oMathPara>
                </a14:m>
                <a:endParaRPr lang="en-NL" dirty="0"/>
              </a:p>
            </p:txBody>
          </p:sp>
        </mc:Choice>
        <mc:Fallback>
          <p:sp>
            <p:nvSpPr>
              <p:cNvPr id="44" name="TextBox 43"/>
              <p:cNvSpPr txBox="1">
                <a:spLocks noRot="1" noChangeAspect="1" noMove="1" noResize="1" noEditPoints="1" noAdjustHandles="1" noChangeArrowheads="1" noChangeShapeType="1" noTextEdit="1"/>
              </p:cNvSpPr>
              <p:nvPr/>
            </p:nvSpPr>
            <p:spPr>
              <a:xfrm>
                <a:off x="195961" y="2768110"/>
                <a:ext cx="5781907" cy="941989"/>
              </a:xfrm>
              <a:prstGeom prst="rect">
                <a:avLst/>
              </a:prstGeom>
              <a:blipFill>
                <a:blip r:embed="rId6"/>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6" name="TextBox 45"/>
              <p:cNvSpPr txBox="1"/>
              <p:nvPr/>
            </p:nvSpPr>
            <p:spPr>
              <a:xfrm>
                <a:off x="195961" y="2764396"/>
                <a:ext cx="5781907" cy="941989"/>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solidFill>
                                <a:srgbClr val="00B050"/>
                              </a:solidFill>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qArr>
                    </m:oMath>
                  </m:oMathPara>
                </a14:m>
                <a:endParaRPr lang="en-NL" dirty="0"/>
              </a:p>
            </p:txBody>
          </p:sp>
        </mc:Choice>
        <mc:Fallback>
          <p:sp>
            <p:nvSpPr>
              <p:cNvPr id="46" name="TextBox 45"/>
              <p:cNvSpPr txBox="1">
                <a:spLocks noRot="1" noChangeAspect="1" noMove="1" noResize="1" noEditPoints="1" noAdjustHandles="1" noChangeArrowheads="1" noChangeShapeType="1" noTextEdit="1"/>
              </p:cNvSpPr>
              <p:nvPr/>
            </p:nvSpPr>
            <p:spPr>
              <a:xfrm>
                <a:off x="195961" y="2764396"/>
                <a:ext cx="5781907" cy="941989"/>
              </a:xfrm>
              <a:prstGeom prst="rect">
                <a:avLst/>
              </a:prstGeom>
              <a:blipFill>
                <a:blip r:embed="rId7"/>
                <a:stretch>
                  <a:fillRect/>
                </a:stretch>
              </a:blipFill>
            </p:spPr>
            <p:txBody>
              <a:bodyPr/>
              <a:lstStyle/>
              <a:p>
                <a:r>
                  <a:rPr lang="en-NL">
                    <a:noFill/>
                  </a:rPr>
                  <a:t> </a:t>
                </a:r>
              </a:p>
            </p:txBody>
          </p:sp>
        </mc:Fallback>
      </mc:AlternateContent>
      <p:pic>
        <p:nvPicPr>
          <p:cNvPr id="54" name="Picture 53"/>
          <p:cNvPicPr>
            <a:picLocks noChangeAspect="1"/>
          </p:cNvPicPr>
          <p:nvPr/>
        </p:nvPicPr>
        <p:blipFill>
          <a:blip r:embed="rId8" cstate="print"/>
          <a:stretch>
            <a:fillRect/>
          </a:stretch>
        </p:blipFill>
        <p:spPr>
          <a:xfrm>
            <a:off x="-3875" y="0"/>
            <a:ext cx="5477073" cy="2738537"/>
          </a:xfrm>
          <a:prstGeom prst="rect">
            <a:avLst/>
          </a:prstGeom>
        </p:spPr>
      </p:pic>
      <p:pic>
        <p:nvPicPr>
          <p:cNvPr id="56" name="Picture 55"/>
          <p:cNvPicPr>
            <a:picLocks noChangeAspect="1"/>
          </p:cNvPicPr>
          <p:nvPr/>
        </p:nvPicPr>
        <p:blipFill>
          <a:blip r:embed="rId9" cstate="print"/>
          <a:stretch>
            <a:fillRect/>
          </a:stretch>
        </p:blipFill>
        <p:spPr>
          <a:xfrm>
            <a:off x="-4195" y="1676"/>
            <a:ext cx="5477073" cy="2738537"/>
          </a:xfrm>
          <a:prstGeom prst="rect">
            <a:avLst/>
          </a:prstGeom>
        </p:spPr>
      </p:pic>
      <p:pic>
        <p:nvPicPr>
          <p:cNvPr id="58" name="Picture 57"/>
          <p:cNvPicPr>
            <a:picLocks noChangeAspect="1"/>
          </p:cNvPicPr>
          <p:nvPr/>
        </p:nvPicPr>
        <p:blipFill>
          <a:blip r:embed="rId10" cstate="print"/>
          <a:stretch>
            <a:fillRect/>
          </a:stretch>
        </p:blipFill>
        <p:spPr>
          <a:xfrm>
            <a:off x="0" y="7270"/>
            <a:ext cx="5477073" cy="2738537"/>
          </a:xfrm>
          <a:prstGeom prst="rect">
            <a:avLst/>
          </a:prstGeom>
        </p:spPr>
      </p:pic>
      <p:pic>
        <p:nvPicPr>
          <p:cNvPr id="60" name="Picture 59"/>
          <p:cNvPicPr>
            <a:picLocks noChangeAspect="1"/>
          </p:cNvPicPr>
          <p:nvPr/>
        </p:nvPicPr>
        <p:blipFill>
          <a:blip r:embed="rId11" cstate="print"/>
          <a:stretch>
            <a:fillRect/>
          </a:stretch>
        </p:blipFill>
        <p:spPr>
          <a:xfrm>
            <a:off x="-4515" y="6570"/>
            <a:ext cx="5477073" cy="2738537"/>
          </a:xfrm>
          <a:prstGeom prst="rect">
            <a:avLst/>
          </a:prstGeom>
        </p:spPr>
      </p:pic>
      <p:pic>
        <p:nvPicPr>
          <p:cNvPr id="62" name="Picture 61"/>
          <p:cNvPicPr>
            <a:picLocks noChangeAspect="1"/>
          </p:cNvPicPr>
          <p:nvPr/>
        </p:nvPicPr>
        <p:blipFill>
          <a:blip r:embed="rId12" cstate="print"/>
          <a:stretch>
            <a:fillRect/>
          </a:stretch>
        </p:blipFill>
        <p:spPr>
          <a:xfrm>
            <a:off x="3233" y="6920"/>
            <a:ext cx="5477073" cy="2738537"/>
          </a:xfrm>
          <a:prstGeom prst="rect">
            <a:avLst/>
          </a:prstGeom>
        </p:spPr>
      </p:pic>
      <p:sp>
        <p:nvSpPr>
          <p:cNvPr id="68" name="TextBox 67"/>
          <p:cNvSpPr txBox="1"/>
          <p:nvPr/>
        </p:nvSpPr>
        <p:spPr>
          <a:xfrm>
            <a:off x="0" y="4264604"/>
            <a:ext cx="1727781" cy="300082"/>
          </a:xfrm>
          <a:prstGeom prst="rect">
            <a:avLst/>
          </a:prstGeom>
          <a:noFill/>
        </p:spPr>
        <p:txBody>
          <a:bodyPr wrap="none" rtlCol="0">
            <a:spAutoFit/>
          </a:bodyPr>
          <a:lstStyle/>
          <a:p>
            <a:r>
              <a:rPr lang="en-US" dirty="0"/>
              <a:t>[2] Firing rate models</a:t>
            </a:r>
            <a:endParaRPr lang="en-NL" dirty="0"/>
          </a:p>
        </p:txBody>
      </p:sp>
      <p:pic>
        <p:nvPicPr>
          <p:cNvPr id="70" name="Picture 69"/>
          <p:cNvPicPr>
            <a:picLocks noChangeAspect="1"/>
          </p:cNvPicPr>
          <p:nvPr/>
        </p:nvPicPr>
        <p:blipFill>
          <a:blip r:embed="rId13" cstate="print"/>
          <a:stretch>
            <a:fillRect/>
          </a:stretch>
        </p:blipFill>
        <p:spPr>
          <a:xfrm>
            <a:off x="-322" y="10590"/>
            <a:ext cx="5477075" cy="2738538"/>
          </a:xfrm>
          <a:prstGeom prst="rect">
            <a:avLst/>
          </a:prstGeom>
        </p:spPr>
      </p:pic>
      <p:pic>
        <p:nvPicPr>
          <p:cNvPr id="76" name="Picture 75"/>
          <p:cNvPicPr>
            <a:picLocks noChangeAspect="1"/>
          </p:cNvPicPr>
          <p:nvPr/>
        </p:nvPicPr>
        <p:blipFill>
          <a:blip r:embed="rId14" cstate="print"/>
          <a:stretch>
            <a:fillRect/>
          </a:stretch>
        </p:blipFill>
        <p:spPr>
          <a:xfrm>
            <a:off x="4794222" y="2056104"/>
            <a:ext cx="4108345" cy="2508582"/>
          </a:xfrm>
          <a:prstGeom prst="rect">
            <a:avLst/>
          </a:prstGeom>
        </p:spPr>
      </p:pic>
      <p:pic>
        <p:nvPicPr>
          <p:cNvPr id="78" name="Picture 77"/>
          <p:cNvPicPr>
            <a:picLocks noChangeAspect="1"/>
          </p:cNvPicPr>
          <p:nvPr/>
        </p:nvPicPr>
        <p:blipFill>
          <a:blip r:embed="rId15" cstate="print"/>
          <a:stretch>
            <a:fillRect/>
          </a:stretch>
        </p:blipFill>
        <p:spPr>
          <a:xfrm>
            <a:off x="4806315" y="2431227"/>
            <a:ext cx="4141723" cy="1983417"/>
          </a:xfrm>
          <a:prstGeom prst="rect">
            <a:avLst/>
          </a:prstGeom>
        </p:spPr>
      </p:pic>
      <p:pic>
        <p:nvPicPr>
          <p:cNvPr id="80" name="Picture 79"/>
          <p:cNvPicPr>
            <a:picLocks noChangeAspect="1"/>
          </p:cNvPicPr>
          <p:nvPr/>
        </p:nvPicPr>
        <p:blipFill>
          <a:blip r:embed="rId16" cstate="print"/>
          <a:stretch>
            <a:fillRect/>
          </a:stretch>
        </p:blipFill>
        <p:spPr>
          <a:xfrm>
            <a:off x="1775" y="1586"/>
            <a:ext cx="5473201" cy="2736601"/>
          </a:xfrm>
          <a:prstGeom prst="rect">
            <a:avLst/>
          </a:prstGeom>
        </p:spPr>
      </p:pic>
      <p:sp>
        <p:nvSpPr>
          <p:cNvPr id="81" name="TextBox 80"/>
          <p:cNvSpPr txBox="1"/>
          <p:nvPr/>
        </p:nvSpPr>
        <p:spPr>
          <a:xfrm>
            <a:off x="602348" y="3833596"/>
            <a:ext cx="4264629" cy="300082"/>
          </a:xfrm>
          <a:prstGeom prst="rect">
            <a:avLst/>
          </a:prstGeom>
          <a:noFill/>
        </p:spPr>
        <p:txBody>
          <a:bodyPr wrap="none" rtlCol="0">
            <a:spAutoFit/>
          </a:bodyPr>
          <a:lstStyle/>
          <a:p>
            <a:r>
              <a:rPr lang="en-US" b="1" dirty="0"/>
              <a:t>Model contains delays and nonlinear activation </a:t>
            </a:r>
            <a:r>
              <a:rPr lang="en-US" b="1" dirty="0" err="1"/>
              <a:t>funtions</a:t>
            </a:r>
            <a:r>
              <a:rPr lang="en-US" b="1" dirty="0"/>
              <a:t>!</a:t>
            </a:r>
            <a:endParaRPr lang="en-NL" b="1" dirty="0"/>
          </a:p>
        </p:txBody>
      </p:sp>
    </p:spTree>
  </p:cSld>
  <p:clrMapOvr>
    <a:masterClrMapping/>
  </p:clrMapOvr>
  <mc:AlternateContent xmlns:mc="http://schemas.openxmlformats.org/markup-compatibility/2006">
    <mc:Choice xmlns:p14="http://schemas.microsoft.com/office/powerpoint/2010/main" Requires="p14"/>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endParaRPr lang="en-NL" dirty="0"/>
          </a:p>
        </p:txBody>
      </p:sp>
      <p:sp>
        <p:nvSpPr>
          <p:cNvPr id="3" name="Footer Placeholder 2"/>
          <p:cNvSpPr>
            <a:spLocks noGrp="1"/>
          </p:cNvSpPr>
          <p:nvPr>
            <p:ph type="ftr" sz="quarter" idx="11"/>
          </p:nvPr>
        </p:nvSpPr>
        <p:spPr/>
        <p:txBody>
          <a:bodyPr/>
          <a:lstStyle/>
          <a:p>
            <a:r>
              <a:rPr lang="nb-NO"/>
              <a:t>Msc Defence T.M. Lenssen</a:t>
            </a:r>
            <a:endParaRPr lang="en-GB" dirty="0"/>
          </a:p>
        </p:txBody>
      </p:sp>
      <p:sp>
        <p:nvSpPr>
          <p:cNvPr id="4" name="Slide Number Placeholder 3"/>
          <p:cNvSpPr>
            <a:spLocks noGrp="1"/>
          </p:cNvSpPr>
          <p:nvPr>
            <p:ph type="sldNum" sz="quarter" idx="12"/>
          </p:nvPr>
        </p:nvSpPr>
        <p:spPr/>
        <p:txBody>
          <a:bodyPr/>
          <a:lstStyle/>
          <a:p>
            <a:fld id="{C194BDB0-F4EA-4DD6-8281-CCE2440D0CE0}" type="slidenum">
              <a:rPr lang="en-GB" smtClean="0"/>
              <a:t>10</a:t>
            </a:fld>
            <a:endParaRPr lang="en-GB" dirty="0"/>
          </a:p>
        </p:txBody>
      </p:sp>
      <p:sp>
        <p:nvSpPr>
          <p:cNvPr id="5" name="Chart Placeholder 4"/>
          <p:cNvSpPr>
            <a:spLocks noGrp="1"/>
          </p:cNvSpPr>
          <p:nvPr>
            <p:ph type="chart" sz="quarter" idx="13"/>
          </p:nvPr>
        </p:nvSpPr>
        <p:spPr/>
        <p:txBody>
          <a:bodyPr/>
          <a:lstStyle/>
          <a:p>
            <a:r>
              <a:rPr lang="en-US" dirty="0"/>
              <a:t>[1] </a:t>
            </a:r>
            <a:r>
              <a:rPr lang="en-US" dirty="0" err="1"/>
              <a:t>B.De</a:t>
            </a:r>
            <a:r>
              <a:rPr lang="en-US" dirty="0"/>
              <a:t> la </a:t>
            </a:r>
            <a:r>
              <a:rPr lang="en-US" dirty="0" err="1"/>
              <a:t>Crompe</a:t>
            </a:r>
            <a:r>
              <a:rPr lang="en-US" dirty="0"/>
              <a:t>, </a:t>
            </a:r>
            <a:r>
              <a:rPr lang="en-US" dirty="0" err="1"/>
              <a:t>M.Deffains</a:t>
            </a:r>
            <a:r>
              <a:rPr lang="en-US" dirty="0"/>
              <a:t>, </a:t>
            </a:r>
            <a:r>
              <a:rPr lang="en-US" dirty="0" err="1"/>
              <a:t>A.Leblois</a:t>
            </a:r>
            <a:r>
              <a:rPr lang="en-US" dirty="0"/>
              <a:t>, </a:t>
            </a:r>
            <a:r>
              <a:rPr lang="en-US" dirty="0" err="1"/>
              <a:t>N.Mallet</a:t>
            </a:r>
            <a:r>
              <a:rPr lang="en-US" dirty="0"/>
              <a:t>, “Reevaluating the role of the STN-</a:t>
            </a:r>
            <a:r>
              <a:rPr lang="en-US" dirty="0" err="1"/>
              <a:t>Gpe</a:t>
            </a:r>
            <a:r>
              <a:rPr lang="en-US" dirty="0"/>
              <a:t> network in generating beta synchronized oscillatory activity in parkinsonism.”</a:t>
            </a:r>
          </a:p>
          <a:p>
            <a:r>
              <a:rPr lang="en-US" dirty="0"/>
              <a:t>[2]A.J. Nevado </a:t>
            </a:r>
            <a:r>
              <a:rPr lang="en-US" dirty="0" err="1"/>
              <a:t>Holgade</a:t>
            </a:r>
            <a:r>
              <a:rPr lang="en-US" dirty="0"/>
              <a:t>, </a:t>
            </a:r>
            <a:r>
              <a:rPr lang="en-US" dirty="0" err="1"/>
              <a:t>J.R.Terry,R.Bogacz</a:t>
            </a:r>
            <a:r>
              <a:rPr lang="en-US" dirty="0"/>
              <a:t>, “Conditions for the Generation of Beta Oscillations in the Subthalamic Nucleus-Globus Pallidus Network”</a:t>
            </a:r>
          </a:p>
        </p:txBody>
      </p:sp>
    </p:spTree>
  </p:cSld>
  <p:clrMapOvr>
    <a:masterClrMapping/>
  </p:clrMapOvr>
  <mc:AlternateContent xmlns:mc="http://schemas.openxmlformats.org/markup-compatibility/2006" xmlns:p14="http://schemas.microsoft.com/office/powerpoint/2010/main">
    <mc:Choice Requires="p14"/>
    <mc:Fallback xmlns=""/>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nb-NO"/>
              <a:t>Msc Defence T.M. Lenssen</a:t>
            </a:r>
            <a:endParaRPr lang="en-GB" dirty="0"/>
          </a:p>
        </p:txBody>
      </p:sp>
      <p:sp>
        <p:nvSpPr>
          <p:cNvPr id="5" name="Slide Number Placeholder 4"/>
          <p:cNvSpPr>
            <a:spLocks noGrp="1"/>
          </p:cNvSpPr>
          <p:nvPr>
            <p:ph type="sldNum" sz="quarter" idx="12"/>
          </p:nvPr>
        </p:nvSpPr>
        <p:spPr/>
        <p:txBody>
          <a:bodyPr/>
          <a:lstStyle/>
          <a:p>
            <a:fld id="{C194BDB0-F4EA-4DD6-8281-CCE2440D0CE0}" type="slidenum">
              <a:rPr lang="en-GB" smtClean="0"/>
              <a:t>11</a:t>
            </a:fld>
            <a:endParaRPr lang="en-GB" dirty="0"/>
          </a:p>
        </p:txBody>
      </p:sp>
      <p:sp>
        <p:nvSpPr>
          <p:cNvPr id="6" name="TextBox 5"/>
          <p:cNvSpPr txBox="1"/>
          <p:nvPr/>
        </p:nvSpPr>
        <p:spPr>
          <a:xfrm>
            <a:off x="986980" y="817582"/>
            <a:ext cx="7170040" cy="300082"/>
          </a:xfrm>
          <a:prstGeom prst="rect">
            <a:avLst/>
          </a:prstGeom>
          <a:noFill/>
        </p:spPr>
        <p:txBody>
          <a:bodyPr wrap="none" rtlCol="0">
            <a:spAutoFit/>
          </a:bodyPr>
          <a:lstStyle/>
          <a:p>
            <a:r>
              <a:rPr lang="en-US" dirty="0"/>
              <a:t>Goal: Can we find a single tool to </a:t>
            </a:r>
            <a:r>
              <a:rPr lang="en-US" dirty="0" err="1"/>
              <a:t>analyse</a:t>
            </a:r>
            <a:r>
              <a:rPr lang="en-US" dirty="0"/>
              <a:t> and control a large class of Partial Integral Equations(PIE)?</a:t>
            </a:r>
            <a:endParaRPr lang="en-NL" dirty="0"/>
          </a:p>
        </p:txBody>
      </p:sp>
      <p:sp>
        <p:nvSpPr>
          <p:cNvPr id="7" name="TextBox 6"/>
          <p:cNvSpPr txBox="1"/>
          <p:nvPr/>
        </p:nvSpPr>
        <p:spPr>
          <a:xfrm>
            <a:off x="2786231" y="1430767"/>
            <a:ext cx="2725746" cy="715581"/>
          </a:xfrm>
          <a:prstGeom prst="rect">
            <a:avLst/>
          </a:prstGeom>
          <a:noFill/>
        </p:spPr>
        <p:txBody>
          <a:bodyPr wrap="none" rtlCol="0">
            <a:spAutoFit/>
          </a:bodyPr>
          <a:lstStyle/>
          <a:p>
            <a:pPr marL="285750" indent="-285750">
              <a:buFont typeface="Arial" panose="020B0604020202020204" pitchFamily="34" charset="0"/>
              <a:buChar char="•"/>
            </a:pPr>
            <a:r>
              <a:rPr lang="en-US" dirty="0"/>
              <a:t>Analysis capabilities</a:t>
            </a:r>
          </a:p>
          <a:p>
            <a:pPr marL="285750" indent="-285750">
              <a:buFont typeface="Arial" panose="020B0604020202020204" pitchFamily="34" charset="0"/>
              <a:buChar char="•"/>
            </a:pPr>
            <a:r>
              <a:rPr lang="en-US" dirty="0"/>
              <a:t>Duality argument</a:t>
            </a:r>
          </a:p>
          <a:p>
            <a:pPr marL="285750" indent="-285750">
              <a:buFont typeface="Arial" panose="020B0604020202020204" pitchFamily="34" charset="0"/>
              <a:buChar char="•"/>
            </a:pPr>
            <a:r>
              <a:rPr lang="en-US" dirty="0"/>
              <a:t>Convex state feedback synthesis</a:t>
            </a:r>
            <a:endParaRPr lang="en-NL" dirty="0"/>
          </a:p>
        </p:txBody>
      </p:sp>
    </p:spTree>
  </p:cSld>
  <p:clrMapOvr>
    <a:masterClrMapping/>
  </p:clrMapOvr>
  <mc:AlternateContent xmlns:mc="http://schemas.openxmlformats.org/markup-compatibility/2006" xmlns:p14="http://schemas.microsoft.com/office/powerpoint/2010/main">
    <mc:Choice Requires="p14"/>
    <mc:Fallback xmlns=""/>
  </mc:AlternateContent>
</p:sld>
</file>

<file path=ppt/theme/theme1.xml><?xml version="1.0" encoding="utf-8"?>
<a:theme xmlns:a="http://schemas.openxmlformats.org/drawingml/2006/main" name="Kantoorthema">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TUe_Calibri">
      <a:majorFont>
        <a:latin typeface="Calibri"/>
        <a:ea typeface=""/>
        <a:cs typeface=""/>
      </a:majorFont>
      <a:minorFont>
        <a:latin typeface="Calibri"/>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TUe_16x9 (2)</Template>
  <TotalTime>2077</TotalTime>
  <Words>1323</Words>
  <Application>Microsoft Office PowerPoint</Application>
  <PresentationFormat>On-screen Show (16:9)</PresentationFormat>
  <Paragraphs>108</Paragraphs>
  <Slides>11</Slides>
  <Notes>7</Notes>
  <HiddenSlides>0</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 Math</vt:lpstr>
      <vt:lpstr>Kantoorthema</vt:lpstr>
      <vt:lpstr>Dual Integral Quadratic Constraints for Robust Control of Partial Integral Equations </vt:lpstr>
      <vt:lpstr>Rigid body representation Ordinary Differential Equation (ODE)</vt:lpstr>
      <vt:lpstr>PowerPoint Presentation</vt:lpstr>
      <vt:lpstr>Partial Integral Equations</vt:lpstr>
      <vt:lpstr>PowerPoint Presentation</vt:lpstr>
      <vt:lpstr>PowerPoint Presentation</vt:lpstr>
      <vt:lpstr>PowerPoint Presentation</vt:lpstr>
      <vt:lpstr>PowerPoint Presentation</vt:lpstr>
      <vt:lpstr>PowerPoint Presentation</vt:lpstr>
      <vt:lpstr>References</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8</cp:revision>
  <dcterms:created xsi:type="dcterms:W3CDTF">2019-11-27T15:26:32Z</dcterms:created>
  <dcterms:modified xsi:type="dcterms:W3CDTF">2026-09-23T15:34:01Z</dcterms:modified>
</cp:coreProperties>
</file>