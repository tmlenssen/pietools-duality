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notesSlides/notesSlide11.xml" ContentType="application/vnd.openxmlformats-officedocument.presentationml.notes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3"/>
  </p:notesMasterIdLst>
  <p:sldIdLst>
    <p:sldId id="301" r:id="rIdStage1"/>
    <p:sldId id="302" r:id="rIdStage2"/>
    <p:sldId id="303" r:id="rIdStage3"/>
    <p:sldId id="304" r:id="rIdStage4"/>
    <p:sldId id="305" r:id="rIdStage5"/>
    <p:sldId id="306" r:id="rIdStage6"/>
    <p:sldId id="307" r:id="rIdStage7"/>
    <p:sldId id="308" r:id="rIdStage8"/>
    <p:sldId id="309" r:id="rIdStage9"/>
    <p:sldId id="310" r:id="rIdStage10"/>
    <p:sldId id="311" r:id="rIdStage11"/>
    <p:sldId id="312" r:id="rIdStage12"/>
    <p:sldId id="313" r:id="rIdStage13"/>
    <p:sldId id="314" r:id="rIdStage14"/>
    <p:sldId id="315" r:id="rIdStage15"/>
    <p:sldId id="316" r:id="rIdStage16"/>
    <p:sldId id="317" r:id="rIdStage1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63568" autoAdjust="0"/>
  </p:normalViewPr>
  <p:slideViewPr>
    <p:cSldViewPr snapToGrid="0" showGuides="1">
      <p:cViewPr varScale="1">
        <p:scale>
          <a:sx n="89" d="100"/>
          <a:sy n="89" d="100"/>
        </p:scale>
        <p:origin x="792" y="8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notesMaster" Target="notesMasters/notesMaster1.xml"/><Relationship Id="rId17" Type="http://schemas.openxmlformats.org/officeDocument/2006/relationships/tableStyles" Target="tableStyles.xml"/><Relationship Id="rId16" Type="http://schemas.openxmlformats.org/officeDocument/2006/relationships/theme" Target="theme/theme1.xml"/><Relationship Id="rId1" Type="http://schemas.openxmlformats.org/officeDocument/2006/relationships/slideMaster" Target="slideMasters/slideMaster1.xml"/><Relationship Id="rId15" Type="http://schemas.openxmlformats.org/officeDocument/2006/relationships/viewProps" Target="viewProps.xml"/><Relationship Id="rId14" Type="http://schemas.openxmlformats.org/officeDocument/2006/relationships/presProps" Target="presProps.xml"/><Relationship Id="rIdStage1" Type="http://schemas.openxmlformats.org/officeDocument/2006/relationships/slide" Target="slides/slide1.xml"/><Relationship Id="rIdStage2" Type="http://schemas.openxmlformats.org/officeDocument/2006/relationships/slide" Target="slides/slide2.xml"/><Relationship Id="rIdStage3" Type="http://schemas.openxmlformats.org/officeDocument/2006/relationships/slide" Target="slides/slide3.xml"/><Relationship Id="rIdStage4" Type="http://schemas.openxmlformats.org/officeDocument/2006/relationships/slide" Target="slides/slide4.xml"/><Relationship Id="rIdStage5" Type="http://schemas.openxmlformats.org/officeDocument/2006/relationships/slide" Target="slides/slide5.xml"/><Relationship Id="rIdStage6" Type="http://schemas.openxmlformats.org/officeDocument/2006/relationships/slide" Target="slides/slide6.xml"/><Relationship Id="rIdStage7" Type="http://schemas.openxmlformats.org/officeDocument/2006/relationships/slide" Target="slides/slide7.xml"/><Relationship Id="rIdStage8" Type="http://schemas.openxmlformats.org/officeDocument/2006/relationships/slide" Target="slides/slide8.xml"/><Relationship Id="rIdStage9" Type="http://schemas.openxmlformats.org/officeDocument/2006/relationships/slide" Target="slides/slide9.xml"/><Relationship Id="rIdStage10" Type="http://schemas.openxmlformats.org/officeDocument/2006/relationships/slide" Target="slides/slide10.xml"/><Relationship Id="rIdStage11" Type="http://schemas.openxmlformats.org/officeDocument/2006/relationships/slide" Target="slides/slide11.xml"/><Relationship Id="rIdStage12" Type="http://schemas.openxmlformats.org/officeDocument/2006/relationships/slide" Target="slides/slide12.xml"/><Relationship Id="rIdStage13" Type="http://schemas.openxmlformats.org/officeDocument/2006/relationships/slide" Target="slides/slide13.xml"/><Relationship Id="rIdStage14" Type="http://schemas.openxmlformats.org/officeDocument/2006/relationships/slide" Target="slides/slide14.xml"/><Relationship Id="rIdStage15" Type="http://schemas.openxmlformats.org/officeDocument/2006/relationships/slide" Target="slides/slide15.xml"/><Relationship Id="rIdStage16" Type="http://schemas.openxmlformats.org/officeDocument/2006/relationships/slide" Target="slides/slide16.xml"/><Relationship Id="rIdStage17"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23/09/2026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mn-lt"/>
                        <a:ea typeface="+mn-ea"/>
                        <a:cs typeface="+mn-cs"/>
                      </a:rPr>
                      <m:t>𝛿</m:t>
                    </m:r>
                  </m:oMath>
                </a14:m>
                <a:r>
                  <a:rPr lang="en-NL" dirty="0"/>
                  <a:t>. As we increase </a:t>
                </a:r>
                <a14:m>
                  <m:oMath xmlns:m="http://schemas.openxmlformats.org/officeDocument/2006/math">
                    <m:r>
                      <a:rPr lang="en-NL" sz="900" i="1" kern="1200">
                        <a:solidFill>
                          <a:schemeClr val="tx1"/>
                        </a:solidFill>
                        <a:latin typeface="+mn-lt"/>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mn-lt"/>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mn-lt"/>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5</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current consensus around the inner workings of the basal ganglia</a:t>
            </a:r>
          </a:p>
          <a:p>
            <a:endParaRPr lang="en-US" dirty="0"/>
          </a:p>
          <a:p>
            <a:r>
              <a:rPr lang="en-US" dirty="0"/>
              <a:t>Dit </a:t>
            </a:r>
            <a:r>
              <a:rPr lang="en-US" dirty="0" err="1"/>
              <a:t>laat</a:t>
            </a:r>
            <a:r>
              <a:rPr lang="en-US" dirty="0"/>
              <a:t> de </a:t>
            </a:r>
            <a:r>
              <a:rPr lang="en-US" dirty="0" err="1"/>
              <a:t>connectie</a:t>
            </a:r>
            <a:r>
              <a:rPr lang="en-US" dirty="0"/>
              <a:t> </a:t>
            </a:r>
            <a:r>
              <a:rPr lang="en-US" dirty="0" err="1"/>
              <a:t>tussen</a:t>
            </a:r>
            <a:r>
              <a:rPr lang="en-US" dirty="0"/>
              <a:t> de </a:t>
            </a:r>
            <a:r>
              <a:rPr lang="en-US" dirty="0" err="1"/>
              <a:t>verschillende</a:t>
            </a:r>
            <a:r>
              <a:rPr lang="en-US" dirty="0"/>
              <a:t> </a:t>
            </a:r>
            <a:r>
              <a:rPr lang="en-US" dirty="0" err="1"/>
              <a:t>neuronen</a:t>
            </a:r>
            <a:r>
              <a:rPr lang="en-US" dirty="0"/>
              <a:t> </a:t>
            </a:r>
            <a:r>
              <a:rPr lang="en-US" dirty="0" err="1"/>
              <a:t>populaties</a:t>
            </a:r>
            <a:r>
              <a:rPr lang="en-US" dirty="0"/>
              <a:t> </a:t>
            </a:r>
            <a:r>
              <a:rPr lang="en-US" dirty="0" err="1"/>
              <a:t>zien</a:t>
            </a:r>
            <a:r>
              <a:rPr lang="en-US" dirty="0"/>
              <a:t>. </a:t>
            </a:r>
            <a:r>
              <a:rPr lang="en-US" dirty="0" err="1"/>
              <a:t>Deze</a:t>
            </a:r>
            <a:r>
              <a:rPr lang="en-US" dirty="0"/>
              <a:t> </a:t>
            </a:r>
            <a:r>
              <a:rPr lang="en-US" dirty="0" err="1"/>
              <a:t>populaties</a:t>
            </a:r>
            <a:r>
              <a:rPr lang="en-US" dirty="0"/>
              <a:t> </a:t>
            </a:r>
            <a:r>
              <a:rPr lang="en-US" dirty="0" err="1"/>
              <a:t>communiceren</a:t>
            </a:r>
            <a:r>
              <a:rPr lang="en-US" dirty="0"/>
              <a:t> met </a:t>
            </a:r>
            <a:r>
              <a:rPr lang="en-US" dirty="0" err="1"/>
              <a:t>elkaar</a:t>
            </a:r>
            <a:r>
              <a:rPr lang="en-US" dirty="0"/>
              <a:t> </a:t>
            </a:r>
            <a:r>
              <a:rPr lang="en-US" dirty="0" err="1"/>
              <a:t>doormiddel</a:t>
            </a:r>
            <a:r>
              <a:rPr lang="en-US" dirty="0"/>
              <a:t> van het </a:t>
            </a:r>
            <a:r>
              <a:rPr lang="en-US" dirty="0" err="1"/>
              <a:t>sturen</a:t>
            </a:r>
            <a:r>
              <a:rPr lang="en-US" dirty="0"/>
              <a:t> van spikes </a:t>
            </a:r>
            <a:r>
              <a:rPr lang="en-US" dirty="0" err="1"/>
              <a:t>een</a:t>
            </a:r>
            <a:r>
              <a:rPr lang="en-US" dirty="0"/>
              <a:t> </a:t>
            </a:r>
            <a:r>
              <a:rPr lang="en-US" dirty="0" err="1"/>
              <a:t>kleine</a:t>
            </a:r>
            <a:r>
              <a:rPr lang="en-US" dirty="0"/>
              <a:t> Bij </a:t>
            </a:r>
            <a:r>
              <a:rPr lang="en-US" dirty="0" err="1"/>
              <a:t>patienten</a:t>
            </a:r>
            <a:r>
              <a:rPr lang="en-US" dirty="0"/>
              <a:t> met </a:t>
            </a:r>
            <a:r>
              <a:rPr lang="en-US" dirty="0" err="1"/>
              <a:t>parkinson</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563000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Title at the top">
    <p:bg>
      <p:bgPr>
        <a:solidFill>
          <a:srgbClr val="EEE8E8"/>
        </a:solidFill>
        <a:effectLst/>
      </p:bgPr>
    </p:bg>
    <p:spTree>
      <p:nvGrpSpPr>
        <p:cNvPr id="1" name=""/>
        <p:cNvGrpSpPr/>
        <p:nvPr/>
      </p:nvGrpSpPr>
      <p:grpSpPr>
        <a:xfrm>
          <a:off x="0" y="0"/>
          <a:ext cx="0" cy="0"/>
          <a:chOff x="0" y="0"/>
          <a:chExt cx="0" cy="0"/>
        </a:xfrm>
      </p:grpSpPr>
      <p:sp>
        <p:nvSpPr>
          <p:cNvPr id="10" name="Black75"/>
          <p:cNvSpPr/>
          <p:nvPr userDrawn="1"/>
        </p:nvSpPr>
        <p:spPr>
          <a:xfrm>
            <a:off x="0" y="75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756049"/>
            <a:ext cx="9143999" cy="792000"/>
          </a:xfrm>
          <a:solidFill>
            <a:schemeClr val="tx2">
              <a:alpha val="50000"/>
            </a:schemeClr>
          </a:solidFill>
        </p:spPr>
        <p:txBody>
          <a:bodyPr lIns="756000" rIns="1962000" anchor="ctr"/>
          <a:lstStyle>
            <a:lvl1pPr algn="l">
              <a:lnSpc>
                <a:spcPts val="2300"/>
              </a:lnSpc>
              <a:defRPr sz="2200" baseline="0">
                <a:solidFill>
                  <a:schemeClr val="bg1"/>
                </a:solidFill>
              </a:defRPr>
            </a:lvl1pPr>
          </a:lstStyle>
          <a:p>
            <a:r>
              <a:rPr lang="en-GB" dirty="0"/>
              <a:t>Example of a title at the top</a:t>
            </a:r>
          </a:p>
        </p:txBody>
      </p:sp>
      <p:sp>
        <p:nvSpPr>
          <p:cNvPr id="3" name="Subtitle 2"/>
          <p:cNvSpPr>
            <a:spLocks noGrp="1"/>
          </p:cNvSpPr>
          <p:nvPr>
            <p:ph type="subTitle" idx="1" hasCustomPrompt="1"/>
          </p:nvPr>
        </p:nvSpPr>
        <p:spPr>
          <a:xfrm>
            <a:off x="-1" y="1548000"/>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00"/>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1644222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Title in the middle">
    <p:spTree>
      <p:nvGrpSpPr>
        <p:cNvPr id="1" name=""/>
        <p:cNvGrpSpPr/>
        <p:nvPr/>
      </p:nvGrpSpPr>
      <p:grpSpPr>
        <a:xfrm>
          <a:off x="0" y="0"/>
          <a:ext cx="0" cy="0"/>
          <a:chOff x="0" y="0"/>
          <a:chExt cx="0" cy="0"/>
        </a:xfrm>
      </p:grpSpPr>
      <p:sp>
        <p:nvSpPr>
          <p:cNvPr id="4" name="Black75"/>
          <p:cNvSpPr/>
          <p:nvPr userDrawn="1"/>
        </p:nvSpPr>
        <p:spPr>
          <a:xfrm>
            <a:off x="0" y="183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18355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in the middle</a:t>
            </a:r>
          </a:p>
        </p:txBody>
      </p:sp>
      <p:sp>
        <p:nvSpPr>
          <p:cNvPr id="3" name="Subtitle 2"/>
          <p:cNvSpPr>
            <a:spLocks noGrp="1"/>
          </p:cNvSpPr>
          <p:nvPr>
            <p:ph type="subTitle" idx="1" hasCustomPrompt="1"/>
          </p:nvPr>
        </p:nvSpPr>
        <p:spPr>
          <a:xfrm>
            <a:off x="-1" y="2628097"/>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93110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Title at the bottom">
    <p:spTree>
      <p:nvGrpSpPr>
        <p:cNvPr id="1" name=""/>
        <p:cNvGrpSpPr/>
        <p:nvPr/>
      </p:nvGrpSpPr>
      <p:grpSpPr>
        <a:xfrm>
          <a:off x="0" y="0"/>
          <a:ext cx="0" cy="0"/>
          <a:chOff x="0" y="0"/>
          <a:chExt cx="0" cy="0"/>
        </a:xfrm>
      </p:grpSpPr>
      <p:sp>
        <p:nvSpPr>
          <p:cNvPr id="8" name="Black75"/>
          <p:cNvSpPr/>
          <p:nvPr userDrawn="1"/>
        </p:nvSpPr>
        <p:spPr>
          <a:xfrm>
            <a:off x="0" y="2916000"/>
            <a:ext cx="9144000" cy="1080000"/>
          </a:xfrm>
          <a:prstGeom prst="rect">
            <a:avLst/>
          </a:prstGeom>
          <a:solidFill>
            <a:schemeClr val="tx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1" y="2915049"/>
            <a:ext cx="9143999" cy="792000"/>
          </a:xfrm>
          <a:solidFill>
            <a:schemeClr val="tx2">
              <a:alpha val="50000"/>
            </a:schemeClr>
          </a:solidFill>
        </p:spPr>
        <p:txBody>
          <a:bodyPr lIns="756000" rIns="1962000" anchor="ctr"/>
          <a:lstStyle>
            <a:lvl1pPr algn="l">
              <a:lnSpc>
                <a:spcPts val="2300"/>
              </a:lnSpc>
              <a:defRPr sz="2200">
                <a:solidFill>
                  <a:schemeClr val="bg1"/>
                </a:solidFill>
              </a:defRPr>
            </a:lvl1pPr>
          </a:lstStyle>
          <a:p>
            <a:r>
              <a:rPr lang="en-GB" dirty="0"/>
              <a:t>Example of a title at the bottom</a:t>
            </a:r>
          </a:p>
        </p:txBody>
      </p:sp>
      <p:sp>
        <p:nvSpPr>
          <p:cNvPr id="3" name="Subtitle 2"/>
          <p:cNvSpPr>
            <a:spLocks noGrp="1"/>
          </p:cNvSpPr>
          <p:nvPr>
            <p:ph type="subTitle" idx="1" hasCustomPrompt="1"/>
          </p:nvPr>
        </p:nvSpPr>
        <p:spPr>
          <a:xfrm>
            <a:off x="-1" y="3708591"/>
            <a:ext cx="9143999" cy="288000"/>
          </a:xfrm>
          <a:solidFill>
            <a:schemeClr val="tx2">
              <a:alpha val="50000"/>
            </a:schemeClr>
          </a:solidFill>
          <a:ln>
            <a:noFill/>
          </a:ln>
        </p:spPr>
        <p:txBody>
          <a:bodyPr wrap="none" lIns="756000" tIns="18000" rIns="1962000"/>
          <a:lstStyle>
            <a:lvl1pPr marL="0" indent="0" algn="l">
              <a:buNone/>
              <a:defRPr sz="1000" b="1" cap="all" baseline="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SUBTITLE OR DATE</a:t>
            </a:r>
          </a:p>
        </p:txBody>
      </p:sp>
      <p:pic>
        <p:nvPicPr>
          <p:cNvPr id="7" name="Picture 2">
            <a:extLst>
              <a:ext uri="{FF2B5EF4-FFF2-40B4-BE49-F238E27FC236}">
                <a16:creationId xmlns:a16="http://schemas.microsoft.com/office/drawing/2014/main" id="{521D38FC-6D70-0146-84E1-32B3F0A2D642}"/>
              </a:ext>
            </a:extLst>
          </p:cNvPr>
          <p:cNvPicPr>
            <a:picLocks noChangeAspect="1"/>
          </p:cNvPicPr>
          <p:nvPr userDrawn="1"/>
        </p:nvPicPr>
        <p:blipFill>
          <a:blip r:embed="rId2"/>
          <a:stretch>
            <a:fillRect/>
          </a:stretch>
        </p:blipFill>
        <p:spPr>
          <a:xfrm>
            <a:off x="7340600" y="4568825"/>
            <a:ext cx="1803400" cy="574675"/>
          </a:xfrm>
          <a:prstGeom prst="rect">
            <a:avLst/>
          </a:prstGeom>
        </p:spPr>
      </p:pic>
      <p:sp>
        <p:nvSpPr>
          <p:cNvPr id="9" name="Tijdelijke aanduiding voor tekst 8"/>
          <p:cNvSpPr>
            <a:spLocks noGrp="1"/>
          </p:cNvSpPr>
          <p:nvPr>
            <p:ph type="body" sz="quarter" idx="13" hasCustomPrompt="1"/>
          </p:nvPr>
        </p:nvSpPr>
        <p:spPr>
          <a:xfrm>
            <a:off x="0" y="3990975"/>
            <a:ext cx="9143999" cy="576263"/>
          </a:xfrm>
          <a:solidFill>
            <a:srgbClr val="000000">
              <a:alpha val="25098"/>
            </a:srgbClr>
          </a:solidFill>
          <a:ln>
            <a:noFill/>
          </a:ln>
        </p:spPr>
        <p:txBody>
          <a:bodyPr lIns="756000" anchor="ctr" anchorCtr="0"/>
          <a:lstStyle>
            <a:lvl1pPr>
              <a:defRPr sz="1100" b="1">
                <a:solidFill>
                  <a:schemeClr val="bg1"/>
                </a:solidFill>
              </a:defRPr>
            </a:lvl1pPr>
          </a:lstStyle>
          <a:p>
            <a:pPr lvl="0"/>
            <a:r>
              <a:rPr lang="en-GB" dirty="0"/>
              <a:t>Name, Function</a:t>
            </a:r>
          </a:p>
        </p:txBody>
      </p:sp>
      <p:sp>
        <p:nvSpPr>
          <p:cNvPr id="11" name="Tijdelijke aanduiding voor tekst 8"/>
          <p:cNvSpPr>
            <a:spLocks noGrp="1"/>
          </p:cNvSpPr>
          <p:nvPr>
            <p:ph type="body" sz="quarter" idx="14" hasCustomPrompt="1"/>
          </p:nvPr>
        </p:nvSpPr>
        <p:spPr>
          <a:xfrm>
            <a:off x="-6667" y="4567237"/>
            <a:ext cx="7347267" cy="576263"/>
          </a:xfrm>
          <a:solidFill>
            <a:srgbClr val="FFFFFF"/>
          </a:solidFill>
          <a:ln>
            <a:noFill/>
          </a:ln>
        </p:spPr>
        <p:txBody>
          <a:bodyPr lIns="756000" anchor="ctr" anchorCtr="0"/>
          <a:lstStyle>
            <a:lvl1pPr>
              <a:defRPr sz="1100" b="0" baseline="0">
                <a:solidFill>
                  <a:schemeClr val="tx1"/>
                </a:solidFill>
              </a:defRPr>
            </a:lvl1pPr>
          </a:lstStyle>
          <a:p>
            <a:pPr lvl="0"/>
            <a:r>
              <a:rPr lang="en-GB" dirty="0"/>
              <a:t>Department, Sub department or Capacity Group</a:t>
            </a:r>
          </a:p>
        </p:txBody>
      </p:sp>
    </p:spTree>
    <p:extLst>
      <p:ext uri="{BB962C8B-B14F-4D97-AF65-F5344CB8AC3E}">
        <p14:creationId xmlns:p14="http://schemas.microsoft.com/office/powerpoint/2010/main" val="22374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4194838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slide - 2 colum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85793"/>
            <a:ext cx="359568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Content Placeholder 3"/>
          <p:cNvSpPr>
            <a:spLocks noGrp="1"/>
          </p:cNvSpPr>
          <p:nvPr>
            <p:ph sz="half" idx="2" hasCustomPrompt="1"/>
          </p:nvPr>
        </p:nvSpPr>
        <p:spPr>
          <a:xfrm>
            <a:off x="4723606" y="1296000"/>
            <a:ext cx="3595688" cy="2933101"/>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ext Placeholder 2"/>
          <p:cNvSpPr>
            <a:spLocks noGrp="1"/>
          </p:cNvSpPr>
          <p:nvPr>
            <p:ph type="body" idx="13" hasCustomPrompt="1"/>
          </p:nvPr>
        </p:nvSpPr>
        <p:spPr>
          <a:xfrm>
            <a:off x="4714875" y="586800"/>
            <a:ext cx="3604419" cy="732238"/>
          </a:xfrm>
        </p:spPr>
        <p:txBody>
          <a:bodyPr anchor="t"/>
          <a:lstStyle>
            <a:lvl1pPr marL="0" indent="0">
              <a:buNone/>
              <a:defRPr lang="nl-NL" sz="1950" b="0" kern="1200" baseline="0" dirty="0" smtClean="0">
                <a:solidFill>
                  <a:schemeClr val="tx1"/>
                </a:solidFill>
                <a:latin typeface="+mj-lt"/>
                <a:ea typeface="+mj-ea"/>
                <a:cs typeface="+mj-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dirty="0"/>
              <a:t>Click to enter text</a:t>
            </a:r>
          </a:p>
        </p:txBody>
      </p:sp>
    </p:spTree>
    <p:extLst>
      <p:ext uri="{BB962C8B-B14F-4D97-AF65-F5344CB8AC3E}">
        <p14:creationId xmlns:p14="http://schemas.microsoft.com/office/powerpoint/2010/main" val="1682407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2 text - 1/2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4714875" y="0"/>
            <a:ext cx="4429125"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981543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3 text - 1/3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6000" y="586800"/>
            <a:ext cx="4910138"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755650" y="1295401"/>
            <a:ext cx="491331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6046788" y="0"/>
            <a:ext cx="3097212" cy="4567238"/>
          </a:xfrm>
        </p:spPr>
        <p:txBody>
          <a:bodyPr/>
          <a:lstStyle>
            <a:lvl1pPr>
              <a:defRPr/>
            </a:lvl1pPr>
          </a:lstStyle>
          <a:p>
            <a:r>
              <a:rPr lang="en-GB" dirty="0"/>
              <a:t>Click to insert image</a:t>
            </a:r>
          </a:p>
        </p:txBody>
      </p:sp>
    </p:spTree>
    <p:extLst>
      <p:ext uri="{BB962C8B-B14F-4D97-AF65-F5344CB8AC3E}">
        <p14:creationId xmlns:p14="http://schemas.microsoft.com/office/powerpoint/2010/main" val="3272405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line + image/movie 16:9">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wrap="none"/>
          <a:lstStyle/>
          <a:p>
            <a:r>
              <a:rPr lang="en-GB" dirty="0"/>
              <a:t>This is an example of a 27 </a:t>
            </a:r>
            <a:r>
              <a:rPr lang="en-GB" dirty="0" err="1"/>
              <a:t>pt</a:t>
            </a:r>
            <a:r>
              <a:rPr lang="en-GB" dirty="0"/>
              <a:t> headline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inhoud 9"/>
          <p:cNvSpPr>
            <a:spLocks noGrp="1" noChangeAspect="1"/>
          </p:cNvSpPr>
          <p:nvPr>
            <p:ph sz="quarter" idx="13" hasCustomPrompt="1"/>
          </p:nvPr>
        </p:nvSpPr>
        <p:spPr>
          <a:xfrm>
            <a:off x="1889125" y="1079501"/>
            <a:ext cx="5292725" cy="2977200"/>
          </a:xfrm>
        </p:spPr>
        <p:txBody>
          <a:bodyPr/>
          <a:lstStyle>
            <a:lvl1pPr>
              <a:defRPr baseline="0"/>
            </a:lvl1pPr>
          </a:lstStyle>
          <a:p>
            <a:pPr lvl="0"/>
            <a:r>
              <a:rPr lang="en-GB" dirty="0"/>
              <a:t>Click icon to insert 16x9 image or movie</a:t>
            </a:r>
          </a:p>
        </p:txBody>
      </p:sp>
      <p:sp>
        <p:nvSpPr>
          <p:cNvPr id="12" name="Tijdelijke aanduiding voor tekst 11"/>
          <p:cNvSpPr>
            <a:spLocks noGrp="1"/>
          </p:cNvSpPr>
          <p:nvPr>
            <p:ph type="body" sz="quarter" idx="14" hasCustomPrompt="1"/>
          </p:nvPr>
        </p:nvSpPr>
        <p:spPr>
          <a:xfrm>
            <a:off x="1889125" y="4106268"/>
            <a:ext cx="5292725" cy="165100"/>
          </a:xfrm>
        </p:spPr>
        <p:txBody>
          <a:bodyPr/>
          <a:lstStyle>
            <a:lvl1pPr>
              <a:defRPr sz="1100" i="1"/>
            </a:lvl1pPr>
          </a:lstStyle>
          <a:p>
            <a:pPr lvl="0"/>
            <a:r>
              <a:rPr lang="en-GB" dirty="0"/>
              <a:t>Click to insert Caption under image or movie</a:t>
            </a:r>
          </a:p>
        </p:txBody>
      </p:sp>
    </p:spTree>
    <p:extLst>
      <p:ext uri="{BB962C8B-B14F-4D97-AF65-F5344CB8AC3E}">
        <p14:creationId xmlns:p14="http://schemas.microsoft.com/office/powerpoint/2010/main" val="193849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 3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A 27pt headline on a slide with three images</a:t>
            </a:r>
            <a:endParaRPr lang="en-GB" dirty="0"/>
          </a:p>
        </p:txBody>
      </p:sp>
      <p:sp>
        <p:nvSpPr>
          <p:cNvPr id="3" name="Content Placeholder 2"/>
          <p:cNvSpPr>
            <a:spLocks noGrp="1"/>
          </p:cNvSpPr>
          <p:nvPr>
            <p:ph idx="1" hasCustomPrompt="1"/>
          </p:nvPr>
        </p:nvSpPr>
        <p:spPr>
          <a:xfrm>
            <a:off x="758824" y="1306642"/>
            <a:ext cx="2084389" cy="636458"/>
          </a:xfrm>
        </p:spPr>
        <p:txBody>
          <a:bodyPr/>
          <a:lstStyle>
            <a:lvl1pPr>
              <a:defRPr sz="1650"/>
            </a:lvl1pPr>
          </a:lstStyle>
          <a:p>
            <a:pPr lvl="0"/>
            <a:r>
              <a:rPr lang="en-GB" dirty="0"/>
              <a:t>Click to enter text</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
        <p:nvSpPr>
          <p:cNvPr id="7" name="Content Placeholder 2"/>
          <p:cNvSpPr>
            <a:spLocks noGrp="1"/>
          </p:cNvSpPr>
          <p:nvPr>
            <p:ph idx="13" hasCustomPrompt="1"/>
          </p:nvPr>
        </p:nvSpPr>
        <p:spPr>
          <a:xfrm>
            <a:off x="3490913" y="1302661"/>
            <a:ext cx="2084389" cy="636458"/>
          </a:xfrm>
        </p:spPr>
        <p:txBody>
          <a:bodyPr/>
          <a:lstStyle>
            <a:lvl1pPr>
              <a:defRPr sz="1650"/>
            </a:lvl1pPr>
          </a:lstStyle>
          <a:p>
            <a:pPr lvl="0"/>
            <a:r>
              <a:rPr lang="en-GB" dirty="0"/>
              <a:t>Click to enter text</a:t>
            </a:r>
          </a:p>
        </p:txBody>
      </p:sp>
      <p:sp>
        <p:nvSpPr>
          <p:cNvPr id="8" name="Content Placeholder 2"/>
          <p:cNvSpPr>
            <a:spLocks noGrp="1"/>
          </p:cNvSpPr>
          <p:nvPr>
            <p:ph idx="14" hasCustomPrompt="1"/>
          </p:nvPr>
        </p:nvSpPr>
        <p:spPr>
          <a:xfrm>
            <a:off x="6235414" y="1302661"/>
            <a:ext cx="2084389" cy="636458"/>
          </a:xfrm>
        </p:spPr>
        <p:txBody>
          <a:bodyPr/>
          <a:lstStyle>
            <a:lvl1pPr>
              <a:defRPr sz="1650"/>
            </a:lvl1pPr>
          </a:lstStyle>
          <a:p>
            <a:pPr lvl="0"/>
            <a:r>
              <a:rPr lang="en-GB" dirty="0"/>
              <a:t>Click to enter text</a:t>
            </a:r>
          </a:p>
        </p:txBody>
      </p:sp>
      <p:sp>
        <p:nvSpPr>
          <p:cNvPr id="10" name="Tijdelijke aanduiding voor afbeelding 9"/>
          <p:cNvSpPr>
            <a:spLocks noGrp="1"/>
          </p:cNvSpPr>
          <p:nvPr>
            <p:ph type="pic" sz="quarter" idx="15" hasCustomPrompt="1"/>
          </p:nvPr>
        </p:nvSpPr>
        <p:spPr>
          <a:xfrm>
            <a:off x="755650" y="1943101"/>
            <a:ext cx="2087563" cy="2625298"/>
          </a:xfrm>
        </p:spPr>
        <p:txBody>
          <a:bodyPr/>
          <a:lstStyle>
            <a:lvl1pPr>
              <a:defRPr baseline="0"/>
            </a:lvl1pPr>
          </a:lstStyle>
          <a:p>
            <a:r>
              <a:rPr lang="en-GB" dirty="0"/>
              <a:t>Click to insert image</a:t>
            </a:r>
          </a:p>
        </p:txBody>
      </p:sp>
      <p:sp>
        <p:nvSpPr>
          <p:cNvPr id="11" name="Tijdelijke aanduiding voor afbeelding 9"/>
          <p:cNvSpPr>
            <a:spLocks noGrp="1"/>
          </p:cNvSpPr>
          <p:nvPr>
            <p:ph type="pic" sz="quarter" idx="16" hasCustomPrompt="1"/>
          </p:nvPr>
        </p:nvSpPr>
        <p:spPr>
          <a:xfrm>
            <a:off x="3487739"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
        <p:nvSpPr>
          <p:cNvPr id="12" name="Tijdelijke aanduiding voor afbeelding 9"/>
          <p:cNvSpPr>
            <a:spLocks noGrp="1"/>
          </p:cNvSpPr>
          <p:nvPr>
            <p:ph type="pic" sz="quarter" idx="17" hasCustomPrompt="1"/>
          </p:nvPr>
        </p:nvSpPr>
        <p:spPr>
          <a:xfrm>
            <a:off x="6235414" y="1943101"/>
            <a:ext cx="2087563" cy="262529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244920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image - 1/2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23518" y="586800"/>
            <a:ext cx="360000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4720343" y="1295401"/>
            <a:ext cx="3598863" cy="2933700"/>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4354513" cy="4567238"/>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p:txBody>
      </p:sp>
    </p:spTree>
    <p:extLst>
      <p:ext uri="{BB962C8B-B14F-4D97-AF65-F5344CB8AC3E}">
        <p14:creationId xmlns:p14="http://schemas.microsoft.com/office/powerpoint/2010/main" val="18872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 image - 2/3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94405" y="586800"/>
            <a:ext cx="4820920" cy="732238"/>
          </a:xfrm>
        </p:spPr>
        <p:txBody>
          <a:bodyPr/>
          <a:lstStyle>
            <a:lvl1pPr>
              <a:lnSpc>
                <a:spcPct val="100000"/>
              </a:lnSpc>
              <a:defRPr sz="1950" b="0" baseline="0"/>
            </a:lvl1pPr>
          </a:lstStyle>
          <a:p>
            <a:r>
              <a:rPr lang="en-GB" dirty="0"/>
              <a:t>This is an example of 19,5 </a:t>
            </a:r>
            <a:r>
              <a:rPr lang="en-GB" dirty="0" err="1"/>
              <a:t>pt</a:t>
            </a:r>
            <a:r>
              <a:rPr lang="en-GB" dirty="0"/>
              <a:t> text with single line spacing</a:t>
            </a:r>
          </a:p>
        </p:txBody>
      </p:sp>
      <p:sp>
        <p:nvSpPr>
          <p:cNvPr id="3" name="Content Placeholder 2"/>
          <p:cNvSpPr>
            <a:spLocks noGrp="1"/>
          </p:cNvSpPr>
          <p:nvPr>
            <p:ph sz="half" idx="1" hasCustomPrompt="1"/>
          </p:nvPr>
        </p:nvSpPr>
        <p:spPr>
          <a:xfrm>
            <a:off x="3491230" y="1295401"/>
            <a:ext cx="4824095" cy="2933700"/>
          </a:xfrm>
        </p:spPr>
        <p:txBody>
          <a:bodyPr/>
          <a:lstStyle>
            <a:lvl1pPr>
              <a:defRPr baseline="0"/>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10" name="Tijdelijke aanduiding voor afbeelding 9"/>
          <p:cNvSpPr>
            <a:spLocks noGrp="1"/>
          </p:cNvSpPr>
          <p:nvPr>
            <p:ph type="pic" sz="quarter" idx="13" hasCustomPrompt="1"/>
          </p:nvPr>
        </p:nvSpPr>
        <p:spPr>
          <a:xfrm>
            <a:off x="0" y="0"/>
            <a:ext cx="3022600" cy="4567238"/>
          </a:xfrm>
        </p:spPr>
        <p:txBody>
          <a:bodyPr/>
          <a:lstStyle/>
          <a:p>
            <a:r>
              <a:rPr lang="en-GB" dirty="0"/>
              <a:t>Click to insert image</a:t>
            </a:r>
          </a:p>
        </p:txBody>
      </p:sp>
    </p:spTree>
    <p:extLst>
      <p:ext uri="{BB962C8B-B14F-4D97-AF65-F5344CB8AC3E}">
        <p14:creationId xmlns:p14="http://schemas.microsoft.com/office/powerpoint/2010/main" val="68122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eading + full screen dark imag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bg1"/>
                </a:solidFill>
              </a:defRPr>
            </a:lvl1pPr>
          </a:lstStyle>
          <a:p>
            <a:r>
              <a:rPr lang="en-GB" dirty="0"/>
              <a:t>This is an example of a white headline on a full screen, dark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77015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ading + full screen light image">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full screen, light image</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696832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White backgroun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8825" y="518400"/>
            <a:ext cx="7556500" cy="733827"/>
          </a:xfrm>
        </p:spPr>
        <p:txBody>
          <a:bodyPr/>
          <a:lstStyle>
            <a:lvl1pPr>
              <a:defRPr baseline="0">
                <a:solidFill>
                  <a:schemeClr val="tx1"/>
                </a:solidFill>
              </a:defRPr>
            </a:lvl1pPr>
          </a:lstStyle>
          <a:p>
            <a:r>
              <a:rPr lang="en-GB" dirty="0"/>
              <a:t>This is an example of a black headline on a white background</a:t>
            </a:r>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cxnSp>
        <p:nvCxnSpPr>
          <p:cNvPr id="7" name="Rechte verbindingslijn 6"/>
          <p:cNvCxnSpPr/>
          <p:nvPr userDrawn="1"/>
        </p:nvCxnSpPr>
        <p:spPr>
          <a:xfrm>
            <a:off x="0" y="4563782"/>
            <a:ext cx="9144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ijdelijke aanduiding voor afbeelding 8"/>
          <p:cNvSpPr>
            <a:spLocks noGrp="1"/>
          </p:cNvSpPr>
          <p:nvPr>
            <p:ph type="pic" sz="quarter" idx="13" hasCustomPrompt="1"/>
          </p:nvPr>
        </p:nvSpPr>
        <p:spPr>
          <a:xfrm>
            <a:off x="1890000" y="1299075"/>
            <a:ext cx="5292725" cy="2977200"/>
          </a:xfrm>
        </p:spPr>
        <p:txBody>
          <a:bodyPr/>
          <a:lstStyle>
            <a:lvl1pPr marL="0" marR="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lvl1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dirty="0"/>
              <a:t>Click to insert image</a:t>
            </a:r>
          </a:p>
          <a:p>
            <a:endParaRPr lang="en-GB" dirty="0"/>
          </a:p>
        </p:txBody>
      </p:sp>
    </p:spTree>
    <p:extLst>
      <p:ext uri="{BB962C8B-B14F-4D97-AF65-F5344CB8AC3E}">
        <p14:creationId xmlns:p14="http://schemas.microsoft.com/office/powerpoint/2010/main" val="3881866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carlet background">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bg1"/>
                </a:solidFill>
              </a:defRPr>
            </a:lvl1p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Content Placeholder 2"/>
          <p:cNvSpPr>
            <a:spLocks noGrp="1"/>
          </p:cNvSpPr>
          <p:nvPr>
            <p:ph idx="1" hasCustomPrompt="1"/>
          </p:nvPr>
        </p:nvSpPr>
        <p:spPr/>
        <p:txBody>
          <a:bodyPr/>
          <a:lstStyle>
            <a:lvl1pPr>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4" name="Date Placeholder 3"/>
          <p:cNvSpPr>
            <a:spLocks noGrp="1"/>
          </p:cNvSpPr>
          <p:nvPr>
            <p:ph type="dt" sz="half" idx="10"/>
          </p:nvPr>
        </p:nvSpPr>
        <p:spPr>
          <a:xfrm>
            <a:off x="628650" y="4767263"/>
            <a:ext cx="2057400" cy="273844"/>
          </a:xfrm>
          <a:prstGeom prst="rect">
            <a:avLst/>
          </a:prstGeom>
        </p:spPr>
        <p:txBody>
          <a:bodyPr/>
          <a:lstStyle/>
          <a:p>
            <a:endParaRPr lang="en-GB" dirty="0"/>
          </a:p>
        </p:txBody>
      </p:sp>
      <p:sp>
        <p:nvSpPr>
          <p:cNvPr id="5" name="Footer Placeholder 4"/>
          <p:cNvSpPr>
            <a:spLocks noGrp="1"/>
          </p:cNvSpPr>
          <p:nvPr>
            <p:ph type="ftr" sz="quarter" idx="11"/>
          </p:nvPr>
        </p:nvSpPr>
        <p:spPr/>
        <p:txBody>
          <a:bodyPr/>
          <a:lstStyle/>
          <a:p>
            <a:r>
              <a:rPr lang="nb-NO"/>
              <a:t>Msc Defence T.M. Lenssen</a:t>
            </a:r>
            <a:endParaRPr lang="en-GB" dirty="0"/>
          </a:p>
        </p:txBody>
      </p:sp>
      <p:sp>
        <p:nvSpPr>
          <p:cNvPr id="6" name="Slide Number Placeholder 5"/>
          <p:cNvSpPr>
            <a:spLocks noGrp="1"/>
          </p:cNvSpPr>
          <p:nvPr>
            <p:ph type="sldNum" sz="quarter" idx="12"/>
          </p:nvPr>
        </p:nvSpPr>
        <p:spPr/>
        <p:txBody>
          <a:bodyPr/>
          <a:lstStyle/>
          <a:p>
            <a:fld id="{C194BDB0-F4EA-4DD6-8281-CCE2440D0CE0}" type="slidenum">
              <a:rPr lang="en-GB" smtClean="0"/>
              <a:t>‹#›</a:t>
            </a:fld>
            <a:endParaRPr lang="en-GB" dirty="0"/>
          </a:p>
        </p:txBody>
      </p:sp>
    </p:spTree>
    <p:extLst>
      <p:ext uri="{BB962C8B-B14F-4D97-AF65-F5344CB8AC3E}">
        <p14:creationId xmlns:p14="http://schemas.microsoft.com/office/powerpoint/2010/main" val="25339658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US" dirty="0"/>
              <a:t>Sample slide with table and text</a:t>
            </a:r>
            <a:endParaRPr lang="en-GB" dirty="0"/>
          </a:p>
        </p:txBody>
      </p:sp>
      <p:sp>
        <p:nvSpPr>
          <p:cNvPr id="3" name="Content Placeholder 2"/>
          <p:cNvSpPr>
            <a:spLocks noGrp="1"/>
          </p:cNvSpPr>
          <p:nvPr>
            <p:ph sz="half" idx="1" hasCustomPrompt="1"/>
          </p:nvPr>
        </p:nvSpPr>
        <p:spPr>
          <a:xfrm>
            <a:off x="755651" y="2638425"/>
            <a:ext cx="7563556" cy="1590675"/>
          </a:xfrm>
        </p:spPr>
        <p:txBody>
          <a:bodyPr/>
          <a:lstStyle>
            <a:lvl1pPr>
              <a:defRPr/>
            </a:lvl1pPr>
          </a:lstStyle>
          <a:p>
            <a:pPr lvl="0"/>
            <a:r>
              <a:rPr lang="en-GB" dirty="0"/>
              <a:t>Click to enter text</a:t>
            </a:r>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8" name="Tijdelijke aanduiding voor tabel 7"/>
          <p:cNvSpPr>
            <a:spLocks noGrp="1"/>
          </p:cNvSpPr>
          <p:nvPr>
            <p:ph type="tbl" sz="quarter" idx="13" hasCustomPrompt="1"/>
          </p:nvPr>
        </p:nvSpPr>
        <p:spPr>
          <a:xfrm>
            <a:off x="755650" y="1079501"/>
            <a:ext cx="7559675" cy="1152000"/>
          </a:xfrm>
        </p:spPr>
        <p:txBody>
          <a:bodyPr/>
          <a:lstStyle>
            <a:lvl1pPr>
              <a:defRPr/>
            </a:lvl1pPr>
          </a:lstStyle>
          <a:p>
            <a:r>
              <a:rPr lang="en-GB" dirty="0"/>
              <a:t>Click to insert table</a:t>
            </a:r>
          </a:p>
        </p:txBody>
      </p:sp>
    </p:spTree>
    <p:extLst>
      <p:ext uri="{BB962C8B-B14F-4D97-AF65-F5344CB8AC3E}">
        <p14:creationId xmlns:p14="http://schemas.microsoft.com/office/powerpoint/2010/main" val="2399389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55650" y="586800"/>
            <a:ext cx="7563556" cy="516339"/>
          </a:xfrm>
        </p:spPr>
        <p:txBody>
          <a:bodyPr wrap="none"/>
          <a:lstStyle>
            <a:lvl1pPr>
              <a:lnSpc>
                <a:spcPct val="100000"/>
              </a:lnSpc>
              <a:defRPr sz="1950" b="0" baseline="0"/>
            </a:lvl1pPr>
          </a:lstStyle>
          <a:p>
            <a:r>
              <a:rPr lang="en-GB" dirty="0"/>
              <a:t>Example chart</a:t>
            </a:r>
          </a:p>
        </p:txBody>
      </p:sp>
      <p:sp>
        <p:nvSpPr>
          <p:cNvPr id="5" name="Date Placeholder 4"/>
          <p:cNvSpPr>
            <a:spLocks noGrp="1"/>
          </p:cNvSpPr>
          <p:nvPr>
            <p:ph type="dt" sz="half" idx="10"/>
          </p:nvPr>
        </p:nvSpPr>
        <p:spPr>
          <a:xfrm>
            <a:off x="628650" y="4767263"/>
            <a:ext cx="2057400" cy="273844"/>
          </a:xfrm>
          <a:prstGeom prst="rect">
            <a:avLst/>
          </a:prstGeom>
        </p:spPr>
        <p:txBody>
          <a:bodyPr/>
          <a:lstStyle/>
          <a:p>
            <a:endParaRPr lang="en-GB" dirty="0"/>
          </a:p>
        </p:txBody>
      </p:sp>
      <p:sp>
        <p:nvSpPr>
          <p:cNvPr id="6" name="Footer Placeholder 5"/>
          <p:cNvSpPr>
            <a:spLocks noGrp="1"/>
          </p:cNvSpPr>
          <p:nvPr>
            <p:ph type="ftr" sz="quarter" idx="11"/>
          </p:nvPr>
        </p:nvSpPr>
        <p:spPr/>
        <p:txBody>
          <a:bodyPr/>
          <a:lstStyle/>
          <a:p>
            <a:r>
              <a:rPr lang="nb-NO"/>
              <a:t>Msc Defence T.M. Lenssen</a:t>
            </a:r>
            <a:endParaRPr lang="en-GB" dirty="0"/>
          </a:p>
        </p:txBody>
      </p:sp>
      <p:sp>
        <p:nvSpPr>
          <p:cNvPr id="7" name="Slide Number Placeholder 6"/>
          <p:cNvSpPr>
            <a:spLocks noGrp="1"/>
          </p:cNvSpPr>
          <p:nvPr>
            <p:ph type="sldNum" sz="quarter" idx="12"/>
          </p:nvPr>
        </p:nvSpPr>
        <p:spPr/>
        <p:txBody>
          <a:bodyPr/>
          <a:lstStyle/>
          <a:p>
            <a:fld id="{C194BDB0-F4EA-4DD6-8281-CCE2440D0CE0}" type="slidenum">
              <a:rPr lang="en-GB" smtClean="0"/>
              <a:t>‹#›</a:t>
            </a:fld>
            <a:endParaRPr lang="en-GB" dirty="0"/>
          </a:p>
        </p:txBody>
      </p:sp>
      <p:sp>
        <p:nvSpPr>
          <p:cNvPr id="9" name="Tijdelijke aanduiding voor grafiek 8"/>
          <p:cNvSpPr>
            <a:spLocks noGrp="1"/>
          </p:cNvSpPr>
          <p:nvPr>
            <p:ph type="chart" sz="quarter" idx="13" hasCustomPrompt="1"/>
          </p:nvPr>
        </p:nvSpPr>
        <p:spPr>
          <a:xfrm>
            <a:off x="755650" y="1079500"/>
            <a:ext cx="7559675" cy="3149600"/>
          </a:xfrm>
        </p:spPr>
        <p:txBody>
          <a:bodyPr/>
          <a:lstStyle>
            <a:lvl1pPr>
              <a:defRPr/>
            </a:lvl1pPr>
          </a:lstStyle>
          <a:p>
            <a:r>
              <a:rPr lang="en-GB" dirty="0"/>
              <a:t>Click to insert chart</a:t>
            </a:r>
          </a:p>
        </p:txBody>
      </p:sp>
    </p:spTree>
    <p:extLst>
      <p:ext uri="{BB962C8B-B14F-4D97-AF65-F5344CB8AC3E}">
        <p14:creationId xmlns:p14="http://schemas.microsoft.com/office/powerpoint/2010/main" val="42023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8E8"/>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2" y="4568400"/>
            <a:ext cx="1114424" cy="572286"/>
          </a:xfrm>
          <a:prstGeom prst="rect">
            <a:avLst/>
          </a:prstGeom>
          <a:solidFill>
            <a:schemeClr val="bg1"/>
          </a:solidFill>
        </p:spPr>
        <p:txBody>
          <a:bodyPr vert="horz" lIns="756000" tIns="0" rIns="0" bIns="0" rtlCol="0" anchor="ctr"/>
          <a:lstStyle>
            <a:lvl1pPr algn="l">
              <a:defRPr sz="1100" b="0">
                <a:solidFill>
                  <a:schemeClr val="tx1"/>
                </a:solidFill>
              </a:defRPr>
            </a:lvl1pPr>
          </a:lstStyle>
          <a:p>
            <a:fld id="{C194BDB0-F4EA-4DD6-8281-CCE2440D0CE0}" type="slidenum">
              <a:rPr lang="en-GB" smtClean="0"/>
              <a:pPr/>
              <a:t>‹#›</a:t>
            </a:fld>
            <a:endParaRPr lang="en-GB" dirty="0"/>
          </a:p>
        </p:txBody>
      </p:sp>
      <p:sp>
        <p:nvSpPr>
          <p:cNvPr id="2" name="Title Placeholder 1"/>
          <p:cNvSpPr>
            <a:spLocks noGrp="1"/>
          </p:cNvSpPr>
          <p:nvPr>
            <p:ph type="title"/>
          </p:nvPr>
        </p:nvSpPr>
        <p:spPr>
          <a:xfrm>
            <a:off x="758825" y="518711"/>
            <a:ext cx="7556500" cy="539038"/>
          </a:xfrm>
          <a:prstGeom prst="rect">
            <a:avLst/>
          </a:prstGeom>
        </p:spPr>
        <p:txBody>
          <a:bodyPr vert="horz" lIns="0" tIns="0" rIns="0" bIns="0" rtlCol="0" anchor="t" anchorCtr="0">
            <a:noAutofit/>
          </a:bodyPr>
          <a:lstStyle/>
          <a:p>
            <a:r>
              <a:rPr lang="en-GB" dirty="0"/>
              <a:t>This is an example of a 27 </a:t>
            </a:r>
            <a:r>
              <a:rPr lang="en-GB" dirty="0" err="1"/>
              <a:t>pt</a:t>
            </a:r>
            <a:r>
              <a:rPr lang="en-GB" dirty="0"/>
              <a:t> headline with 27 </a:t>
            </a:r>
            <a:r>
              <a:rPr lang="en-GB" dirty="0" err="1"/>
              <a:t>pt</a:t>
            </a:r>
            <a:r>
              <a:rPr lang="en-GB" dirty="0"/>
              <a:t> line spacing</a:t>
            </a:r>
          </a:p>
        </p:txBody>
      </p:sp>
      <p:sp>
        <p:nvSpPr>
          <p:cNvPr id="3" name="Text Placeholder 2"/>
          <p:cNvSpPr>
            <a:spLocks noGrp="1"/>
          </p:cNvSpPr>
          <p:nvPr>
            <p:ph type="body" idx="1"/>
          </p:nvPr>
        </p:nvSpPr>
        <p:spPr>
          <a:xfrm>
            <a:off x="758824" y="1306642"/>
            <a:ext cx="7556501" cy="2922458"/>
          </a:xfrm>
          <a:prstGeom prst="rect">
            <a:avLst/>
          </a:prstGeom>
        </p:spPr>
        <p:txBody>
          <a:bodyPr vert="horz" lIns="0" tIns="0" rIns="0" bIns="0" rtlCol="0">
            <a:no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5" name="Footer Placeholder 4"/>
          <p:cNvSpPr>
            <a:spLocks noGrp="1"/>
          </p:cNvSpPr>
          <p:nvPr>
            <p:ph type="ftr" sz="quarter" idx="3"/>
          </p:nvPr>
        </p:nvSpPr>
        <p:spPr>
          <a:xfrm>
            <a:off x="1114426" y="4568400"/>
            <a:ext cx="7042149" cy="576000"/>
          </a:xfrm>
          <a:prstGeom prst="rect">
            <a:avLst/>
          </a:prstGeom>
          <a:solidFill>
            <a:schemeClr val="bg1"/>
          </a:solidFill>
        </p:spPr>
        <p:txBody>
          <a:bodyPr vert="horz" lIns="0" tIns="0" rIns="0" bIns="0" rtlCol="0" anchor="ctr"/>
          <a:lstStyle>
            <a:lvl1pPr algn="l">
              <a:defRPr sz="1100" b="0">
                <a:solidFill>
                  <a:schemeClr val="tx1"/>
                </a:solidFill>
              </a:defRPr>
            </a:lvl1pPr>
          </a:lstStyle>
          <a:p>
            <a:r>
              <a:rPr lang="nb-NO"/>
              <a:t>Msc Defence T.M. Lenssen</a:t>
            </a:r>
            <a:endParaRPr lang="en-GB" dirty="0"/>
          </a:p>
        </p:txBody>
      </p:sp>
      <p:pic>
        <p:nvPicPr>
          <p:cNvPr id="66" name="Picture 4">
            <a:extLst>
              <a:ext uri="{FF2B5EF4-FFF2-40B4-BE49-F238E27FC236}">
                <a16:creationId xmlns:a16="http://schemas.microsoft.com/office/drawing/2014/main" id="{93FD69BB-9D62-3A4C-8433-C5954D52BB6F}"/>
              </a:ext>
            </a:extLst>
          </p:cNvPr>
          <p:cNvPicPr>
            <a:picLocks noChangeAspect="1"/>
          </p:cNvPicPr>
          <p:nvPr userDrawn="1"/>
        </p:nvPicPr>
        <p:blipFill>
          <a:blip r:embed="rId19"/>
          <a:stretch>
            <a:fillRect/>
          </a:stretch>
        </p:blipFill>
        <p:spPr>
          <a:xfrm>
            <a:off x="8156575" y="4568825"/>
            <a:ext cx="987425" cy="574675"/>
          </a:xfrm>
          <a:prstGeom prst="rect">
            <a:avLst/>
          </a:prstGeom>
        </p:spPr>
      </p:pic>
    </p:spTree>
    <p:extLst>
      <p:ext uri="{BB962C8B-B14F-4D97-AF65-F5344CB8AC3E}">
        <p14:creationId xmlns:p14="http://schemas.microsoft.com/office/powerpoint/2010/main" val="242279190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ts val="2700"/>
        </a:lnSpc>
        <a:spcBef>
          <a:spcPct val="0"/>
        </a:spcBef>
        <a:buNone/>
        <a:defRPr sz="2700" b="1" kern="120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1950" kern="1200">
          <a:solidFill>
            <a:schemeClr val="tx1"/>
          </a:solidFill>
          <a:latin typeface="+mn-lt"/>
          <a:ea typeface="+mn-ea"/>
          <a:cs typeface="+mn-cs"/>
        </a:defRPr>
      </a:lvl1pPr>
      <a:lvl2pPr marL="0" indent="0" algn="l" defTabSz="685800" rtl="0" eaLnBrk="1" latinLnBrk="0" hangingPunct="1">
        <a:lnSpc>
          <a:spcPct val="100000"/>
        </a:lnSpc>
        <a:spcBef>
          <a:spcPts val="0"/>
        </a:spcBef>
        <a:buFont typeface="Arial" panose="020B0604020202020204" pitchFamily="34" charset="0"/>
        <a:buNone/>
        <a:defRPr sz="1650" kern="1200">
          <a:solidFill>
            <a:schemeClr val="tx1"/>
          </a:solidFill>
          <a:latin typeface="+mn-lt"/>
          <a:ea typeface="+mn-ea"/>
          <a:cs typeface="+mn-cs"/>
        </a:defRPr>
      </a:lvl2pPr>
      <a:lvl3pPr marL="180975"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3pPr>
      <a:lvl4pPr marL="360000" indent="-180975"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4pPr>
      <a:lvl5pPr marL="539750" indent="-177800" algn="l" defTabSz="685800" rtl="0" eaLnBrk="1" latinLnBrk="0" hangingPunct="1">
        <a:lnSpc>
          <a:spcPct val="100000"/>
        </a:lnSpc>
        <a:spcBef>
          <a:spcPts val="0"/>
        </a:spcBef>
        <a:buFont typeface="Arial" panose="020B0604020202020204" pitchFamily="34" charset="0"/>
        <a:buChar char="•"/>
        <a:defRPr sz="16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Clean10" Type="http://schemas.openxmlformats.org/officeDocument/2006/relationships/image" Target="../media/image3.png"/><Relationship Id="rIdClean11" Type="http://schemas.openxmlformats.org/officeDocument/2006/relationships/image" Target="../media/image2.png"/></Relationships>
</file>

<file path=ppt/slides/_rels/slide2.xml.rels><?xml version="1.0" encoding="utf-8"?><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Clean22" Type="http://schemas.openxmlformats.org/officeDocument/2006/relationships/image" Target="../media/image1.png"/></Relationships>
</file>

<file path=ppt/slides/_rels/slide3.xml.rels><?xml version="1.0" encoding="utf-8"?><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gi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jpg"/><Relationship Id="rId4" Type="http://schemas.openxmlformats.org/officeDocument/2006/relationships/image" Target="../media/image7.jpg"/><Relationship Id="rIdClean32" Type="http://schemas.openxmlformats.org/officeDocument/2006/relationships/image" Target="../media/image1.png"/></Relationships>
</file>

<file path=ppt/slides/_rels/slide4.xml.rels><?xml version="1.0" encoding="utf-8"?><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Clean24" Type="http://schemas.openxmlformats.org/officeDocument/2006/relationships/image" Target="../media/image1.png"/></Relationships>
</file>

<file path=ppt/slides/_rels/slide5.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 Id="rIdClean23" Type="http://schemas.openxmlformats.org/officeDocument/2006/relationships/image" Target="../media/image1.png"/></Relationships>
</file>

<file path=ppt/slides/_rels/slide6.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 Id="rIdClean9" Type="http://schemas.openxmlformats.org/officeDocument/2006/relationships/image" Target="../media/image1.png"/></Relationships>
</file>

<file path=ppt/slides/_rels/slide7.xml.rels><?xml version="1.0" encoding="utf-8"?><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5.xml"/><Relationship Id="rIdClean9" Type="http://schemas.openxmlformats.org/officeDocument/2006/relationships/image" Target="../media/image1.png"/></Relationships>
</file>

<file path=ppt/slides/_rels/slide8.xml.rels><?xml version="1.0" encoding="utf-8"?><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5.xml"/><Relationship Id="rIdClean19" Type="http://schemas.openxmlformats.org/officeDocument/2006/relationships/image" Target="../media/image1.png"/></Relationships>
</file>

<file path=ppt/slides/_rels/slide9.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9.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0.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1.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2.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2.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82" Type="http://schemas.openxmlformats.org/officeDocument/2006/relationships/image" Target="../media/image1.png"/></Relationships>
</file>

<file path=ppt/slides/_rels/slide13.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3.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69" Type="http://schemas.openxmlformats.org/officeDocument/2006/relationships/image" Target="../media/image1.png"/></Relationships>
</file>

<file path=ppt/slides/_rels/slide14.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4.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77" Type="http://schemas.openxmlformats.org/officeDocument/2006/relationships/image" Target="../media/image1.png"/></Relationships>
</file>

<file path=ppt/slides/_rels/slide15.xml.rels><?xml version="1.0" encoding="utf-8"?><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5.xml"/><Relationship Id="rId16" Type="http://schemas.openxmlformats.org/officeDocument/2006/relationships/image" Target="../media/image33.png"/><Relationship Id="rId1" Type="http://schemas.openxmlformats.org/officeDocument/2006/relationships/slideLayout" Target="../slideLayouts/slideLayout5.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Clean81" Type="http://schemas.openxmlformats.org/officeDocument/2006/relationships/image" Target="../media/image1.png"/></Relationships>
</file>

<file path=ppt/slides/_rels/slide16.xml.rels><?xml version="1.0" encoding="utf-8"?><Relationships xmlns="http://schemas.openxmlformats.org/package/2006/relationships"><Relationship Id="rId1" Type="http://schemas.openxmlformats.org/officeDocument/2006/relationships/slideLayout" Target="../slideLayouts/slideLayout17.xml"/><Relationship Id="rIdClean6" Type="http://schemas.openxmlformats.org/officeDocument/2006/relationships/image" Target="../media/image1.png"/></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Relationship Id="rIdClean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lIns="0" rIns="0" tIns="0" bIns="0" anchor="t" wrap="square">
            <a:noAutofit/>
          </a:bodyPr>
          <a:lstStyle/>
          <a:p>
            <a:pPr algn="l" marL="0" indent="0" defTabSz="1">
              <a:lnSpc>
                <a:spcPct val="112000"/>
              </a:lnSpc>
              <a:spcAft>
                <a:spcPts val="0"/>
              </a:spcAft>
              <a:buNone/>
              <a:defRPr sz="2800" b="1" u="none" cap="none">
                <a:solidFill>
                  <a:srgbClr val="252529"/>
                </a:solidFill>
                <a:latin typeface="Aptos"/>
                <a:ea typeface="Aptos"/>
                <a:cs typeface="Aptos"/>
              </a:defRPr>
            </a:pPr>
            <a:r>
              <a:rPr lang="en-GB" dirty="0" sz="2800" b="1" u="none" cap="none">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lIns="0" rIns="0" tIns="0" bIns="0" anchor="t" wrap="square">
            <a:noAutofit/>
          </a:bodyPr>
          <a:lstStyle/>
          <a:p>
            <a:pPr algn="l" marL="0" indent="0" defTabSz="1">
              <a:lnSpc>
                <a:spcPct val="112000"/>
              </a:lnSpc>
              <a:spcAft>
                <a:spcPts val="0"/>
              </a:spcAft>
              <a:buNone/>
              <a:defRPr sz="1600" b="0" u="none" cap="none">
                <a:solidFill>
                  <a:srgbClr val="C71919"/>
                </a:solidFill>
                <a:latin typeface="Aptos"/>
                <a:ea typeface="Aptos"/>
                <a:cs typeface="Aptos"/>
              </a:defRPr>
            </a:pPr>
            <a:r>
              <a:rPr lang="en-GB" dirty="0" sz="1600" b="0" u="none" cap="none">
                <a:solidFill>
                  <a:srgbClr val="C7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lIns="0" rIns="0" tIns="0" bIns="0" anchor="t" wrap="square">
            <a:noAutofit/>
          </a:bodyPr>
          <a:lstStyle/>
          <a:p>
            <a:pPr algn="l" marL="0" indent="0" defTabSz="1">
              <a:lnSpc>
                <a:spcPct val="120000"/>
              </a:lnSpc>
              <a:spcAft>
                <a:spcPts val="0"/>
              </a:spcAft>
              <a:buNone/>
              <a:defRPr sz="1300" b="0" u="none" cap="none">
                <a:solidFill>
                  <a:srgbClr val="252529"/>
                </a:solidFill>
                <a:latin typeface="Aptos"/>
                <a:ea typeface="Aptos"/>
                <a:cs typeface="Aptos"/>
              </a:defRPr>
            </a:pPr>
            <a:r>
              <a:rPr lang="en-GB" dirty="0" sz="1300" b="0" u="none" cap="none">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lIns="0" rIns="0" tIns="0" bIns="0" anchor="t" wrap="square">
            <a:noAutofit/>
          </a:bodyPr>
          <a:lstStyle/>
          <a:p>
            <a:pPr algn="l" marL="0" indent="0" defTabSz="1">
              <a:lnSpc>
                <a:spcPct val="112000"/>
              </a:lnSpc>
              <a:spcAft>
                <a:spcPts val="0"/>
              </a:spcAft>
              <a:buNone/>
              <a:defRPr sz="1100" b="0" u="none" cap="none">
                <a:solidFill>
                  <a:srgbClr val="747B82"/>
                </a:solidFill>
                <a:latin typeface="Aptos"/>
                <a:ea typeface="Aptos"/>
                <a:cs typeface="Aptos"/>
              </a:defRPr>
            </a:pPr>
            <a:r>
              <a:rPr lang="en-GB" dirty="0" sz="1100" b="0" u="none" cap="none">
                <a:solidFill>
                  <a:srgbClr val="747B82"/>
                </a:solidFill>
                <a:latin typeface="Aptos"/>
                <a:ea typeface="Aptos"/>
                <a:cs typeface="Aptos"/>
              </a:rPr>
              <a:t>CS – System &amp; Control / 30-09-2026</a:t>
            </a:r>
          </a:p>
        </p:txBody>
      </p:sp>
      <p:pic>
        <p:nvPicPr>
          <p:cNvPr id="10" name="Original title response figure"/>
          <p:cNvPicPr>
            <a:picLocks noChangeAspect="1"/>
          </p:cNvPicPr>
          <p:nvPr/>
        </p:nvPicPr>
        <p:blipFill>
          <a:blip r:embed="rIdClean10"/>
          <a:srcRect l="20719" t="2278" r="21000" b="44944"/>
          <a:stretch>
            <a:fillRect/>
          </a:stretch>
        </p:blipFill>
        <p:spPr>
          <a:xfrm>
            <a:off x="4387883" y="2349500"/>
            <a:ext cx="4063933" cy="2070100"/>
          </a:xfrm>
          <a:prstGeom prst="rect">
            <a:avLst/>
          </a:prstGeom>
        </p:spPr>
      </p:pic>
      <p:pic>
        <p:nvPicPr>
          <p:cNvPr id="11" name="Original university logo"/>
          <p:cNvPicPr>
            <a:picLocks noChangeAspect="1"/>
          </p:cNvPicPr>
          <p:nvPr/>
        </p:nvPicPr>
        <p:blipFill>
          <a:blip r:embed="rIdClean11"/>
          <a:stretch>
            <a:fillRect/>
          </a:stretch>
        </p:blipFill>
        <p:spPr>
          <a:xfrm>
            <a:off x="457200" y="4635500"/>
            <a:ext cx="1587500" cy="395732"/>
          </a:xfrm>
          <a:prstGeom prst="rect">
            <a:avLst/>
          </a:prstGeom>
        </p:spPr>
      </p:pic>
    </p:spTree>
    <p:extLst>
      <p:ext uri="{BB962C8B-B14F-4D97-AF65-F5344CB8AC3E}">
        <p14:creationId xmlns:p14="http://schemas.microsoft.com/office/powerpoint/2010/main" val="13470964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lIns="0" rIns="0" tIns="0" bIns="0" anchor="t" wrap="square">
            <a:noAutofit/>
          </a:bodyPr>
          <a:lstStyle/>
          <a:p>
            <a:pPr algn="l" marL="0" indent="0">
              <a:spcAft>
                <a:spcPts val="0"/>
              </a:spcAft>
              <a:buNone/>
              <a:defRPr sz="1800" b="0" u="none" cap="none">
                <a:solidFill>
                  <a:srgbClr val="252529"/>
                </a:solidFill>
                <a:latin typeface="Aptos"/>
                <a:ea typeface="Aptos"/>
                <a:cs typeface="Aptos"/>
              </a:defRPr>
            </a:pPr>
            <a:r>
              <a:rPr lang="en-US" b="1" dirty="0" sz="1800" u="none" cap="none">
                <a:solidFill>
                  <a:srgbClr val="252529"/>
                </a:solidFill>
                <a:latin typeface="Aptos"/>
                <a:ea typeface="Aptos"/>
                <a:cs typeface="Aptos"/>
              </a:rPr>
              <a:t>Rigid body representation</a:t>
            </a:r>
            <a:br>
              <a:rPr lang="en-US" dirty="0" sz="1800" b="0" u="none" cap="none">
                <a:solidFill>
                  <a:srgbClr val="252529"/>
                </a:solidFill>
                <a:latin typeface="Aptos"/>
                <a:ea typeface="Aptos"/>
                <a:cs typeface="Aptos"/>
              </a:rPr>
            </a:br>
            <a:r>
              <a:rPr lang="en-US" dirty="0" sz="1800" b="0" u="none" cap="none">
                <a:solidFill>
                  <a:srgbClr val="252529"/>
                </a:solidFill>
                <a:latin typeface="Aptos"/>
                <a:ea typeface="Aptos"/>
                <a:cs typeface="Aptos"/>
              </a:rPr>
              <a:t>Ordinary Differential Equation (ODE)</a:t>
            </a:r>
            <a:endParaRPr lang="en-NL" dirty="0" sz="1800" b="0" u="none" cap="none">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2</a:t>
            </a:fld>
            <a:endParaRPr lang="en-GB" dirty="0" sz="800" b="0" u="none" cap="none">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lIns="0" rIns="0" tIns="0" bIns="0" anchor="t" wrap="square">
            <a:noAutofit/>
          </a:bodyPr>
          <a:lstStyle/>
          <a:p>
            <a:pPr algn="l" marL="0" indent="0">
              <a:spcAft>
                <a:spcPts val="0"/>
              </a:spcAft>
              <a:buNone/>
              <a:defRPr sz="1800" b="0" u="none" cap="none">
                <a:solidFill>
                  <a:srgbClr val="252529"/>
                </a:solidFill>
                <a:latin typeface="Aptos"/>
                <a:ea typeface="Aptos"/>
                <a:cs typeface="Aptos"/>
              </a:defRPr>
            </a:pPr>
            <a:r>
              <a:rPr lang="en-US" b="1" dirty="0" sz="1800" u="none" cap="none">
                <a:solidFill>
                  <a:srgbClr val="252529"/>
                </a:solidFill>
                <a:latin typeface="Aptos"/>
                <a:ea typeface="Aptos"/>
                <a:cs typeface="Aptos"/>
              </a:rPr>
              <a:t>Flexible body representation</a:t>
            </a:r>
            <a:endParaRPr lang="en-US" dirty="0" sz="1800" b="0" u="none" cap="none">
              <a:solidFill>
                <a:srgbClr val="252529"/>
              </a:solidFill>
              <a:latin typeface="Aptos"/>
              <a:ea typeface="Aptos"/>
              <a:cs typeface="Aptos"/>
            </a:endParaRPr>
          </a:p>
          <a:p>
            <a:pPr algn="l" marL="0" indent="0">
              <a:spcAft>
                <a:spcPts val="0"/>
              </a:spcAft>
              <a:buNone/>
              <a:defRPr sz="1800" b="0" u="none" cap="none">
                <a:solidFill>
                  <a:srgbClr val="252529"/>
                </a:solidFill>
                <a:latin typeface="Aptos"/>
                <a:ea typeface="Aptos"/>
                <a:cs typeface="Aptos"/>
              </a:defRPr>
            </a:pPr>
            <a:r>
              <a:rPr lang="en-US" dirty="0" sz="1800" b="0" u="none" cap="none">
                <a:solidFill>
                  <a:srgbClr val="252529"/>
                </a:solidFill>
                <a:latin typeface="Aptos"/>
                <a:ea typeface="Aptos"/>
                <a:cs typeface="Aptos"/>
              </a:rPr>
              <a:t>Partial Differential Equation (PDE)</a:t>
            </a:r>
            <a:endParaRPr lang="en-NL" dirty="0" sz="1800" b="0" u="none" cap="none">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p:ph sz="half" idx="1"/>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p:ph sz="half" idx="2"/>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p:spPr>
      </p:pic>
      <p:pic>
        <p:nvPicPr>
          <p:cNvPr id="22" name="Original TUe logo"/>
          <p:cNvPicPr>
            <a:picLocks noChangeAspect="1"/>
          </p:cNvPicPr>
          <p:nvPr/>
        </p:nvPicPr>
        <p:blipFill>
          <a:blip r:embed="rIdClean2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3</a:t>
            </a:fld>
            <a:endParaRPr lang="en-GB" dirty="0" sz="800" b="0" u="none" cap="none">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ASML wafer stage</a:t>
            </a:r>
            <a:endParaRPr lang="en-NL" sz="1600" b="1" dirty="0" u="none" cap="none">
              <a:solidFill>
                <a:srgbClr val="25252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Canon Production Printing</a:t>
            </a:r>
            <a:endParaRPr lang="en-NL" sz="1600" b="1" dirty="0" u="none" cap="none">
              <a:solidFill>
                <a:srgbClr val="25252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rtlCol="0" lIns="0" rIns="0" tIns="0" bIns="0" anchor="t">
            <a:noAutofit/>
          </a:bodyPr>
          <a:lstStyle/>
          <a:p>
            <a:pPr algn="ctr" marL="0" indent="0">
              <a:spcAft>
                <a:spcPts val="0"/>
              </a:spcAft>
              <a:buNone/>
              <a:defRPr sz="1600" b="1" u="none" cap="none">
                <a:solidFill>
                  <a:srgbClr val="252529"/>
                </a:solidFill>
                <a:latin typeface="Aptos"/>
                <a:ea typeface="Aptos"/>
                <a:cs typeface="Aptos"/>
              </a:defRPr>
            </a:pPr>
            <a:r>
              <a:rPr lang="en-US" sz="1600" b="1" dirty="0" u="none" cap="none">
                <a:solidFill>
                  <a:srgbClr val="252529"/>
                </a:solidFill>
                <a:latin typeface="Aptos"/>
                <a:ea typeface="Aptos"/>
                <a:cs typeface="Aptos"/>
              </a:rPr>
              <a:t>Parkinsons Disease</a:t>
            </a:r>
            <a:endParaRPr lang="en-NL" sz="1600" b="1" dirty="0" u="none" cap="none">
              <a:solidFill>
                <a:srgbClr val="252529"/>
              </a:solidFill>
              <a:latin typeface="Aptos"/>
              <a:ea typeface="Aptos"/>
              <a:cs typeface="Aptos"/>
            </a:endParaRPr>
          </a:p>
        </p:txBody>
      </p:sp>
      <p:pic>
        <p:nvPicPr>
          <p:cNvPr id="24" name="Picture 23" descr="basal ganglia 1">
            <a:extLst>
              <a:ext uri="{FF2B5EF4-FFF2-40B4-BE49-F238E27FC236}">
                <a16:creationId xmlns:a16="http://schemas.microsoft.com/office/drawing/2014/main" id="{A6E636D6-25C1-A448-E6C2-44FBF9AB74C9}"/>
              </a:ext>
            </a:extLst>
          </p:cNvPr>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Diffusion-Reaction Equations (PDE)</a:t>
            </a:r>
            <a:endParaRPr lang="en-NL" dirty="0" sz="1300" b="0" u="none" cap="none">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Differential Delay Equations </a:t>
            </a:r>
          </a:p>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(DDE -&gt; PDE)</a:t>
            </a:r>
            <a:endParaRPr lang="en-NL" dirty="0" sz="1300" b="0" u="none" cap="none">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252529"/>
                </a:solidFill>
                <a:latin typeface="Aptos"/>
                <a:ea typeface="Aptos"/>
                <a:cs typeface="Aptos"/>
              </a:defRPr>
            </a:pPr>
            <a:r>
              <a:rPr lang="en-US" dirty="0" sz="1300" b="0" u="none" cap="none">
                <a:solidFill>
                  <a:srgbClr val="252529"/>
                </a:solidFill>
                <a:latin typeface="Aptos"/>
                <a:ea typeface="Aptos"/>
                <a:cs typeface="Aptos"/>
              </a:rPr>
              <a:t>Wave/beam equations (PDE)</a:t>
            </a:r>
            <a:endParaRPr lang="en-NL" dirty="0" sz="1300" b="0" u="none" cap="none">
              <a:solidFill>
                <a:srgbClr val="252529"/>
              </a:solidFill>
              <a:latin typeface="Aptos"/>
              <a:ea typeface="Aptos"/>
              <a:cs typeface="Aptos"/>
            </a:endParaRPr>
          </a:p>
        </p:txBody>
      </p:sp>
      <p:pic>
        <p:nvPicPr>
          <p:cNvPr id="29" name="Picture 28">
            <a:extLst>
              <a:ext uri="{FF2B5EF4-FFF2-40B4-BE49-F238E27FC236}">
                <a16:creationId xmlns:a16="http://schemas.microsoft.com/office/drawing/2014/main" id="{AAE4B616-1EB2-3538-1878-10B55C2CE316}"/>
              </a:ext>
            </a:extLst>
          </p:cNvPr>
          <p:cNvPicPr>
            <a:picLocks noChangeAspect="1"/>
          </p:cNvPicPr>
          <p:nvPr/>
        </p:nvPicPr>
        <p:blipFill>
          <a:blip r:embed="rId6"/>
          <a:stretch>
            <a:fillRect/>
          </a:stretch>
        </p:blipFill>
        <p:spPr>
          <a:xfrm>
            <a:off x="3352800" y="2837514"/>
            <a:ext cx="2438400" cy="814673"/>
          </a:xfrm>
          <a:prstGeom prst="rect">
            <a:avLst/>
          </a:prstGeom>
        </p:spPr>
      </p:pic>
      <p:pic>
        <p:nvPicPr>
          <p:cNvPr id="31" name="Picture 30">
            <a:extLst>
              <a:ext uri="{FF2B5EF4-FFF2-40B4-BE49-F238E27FC236}">
                <a16:creationId xmlns:a16="http://schemas.microsoft.com/office/drawing/2014/main" id="{DAAC8EA2-C55F-BCFB-1194-292E0CC634F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48400" y="1530350"/>
            <a:ext cx="2438400" cy="1816100"/>
          </a:xfrm>
          <a:prstGeom prst="rect">
            <a:avLst/>
          </a:prstGeom>
        </p:spPr>
      </p:pic>
      <p:pic>
        <p:nvPicPr>
          <p:cNvPr id="32" name="Original TUe logo"/>
          <p:cNvPicPr>
            <a:picLocks noChangeAspect="1"/>
          </p:cNvPicPr>
          <p:nvPr/>
        </p:nvPicPr>
        <p:blipFill>
          <a:blip r:embed="rIdClean3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lIns="0" rIns="0" tIns="0" bIns="0" anchor="t" wrap="square">
            <a:noAutofit/>
          </a:bodyPr>
          <a:lstStyle/>
          <a:p>
            <a:pPr algn="l" marL="0" indent="0">
              <a:spcAft>
                <a:spcPts val="0"/>
              </a:spcAft>
              <a:buNone/>
              <a:defRPr sz="2500" b="1" u="none" cap="none">
                <a:solidFill>
                  <a:srgbClr val="252529"/>
                </a:solidFill>
                <a:latin typeface="Aptos"/>
                <a:ea typeface="Aptos"/>
                <a:cs typeface="Aptos"/>
              </a:defRPr>
            </a:pPr>
            <a:r>
              <a:rPr lang="en-US" b="1" dirty="0" sz="2500" u="none" cap="none">
                <a:solidFill>
                  <a:srgbClr val="252529"/>
                </a:solidFill>
                <a:latin typeface="Aptos"/>
                <a:ea typeface="Aptos"/>
                <a:cs typeface="Aptos"/>
              </a:rPr>
              <a:t>Partial Integral Equations</a:t>
            </a:r>
            <a:endParaRPr lang="en-NL" b="1" dirty="0" sz="2500" u="none" cap="none">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32100" cy="3251200"/>
          </a:xfrm>
          <a:noFill/>
          <a:ln>
            <a:noFill/>
          </a:ln>
        </p:spPr>
        <p:txBody>
          <a:bodyPr lIns="0" rIns="0" tIns="0" bIns="0" anchor="t" wrap="square">
            <a:noAutofit/>
          </a:bodyPr>
          <a:lstStyle/>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b="0" u="none" dirty="0" sz="1600" cap="none">
                <a:solidFill>
                  <a:srgbClr val="252529"/>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b="0" u="none" dirty="0" sz="1600" cap="none">
                <a:solidFill>
                  <a:srgbClr val="252529"/>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solidFill>
                <a:latin typeface="Aptos"/>
                <a:ea typeface="Aptos"/>
                <a:cs typeface="Aptos"/>
              </a:defRPr>
            </a:pPr>
            <a:r>
              <a:rPr lang="en-US" dirty="0" sz="1600" b="0" u="none" cap="none">
                <a:solidFill>
                  <a:srgbClr val="252529"/>
                </a:solidFill>
                <a:latin typeface="Aptos"/>
                <a:ea typeface="Aptos"/>
                <a:cs typeface="Aptos"/>
              </a:rPr>
              <a:t>Controller synthesis for linear systems…..</a:t>
            </a:r>
            <a:endParaRPr lang="en-NL" dirty="0" sz="1600" b="0" u="none" cap="none">
              <a:solidFill>
                <a:srgbClr val="252529"/>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4</a:t>
            </a:fld>
            <a:endParaRPr lang="en-GB" dirty="0" sz="800" b="0" u="none" cap="none">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wrap="square">
            <a:noAutofit/>
          </a:bodyPr>
          <a:lstStyle/>
          <a:p>
            <a:pPr algn="ctr" marL="0" indent="0">
              <a:spcAft>
                <a:spcPts val="0"/>
              </a:spcAft>
              <a:buNone/>
              <a:defRPr sz="2000" b="1" u="none" cap="none">
                <a:solidFill>
                  <a:srgbClr val="252529"/>
                </a:solidFill>
                <a:latin typeface="Aptos"/>
                <a:ea typeface="Aptos"/>
                <a:cs typeface="Aptos"/>
              </a:defRPr>
            </a:pPr>
            <a:r>
              <a:rPr lang="en-US" sz="2000" dirty="0" b="1" u="none" cap="none">
                <a:solidFill>
                  <a:srgbClr val="252529"/>
                </a:solidFill>
                <a:latin typeface="Aptos"/>
                <a:ea typeface="Aptos"/>
                <a:cs typeface="Aptos"/>
              </a:rPr>
              <a:t>ODE-PDE</a:t>
            </a:r>
            <a:endParaRPr lang="en-NL" sz="2000" dirty="0" b="1" u="none" cap="none">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lIns="0" rIns="0" tIns="0" bIns="0" wrap="square">
            <a:noAutofit/>
          </a:bodyPr>
          <a:lstStyle/>
          <a:p>
            <a:pPr algn="ctr" marL="0" indent="0">
              <a:spcAft>
                <a:spcPts val="0"/>
              </a:spcAft>
              <a:buNone/>
              <a:defRPr sz="2000" b="1" u="none" cap="none">
                <a:solidFill>
                  <a:srgbClr val="252529"/>
                </a:solidFill>
                <a:latin typeface="Aptos"/>
                <a:ea typeface="Aptos"/>
                <a:cs typeface="Aptos"/>
              </a:defRPr>
            </a:pPr>
            <a:r>
              <a:rPr lang="en-US" sz="2000" dirty="0" b="1" u="none" cap="none">
                <a:solidFill>
                  <a:srgbClr val="252529"/>
                </a:solidFill>
                <a:latin typeface="Aptos"/>
                <a:ea typeface="Aptos"/>
                <a:cs typeface="Aptos"/>
              </a:rPr>
              <a:t>PIE</a:t>
            </a:r>
            <a:endParaRPr lang="en-NL" sz="2000" dirty="0" b="1" u="none" cap="none">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rtlCol="0" lIns="0" rIns="0" tIns="0" bIns="0" anchor="t">
            <a:noAutofit/>
          </a:bodyPr>
          <a:lstStyle/>
          <a:p>
            <a:pPr algn="ctr" marL="0" indent="0">
              <a:spcAft>
                <a:spcPts val="0"/>
              </a:spcAft>
              <a:buNone/>
              <a:defRPr sz="1300" b="0" u="none" cap="none">
                <a:solidFill>
                  <a:srgbClr val="C71919"/>
                </a:solidFill>
                <a:latin typeface="Aptos"/>
                <a:ea typeface="Aptos"/>
                <a:cs typeface="Aptos"/>
              </a:defRPr>
            </a:pPr>
            <a:r>
              <a:rPr lang="en-US" sz="1300" dirty="0" b="0" u="none" cap="none">
                <a:solidFill>
                  <a:srgbClr val="C71919"/>
                </a:solidFill>
                <a:latin typeface="Aptos"/>
                <a:ea typeface="Aptos"/>
                <a:cs typeface="Aptos"/>
              </a:rPr>
              <a:t>Exact!</a:t>
            </a:r>
            <a:endParaRPr lang="en-NL" dirty="0" sz="1300" b="0" u="none" cap="none">
              <a:solidFill>
                <a:srgbClr val="C7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3632200" y="2425700"/>
                <a:ext cx="2235200" cy="1511300"/>
              </a:xfrm>
              <a:prstGeom prst="rect">
                <a:avLst/>
              </a:prstGeom>
              <a:noFill/>
              <a:ln>
                <a:noFill/>
              </a:ln>
            </p:spPr>
            <p:txBody>
              <a:bodyPr wrap="none" lIns="0" tIns="0" rIns="0" bIns="0" rtlCol="0" anchor="t">
                <a:noAutofit/>
              </a:bodyPr>
              <a:lstStyle/>
              <a:p>
                <a:pPr algn="ctr">
                  <a:spcAft>
                    <a:spcPts val="0"/>
                  </a:spcAft>
                  <a:defRPr sz="1400" b="0" u="none" cap="none">
                    <a:solidFill>
                      <a:srgbClr val="252529"/>
                    </a:solidFill>
                    <a:latin typeface="Cambria Math"/>
                    <a:ea typeface="Cambria Math"/>
                    <a:cs typeface="Cambria Math"/>
                  </a:defRPr>
                </a:pPr>
                <a14:m>
                  <m:oMathPara xmlns:m="http://schemas.openxmlformats.org/officeDocument/2006/math">
                    <m:oMath>
                      <m:acc>
                        <m:accPr>
                          <m:chr m:val="̇"/>
                          <m:ctrlPr>
                            <a:rPr lang="en-US" b="0" i="1" smtClean="0" sz="1400">
                              <a:latin typeface="Cambria Math" panose="02040503050406030204" pitchFamily="18" charset="0"/>
                            </a:rPr>
                          </m:ctrlPr>
                        </m:accPr>
                        <m:e>
                          <m:r>
                            <a:rPr lang="en-US" b="0" i="1" smtClean="0" sz="1400">
                              <a:latin typeface="Cambria Math" panose="02040503050406030204" pitchFamily="18" charset="0"/>
                            </a:rPr>
                            <m:t>𝑇</m:t>
                          </m:r>
                        </m:e>
                      </m:acc>
                      <m:d>
                        <m:dPr>
                          <m:ctrlPr>
                            <a:rPr lang="en-US" b="0" i="1" smtClean="0" sz="1400">
                              <a:latin typeface="Cambria Math" panose="02040503050406030204" pitchFamily="18" charset="0"/>
                            </a:rPr>
                          </m:ctrlPr>
                        </m:dPr>
                        <m:e>
                          <m:r>
                            <a:rPr lang="en-US" b="0" i="1" smtClean="0" sz="1400">
                              <a:latin typeface="Cambria Math" panose="02040503050406030204" pitchFamily="18" charset="0"/>
                            </a:rPr>
                            <m:t>𝑡</m:t>
                          </m:r>
                          <m:r>
                            <a:rPr lang="en-US" b="0" i="1" smtClean="0" sz="1400">
                              <a:latin typeface="Cambria Math" panose="02040503050406030204" pitchFamily="18" charset="0"/>
                            </a:rPr>
                            <m:t>,</m:t>
                          </m:r>
                          <m:r>
                            <a:rPr lang="en-US" b="0" i="1" smtClean="0" sz="1400">
                              <a:latin typeface="Cambria Math" panose="02040503050406030204" pitchFamily="18" charset="0"/>
                            </a:rPr>
                            <m:t>𝑠</m:t>
                          </m:r>
                        </m:e>
                      </m:d>
                      <m:r>
                        <a:rPr lang="en-US" b="0" i="1" smtClean="0" sz="1400">
                          <a:latin typeface="Cambria Math" panose="02040503050406030204" pitchFamily="18" charset="0"/>
                        </a:rPr>
                        <m:t>=</m:t>
                      </m:r>
                      <m:r>
                        <a:rPr lang="en-US" b="0" i="1" smtClean="0" sz="1400">
                          <a:latin typeface="Cambria Math" panose="02040503050406030204" pitchFamily="18" charset="0"/>
                        </a:rPr>
                        <m:t>𝑇</m:t>
                      </m:r>
                      <m:d>
                        <m:dPr>
                          <m:ctrlPr>
                            <a:rPr lang="en-US" b="0" i="1" smtClean="0" sz="1400">
                              <a:latin typeface="Cambria Math" panose="02040503050406030204" pitchFamily="18" charset="0"/>
                            </a:rPr>
                          </m:ctrlPr>
                        </m:dPr>
                        <m:e>
                          <m:r>
                            <a:rPr lang="en-US" b="0" i="1" smtClean="0" sz="1400">
                              <a:latin typeface="Cambria Math" panose="02040503050406030204" pitchFamily="18" charset="0"/>
                            </a:rPr>
                            <m:t>𝑡</m:t>
                          </m:r>
                          <m:r>
                            <a:rPr lang="en-US" b="0" i="1" smtClean="0" sz="1400">
                              <a:latin typeface="Cambria Math" panose="02040503050406030204" pitchFamily="18" charset="0"/>
                            </a:rPr>
                            <m:t>,</m:t>
                          </m:r>
                          <m:r>
                            <a:rPr lang="en-US" b="0" i="1" smtClean="0" sz="1400">
                              <a:latin typeface="Cambria Math" panose="02040503050406030204" pitchFamily="18" charset="0"/>
                            </a:rPr>
                            <m:t>𝑠</m:t>
                          </m:r>
                        </m:e>
                      </m:d>
                    </m:oMath>
                  </m:oMathPara>
                </a14:m>
                <a:endParaRPr lang="en-US" b="0" i="1" dirty="0" sz="1400">
                  <a:latin typeface="Cambria Math" panose="02040503050406030204" pitchFamily="18" charset="0"/>
                </a:endParaRPr>
              </a:p>
              <a:p>
                <a:pPr algn="ctr">
                  <a:spcAft>
                    <a:spcPts val="0"/>
                  </a:spcAft>
                  <a:defRPr sz="1400" b="0" u="none" cap="none">
                    <a:solidFill>
                      <a:srgbClr val="252529"/>
                    </a:solidFill>
                    <a:latin typeface="Cambria Math"/>
                    <a:ea typeface="Cambria Math"/>
                    <a:cs typeface="Cambria Math"/>
                  </a:defRPr>
                </a:pPr>
                <a14:m>
                  <m:oMathPara xmlns:m="http://schemas.openxmlformats.org/officeDocument/2006/math">
                    <m:oMath>
                      <m:r>
                        <a:rPr lang="en-US" b="0" i="1" smtClean="0" sz="1400">
                          <a:latin typeface="Cambria Math" panose="02040503050406030204" pitchFamily="18" charset="0"/>
                        </a:rPr>
                        <m:t>𝑇</m:t>
                      </m:r>
                      <m:d>
                        <m:dPr>
                          <m:ctrlPr>
                            <a:rPr lang="en-US" b="0" i="1" smtClean="0" sz="1400">
                              <a:latin typeface="Cambria Math" panose="02040503050406030204" pitchFamily="18" charset="0"/>
                            </a:rPr>
                          </m:ctrlPr>
                        </m:dPr>
                        <m:e>
                          <m:r>
                            <a:rPr lang="en-US" b="0" i="1" smtClean="0" sz="1400">
                              <a:latin typeface="Cambria Math" panose="02040503050406030204" pitchFamily="18" charset="0"/>
                            </a:rPr>
                            <m:t>𝑡</m:t>
                          </m:r>
                          <m:r>
                            <a:rPr lang="en-US" b="0" i="1" smtClean="0" sz="1400">
                              <a:latin typeface="Cambria Math" panose="02040503050406030204" pitchFamily="18" charset="0"/>
                            </a:rPr>
                            <m:t>,0</m:t>
                          </m:r>
                        </m:e>
                      </m:d>
                      <m:r>
                        <a:rPr lang="en-US" b="0" i="1" smtClean="0" sz="1400">
                          <a:latin typeface="Cambria Math" panose="02040503050406030204" pitchFamily="18" charset="0"/>
                        </a:rPr>
                        <m:t>=</m:t>
                      </m:r>
                      <m:sSub>
                        <m:sSubPr>
                          <m:ctrlPr>
                            <a:rPr lang="en-US" b="0" i="1" smtClean="0" sz="1400">
                              <a:solidFill>
                                <a:srgbClr val="FF0000"/>
                              </a:solidFill>
                              <a:latin typeface="Cambria Math" panose="02040503050406030204" pitchFamily="18" charset="0"/>
                            </a:rPr>
                          </m:ctrlPr>
                        </m:sSubPr>
                        <m:e>
                          <m:r>
                            <a:rPr lang="en-US" b="0" i="1" smtClean="0" sz="1400">
                              <a:solidFill>
                                <a:srgbClr val="FF0000"/>
                              </a:solidFill>
                              <a:latin typeface="Cambria Math" panose="02040503050406030204" pitchFamily="18" charset="0"/>
                            </a:rPr>
                            <m:t>𝑤</m:t>
                          </m:r>
                        </m:e>
                        <m:sub>
                          <m:r>
                            <a:rPr lang="en-US" b="0" i="1" smtClean="0" sz="1400">
                              <a:solidFill>
                                <a:srgbClr val="FF0000"/>
                              </a:solidFill>
                              <a:latin typeface="Cambria Math" panose="02040503050406030204" pitchFamily="18" charset="0"/>
                            </a:rPr>
                            <m:t>1</m:t>
                          </m:r>
                        </m:sub>
                      </m:sSub>
                      <m:d>
                        <m:dPr>
                          <m:ctrlPr>
                            <a:rPr lang="en-US" b="0" i="1" smtClean="0" sz="1400">
                              <a:latin typeface="Cambria Math" panose="02040503050406030204" pitchFamily="18" charset="0"/>
                            </a:rPr>
                          </m:ctrlPr>
                        </m:dPr>
                        <m:e>
                          <m:r>
                            <a:rPr lang="en-US" b="0" i="1" smtClean="0" sz="1400">
                              <a:latin typeface="Cambria Math" panose="02040503050406030204" pitchFamily="18" charset="0"/>
                            </a:rPr>
                            <m:t>𝑡</m:t>
                          </m:r>
                        </m:e>
                      </m:d>
                    </m:oMath>
                  </m:oMathPara>
                </a14:m>
                <a:endParaRPr lang="en-US" b="0" i="1" dirty="0" sz="1400">
                  <a:latin typeface="Cambria Math" panose="02040503050406030204" pitchFamily="18" charset="0"/>
                </a:endParaRPr>
              </a:p>
              <a:p>
                <a:pPr algn="ctr">
                  <a:spcAft>
                    <a:spcPts val="0"/>
                  </a:spcAft>
                  <a:defRPr sz="1400" b="0" u="none" cap="none">
                    <a:solidFill>
                      <a:srgbClr val="252529"/>
                    </a:solidFill>
                    <a:latin typeface="Cambria Math"/>
                    <a:ea typeface="Cambria Math"/>
                    <a:cs typeface="Cambria Math"/>
                  </a:defRPr>
                </a:pPr>
                <a14:m>
                  <m:oMathPara xmlns:m="http://schemas.openxmlformats.org/officeDocument/2006/math">
                    <m:oMath>
                      <m:sSub>
                        <m:sSubPr>
                          <m:ctrlPr>
                            <a:rPr lang="en-US" b="0" i="1" smtClean="0" sz="1400">
                              <a:latin typeface="Cambria Math" panose="02040503050406030204" pitchFamily="18" charset="0"/>
                            </a:rPr>
                          </m:ctrlPr>
                        </m:sSubPr>
                        <m:e>
                          <m:r>
                            <a:rPr lang="en-US" b="0" i="1" smtClean="0" sz="1400">
                              <a:latin typeface="Cambria Math" panose="02040503050406030204" pitchFamily="18" charset="0"/>
                            </a:rPr>
                            <m:t>𝑇</m:t>
                          </m:r>
                        </m:e>
                        <m:sub>
                          <m:r>
                            <a:rPr lang="en-US" b="0" i="1" smtClean="0" sz="1400">
                              <a:latin typeface="Cambria Math" panose="02040503050406030204" pitchFamily="18" charset="0"/>
                            </a:rPr>
                            <m:t>𝑠</m:t>
                          </m:r>
                        </m:sub>
                      </m:sSub>
                      <m:d>
                        <m:dPr>
                          <m:ctrlPr>
                            <a:rPr lang="en-US" b="0" i="1" smtClean="0" sz="1400">
                              <a:latin typeface="Cambria Math" panose="02040503050406030204" pitchFamily="18" charset="0"/>
                            </a:rPr>
                          </m:ctrlPr>
                        </m:dPr>
                        <m:e>
                          <m:r>
                            <a:rPr lang="en-US" b="0" i="1" smtClean="0" sz="1400">
                              <a:latin typeface="Cambria Math" panose="02040503050406030204" pitchFamily="18" charset="0"/>
                            </a:rPr>
                            <m:t>𝑡</m:t>
                          </m:r>
                          <m:r>
                            <a:rPr lang="en-US" b="0" i="1" smtClean="0" sz="1400">
                              <a:latin typeface="Cambria Math" panose="02040503050406030204" pitchFamily="18" charset="0"/>
                            </a:rPr>
                            <m:t>,0</m:t>
                          </m:r>
                        </m:e>
                      </m:d>
                      <m:r>
                        <a:rPr lang="en-US" b="0" i="1" smtClean="0" sz="1400">
                          <a:latin typeface="Cambria Math" panose="02040503050406030204" pitchFamily="18" charset="0"/>
                        </a:rPr>
                        <m:t>=</m:t>
                      </m:r>
                      <m:sSub>
                        <m:sSubPr>
                          <m:ctrlPr>
                            <a:rPr lang="en-US" b="0" i="1" smtClean="0" sz="1400">
                              <a:solidFill>
                                <a:srgbClr val="FF0000"/>
                              </a:solidFill>
                              <a:latin typeface="Cambria Math" panose="02040503050406030204" pitchFamily="18" charset="0"/>
                            </a:rPr>
                          </m:ctrlPr>
                        </m:sSubPr>
                        <m:e>
                          <m:r>
                            <a:rPr lang="en-US" b="0" i="1" smtClean="0" sz="1400">
                              <a:solidFill>
                                <a:srgbClr val="FF0000"/>
                              </a:solidFill>
                              <a:latin typeface="Cambria Math" panose="02040503050406030204" pitchFamily="18" charset="0"/>
                            </a:rPr>
                            <m:t>𝑤</m:t>
                          </m:r>
                        </m:e>
                        <m:sub>
                          <m:r>
                            <a:rPr lang="en-US" b="0" i="1" smtClean="0" sz="1400">
                              <a:solidFill>
                                <a:srgbClr val="FF0000"/>
                              </a:solidFill>
                              <a:latin typeface="Cambria Math" panose="02040503050406030204" pitchFamily="18" charset="0"/>
                            </a:rPr>
                            <m:t>2</m:t>
                          </m:r>
                        </m:sub>
                      </m:sSub>
                      <m:r>
                        <a:rPr lang="en-US" b="0" i="1" smtClean="0" sz="1400">
                          <a:latin typeface="Cambria Math" panose="02040503050406030204" pitchFamily="18" charset="0"/>
                        </a:rPr>
                        <m:t>(</m:t>
                      </m:r>
                      <m:r>
                        <a:rPr lang="en-US" b="0" i="1" smtClean="0" sz="1400">
                          <a:latin typeface="Cambria Math" panose="02040503050406030204" pitchFamily="18" charset="0"/>
                        </a:rPr>
                        <m:t>𝑡</m:t>
                      </m:r>
                      <m:r>
                        <a:rPr lang="en-US" b="0" i="1" smtClean="0" sz="1400">
                          <a:latin typeface="Cambria Math" panose="02040503050406030204" pitchFamily="18" charset="0"/>
                        </a:rPr>
                        <m:t>) </m:t>
                      </m:r>
                    </m:oMath>
                  </m:oMathPara>
                </a14:m>
                <a:endParaRPr lang="en-NL" dirty="0" sz="140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3632200" y="2425700"/>
                <a:ext cx="2235200" cy="1511300"/>
              </a:xfrm>
              <a:prstGeom prst="rect">
                <a:avLst/>
              </a:prstGeom>
              <a:noFill/>
              <a:ln>
                <a:noFill/>
              </a:ln>
            </p:spPr>
            <p:txBody>
              <a:bodyPr lIns="0" rIns="0" tIns="0" bIns="0" anchor="t" wrap="none">
                <a:noAutofit/>
              </a:bodyPr>
              <a:lstStyle/>
              <a:p>
                <a:pPr algn="ctr">
                  <a:spcAft>
                    <a:spcPts val="0"/>
                  </a:spcAft>
                  <a:defRPr sz="1400" b="0" u="none" cap="none">
                    <a:solidFill>
                      <a:srgbClr val="252529"/>
                    </a:solidFill>
                    <a:latin typeface="Cambria Math"/>
                    <a:ea typeface="Cambria Math"/>
                    <a:cs typeface="Cambria Math"/>
                  </a:defRPr>
                </a:pPr>
                <a:r>
                  <a:rPr lang="en-NL" sz="1400">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6019800" y="2311400"/>
                <a:ext cx="2667000" cy="1765300"/>
              </a:xfrm>
              <a:prstGeom prst="rect">
                <a:avLst/>
              </a:prstGeom>
              <a:noFill/>
              <a:ln>
                <a:noFill/>
              </a:ln>
            </p:spPr>
            <p:txBody>
              <a:bodyPr wrap="none" rtlCol="0" lIns="0" rIns="0" tIns="0" bIns="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acc>
                        <m:accPr>
                          <m:chr m:val="̇"/>
                          <m:ctrlPr>
                            <a:rPr lang="en-US" b="0" i="1" smtClean="0" sz="1300">
                              <a:latin typeface="Cambria Math" panose="02040503050406030204" pitchFamily="18" charset="0"/>
                            </a:rPr>
                          </m:ctrlPr>
                        </m:accPr>
                        <m:e>
                          <m:r>
                            <a:rPr lang="en-US" b="0" i="1" smtClean="0" sz="1300">
                              <a:latin typeface="Cambria Math" panose="02040503050406030204" pitchFamily="18" charset="0"/>
                            </a:rPr>
                            <m:t>𝑢</m:t>
                          </m:r>
                        </m:e>
                      </m:acc>
                      <m:d>
                        <m:dPr>
                          <m:ctrlPr>
                            <a:rPr lang="en-US" b="0" i="1" smtClean="0" sz="1300">
                              <a:latin typeface="Cambria Math" panose="02040503050406030204" pitchFamily="18" charset="0"/>
                            </a:rPr>
                          </m:ctrlPr>
                        </m:dPr>
                        <m:e>
                          <m:r>
                            <a:rPr lang="en-US" b="0" i="1" smtClean="0" sz="1300">
                              <a:latin typeface="Cambria Math" panose="02040503050406030204" pitchFamily="18" charset="0"/>
                            </a:rPr>
                            <m:t>𝑡</m:t>
                          </m:r>
                          <m:r>
                            <a:rPr lang="en-US" b="0" i="1" smtClean="0" sz="1300">
                              <a:latin typeface="Cambria Math" panose="02040503050406030204" pitchFamily="18" charset="0"/>
                            </a:rPr>
                            <m:t>,</m:t>
                          </m:r>
                          <m:r>
                            <a:rPr lang="en-US" b="0" i="1" smtClean="0" sz="1300">
                              <a:latin typeface="Cambria Math" panose="02040503050406030204" pitchFamily="18" charset="0"/>
                            </a:rPr>
                            <m:t>𝑠</m:t>
                          </m:r>
                        </m:e>
                      </m:d>
                      <m:r>
                        <a:rPr lang="en-US" b="0" i="1" smtClean="0" sz="1300">
                          <a:latin typeface="Cambria Math" panose="02040503050406030204" pitchFamily="18" charset="0"/>
                        </a:rPr>
                        <m:t>=</m:t>
                      </m:r>
                      <m:sSub>
                        <m:sSubPr>
                          <m:ctrlPr>
                            <a:rPr lang="en-US" b="0" i="1" smtClean="0" sz="1300">
                              <a:solidFill>
                                <a:srgbClr val="00B050"/>
                              </a:solidFill>
                              <a:latin typeface="Cambria Math" panose="02040503050406030204" pitchFamily="18" charset="0"/>
                            </a:rPr>
                          </m:ctrlPr>
                        </m:sSubPr>
                        <m:e>
                          <m:r>
                            <a:rPr lang="en-US" b="0" i="1" smtClean="0" sz="1300">
                              <a:solidFill>
                                <a:srgbClr val="00B050"/>
                              </a:solidFill>
                              <a:latin typeface="Cambria Math" panose="02040503050406030204" pitchFamily="18" charset="0"/>
                            </a:rPr>
                            <m:t>𝑤</m:t>
                          </m:r>
                        </m:e>
                        <m:sub>
                          <m:r>
                            <a:rPr lang="en-US" b="0" i="1" smtClean="0" sz="1300">
                              <a:solidFill>
                                <a:srgbClr val="00B050"/>
                              </a:solidFill>
                              <a:latin typeface="Cambria Math" panose="02040503050406030204" pitchFamily="18" charset="0"/>
                            </a:rPr>
                            <m:t>1</m:t>
                          </m:r>
                        </m:sub>
                      </m:sSub>
                      <m:d>
                        <m:dPr>
                          <m:ctrlPr>
                            <a:rPr lang="en-US" b="0" i="1" smtClean="0" sz="1300">
                              <a:latin typeface="Cambria Math" panose="02040503050406030204" pitchFamily="18" charset="0"/>
                            </a:rPr>
                          </m:ctrlPr>
                        </m:dPr>
                        <m:e>
                          <m:r>
                            <a:rPr lang="en-US" b="0" i="1" smtClean="0" sz="1300">
                              <a:latin typeface="Cambria Math" panose="02040503050406030204" pitchFamily="18" charset="0"/>
                            </a:rPr>
                            <m:t>𝑡</m:t>
                          </m:r>
                        </m:e>
                      </m:d>
                      <m:r>
                        <a:rPr lang="en-US" b="0" i="1" smtClean="0" sz="1300">
                          <a:latin typeface="Cambria Math" panose="02040503050406030204" pitchFamily="18" charset="0"/>
                        </a:rPr>
                        <m:t>+</m:t>
                      </m:r>
                      <m:r>
                        <a:rPr lang="en-US" b="0" i="1" smtClean="0" sz="1300">
                          <a:latin typeface="Cambria Math" panose="02040503050406030204" pitchFamily="18" charset="0"/>
                        </a:rPr>
                        <m:t>𝑠</m:t>
                      </m:r>
                      <m:sSub>
                        <m:sSubPr>
                          <m:ctrlPr>
                            <a:rPr lang="en-US" b="0" i="1" smtClean="0" sz="1300">
                              <a:solidFill>
                                <a:srgbClr val="00B050"/>
                              </a:solidFill>
                              <a:latin typeface="Cambria Math" panose="02040503050406030204" pitchFamily="18" charset="0"/>
                            </a:rPr>
                          </m:ctrlPr>
                        </m:sSubPr>
                        <m:e>
                          <m:r>
                            <a:rPr lang="en-US" b="0" i="1" smtClean="0" sz="1300">
                              <a:solidFill>
                                <a:srgbClr val="00B050"/>
                              </a:solidFill>
                              <a:latin typeface="Cambria Math" panose="02040503050406030204" pitchFamily="18" charset="0"/>
                            </a:rPr>
                            <m:t>𝑤</m:t>
                          </m:r>
                        </m:e>
                        <m:sub>
                          <m:r>
                            <a:rPr lang="en-US" b="0" i="1" smtClean="0" sz="1300">
                              <a:solidFill>
                                <a:srgbClr val="00B050"/>
                              </a:solidFill>
                              <a:latin typeface="Cambria Math" panose="02040503050406030204" pitchFamily="18" charset="0"/>
                            </a:rPr>
                            <m:t>2</m:t>
                          </m:r>
                        </m:sub>
                      </m:sSub>
                      <m:d>
                        <m:dPr>
                          <m:ctrlPr>
                            <a:rPr lang="en-US" b="0" i="1" smtClean="0" sz="1300">
                              <a:latin typeface="Cambria Math" panose="02040503050406030204" pitchFamily="18" charset="0"/>
                            </a:rPr>
                          </m:ctrlPr>
                        </m:dPr>
                        <m:e>
                          <m:r>
                            <a:rPr lang="en-US" b="0" i="1" smtClean="0" sz="1300">
                              <a:latin typeface="Cambria Math" panose="02040503050406030204" pitchFamily="18" charset="0"/>
                            </a:rPr>
                            <m:t>𝑡</m:t>
                          </m:r>
                        </m:e>
                      </m:d>
                      <m:r>
                        <a:rPr lang="en-US" b="0" i="1" smtClean="0" sz="1300">
                          <a:latin typeface="Cambria Math" panose="02040503050406030204" pitchFamily="18" charset="0"/>
                        </a:rPr>
                        <m:t>+</m:t>
                      </m:r>
                      <m:nary>
                        <m:naryPr>
                          <m:ctrlPr>
                            <a:rPr lang="en-US" b="0" i="1" smtClean="0" sz="1300">
                              <a:latin typeface="Cambria Math" panose="02040503050406030204" pitchFamily="18" charset="0"/>
                            </a:rPr>
                          </m:ctrlPr>
                        </m:naryPr>
                        <m:sub>
                          <m:r>
                            <a:rPr lang="en-US" b="0" i="1" smtClean="0" sz="1300">
                              <a:latin typeface="Cambria Math" panose="02040503050406030204" pitchFamily="18" charset="0"/>
                            </a:rPr>
                            <m:t>0</m:t>
                          </m:r>
                        </m:sub>
                        <m:sup>
                          <m:r>
                            <a:rPr lang="en-US" b="0" i="1" smtClean="0" sz="1300">
                              <a:latin typeface="Cambria Math" panose="02040503050406030204" pitchFamily="18" charset="0"/>
                            </a:rPr>
                            <m:t>𝑠</m:t>
                          </m:r>
                        </m:sup>
                        <m:e>
                          <m:d>
                            <m:dPr>
                              <m:ctrlPr>
                                <a:rPr lang="en-US" b="0" i="1" smtClean="0" sz="1300">
                                  <a:latin typeface="Cambria Math" panose="02040503050406030204" pitchFamily="18" charset="0"/>
                                </a:rPr>
                              </m:ctrlPr>
                            </m:dPr>
                            <m:e>
                              <m:r>
                                <a:rPr lang="en-US" b="0" i="1" smtClean="0" sz="1300">
                                  <a:latin typeface="Cambria Math" panose="02040503050406030204" pitchFamily="18" charset="0"/>
                                </a:rPr>
                                <m:t>𝑠</m:t>
                              </m:r>
                              <m:r>
                                <a:rPr lang="en-US" b="0" i="1" smtClean="0" sz="1300">
                                  <a:latin typeface="Cambria Math" panose="02040503050406030204" pitchFamily="18" charset="0"/>
                                </a:rPr>
                                <m:t>−</m:t>
                              </m:r>
                              <m:r>
                                <a:rPr lang="en-US" b="0" i="1" smtClean="0" sz="1300">
                                  <a:latin typeface="Cambria Math" panose="02040503050406030204" pitchFamily="18" charset="0"/>
                                </a:rPr>
                                <m:t>𝜉</m:t>
                              </m:r>
                            </m:e>
                          </m:d>
                          <m:sSub>
                            <m:sSubPr>
                              <m:ctrlPr>
                                <a:rPr lang="en-US" b="0" i="1" smtClean="0" sz="1300">
                                  <a:latin typeface="Cambria Math" panose="02040503050406030204" pitchFamily="18" charset="0"/>
                                </a:rPr>
                              </m:ctrlPr>
                            </m:sSubPr>
                            <m:e>
                              <m:r>
                                <a:rPr lang="en-US" b="0" i="1" smtClean="0" sz="1300">
                                  <a:latin typeface="Cambria Math" panose="02040503050406030204" pitchFamily="18" charset="0"/>
                                </a:rPr>
                                <m:t>𝑢</m:t>
                              </m:r>
                            </m:e>
                            <m:sub>
                              <m:r>
                                <a:rPr lang="en-US" b="0" i="1" smtClean="0" sz="1300">
                                  <a:latin typeface="Cambria Math" panose="02040503050406030204" pitchFamily="18" charset="0"/>
                                </a:rPr>
                                <m:t>𝜉𝜉</m:t>
                              </m:r>
                            </m:sub>
                          </m:sSub>
                          <m:d>
                            <m:dPr>
                              <m:ctrlPr>
                                <a:rPr lang="en-US" b="0" i="1" smtClean="0" sz="1300">
                                  <a:latin typeface="Cambria Math" panose="02040503050406030204" pitchFamily="18" charset="0"/>
                                </a:rPr>
                              </m:ctrlPr>
                            </m:dPr>
                            <m:e>
                              <m:r>
                                <a:rPr lang="en-US" b="0" i="1" smtClean="0" sz="1300">
                                  <a:latin typeface="Cambria Math" panose="02040503050406030204" pitchFamily="18" charset="0"/>
                                </a:rPr>
                                <m:t>𝑡</m:t>
                              </m:r>
                              <m:r>
                                <a:rPr lang="en-US" b="0" i="1" smtClean="0" sz="1300">
                                  <a:latin typeface="Cambria Math" panose="02040503050406030204" pitchFamily="18" charset="0"/>
                                </a:rPr>
                                <m:t>,</m:t>
                              </m:r>
                              <m:r>
                                <a:rPr lang="en-US" b="0" i="1" smtClean="0" sz="1300">
                                  <a:latin typeface="Cambria Math" panose="02040503050406030204" pitchFamily="18" charset="0"/>
                                </a:rPr>
                                <m:t>𝜉</m:t>
                              </m:r>
                            </m:e>
                          </m:d>
                          <m:r>
                            <a:rPr lang="en-US" b="0" i="1" smtClean="0" sz="1300">
                              <a:latin typeface="Cambria Math" panose="02040503050406030204" pitchFamily="18" charset="0"/>
                            </a:rPr>
                            <m:t>𝑑</m:t>
                          </m:r>
                          <m:r>
                            <a:rPr lang="en-US" b="0" i="1" smtClean="0" sz="1300">
                              <a:latin typeface="Cambria Math" panose="02040503050406030204" pitchFamily="18" charset="0"/>
                            </a:rPr>
                            <m:t>𝜉</m:t>
                          </m:r>
                        </m:e>
                      </m:nary>
                    </m:oMath>
                  </m:oMathPara>
                </a14:m>
                <a:endParaRPr lang="en-NL" dirty="0" sz="130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6019800" y="2311400"/>
                <a:ext cx="2667000" cy="17653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Clean24"/>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5</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nl-NL" i="1" sz="1800">
                              <a:latin typeface="Cambria Math" panose="02040503050406030204" pitchFamily="18" charset="0"/>
                            </a:rPr>
                          </m:ctrlPr>
                        </m:sSubPr>
                        <m:e>
                          <m:r>
                            <m:rPr>
                              <m:sty m:val="p"/>
                            </m:rPr>
                            <a:rPr lang="nl-NL" i="1" sz="1800">
                              <a:latin typeface="Cambria Math" panose="02040503050406030204" pitchFamily="18" charset="0"/>
                            </a:rPr>
                            <m:t>heat</m:t>
                          </m:r>
                        </m:e>
                        <m:sub>
                          <m:r>
                            <a:rPr lang="nl-NL" i="1" sz="1800">
                              <a:latin typeface="Cambria Math" panose="02040503050406030204" pitchFamily="18" charset="0"/>
                            </a:rPr>
                            <m:t>𝑡</m:t>
                          </m:r>
                        </m:sub>
                      </m:sSub>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=0.01 </m:t>
                      </m:r>
                      <m:sSub>
                        <m:sSubPr>
                          <m:ctrlPr>
                            <a:rPr lang="nl-NL" i="1" sz="1800">
                              <a:latin typeface="Cambria Math" panose="02040503050406030204" pitchFamily="18" charset="0"/>
                            </a:rPr>
                          </m:ctrlPr>
                        </m:sSubPr>
                        <m:e>
                          <m:r>
                            <m:rPr>
                              <m:sty m:val="p"/>
                            </m:rPr>
                            <a:rPr lang="nl-NL" i="1" sz="1800">
                              <a:latin typeface="Cambria Math" panose="02040503050406030204" pitchFamily="18" charset="0"/>
                            </a:rPr>
                            <m:t>heat</m:t>
                          </m:r>
                        </m:e>
                        <m:sub>
                          <m:r>
                            <a:rPr lang="nl-NL" i="1" sz="1800">
                              <a:latin typeface="Cambria Math" panose="02040503050406030204" pitchFamily="18" charset="0"/>
                            </a:rPr>
                            <m:t>𝑠𝑠</m:t>
                          </m:r>
                        </m:sub>
                      </m:sSub>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m:t>
                      </m:r>
                      <m:d>
                        <m:dPr>
                          <m:begChr m:val="["/>
                          <m:endChr m:val="]"/>
                          <m:ctrlPr>
                            <a:rPr lang="nl-NL" i="1" sz="1800">
                              <a:latin typeface="Cambria Math" panose="02040503050406030204" pitchFamily="18" charset="0"/>
                            </a:rPr>
                          </m:ctrlPr>
                        </m:dPr>
                        <m:e>
                          <m:limLow>
                            <m:limLowPr>
                              <m:ctrlPr>
                                <a:rPr lang="nl-NL" i="1" sz="1800">
                                  <a:latin typeface="Cambria Math" panose="02040503050406030204" pitchFamily="18" charset="0"/>
                                </a:rPr>
                              </m:ctrlPr>
                            </m:limLowPr>
                            <m:e>
                              <m:groupChr>
                                <m:groupChrPr>
                                  <m:chr m:val="⏟"/>
                                  <m:pos m:val="bot"/>
                                  <m:vertJc m:val="top"/>
                                  <m:ctrlPr>
                                    <a:rPr lang="nl-NL" i="1" sz="1800">
                                      <a:latin typeface="Cambria Math" panose="02040503050406030204" pitchFamily="18" charset="0"/>
                                    </a:rPr>
                                  </m:ctrlPr>
                                </m:groupChrPr>
                                <m:e>
                                  <m:r>
                                    <a:rPr lang="nl-NL" i="1" sz="1800">
                                      <a:latin typeface="Cambria Math" panose="02040503050406030204" pitchFamily="18" charset="0"/>
                                    </a:rPr>
                                    <m:t>0.25</m:t>
                                  </m:r>
                                  <m:d>
                                    <m:dPr>
                                      <m:ctrlPr>
                                        <a:rPr lang="nl-NL" i="1" sz="1800">
                                          <a:latin typeface="Cambria Math" panose="02040503050406030204" pitchFamily="18" charset="0"/>
                                        </a:rPr>
                                      </m:ctrlPr>
                                    </m:dPr>
                                    <m:e>
                                      <m:r>
                                        <a:rPr lang="nl-NL" i="1" sz="1800">
                                          <a:latin typeface="Cambria Math" panose="02040503050406030204" pitchFamily="18" charset="0"/>
                                        </a:rPr>
                                        <m:t>1+</m:t>
                                      </m:r>
                                      <m:r>
                                        <a:rPr lang="nl-NL" i="1" sz="1800">
                                          <a:latin typeface="Cambria Math" panose="02040503050406030204" pitchFamily="18" charset="0"/>
                                        </a:rPr>
                                        <m:t>𝛿</m:t>
                                      </m:r>
                                    </m:e>
                                  </m:d>
                                </m:e>
                              </m:groupChr>
                            </m:e>
                            <m:lim>
                              <m:r>
                                <m:rPr>
                                  <m:nor/>
                                </m:rPr>
                                <a:rPr lang="nl-NL" i="0" sz="1800">
                                  <a:latin typeface="Cambria Math" panose="02040503050406030204" pitchFamily="18" charset="0"/>
                                </a:rPr>
                                <m:t>heat generation</m:t>
                              </m:r>
                            </m:lim>
                          </m:limLow>
                          <m:r>
                            <a:rPr lang="nl-NL" i="1" sz="1800">
                              <a:latin typeface="Cambria Math" panose="02040503050406030204" pitchFamily="18" charset="0"/>
                            </a:rPr>
                            <m:t>−</m:t>
                          </m:r>
                          <m:limLow>
                            <m:limLowPr>
                              <m:ctrlPr>
                                <a:rPr lang="nl-NL" i="1" sz="1800">
                                  <a:latin typeface="Cambria Math" panose="02040503050406030204" pitchFamily="18" charset="0"/>
                                </a:rPr>
                              </m:ctrlPr>
                            </m:limLowPr>
                            <m:e>
                              <m:groupChr>
                                <m:groupChrPr>
                                  <m:chr m:val="⏟"/>
                                  <m:pos m:val="bot"/>
                                  <m:vertJc m:val="top"/>
                                  <m:ctrlPr>
                                    <a:rPr lang="nl-NL" i="1" sz="1800">
                                      <a:latin typeface="Cambria Math" panose="02040503050406030204" pitchFamily="18" charset="0"/>
                                    </a:rPr>
                                  </m:ctrlPr>
                                </m:groupChrPr>
                                <m:e>
                                  <m:r>
                                    <a:rPr lang="nl-NL" i="1" sz="1800">
                                      <a:latin typeface="Cambria Math" panose="02040503050406030204" pitchFamily="18" charset="0"/>
                                    </a:rPr>
                                    <m:t>0.2</m:t>
                                  </m:r>
                                </m:e>
                              </m:groupChr>
                            </m:e>
                            <m:lim>
                              <m:r>
                                <m:rPr>
                                  <m:nor/>
                                </m:rPr>
                                <a:rPr lang="nl-NL" i="0" sz="1800">
                                  <a:latin typeface="Cambria Math" panose="02040503050406030204" pitchFamily="18" charset="0"/>
                                </a:rPr>
                                <m:t>cooling</m:t>
                              </m:r>
                            </m:lim>
                          </m:limLow>
                        </m:e>
                      </m:d>
                      <m:r>
                        <m:rPr>
                          <m:sty m:val="p"/>
                        </m:rPr>
                        <a:rPr lang="nl-NL" i="1" sz="1800">
                          <a:latin typeface="Cambria Math" panose="02040503050406030204" pitchFamily="18" charset="0"/>
                        </a:rPr>
                        <m:t>heat</m:t>
                      </m:r>
                      <m:d>
                        <m:dPr>
                          <m:ctrlPr>
                            <a:rPr lang="nl-NL" i="1" sz="1800">
                              <a:latin typeface="Cambria Math" panose="02040503050406030204" pitchFamily="18" charset="0"/>
                            </a:rPr>
                          </m:ctrlPr>
                        </m:dPr>
                        <m:e>
                          <m:r>
                            <a:rPr lang="nl-NL" i="1" sz="1800">
                              <a:latin typeface="Cambria Math" panose="02040503050406030204" pitchFamily="18" charset="0"/>
                            </a:rPr>
                            <m:t>𝑡</m:t>
                          </m:r>
                          <m:r>
                            <a:rPr lang="nl-NL" i="1" sz="1800">
                              <a:latin typeface="Cambria Math" panose="02040503050406030204" pitchFamily="18" charset="0"/>
                            </a:rPr>
                            <m:t>,</m:t>
                          </m:r>
                          <m:r>
                            <a:rPr lang="nl-NL" i="1" sz="1800">
                              <a:latin typeface="Cambria Math" panose="02040503050406030204" pitchFamily="18" charset="0"/>
                            </a:rPr>
                            <m:t>𝑠</m:t>
                          </m:r>
                        </m:e>
                      </m:d>
                      <m:r>
                        <a:rPr lang="nl-NL" i="1" sz="1800">
                          <a:latin typeface="Cambria Math" panose="02040503050406030204" pitchFamily="18" charset="0"/>
                        </a:rPr>
                        <m:t>+</m:t>
                      </m:r>
                      <m:r>
                        <a:rPr lang="nl-NL" i="1" sz="1800">
                          <a:latin typeface="Cambria Math" panose="02040503050406030204" pitchFamily="18" charset="0"/>
                        </a:rPr>
                        <m:t>𝑢</m:t>
                      </m:r>
                      <m:d>
                        <m:dPr>
                          <m:ctrlPr>
                            <a:rPr lang="nl-NL" i="1" sz="1800">
                              <a:latin typeface="Cambria Math" panose="02040503050406030204" pitchFamily="18" charset="0"/>
                            </a:rPr>
                          </m:ctrlPr>
                        </m:dPr>
                        <m:e>
                          <m:r>
                            <a:rPr lang="nl-NL" i="1" sz="1800">
                              <a:latin typeface="Cambria Math" panose="02040503050406030204" pitchFamily="18" charset="0"/>
                            </a:rPr>
                            <m:t>𝑡</m:t>
                          </m:r>
                        </m:e>
                      </m:d>
                    </m:oMath>
                  </m:oMathPara>
                </a14:m>
                <a:endParaRPr lang="en-NL" dirty="0" sz="1800"/>
              </a:p>
            </p:txBody>
          </p:sp>
        </mc:Choice>
        <mc:Fallback>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18" name="Picture 17">
            <a:extLst>
              <a:ext uri="{FF2B5EF4-FFF2-40B4-BE49-F238E27FC236}">
                <a16:creationId xmlns:a16="http://schemas.microsoft.com/office/drawing/2014/main" id="{154D371C-D7D6-BD77-3191-47D1C39F619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6643" y="2679700"/>
            <a:ext cx="3315113" cy="1981200"/>
          </a:xfrm>
          <a:prstGeom prst="rect">
            <a:avLst/>
          </a:prstGeom>
        </p:spPr>
      </p:pic>
      <p:pic>
        <p:nvPicPr>
          <p:cNvPr id="20" name="Picture 19">
            <a:extLst>
              <a:ext uri="{FF2B5EF4-FFF2-40B4-BE49-F238E27FC236}">
                <a16:creationId xmlns:a16="http://schemas.microsoft.com/office/drawing/2014/main" id="{1BFC85F7-0439-8706-F6DB-7D47B27E757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8835" y="330200"/>
            <a:ext cx="7686330" cy="1460500"/>
          </a:xfrm>
          <a:prstGeom prst="rect">
            <a:avLst/>
          </a:prstGeom>
        </p:spPr>
      </p:pic>
      <p:sp>
        <p:nvSpPr>
          <p:cNvPr id="22" name="TextBox 21">
            <a:extLst>
              <a:ext uri="{FF2B5EF4-FFF2-40B4-BE49-F238E27FC236}">
                <a16:creationId xmlns:a16="http://schemas.microsoft.com/office/drawing/2014/main" id="{98D90A4C-307A-4FCB-1437-E81581434E8F}"/>
              </a:ext>
            </a:extLst>
          </p:cNvPr>
          <p:cNvSpPr txBox="1"/>
          <p:nvPr/>
        </p:nvSpPr>
        <p:spPr>
          <a:xfrm>
            <a:off x="5740400" y="3340100"/>
            <a:ext cx="2946400" cy="774700"/>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lIns="0" rIns="0" tIns="0" bIns="0" anchor="ctr">
            <a:noAutofit/>
          </a:bodyPr>
          <a:lstStyle/>
          <a:p>
            <a:pPr algn="l" marL="0" indent="0" defTabSz="1">
              <a:lnSpc>
                <a:spcPct val="115000"/>
              </a:lnSpc>
              <a:spcAft>
                <a:spcPts val="0"/>
              </a:spcAft>
              <a:buNone/>
              <a:defRPr sz="1700" b="1" u="none" cap="none">
                <a:solidFill>
                  <a:srgbClr val="252529"/>
                </a:solidFill>
                <a:latin typeface="Aptos"/>
                <a:ea typeface="Aptos"/>
                <a:cs typeface="Aptos"/>
              </a:defRPr>
            </a:pPr>
            <a:r>
              <a:rPr lang="en-US" dirty="0" sz="1700" b="1" u="none" cap="none">
                <a:solidFill>
                  <a:srgbClr val="252529"/>
                </a:solidFill>
                <a:latin typeface="Aptos"/>
                <a:ea typeface="Aptos"/>
                <a:cs typeface="Aptos"/>
              </a:rPr>
              <a:t>	Solved during internship</a:t>
            </a:r>
            <a:endParaRPr lang="en-NL" dirty="0" sz="1700" b="1" u="none" cap="none">
              <a:solidFill>
                <a:srgbClr val="252529"/>
              </a:solidFill>
              <a:latin typeface="Aptos"/>
              <a:ea typeface="Aptos"/>
              <a:cs typeface="Aptos"/>
            </a:endParaRPr>
          </a:p>
        </p:txBody>
      </p:sp>
      <p:pic>
        <p:nvPicPr>
          <p:cNvPr id="23" name="Original TUe logo"/>
          <p:cNvPicPr>
            <a:picLocks noChangeAspect="1"/>
          </p:cNvPicPr>
          <p:nvPr/>
        </p:nvPicPr>
        <p:blipFill>
          <a:blip r:embed="rIdClean2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649137033"/>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6</a:t>
            </a:fld>
            <a:endParaRPr lang="en-GB" dirty="0" sz="800" b="0" u="none" cap="none">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Clean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34827F09-7ADD-49F1-8361-533ABEBAB4C3}"/>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421E8028-3BC6-AFEA-87A8-4EEF49ABB32F}"/>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41D0091-5977-7310-9162-199421719A5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7</a:t>
            </a:fld>
            <a:endParaRPr lang="en-GB" dirty="0" sz="800" b="0" u="none" cap="none">
              <a:solidFill>
                <a:srgbClr val="747B82"/>
              </a:solidFill>
              <a:latin typeface="Aptos"/>
              <a:ea typeface="Aptos"/>
              <a:cs typeface="Aptos"/>
            </a:endParaRPr>
          </a:p>
        </p:txBody>
      </p:sp>
      <p:pic>
        <p:nvPicPr>
          <p:cNvPr id="8" name="Picture 7" descr="basal ganglia 1">
            <a:extLst>
              <a:ext uri="{FF2B5EF4-FFF2-40B4-BE49-F238E27FC236}">
                <a16:creationId xmlns:a16="http://schemas.microsoft.com/office/drawing/2014/main" id="{A76B679E-E28B-96E0-5E0D-752CBF9D7320}"/>
              </a:ext>
            </a:extLst>
          </p:cNvPr>
          <p:cNvPicPr>
            <a:picLocks noChangeAspect="1"/>
          </p:cNvPicPr>
          <p:nvPr/>
        </p:nvPicPr>
        <p:blipFill>
          <a:blip r:embed="rId2"/>
          <a:srcRect l="26518" t="40198" r="27239" b="33833"/>
          <a:stretch>
            <a:fillRect/>
          </a:stretch>
        </p:blipFill>
        <p:spPr>
          <a:xfrm>
            <a:off x="614483" y="254000"/>
            <a:ext cx="7915034" cy="4445000"/>
          </a:xfrm>
          <a:prstGeom prst="rect">
            <a:avLst/>
          </a:prstGeom>
        </p:spPr>
      </p:pic>
      <p:pic>
        <p:nvPicPr>
          <p:cNvPr id="9" name="Original TUe logo"/>
          <p:cNvPicPr>
            <a:picLocks noChangeAspect="1"/>
          </p:cNvPicPr>
          <p:nvPr/>
        </p:nvPicPr>
        <p:blipFill>
          <a:blip r:embed="rIdClean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36197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0">
        <p159:morph option="byObject"/>
      </p:transition>
    </mc:Choice>
    <mc:Fallback>
      <p:transition spd="slow" advTm="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C044FF13-72DA-8A91-3497-927C848DB90E}"/>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CD268D8F-D606-F686-A7E2-DC9C2DCCD261}"/>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8</a:t>
            </a:fld>
            <a:endParaRPr lang="en-GB" dirty="0" sz="800" b="0" u="none" cap="none">
              <a:solidFill>
                <a:srgbClr val="747B82"/>
              </a:solidFill>
              <a:latin typeface="Aptos"/>
              <a:ea typeface="Aptos"/>
              <a:cs typeface="Aptos"/>
            </a:endParaRPr>
          </a:p>
        </p:txBody>
      </p:sp>
      <p:pic>
        <p:nvPicPr>
          <p:cNvPr id="13" name="Picture 12">
            <a:extLst>
              <a:ext uri="{FF2B5EF4-FFF2-40B4-BE49-F238E27FC236}">
                <a16:creationId xmlns:a16="http://schemas.microsoft.com/office/drawing/2014/main" id="{B42275AF-475C-8088-3DD8-744DBC78D8B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20880" y="190500"/>
            <a:ext cx="3319826" cy="4132712"/>
          </a:xfrm>
          <a:prstGeom prst="rect">
            <a:avLst/>
          </a:prstGeom>
        </p:spPr>
      </p:pic>
      <p:sp>
        <p:nvSpPr>
          <p:cNvPr id="14" name="TextBox 13">
            <a:extLst>
              <a:ext uri="{FF2B5EF4-FFF2-40B4-BE49-F238E27FC236}">
                <a16:creationId xmlns:a16="http://schemas.microsoft.com/office/drawing/2014/main" id="{8C40AB9D-19FD-6C78-D5E8-40A0CB8B9631}"/>
              </a:ext>
            </a:extLst>
          </p:cNvPr>
          <p:cNvSpPr txBox="1"/>
          <p:nvPr/>
        </p:nvSpPr>
        <p:spPr>
          <a:xfrm>
            <a:off x="1651000" y="4445000"/>
            <a:ext cx="5842000" cy="254000"/>
          </a:xfrm>
          <a:prstGeom prst="rect">
            <a:avLst/>
          </a:prstGeom>
          <a:noFill/>
          <a:ln>
            <a:noFill/>
          </a:ln>
        </p:spPr>
        <p:txBody>
          <a:bodyPr wrap="square" rtlCol="0" lIns="0" rIns="0" tIns="0" bIns="0" anchor="t">
            <a:noAutofit/>
          </a:bodyPr>
          <a:lstStyle/>
          <a:p>
            <a:pPr algn="ctr" marL="0" indent="0">
              <a:spcAft>
                <a:spcPts val="0"/>
              </a:spcAft>
              <a:buNone/>
              <a:defRPr sz="1200" b="0" u="none" cap="none">
                <a:solidFill>
                  <a:srgbClr val="747B82"/>
                </a:solidFill>
                <a:latin typeface="Aptos"/>
                <a:ea typeface="Aptos"/>
                <a:cs typeface="Aptos"/>
              </a:defRPr>
            </a:pPr>
            <a:r>
              <a:rPr lang="en-US" dirty="0" sz="1200" b="0" u="none" cap="none">
                <a:solidFill>
                  <a:srgbClr val="747B82"/>
                </a:solidFill>
                <a:latin typeface="Aptos"/>
                <a:ea typeface="Aptos"/>
                <a:cs typeface="Aptos"/>
              </a:rPr>
              <a:t>[1] beta oscillatory activity in basal ganglia</a:t>
            </a:r>
            <a:endParaRPr lang="en-NL" dirty="0" sz="1200" b="0" u="none" cap="none">
              <a:solidFill>
                <a:srgbClr val="747B82"/>
              </a:solidFill>
              <a:latin typeface="Aptos"/>
              <a:ea typeface="Aptos"/>
              <a:cs typeface="Aptos"/>
            </a:endParaRPr>
          </a:p>
        </p:txBody>
      </p:sp>
      <p:sp>
        <p:nvSpPr>
          <p:cNvPr id="15" name="Rectangle 14">
            <a:extLst>
              <a:ext uri="{FF2B5EF4-FFF2-40B4-BE49-F238E27FC236}">
                <a16:creationId xmlns:a16="http://schemas.microsoft.com/office/drawing/2014/main" id="{C0F45872-814F-5DFF-46B3-563E22BDF6BD}"/>
              </a:ext>
            </a:extLst>
          </p:cNvPr>
          <p:cNvSpPr/>
          <p:nvPr/>
        </p:nvSpPr>
        <p:spPr>
          <a:xfrm>
            <a:off x="3669628" y="2073088"/>
            <a:ext cx="1957890" cy="11403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Rectangle 16">
            <a:extLst>
              <a:ext uri="{FF2B5EF4-FFF2-40B4-BE49-F238E27FC236}">
                <a16:creationId xmlns:a16="http://schemas.microsoft.com/office/drawing/2014/main" id="{A7083375-9871-5280-E4BF-17CD4BA6A67E}"/>
              </a:ext>
            </a:extLst>
          </p:cNvPr>
          <p:cNvSpPr/>
          <p:nvPr/>
        </p:nvSpPr>
        <p:spPr>
          <a:xfrm>
            <a:off x="2920880" y="3213400"/>
            <a:ext cx="1361934" cy="1109812"/>
          </a:xfrm>
          <a:prstGeom prst="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8" name="Multiplication Sign 17">
            <a:extLst>
              <a:ext uri="{FF2B5EF4-FFF2-40B4-BE49-F238E27FC236}">
                <a16:creationId xmlns:a16="http://schemas.microsoft.com/office/drawing/2014/main" id="{A5A353CB-8FCF-5451-37B1-5E85D08ACF38}"/>
              </a:ext>
            </a:extLst>
          </p:cNvPr>
          <p:cNvSpPr/>
          <p:nvPr/>
        </p:nvSpPr>
        <p:spPr>
          <a:xfrm>
            <a:off x="4358117" y="2438848"/>
            <a:ext cx="398033" cy="408791"/>
          </a:xfrm>
          <a:prstGeom prst="mathMultiply">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9" name="Original TUe logo"/>
          <p:cNvPicPr>
            <a:picLocks noChangeAspect="1"/>
          </p:cNvPicPr>
          <p:nvPr/>
        </p:nvPicPr>
        <p:blipFill>
          <a:blip r:embed="rIdClean1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62144745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7" grpId="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9</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6" name="Picture 55">
            <a:extLst>
              <a:ext uri="{FF2B5EF4-FFF2-40B4-BE49-F238E27FC236}">
                <a16:creationId xmlns:a16="http://schemas.microsoft.com/office/drawing/2014/main" id="{A0437D6B-690D-B962-050A-C998FB5BECB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10</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𝜏</m:t>
                                  </m:r>
                                </m:e>
                                <m:sub>
                                  <m:r>
                                    <m:rPr>
                                      <m:sty m:val="p"/>
                                    </m:rPr>
                                    <a:rPr lang="en-US" b="0" i="1" smtClean="0" sz="1800">
                                      <a:solidFill>
                                        <a:srgbClr val="00B050"/>
                                      </a:solidFill>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2" name="Picture 61">
            <a:extLst>
              <a:ext uri="{FF2B5EF4-FFF2-40B4-BE49-F238E27FC236}">
                <a16:creationId xmlns:a16="http://schemas.microsoft.com/office/drawing/2014/main" id="{217FFABE-4965-400E-98AE-95B556B00440}"/>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11</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GS</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SG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𝑤</m:t>
                              </m:r>
                            </m:e>
                            <m:sub>
                              <m:r>
                                <m:rPr>
                                  <m:sty m:val="p"/>
                                </m:rPr>
                                <a:rPr lang="en-US" b="0" i="1" smtClean="0" sz="1800">
                                  <a:solidFill>
                                    <a:srgbClr val="00B050"/>
                                  </a:solidFill>
                                  <a:latin typeface="Cambria Math" panose="02040503050406030204" pitchFamily="18" charset="0"/>
                                </a:rPr>
                                <m:t>GG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e/>
                      </m:eqArr>
                    </m:oMath>
                  </m:oMathPara>
                </a14:m>
                <a:endParaRPr lang="en-NL" dirty="0" sz="1800"/>
              </a:p>
            </p:txBody>
          </p:sp>
        </mc:Choice>
        <mc:Fallback>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60" name="Picture 59">
            <a:extLst>
              <a:ext uri="{FF2B5EF4-FFF2-40B4-BE49-F238E27FC236}">
                <a16:creationId xmlns:a16="http://schemas.microsoft.com/office/drawing/2014/main" id="{B9CD20A1-6BEB-6EA2-2BBF-9A6F621E6D18}"/>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12</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800">
                              <a:latin typeface="Cambria Math" panose="02040503050406030204" pitchFamily="18" charset="0"/>
                            </a:rPr>
                          </m:ctrlPr>
                        </m:eqArr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GS</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GS</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SG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SG</m:t>
                                  </m:r>
                                </m:sub>
                              </m:sSub>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𝑤</m:t>
                              </m:r>
                            </m:e>
                            <m:sub>
                              <m:r>
                                <m:rPr>
                                  <m:sty m:val="p"/>
                                </m:rPr>
                                <a:rPr lang="en-US" b="0" i="1" smtClean="0" sz="1800">
                                  <a:latin typeface="Cambria Math" panose="02040503050406030204" pitchFamily="18" charset="0"/>
                                </a:rPr>
                                <m:t>GG</m:t>
                              </m:r>
                            </m:sub>
                          </m:sSub>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GG</m:t>
                                  </m:r>
                                </m:sub>
                              </m:sSub>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S</m:t>
                              </m:r>
                            </m:sub>
                          </m:sSub>
                          <m:sSub>
                            <m:sSubPr>
                              <m:ctrlPr>
                                <a:rPr lang="en-US" b="0" i="1" smtClean="0" sz="1800">
                                  <a:latin typeface="Cambria Math" panose="02040503050406030204" pitchFamily="18" charset="0"/>
                                </a:rPr>
                              </m:ctrlPr>
                            </m:sSubPr>
                            <m:e>
                              <m:acc>
                                <m:accPr>
                                  <m:chr m:val="̇"/>
                                  <m:ctrlPr>
                                    <a:rPr lang="en-US" b="0" i="1" smtClean="0" sz="1800">
                                      <a:latin typeface="Cambria Math" panose="02040503050406030204" pitchFamily="18" charset="0"/>
                                    </a:rPr>
                                  </m:ctrlPr>
                                </m:accPr>
                                <m:e>
                                  <m:r>
                                    <a:rPr lang="en-US" b="0" i="1" smtClean="0" sz="1800">
                                      <a:latin typeface="Cambria Math" panose="02040503050406030204" pitchFamily="18" charset="0"/>
                                    </a:rPr>
                                    <m:t>𝑥</m:t>
                                  </m:r>
                                </m:e>
                              </m:acc>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𝛿</m:t>
                              </m:r>
                            </m:e>
                            <m:sub>
                              <m:r>
                                <m:rPr>
                                  <m:sty m:val="p"/>
                                </m:rPr>
                                <a:rPr lang="en-US" b="0" i="1" smtClean="0" sz="1800">
                                  <a:solidFill>
                                    <a:srgbClr val="00B050"/>
                                  </a:solidFill>
                                  <a:latin typeface="Cambria Math" panose="02040503050406030204" pitchFamily="18" charset="0"/>
                                </a:rPr>
                                <m:t>S</m:t>
                              </m:r>
                            </m:sub>
                          </m:sSub>
                          <m:d>
                            <m:dPr>
                              <m:ctrlPr>
                                <a:rPr lang="en-US" b="0" i="1" smtClean="0" sz="1800">
                                  <a:latin typeface="Cambria Math" panose="02040503050406030204" pitchFamily="18" charset="0"/>
                                </a:rPr>
                              </m:ctrlPr>
                            </m:d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S</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a:rPr lang="en-US" b="0" i="1" smtClean="0" sz="1800">
                              <a:latin typeface="Cambria Math" panose="02040503050406030204" pitchFamily="18" charset="0"/>
                            </a:rPr>
                            <m:t>,</m:t>
                          </m:r>
                        </m:e>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𝜏</m:t>
                              </m:r>
                            </m:e>
                            <m:sub>
                              <m:r>
                                <m:rPr>
                                  <m:sty m:val="p"/>
                                </m:rPr>
                                <a:rPr lang="en-US" b="0" i="1" smtClean="0" sz="1800">
                                  <a:latin typeface="Cambria Math" panose="02040503050406030204" pitchFamily="18" charset="0"/>
                                </a:rPr>
                                <m:t>G</m:t>
                              </m:r>
                            </m:sub>
                          </m:sSub>
                          <m:sSub>
                            <m:sSubPr>
                              <m:ctrlPr>
                                <a:rPr lang="en-US" b="0" i="1" smtClean="0" sz="1800">
                                  <a:latin typeface="Cambria Math" panose="02040503050406030204" pitchFamily="18" charset="0"/>
                                </a:rPr>
                              </m:ctrlPr>
                            </m:sSubPr>
                            <m:e>
                              <m:acc>
                                <m:accPr>
                                  <m:chr m:val="̇"/>
                                  <m:ctrlPr>
                                    <a:rPr lang="en-US" b="0" i="1" smtClean="0" sz="1800">
                                      <a:latin typeface="Cambria Math" panose="02040503050406030204" pitchFamily="18" charset="0"/>
                                    </a:rPr>
                                  </m:ctrlPr>
                                </m:accPr>
                                <m:e>
                                  <m:r>
                                    <a:rPr lang="en-US" b="0" i="1" smtClean="0" sz="1800">
                                      <a:latin typeface="Cambria Math" panose="02040503050406030204" pitchFamily="18" charset="0"/>
                                    </a:rPr>
                                    <m:t>𝑥</m:t>
                                  </m:r>
                                </m:e>
                              </m:acc>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m:rPr>
                              <m:aln/>
                            </m:rPr>
                            <a:rPr lang="en-US" b="0" i="1" smtClean="0" sz="1800">
                              <a:latin typeface="Cambria Math" panose="02040503050406030204" pitchFamily="18" charset="0"/>
                            </a:rPr>
                            <m:t>&amp;</m:t>
                          </m:r>
                          <m:r>
                            <a:rPr lang="en-US" b="0" i="1" smtClean="0" sz="1800">
                              <a:latin typeface="Cambria Math" panose="02040503050406030204" pitchFamily="18" charset="0"/>
                            </a:rPr>
                            <m:t>=</m:t>
                          </m:r>
                          <m:sSub>
                            <m:sSubPr>
                              <m:ctrlPr>
                                <a:rPr lang="en-US" b="0" i="1" smtClean="0" sz="1800">
                                  <a:solidFill>
                                    <a:srgbClr val="00B050"/>
                                  </a:solidFill>
                                  <a:latin typeface="Cambria Math" panose="02040503050406030204" pitchFamily="18" charset="0"/>
                                </a:rPr>
                              </m:ctrlPr>
                            </m:sSubPr>
                            <m:e>
                              <m:r>
                                <a:rPr lang="en-US" b="0" i="1" smtClean="0" sz="1800">
                                  <a:solidFill>
                                    <a:srgbClr val="00B050"/>
                                  </a:solidFill>
                                  <a:latin typeface="Cambria Math" panose="02040503050406030204" pitchFamily="18" charset="0"/>
                                </a:rPr>
                                <m:t>𝛿</m:t>
                              </m:r>
                            </m:e>
                            <m:sub>
                              <m:r>
                                <m:rPr>
                                  <m:sty m:val="p"/>
                                </m:rPr>
                                <a:rPr lang="en-US" b="0" i="1" smtClean="0" sz="1800">
                                  <a:solidFill>
                                    <a:srgbClr val="00B050"/>
                                  </a:solidFill>
                                  <a:latin typeface="Cambria Math" panose="02040503050406030204" pitchFamily="18" charset="0"/>
                                </a:rPr>
                                <m:t>G</m:t>
                              </m:r>
                            </m:sub>
                          </m:sSub>
                          <m:d>
                            <m:dPr>
                              <m:ctrlPr>
                                <a:rPr lang="en-US" b="0" i="1" smtClean="0" sz="1800">
                                  <a:latin typeface="Cambria Math" panose="02040503050406030204" pitchFamily="18" charset="0"/>
                                </a:rPr>
                              </m:ctrlPr>
                            </m:dPr>
                            <m:e>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𝑧</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e>
                          </m:d>
                          <m:r>
                            <a:rPr lang="en-US" b="0" i="1" smtClean="0" sz="1800">
                              <a:latin typeface="Cambria Math" panose="02040503050406030204" pitchFamily="18" charset="0"/>
                            </a:rPr>
                            <m:t>−</m:t>
                          </m:r>
                          <m:sSub>
                            <m:sSubPr>
                              <m:ctrlPr>
                                <a:rPr lang="en-US" b="0" i="1" smtClean="0" sz="1800">
                                  <a:latin typeface="Cambria Math" panose="02040503050406030204" pitchFamily="18" charset="0"/>
                                </a:rPr>
                              </m:ctrlPr>
                            </m:sSubPr>
                            <m:e>
                              <m:r>
                                <a:rPr lang="en-US" b="0" i="1" smtClean="0" sz="1800">
                                  <a:latin typeface="Cambria Math" panose="02040503050406030204" pitchFamily="18" charset="0"/>
                                </a:rPr>
                                <m:t>𝑥</m:t>
                              </m:r>
                            </m:e>
                            <m:sub>
                              <m:r>
                                <m:rPr>
                                  <m:sty m:val="p"/>
                                </m:rPr>
                                <a:rPr lang="en-US" b="0" i="1" smtClean="0" sz="1800">
                                  <a:latin typeface="Cambria Math" panose="02040503050406030204" pitchFamily="18" charset="0"/>
                                </a:rPr>
                                <m:t>G</m:t>
                              </m:r>
                            </m:sub>
                          </m:sSub>
                          <m:d>
                            <m:dPr>
                              <m:ctrlPr>
                                <a:rPr lang="en-US" b="0" i="1" smtClean="0" sz="1800">
                                  <a:latin typeface="Cambria Math" panose="02040503050406030204" pitchFamily="18" charset="0"/>
                                </a:rPr>
                              </m:ctrlPr>
                            </m:dPr>
                            <m:e>
                              <m:r>
                                <a:rPr lang="en-US" b="0" i="1" smtClean="0" sz="1800">
                                  <a:latin typeface="Cambria Math" panose="02040503050406030204" pitchFamily="18" charset="0"/>
                                </a:rPr>
                                <m:t>𝑡</m:t>
                              </m:r>
                            </m:e>
                          </m:d>
                          <m:r>
                            <a:rPr lang="en-US" b="0" i="1" smtClean="0" sz="1800">
                              <a:latin typeface="Cambria Math" panose="02040503050406030204" pitchFamily="18" charset="0"/>
                            </a:rPr>
                            <m:t>.</m:t>
                          </m:r>
                        </m:e>
                      </m:eqArr>
                    </m:oMath>
                  </m:oMathPara>
                </a14:m>
                <a:endParaRPr lang="en-NL" dirty="0" sz="1800"/>
              </a:p>
            </p:txBody>
          </p:sp>
        </mc:Choice>
        <mc:Fallback>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noFill/>
              <a:ln>
                <a:noFill/>
              </a:ln>
            </p:spPr>
            <p:txBody>
              <a:bodyPr lIns="0" rIns="0" tIns="0" bIns="0" anchor="t" wrap="none">
                <a:noAutofit/>
              </a:bodyPr>
              <a:lstStyle/>
              <a:p>
                <a:pPr algn="ctr">
                  <a:spcAft>
                    <a:spcPts val="0"/>
                  </a:spcAft>
                  <a:defRPr sz="1800" b="0" u="none" cap="none">
                    <a:solidFill>
                      <a:srgbClr val="252529"/>
                    </a:solidFill>
                    <a:latin typeface="Cambria Math"/>
                    <a:ea typeface="Cambria Math"/>
                    <a:cs typeface="Cambria Math"/>
                  </a:defRPr>
                </a:pPr>
                <a:r>
                  <a:rPr lang="en-NL" sz="1800">
                    <a:noFill/>
                  </a:rPr>
                  <a:t> </a:t>
                </a:r>
              </a:p>
            </p:txBody>
          </p:sp>
        </mc:Fallback>
      </mc:AlternateContent>
      <p:pic>
        <p:nvPicPr>
          <p:cNvPr id="58" name="Picture 57">
            <a:extLst>
              <a:ext uri="{FF2B5EF4-FFF2-40B4-BE49-F238E27FC236}">
                <a16:creationId xmlns:a16="http://schemas.microsoft.com/office/drawing/2014/main" id="{1101D39B-E912-2D21-F890-7BB31C6B45F2}"/>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rtlCol="0" lIns="0" rIns="0" tIns="0" bIns="0" anchor="t">
            <a:noAutofit/>
          </a:bodyPr>
          <a:lstStyle/>
          <a:p>
            <a:pPr algn="ctr" marL="0" indent="0" defTabSz="1">
              <a:lnSpc>
                <a:spcPct val="110000"/>
              </a:lnSpc>
              <a:spcAft>
                <a:spcPts val="0"/>
              </a:spcAft>
              <a:buNone/>
              <a:defRPr sz="1300" b="1" u="none" cap="none">
                <a:solidFill>
                  <a:srgbClr val="252529"/>
                </a:solidFill>
                <a:latin typeface="Aptos"/>
                <a:ea typeface="Aptos"/>
                <a:cs typeface="Aptos"/>
              </a:defRPr>
            </a:pPr>
            <a:r>
              <a:rPr lang="en-US" b="1" dirty="0" sz="1300" u="none" cap="none">
                <a:solidFill>
                  <a:srgbClr val="252529"/>
                </a:solidFill>
                <a:latin typeface="Aptos"/>
                <a:ea typeface="Aptos"/>
                <a:cs typeface="Aptos"/>
              </a:rPr>
              <a:t>Model contains delays and nonlinear activation </a:t>
            </a:r>
            <a:r>
              <a:rPr lang="en-US" b="1" dirty="0" err="1" sz="1300" u="none" cap="none">
                <a:solidFill>
                  <a:srgbClr val="252529"/>
                </a:solidFill>
                <a:latin typeface="Aptos"/>
                <a:ea typeface="Aptos"/>
                <a:cs typeface="Aptos"/>
              </a:rPr>
              <a:t>funtions</a:t>
            </a:r>
            <a:r>
              <a:rPr lang="en-US" b="1" dirty="0" sz="1300" u="none" cap="none">
                <a:solidFill>
                  <a:srgbClr val="252529"/>
                </a:solidFill>
                <a:latin typeface="Aptos"/>
                <a:ea typeface="Aptos"/>
                <a:cs typeface="Aptos"/>
              </a:rPr>
              <a:t>!</a:t>
            </a:r>
            <a:endParaRPr lang="en-NL" b="1" dirty="0" sz="1300" u="none" cap="none">
              <a:solidFill>
                <a:srgbClr val="252529"/>
              </a:solidFill>
              <a:latin typeface="Aptos"/>
              <a:ea typeface="Aptos"/>
              <a:cs typeface="Aptos"/>
            </a:endParaRPr>
          </a:p>
        </p:txBody>
      </p:sp>
      <p:pic>
        <p:nvPicPr>
          <p:cNvPr id="82" name="Original TUe logo"/>
          <p:cNvPicPr>
            <a:picLocks noChangeAspect="1"/>
          </p:cNvPicPr>
          <p:nvPr/>
        </p:nvPicPr>
        <p:blipFill>
          <a:blip r:embed="rIdClean8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13</a:t>
            </a:fld>
            <a:endParaRPr lang="en-GB" dirty="0" sz="800" b="0" u="none" cap="none">
              <a:solidFill>
                <a:srgbClr val="747B82"/>
              </a:solidFill>
              <a:latin typeface="Aptos"/>
              <a:ea typeface="Aptos"/>
              <a:cs typeface="Aptos"/>
            </a:endParaRPr>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b="0" i="1" smtClean="0" sz="1700">
                              <a:latin typeface="Cambria Math" panose="02040503050406030204" pitchFamily="18" charset="0"/>
                            </a:rPr>
                          </m:ctrlPr>
                        </m:eqArr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GS</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GS</m:t>
                                  </m:r>
                                </m:sub>
                              </m:sSub>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SG</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SG</m:t>
                                  </m:r>
                                </m:sub>
                              </m:sSub>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𝑤</m:t>
                              </m:r>
                            </m:e>
                            <m:sub>
                              <m:r>
                                <m:rPr>
                                  <m:sty m:val="p"/>
                                </m:rPr>
                                <a:rPr lang="en-US" b="0" i="1" smtClean="0" sz="1700">
                                  <a:latin typeface="Cambria Math" panose="02040503050406030204" pitchFamily="18" charset="0"/>
                                </a:rPr>
                                <m:t>GG</m:t>
                              </m:r>
                            </m:sub>
                          </m:sSub>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GG</m:t>
                                  </m:r>
                                </m:sub>
                              </m:sSub>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S</m:t>
                              </m:r>
                            </m:sub>
                          </m:sSub>
                          <m:sSub>
                            <m:sSubPr>
                              <m:ctrlPr>
                                <a:rPr lang="en-US" b="0" i="1" smtClean="0" sz="1700">
                                  <a:latin typeface="Cambria Math" panose="02040503050406030204" pitchFamily="18" charset="0"/>
                                </a:rPr>
                              </m:ctrlPr>
                            </m:sSubPr>
                            <m:e>
                              <m:acc>
                                <m:accPr>
                                  <m:chr m:val="̇"/>
                                  <m:ctrlPr>
                                    <a:rPr lang="en-US" b="0" i="1" smtClean="0" sz="1700">
                                      <a:latin typeface="Cambria Math" panose="02040503050406030204" pitchFamily="18" charset="0"/>
                                    </a:rPr>
                                  </m:ctrlPr>
                                </m:accPr>
                                <m:e>
                                  <m:r>
                                    <a:rPr lang="en-US" b="0" i="1" smtClean="0" sz="1700">
                                      <a:latin typeface="Cambria Math" panose="02040503050406030204" pitchFamily="18" charset="0"/>
                                    </a:rPr>
                                    <m:t>𝑥</m:t>
                                  </m:r>
                                </m:e>
                              </m:acc>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𝛿</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S</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r>
                            <a:rPr lang="en-US" b="0" i="1" smtClean="0" sz="1700">
                              <a:solidFill>
                                <a:srgbClr val="00B050"/>
                              </a:solidFill>
                              <a:latin typeface="Cambria Math" panose="02040503050406030204" pitchFamily="18" charset="0"/>
                            </a:rPr>
                            <m:t>𝑢</m:t>
                          </m:r>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e>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𝜏</m:t>
                              </m:r>
                            </m:e>
                            <m:sub>
                              <m:r>
                                <m:rPr>
                                  <m:sty m:val="p"/>
                                </m:rPr>
                                <a:rPr lang="en-US" b="0" i="1" smtClean="0" sz="1700">
                                  <a:latin typeface="Cambria Math" panose="02040503050406030204" pitchFamily="18" charset="0"/>
                                </a:rPr>
                                <m:t>G</m:t>
                              </m:r>
                            </m:sub>
                          </m:sSub>
                          <m:sSub>
                            <m:sSubPr>
                              <m:ctrlPr>
                                <a:rPr lang="en-US" b="0" i="1" smtClean="0" sz="1700">
                                  <a:latin typeface="Cambria Math" panose="02040503050406030204" pitchFamily="18" charset="0"/>
                                </a:rPr>
                              </m:ctrlPr>
                            </m:sSubPr>
                            <m:e>
                              <m:acc>
                                <m:accPr>
                                  <m:chr m:val="̇"/>
                                  <m:ctrlPr>
                                    <a:rPr lang="en-US" b="0" i="1" smtClean="0" sz="1700">
                                      <a:latin typeface="Cambria Math" panose="02040503050406030204" pitchFamily="18" charset="0"/>
                                    </a:rPr>
                                  </m:ctrlPr>
                                </m:accPr>
                                <m:e>
                                  <m:r>
                                    <a:rPr lang="en-US" b="0" i="1" smtClean="0" sz="1700">
                                      <a:latin typeface="Cambria Math" panose="02040503050406030204" pitchFamily="18" charset="0"/>
                                    </a:rPr>
                                    <m:t>𝑥</m:t>
                                  </m:r>
                                </m:e>
                              </m:acc>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m:rPr>
                              <m:aln/>
                            </m:rPr>
                            <a:rPr lang="en-US" b="0" i="1" smtClean="0" sz="1700">
                              <a:latin typeface="Cambria Math" panose="02040503050406030204" pitchFamily="18" charset="0"/>
                            </a:rPr>
                            <m:t>&amp;</m:t>
                          </m:r>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𝛿</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𝑧</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e>
                          </m:d>
                          <m:r>
                            <a:rPr lang="en-US" b="0" i="1" smtClean="0" sz="1700">
                              <a:latin typeface="Cambria Math" panose="02040503050406030204" pitchFamily="18" charset="0"/>
                            </a:rPr>
                            <m:t>−</m:t>
                          </m:r>
                          <m:sSub>
                            <m:sSubPr>
                              <m:ctrlPr>
                                <a:rPr lang="en-US" b="0" i="1" smtClean="0" sz="1700">
                                  <a:latin typeface="Cambria Math" panose="02040503050406030204" pitchFamily="18" charset="0"/>
                                </a:rPr>
                              </m:ctrlPr>
                            </m:sSubPr>
                            <m:e>
                              <m:r>
                                <a:rPr lang="en-US" b="0" i="1" smtClean="0" sz="1700">
                                  <a:latin typeface="Cambria Math" panose="02040503050406030204" pitchFamily="18" charset="0"/>
                                </a:rPr>
                                <m:t>𝑥</m:t>
                              </m:r>
                            </m:e>
                            <m:sub>
                              <m:r>
                                <m:rPr>
                                  <m:sty m:val="p"/>
                                </m:rPr>
                                <a:rPr lang="en-US" b="0" i="1" smtClean="0" sz="1700">
                                  <a:latin typeface="Cambria Math" panose="02040503050406030204" pitchFamily="18" charset="0"/>
                                </a:rPr>
                                <m:t>G</m:t>
                              </m:r>
                            </m:sub>
                          </m:sSub>
                          <m:d>
                            <m:dPr>
                              <m:ctrlPr>
                                <a:rPr lang="en-US" b="0" i="1" smtClean="0" sz="1700">
                                  <a:latin typeface="Cambria Math" panose="02040503050406030204" pitchFamily="18" charset="0"/>
                                </a:rPr>
                              </m:ctrlPr>
                            </m:dPr>
                            <m:e>
                              <m:r>
                                <a:rPr lang="en-US" b="0" i="1" smtClean="0" sz="1700">
                                  <a:latin typeface="Cambria Math" panose="02040503050406030204" pitchFamily="18" charset="0"/>
                                </a:rPr>
                                <m:t>𝑡</m:t>
                              </m:r>
                            </m:e>
                          </m:d>
                          <m:r>
                            <a:rPr lang="en-US" b="0" i="1" smtClean="0" sz="1700">
                              <a:latin typeface="Cambria Math" panose="02040503050406030204" pitchFamily="18" charset="0"/>
                            </a:rPr>
                            <m:t>.</m:t>
                          </m:r>
                        </m:e>
                      </m:eqArr>
                    </m:oMath>
                  </m:oMathPara>
                </a14:m>
                <a:endParaRPr lang="en-NL" dirty="0" sz="1700"/>
              </a:p>
            </p:txBody>
          </p:sp>
        </mc:Choice>
        <mc:Fallback>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noFill/>
              <a:ln>
                <a:noFill/>
              </a:ln>
            </p:spPr>
            <p:txBody>
              <a:bodyPr lIns="0" rIns="0" tIns="0" bIns="0" anchor="t" wrap="none">
                <a:noAutofit/>
              </a:bodyPr>
              <a:lstStyle/>
              <a:p>
                <a:pPr algn="ctr">
                  <a:spcAft>
                    <a:spcPts val="0"/>
                  </a:spcAft>
                  <a:defRPr sz="1700" b="0" u="none" cap="none">
                    <a:solidFill>
                      <a:srgbClr val="252529"/>
                    </a:solidFill>
                    <a:latin typeface="Cambria Math"/>
                    <a:ea typeface="Cambria Math"/>
                    <a:cs typeface="Cambria Math"/>
                  </a:defRPr>
                </a:pPr>
                <a:r>
                  <a:rPr lang="en-NL" sz="1700">
                    <a:noFill/>
                  </a:rPr>
                  <a:t> </a:t>
                </a:r>
              </a:p>
            </p:txBody>
          </p:sp>
        </mc:Fallback>
      </mc:AlternateContent>
      <p:pic>
        <p:nvPicPr>
          <p:cNvPr id="54" name="Picture 53">
            <a:extLst>
              <a:ext uri="{FF2B5EF4-FFF2-40B4-BE49-F238E27FC236}">
                <a16:creationId xmlns:a16="http://schemas.microsoft.com/office/drawing/2014/main" id="{BF35C9FF-9988-E0C7-FA0A-D263F9A46A4B}"/>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69" name="Original TUe logo"/>
          <p:cNvPicPr>
            <a:picLocks noChangeAspect="1"/>
          </p:cNvPicPr>
          <p:nvPr/>
        </p:nvPicPr>
        <p:blipFill>
          <a:blip r:embed="rIdClean6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14</a:t>
            </a:fld>
            <a:endParaRPr lang="en-GB" dirty="0" sz="800" b="0" u="none" cap="none">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70" name="Picture 69">
            <a:extLst>
              <a:ext uri="{FF2B5EF4-FFF2-40B4-BE49-F238E27FC236}">
                <a16:creationId xmlns:a16="http://schemas.microsoft.com/office/drawing/2014/main" id="{3520ACB8-69C3-62CF-3EBF-E1398D6F2C29}"/>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76" name="Picture 75">
            <a:extLst>
              <a:ext uri="{FF2B5EF4-FFF2-40B4-BE49-F238E27FC236}">
                <a16:creationId xmlns:a16="http://schemas.microsoft.com/office/drawing/2014/main" id="{031C1F21-C0EF-60F6-448F-D767FC8EF650}"/>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978400" y="1216977"/>
            <a:ext cx="3771900" cy="2303146"/>
          </a:xfrm>
          <a:prstGeom prst="rect">
            <a:avLst/>
          </a:prstGeom>
        </p:spPr>
      </p:pic>
      <p:pic>
        <p:nvPicPr>
          <p:cNvPr id="77" name="Original TUe logo"/>
          <p:cNvPicPr>
            <a:picLocks noChangeAspect="1"/>
          </p:cNvPicPr>
          <p:nvPr/>
        </p:nvPicPr>
        <p:blipFill>
          <a:blip r:embed="rIdClean7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dirty="0"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15</a:t>
            </a:fld>
            <a:endParaRPr lang="en-GB" dirty="0" sz="800" b="0" u="none" cap="none">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rtlCol="0" lIns="0" rIns="0" tIns="0" bIns="0" anchor="t">
            <a:noAutofit/>
          </a:bodyPr>
          <a:lstStyle/>
          <a:p>
            <a:pPr algn="l" marL="0" indent="0">
              <a:spcAft>
                <a:spcPts val="0"/>
              </a:spcAft>
              <a:buNone/>
              <a:defRPr sz="1100" b="0" u="none" cap="none">
                <a:solidFill>
                  <a:srgbClr val="747B82"/>
                </a:solidFill>
                <a:latin typeface="Aptos"/>
                <a:ea typeface="Aptos"/>
                <a:cs typeface="Aptos"/>
              </a:defRPr>
            </a:pPr>
            <a:r>
              <a:rPr lang="en-US" dirty="0" sz="1100" b="0" u="none" cap="none">
                <a:solidFill>
                  <a:srgbClr val="747B82"/>
                </a:solidFill>
                <a:latin typeface="Aptos"/>
                <a:ea typeface="Aptos"/>
                <a:cs typeface="Aptos"/>
              </a:rPr>
              <a:t>[2] Firing rate models</a:t>
            </a:r>
            <a:endParaRPr lang="en-NL" dirty="0" sz="1100" b="0" u="none" cap="none">
              <a:solidFill>
                <a:srgbClr val="747B82"/>
              </a:solidFill>
              <a:latin typeface="Aptos"/>
              <a:ea typeface="Aptos"/>
              <a:cs typeface="Aptos"/>
            </a:endParaRPr>
          </a:p>
        </p:txBody>
      </p:sp>
      <p:pic>
        <p:nvPicPr>
          <p:cNvPr id="78" name="Picture 77">
            <a:extLst>
              <a:ext uri="{FF2B5EF4-FFF2-40B4-BE49-F238E27FC236}">
                <a16:creationId xmlns:a16="http://schemas.microsoft.com/office/drawing/2014/main" id="{A76AFA2A-1AA1-503D-3645-5495058CF83A}"/>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978400" y="1465393"/>
            <a:ext cx="3771900" cy="1806313"/>
          </a:xfrm>
          <a:prstGeom prst="rect">
            <a:avLst/>
          </a:prstGeom>
        </p:spPr>
      </p:pic>
      <p:pic>
        <p:nvPicPr>
          <p:cNvPr id="80" name="Picture 79">
            <a:extLst>
              <a:ext uri="{FF2B5EF4-FFF2-40B4-BE49-F238E27FC236}">
                <a16:creationId xmlns:a16="http://schemas.microsoft.com/office/drawing/2014/main" id="{B0A62C5A-1170-6901-11F2-FB8E93EE57E6}"/>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419100" y="1076325"/>
            <a:ext cx="4279900" cy="2139950"/>
          </a:xfrm>
          <a:prstGeom prst="rect">
            <a:avLst/>
          </a:prstGeom>
        </p:spPr>
      </p:pic>
      <p:pic>
        <p:nvPicPr>
          <p:cNvPr id="81" name="Original TUe logo"/>
          <p:cNvPicPr>
            <a:picLocks noChangeAspect="1"/>
          </p:cNvPicPr>
          <p:nvPr/>
        </p:nvPicPr>
        <p:blipFill>
          <a:blip r:embed="rIdClean81"/>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lIns="0" rIns="0" tIns="0" bIns="0" anchor="t" wrap="square">
            <a:noAutofit/>
          </a:bodyPr>
          <a:lstStyle/>
          <a:p>
            <a:pPr algn="l" marL="0" indent="0">
              <a:spcAft>
                <a:spcPts val="0"/>
              </a:spcAft>
              <a:buNone/>
              <a:defRPr sz="2500" b="1" u="none" cap="none">
                <a:solidFill>
                  <a:srgbClr val="252529"/>
                </a:solidFill>
                <a:latin typeface="Aptos"/>
                <a:ea typeface="Aptos"/>
                <a:cs typeface="Aptos"/>
              </a:defRPr>
            </a:pPr>
            <a:r>
              <a:rPr lang="en-US" dirty="0" sz="2500" b="1" u="none" cap="none">
                <a:solidFill>
                  <a:srgbClr val="252529"/>
                </a:solidFill>
                <a:latin typeface="Aptos"/>
                <a:ea typeface="Aptos"/>
                <a:cs typeface="Aptos"/>
              </a:rPr>
              <a:t>References</a:t>
            </a:r>
            <a:endParaRPr lang="en-NL" dirty="0" sz="2500" b="1" u="none" cap="none">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16</a:t>
            </a:fld>
            <a:endParaRPr lang="en-GB" dirty="0" sz="800" b="0" u="none" cap="none">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lIns="0" rIns="0" tIns="0" bIns="0" anchor="t" wrap="square">
            <a:noAutofit/>
          </a:bodyPr>
          <a:lstStyle/>
          <a:p>
            <a:pPr algn="l" marL="0" indent="0">
              <a:spcAft>
                <a:spcPts val="2600"/>
              </a:spcAft>
              <a:buNone/>
              <a:defRPr sz="1700" b="0" u="none" cap="none">
                <a:solidFill>
                  <a:srgbClr val="252529"/>
                </a:solidFill>
                <a:latin typeface="Aptos"/>
                <a:ea typeface="Aptos"/>
                <a:cs typeface="Aptos"/>
              </a:defRPr>
            </a:pPr>
            <a:r>
              <a:rPr lang="en-US" dirty="0" sz="1700" b="0" u="none" cap="none">
                <a:solidFill>
                  <a:srgbClr val="252529"/>
                </a:solidFill>
                <a:latin typeface="Aptos"/>
                <a:ea typeface="Aptos"/>
                <a:cs typeface="Aptos"/>
              </a:rPr>
              <a:t>[1] </a:t>
            </a:r>
            <a:r>
              <a:rPr lang="en-US" dirty="0" err="1" sz="1700" b="0" u="none" cap="none">
                <a:solidFill>
                  <a:srgbClr val="252529"/>
                </a:solidFill>
                <a:latin typeface="Aptos"/>
                <a:ea typeface="Aptos"/>
                <a:cs typeface="Aptos"/>
              </a:rPr>
              <a:t>B.De</a:t>
            </a:r>
            <a:r>
              <a:rPr lang="en-US" dirty="0" sz="1700" b="0" u="none" cap="none">
                <a:solidFill>
                  <a:srgbClr val="252529"/>
                </a:solidFill>
                <a:latin typeface="Aptos"/>
                <a:ea typeface="Aptos"/>
                <a:cs typeface="Aptos"/>
              </a:rPr>
              <a:t> la </a:t>
            </a:r>
            <a:r>
              <a:rPr lang="en-US" dirty="0" err="1" sz="1700" b="0" u="none" cap="none">
                <a:solidFill>
                  <a:srgbClr val="252529"/>
                </a:solidFill>
                <a:latin typeface="Aptos"/>
                <a:ea typeface="Aptos"/>
                <a:cs typeface="Aptos"/>
              </a:rPr>
              <a:t>Crompe</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M.Deffains</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A.Leblois</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N.Mallet</a:t>
            </a:r>
            <a:r>
              <a:rPr lang="en-US" dirty="0" sz="1700" b="0" u="none" cap="none">
                <a:solidFill>
                  <a:srgbClr val="252529"/>
                </a:solidFill>
                <a:latin typeface="Aptos"/>
                <a:ea typeface="Aptos"/>
                <a:cs typeface="Aptos"/>
              </a:rPr>
              <a:t>, “Reevaluating the role of the STN-</a:t>
            </a:r>
            <a:r>
              <a:rPr lang="en-US" dirty="0" err="1" sz="1700" b="0" u="none" cap="none">
                <a:solidFill>
                  <a:srgbClr val="252529"/>
                </a:solidFill>
                <a:latin typeface="Aptos"/>
                <a:ea typeface="Aptos"/>
                <a:cs typeface="Aptos"/>
              </a:rPr>
              <a:t>Gpe</a:t>
            </a:r>
            <a:r>
              <a:rPr lang="en-US" dirty="0" sz="1700" b="0" u="none" cap="none">
                <a:solidFill>
                  <a:srgbClr val="252529"/>
                </a:solidFill>
                <a:latin typeface="Aptos"/>
                <a:ea typeface="Aptos"/>
                <a:cs typeface="Aptos"/>
              </a:rPr>
              <a:t> network in generating beta synchronized oscillatory activity in parkinsonism.”</a:t>
            </a:r>
          </a:p>
          <a:p>
            <a:pPr algn="l" marL="0" indent="0">
              <a:spcAft>
                <a:spcPts val="2600"/>
              </a:spcAft>
              <a:buNone/>
              <a:defRPr sz="1700" b="0" u="none" cap="none">
                <a:solidFill>
                  <a:srgbClr val="252529"/>
                </a:solidFill>
                <a:latin typeface="Aptos"/>
                <a:ea typeface="Aptos"/>
                <a:cs typeface="Aptos"/>
              </a:defRPr>
            </a:pPr>
            <a:r>
              <a:rPr lang="en-US" dirty="0" sz="1700" b="0" u="none" cap="none">
                <a:solidFill>
                  <a:srgbClr val="252529"/>
                </a:solidFill>
                <a:latin typeface="Aptos"/>
                <a:ea typeface="Aptos"/>
                <a:cs typeface="Aptos"/>
              </a:rPr>
              <a:t>[2]A.J. Nevado </a:t>
            </a:r>
            <a:r>
              <a:rPr lang="en-US" dirty="0" err="1" sz="1700" b="0" u="none" cap="none">
                <a:solidFill>
                  <a:srgbClr val="252529"/>
                </a:solidFill>
                <a:latin typeface="Aptos"/>
                <a:ea typeface="Aptos"/>
                <a:cs typeface="Aptos"/>
              </a:rPr>
              <a:t>Holgade</a:t>
            </a:r>
            <a:r>
              <a:rPr lang="en-US" dirty="0" sz="1700" b="0" u="none" cap="none">
                <a:solidFill>
                  <a:srgbClr val="252529"/>
                </a:solidFill>
                <a:latin typeface="Aptos"/>
                <a:ea typeface="Aptos"/>
                <a:cs typeface="Aptos"/>
              </a:rPr>
              <a:t>, </a:t>
            </a:r>
            <a:r>
              <a:rPr lang="en-US" dirty="0" err="1" sz="1700" b="0" u="none" cap="none">
                <a:solidFill>
                  <a:srgbClr val="252529"/>
                </a:solidFill>
                <a:latin typeface="Aptos"/>
                <a:ea typeface="Aptos"/>
                <a:cs typeface="Aptos"/>
              </a:rPr>
              <a:t>J.R.Terry,R.Bogacz</a:t>
            </a:r>
            <a:r>
              <a:rPr lang="en-US" dirty="0" sz="1700" b="0" u="none" cap="none">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Clean6"/>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lIns="0" rIns="0" tIns="0" bIns="0" anchor="t" wrap="square">
            <a:noAutofit/>
          </a:bodyPr>
          <a:lstStyle/>
          <a:p>
            <a:pPr algn="l" marL="0" indent="0">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dirty="0" sz="800" b="0" u="none" cap="none">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lIns="0" rIns="0" tIns="0" bIns="0" anchor="t" wrap="square">
            <a:noAutofit/>
          </a:bodyPr>
          <a:lstStyle/>
          <a:p>
            <a:pPr algn="r" marL="0" indent="0">
              <a:spcAft>
                <a:spcPts val="0"/>
              </a:spcAft>
              <a:buNone/>
              <a:defRPr sz="800" b="0" u="none" cap="none">
                <a:solidFill>
                  <a:srgbClr val="747B82"/>
                </a:solidFill>
                <a:latin typeface="Aptos"/>
                <a:ea typeface="Aptos"/>
                <a:cs typeface="Aptos"/>
              </a:defRPr>
            </a:pPr>
            <a:fld id="{C194BDB0-F4EA-4DD6-8281-CCE2440D0CE0}" type="slidenum">
              <a:rPr lang="en-GB" smtClean="0" sz="800" b="0" u="none" cap="none">
                <a:solidFill>
                  <a:srgbClr val="747B82"/>
                </a:solidFill>
                <a:latin typeface="Aptos"/>
                <a:ea typeface="Aptos"/>
                <a:cs typeface="Aptos"/>
              </a:rPr>
              <a:t>17</a:t>
            </a:fld>
            <a:endParaRPr lang="en-GB" dirty="0" sz="800" b="0" u="none" cap="none">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685800" y="609600"/>
            <a:ext cx="7772400" cy="1460500"/>
          </a:xfrm>
          <a:prstGeom prst="rect">
            <a:avLst/>
          </a:prstGeom>
          <a:noFill/>
          <a:ln>
            <a:noFill/>
          </a:ln>
        </p:spPr>
        <p:txBody>
          <a:bodyPr wrap="square" rtlCol="0" lIns="0" rIns="0" tIns="0" bIns="0" anchor="t">
            <a:noAutofit/>
          </a:bodyPr>
          <a:lstStyle/>
          <a:p>
            <a:pPr algn="l" marL="0" indent="0" defTabSz="1">
              <a:lnSpc>
                <a:spcPct val="120000"/>
              </a:lnSpc>
              <a:spcAft>
                <a:spcPts val="0"/>
              </a:spcAft>
              <a:buNone/>
              <a:defRPr sz="2500" b="1" u="none" cap="none">
                <a:solidFill>
                  <a:srgbClr val="252529"/>
                </a:solidFill>
                <a:latin typeface="Aptos"/>
                <a:ea typeface="Aptos"/>
                <a:cs typeface="Aptos"/>
              </a:defRPr>
            </a:pPr>
            <a:r>
              <a:rPr lang="en-US" dirty="0" sz="2500" b="1" u="none" cap="none">
                <a:solidFill>
                  <a:srgbClr val="252529"/>
                </a:solidFill>
                <a:latin typeface="Aptos"/>
                <a:ea typeface="Aptos"/>
                <a:cs typeface="Aptos"/>
              </a:rPr>
              <a:t>Goal: Can we find a single tool to </a:t>
            </a:r>
            <a:r>
              <a:rPr lang="en-US" dirty="0" err="1" sz="2500" b="1" u="none" cap="none">
                <a:solidFill>
                  <a:srgbClr val="252529"/>
                </a:solidFill>
                <a:latin typeface="Aptos"/>
                <a:ea typeface="Aptos"/>
                <a:cs typeface="Aptos"/>
              </a:rPr>
              <a:t>analyse</a:t>
            </a:r>
            <a:r>
              <a:rPr lang="en-US" dirty="0" sz="2500" b="1" u="none" cap="none">
                <a:solidFill>
                  <a:srgbClr val="252529"/>
                </a:solidFill>
                <a:latin typeface="Aptos"/>
                <a:ea typeface="Aptos"/>
                <a:cs typeface="Aptos"/>
              </a:rPr>
              <a:t> and control a large class of Partial Integral Equations(PIE)?</a:t>
            </a:r>
            <a:endParaRPr lang="en-NL" dirty="0" sz="2500" b="1" u="none" cap="none">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685800" y="2590800"/>
            <a:ext cx="7772400" cy="1841500"/>
          </a:xfrm>
          <a:prstGeom prst="rect">
            <a:avLst/>
          </a:prstGeom>
          <a:noFill/>
          <a:ln>
            <a:noFill/>
          </a:ln>
        </p:spPr>
        <p:txBody>
          <a:bodyPr wrap="square" rtlCol="0" lIns="0" rIns="0" tIns="0" bIns="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Analysis capabilities</a:t>
            </a:r>
          </a:p>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Duality argument</a:t>
            </a:r>
          </a:p>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dirty="0" sz="2100" b="0" u="none" cap="none">
                <a:solidFill>
                  <a:srgbClr val="252529"/>
                </a:solidFill>
                <a:latin typeface="Aptos"/>
                <a:ea typeface="Aptos"/>
                <a:cs typeface="Aptos"/>
              </a:rPr>
              <a:t>Convex state feedback synthesis</a:t>
            </a:r>
            <a:endParaRPr lang="en-NL" dirty="0" sz="2100" b="0" u="none" cap="none">
              <a:solidFill>
                <a:srgbClr val="252529"/>
              </a:solidFill>
              <a:latin typeface="Aptos"/>
              <a:ea typeface="Aptos"/>
              <a:cs typeface="Aptos"/>
            </a:endParaRPr>
          </a:p>
        </p:txBody>
      </p:sp>
      <p:pic>
        <p:nvPicPr>
          <p:cNvPr id="8" name="Original TUe logo"/>
          <p:cNvPicPr>
            <a:picLocks noChangeAspect="1"/>
          </p:cNvPicPr>
          <p:nvPr/>
        </p:nvPicPr>
        <p:blipFill>
          <a:blip r:embed="rIdClean8"/>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Kantoorthema">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TUe_Calibri">
      <a:majorFont>
        <a:latin typeface="Calibri"/>
        <a:ea typeface=""/>
        <a:cs typeface=""/>
      </a:majorFont>
      <a:minorFont>
        <a:latin typeface="Calibri"/>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_16x9.potx"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2077</TotalTime>
  <Words>1323</Words>
  <Application>Microsoft Office PowerPoint</Application>
  <PresentationFormat>On-screen Show (16:9)</PresentationFormat>
  <Paragraphs>108</Paragraphs>
  <Slides>11</Slides>
  <Notes>7</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 Math</vt:lpstr>
      <vt:lpstr>Kantoorthema</vt:lpstr>
      <vt:lpstr>Dual Integral Quadratic Constraints for Robust Control of Partial Integral Equations </vt:lpstr>
      <vt:lpstr>Rigid body representation Ordinary Differential Equation (ODE)</vt:lpstr>
      <vt:lpstr>PowerPoint Presentation</vt:lpstr>
      <vt:lpstr>Partial Integral Equations</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8</cp:revision>
  <dcterms:created xsi:type="dcterms:W3CDTF">2019-11-27T15:26:32Z</dcterms:created>
  <dcterms:modified xsi:type="dcterms:W3CDTF">2026-09-23T15:34:01Z</dcterms:modified>
</cp:coreProperties>
</file>