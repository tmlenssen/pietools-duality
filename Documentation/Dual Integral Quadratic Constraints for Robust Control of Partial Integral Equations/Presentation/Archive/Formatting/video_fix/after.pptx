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7"/>
  </p:notesMasterIdLst>
  <p:sldIdLst>
    <p:sldId id="401" r:id="rId2"/>
    <p:sldId id="402" r:id="rId3"/>
    <p:sldId id="403" r:id="rId4"/>
    <p:sldId id="404" r:id="rId5"/>
    <p:sldId id="405" r:id="rId6"/>
    <p:sldId id="406" r:id="rId7"/>
    <p:sldId id="407" r:id="rId8"/>
    <p:sldId id="408" r:id="rId9"/>
    <p:sldId id="409" r:id="rId10"/>
    <p:sldId id="410" r:id="rId11"/>
    <p:sldId id="411" r:id="rId12"/>
    <p:sldId id="412" r:id="rId13"/>
    <p:sldId id="413" r:id="rId14"/>
    <p:sldId id="414" r:id="rId15"/>
    <p:sldId id="415" r:id="rId16"/>
    <p:sldId id="416" r:id="rId17"/>
    <p:sldId id="417" r:id="rId18"/>
    <p:sldId id="418" r:id="rId19"/>
    <p:sldId id="419" r:id="rId20"/>
    <p:sldId id="420" r:id="rId21"/>
    <p:sldId id="422" r:id="rId22"/>
    <p:sldId id="423" r:id="rId23"/>
    <p:sldId id="424" r:id="rId24"/>
    <p:sldId id="425" r:id="rId25"/>
    <p:sldId id="421" r:id="rId26"/>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63568" autoAdjust="0"/>
  </p:normalViewPr>
  <p:slideViewPr>
    <p:cSldViewPr snapToGrid="0" showGuides="1">
      <p:cViewPr>
        <p:scale>
          <a:sx n="100" d="100"/>
          <a:sy n="100" d="100"/>
        </p:scale>
        <p:origin x="1360" y="-2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24/09/2026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6</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consensus around the inner workings of the basal ganglia</a:t>
            </a:r>
          </a:p>
          <a:p>
            <a:endParaRPr lang="en-US" dirty="0"/>
          </a:p>
          <a:p>
            <a:r>
              <a:rPr lang="en-US" dirty="0"/>
              <a:t>Dit </a:t>
            </a:r>
            <a:r>
              <a:rPr lang="en-US" dirty="0" err="1"/>
              <a:t>laat</a:t>
            </a:r>
            <a:r>
              <a:rPr lang="en-US" dirty="0"/>
              <a:t> de </a:t>
            </a:r>
            <a:r>
              <a:rPr lang="en-US" dirty="0" err="1"/>
              <a:t>connectie</a:t>
            </a:r>
            <a:r>
              <a:rPr lang="en-US" dirty="0"/>
              <a:t> </a:t>
            </a:r>
            <a:r>
              <a:rPr lang="en-US" dirty="0" err="1"/>
              <a:t>tussen</a:t>
            </a:r>
            <a:r>
              <a:rPr lang="en-US" dirty="0"/>
              <a:t> de </a:t>
            </a:r>
            <a:r>
              <a:rPr lang="en-US" dirty="0" err="1"/>
              <a:t>verschillende</a:t>
            </a:r>
            <a:r>
              <a:rPr lang="en-US" dirty="0"/>
              <a:t> </a:t>
            </a:r>
            <a:r>
              <a:rPr lang="en-US" dirty="0" err="1"/>
              <a:t>neuronen</a:t>
            </a:r>
            <a:r>
              <a:rPr lang="en-US" dirty="0"/>
              <a:t> </a:t>
            </a:r>
            <a:r>
              <a:rPr lang="en-US" dirty="0" err="1"/>
              <a:t>populaties</a:t>
            </a:r>
            <a:r>
              <a:rPr lang="en-US" dirty="0"/>
              <a:t> </a:t>
            </a:r>
            <a:r>
              <a:rPr lang="en-US" dirty="0" err="1"/>
              <a:t>zien</a:t>
            </a:r>
            <a:r>
              <a:rPr lang="en-US" dirty="0"/>
              <a:t>. </a:t>
            </a:r>
            <a:r>
              <a:rPr lang="en-US" dirty="0" err="1"/>
              <a:t>Deze</a:t>
            </a:r>
            <a:r>
              <a:rPr lang="en-US" dirty="0"/>
              <a:t> </a:t>
            </a:r>
            <a:r>
              <a:rPr lang="en-US" dirty="0" err="1"/>
              <a:t>populaties</a:t>
            </a:r>
            <a:r>
              <a:rPr lang="en-US" dirty="0"/>
              <a:t> </a:t>
            </a:r>
            <a:r>
              <a:rPr lang="en-US" dirty="0" err="1"/>
              <a:t>communiceren</a:t>
            </a:r>
            <a:r>
              <a:rPr lang="en-US" dirty="0"/>
              <a:t> met </a:t>
            </a:r>
            <a:r>
              <a:rPr lang="en-US" dirty="0" err="1"/>
              <a:t>elkaar</a:t>
            </a:r>
            <a:r>
              <a:rPr lang="en-US" dirty="0"/>
              <a:t> </a:t>
            </a:r>
            <a:r>
              <a:rPr lang="en-US" dirty="0" err="1"/>
              <a:t>doormiddel</a:t>
            </a:r>
            <a:r>
              <a:rPr lang="en-US" dirty="0"/>
              <a:t> van het </a:t>
            </a:r>
            <a:r>
              <a:rPr lang="en-US" dirty="0" err="1"/>
              <a:t>sturen</a:t>
            </a:r>
            <a:r>
              <a:rPr lang="en-US" dirty="0"/>
              <a:t> van spikes </a:t>
            </a:r>
            <a:r>
              <a:rPr lang="en-US" dirty="0" err="1"/>
              <a:t>een</a:t>
            </a:r>
            <a:r>
              <a:rPr lang="en-US" dirty="0"/>
              <a:t> </a:t>
            </a:r>
            <a:r>
              <a:rPr lang="en-US" dirty="0" err="1"/>
              <a:t>kleine</a:t>
            </a:r>
            <a:r>
              <a:rPr lang="en-US" dirty="0"/>
              <a:t> Bij </a:t>
            </a:r>
            <a:r>
              <a:rPr lang="en-US" dirty="0" err="1"/>
              <a:t>patienten</a:t>
            </a:r>
            <a:r>
              <a:rPr lang="en-US" dirty="0"/>
              <a:t> met </a:t>
            </a:r>
            <a:r>
              <a:rPr lang="en-US" dirty="0" err="1"/>
              <a:t>parkinson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563000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15</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3128207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jpe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Original title response figure"/>
          <p:cNvPicPr>
            <a:picLocks noChangeAspect="1"/>
          </p:cNvPicPr>
          <p:nvPr/>
        </p:nvPicPr>
        <p:blipFill>
          <a:blip r:embed="rId3"/>
          <a:srcRect l="20719" t="2278" r="21000" b="44944"/>
          <a:stretch>
            <a:fillRect/>
          </a:stretch>
        </p:blipFill>
        <p:spPr>
          <a:xfrm>
            <a:off x="4387883" y="2349500"/>
            <a:ext cx="4063933" cy="2070100"/>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352800" y="2837514"/>
            <a:ext cx="2438400" cy="814673"/>
          </a:xfrm>
          <a:prstGeom prst="rect">
            <a:avLst/>
          </a:prstGeom>
        </p:spPr>
      </p:pic>
      <p:pic>
        <p:nvPicPr>
          <p:cNvPr id="31" name="Picture 30">
            <a:extLst>
              <a:ext uri="{FF2B5EF4-FFF2-40B4-BE49-F238E27FC236}">
                <a16:creationId xmlns:a16="http://schemas.microsoft.com/office/drawing/2014/main" id="{DAAC8EA2-C55F-BCFB-1194-292E0CC634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48400" y="1530350"/>
            <a:ext cx="2438400" cy="1816100"/>
          </a:xfrm>
          <a:prstGeom prst="rect">
            <a:avLst/>
          </a:prstGeom>
        </p:spPr>
      </p:pic>
      <p:pic>
        <p:nvPicPr>
          <p:cNvPr id="32" name="Original TUe logo"/>
          <p:cNvPicPr>
            <a:picLocks noChangeAspect="1"/>
          </p:cNvPicPr>
          <p:nvPr/>
        </p:nvPicPr>
        <p:blipFill>
          <a:blip r:embed="rId8"/>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nl-NL" sz="1800" i="1">
                              <a:latin typeface="Cambria Math" panose="02040503050406030204" pitchFamily="18" charset="0"/>
                            </a:rPr>
                          </m:ctrlPr>
                        </m:sSubPr>
                        <m:e>
                          <m:r>
                            <m:rPr>
                              <m:sty m:val="p"/>
                            </m:rPr>
                            <a:rPr lang="nl-NL" sz="1800" i="1">
                              <a:latin typeface="Cambria Math" panose="02040503050406030204" pitchFamily="18" charset="0"/>
                            </a:rPr>
                            <m:t>heat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nl-NL" sz="1800" i="1">
                              <a:latin typeface="Cambria Math" panose="02040503050406030204" pitchFamily="18" charset="0"/>
                            </a:rPr>
                          </m:ctrlPr>
                        </m:sSubPr>
                        <m:e>
                          <m:r>
                            <m:rPr>
                              <m:sty m:val="p"/>
                            </m:rPr>
                            <a:rPr lang="nl-NL" sz="1800" i="1">
                              <a:latin typeface="Cambria Math" panose="02040503050406030204" pitchFamily="18" charset="0"/>
                            </a:rPr>
                            <m:t>heat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nl-NL" sz="1800" i="1">
                          <a:latin typeface="Cambria Math" panose="02040503050406030204" pitchFamily="18" charset="0"/>
                        </a:rPr>
                        <m:t>heat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3"/>
                <a:stretch>
                  <a:fillRect l="-400"/>
                </a:stretch>
              </a:blipFill>
              <a:ln>
                <a:noFill/>
              </a:ln>
            </p:spPr>
            <p:txBody>
              <a:bodyPr/>
              <a:lstStyle/>
              <a:p>
                <a:r>
                  <a:rPr lang="en-NL">
                    <a:noFill/>
                  </a:rPr>
                  <a:t> </a:t>
                </a:r>
              </a:p>
            </p:txBody>
          </p:sp>
        </mc:Fallback>
      </mc:AlternateContent>
      <p:pic>
        <p:nvPicPr>
          <p:cNvPr id="20" name="Picture 19">
            <a:extLst>
              <a:ext uri="{FF2B5EF4-FFF2-40B4-BE49-F238E27FC236}">
                <a16:creationId xmlns:a16="http://schemas.microsoft.com/office/drawing/2014/main" id="{1BFC85F7-0439-8706-F6DB-7D47B27E757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8835" y="330200"/>
            <a:ext cx="7686330" cy="1460500"/>
          </a:xfrm>
          <a:prstGeom prst="rect">
            <a:avLst/>
          </a:prstGeom>
        </p:spPr>
      </p:pic>
      <p:sp>
        <p:nvSpPr>
          <p:cNvPr id="22" name="TextBox 21">
            <a:extLst>
              <a:ext uri="{FF2B5EF4-FFF2-40B4-BE49-F238E27FC236}">
                <a16:creationId xmlns:a16="http://schemas.microsoft.com/office/drawing/2014/main" id="{98D90A4C-307A-4FCB-1437-E81581434E8F}"/>
              </a:ext>
            </a:extLst>
          </p:cNvPr>
          <p:cNvSpPr txBox="1"/>
          <p:nvPr/>
        </p:nvSpPr>
        <p:spPr>
          <a:xfrm>
            <a:off x="5740400" y="3340100"/>
            <a:ext cx="2946400" cy="77470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marL="0" indent="0" algn="l" defTabSz="1">
              <a:lnSpc>
                <a:spcPct val="115000"/>
              </a:lnSpc>
              <a:spcAft>
                <a:spcPts val="0"/>
              </a:spcAft>
              <a:buNone/>
              <a:defRPr sz="1700" b="1" u="none" cap="none">
                <a:solidFill>
                  <a:srgbClr val="C81919"/>
                </a:solidFill>
                <a:latin typeface="Aptos"/>
                <a:ea typeface="Aptos"/>
                <a:cs typeface="Aptos"/>
              </a:defRPr>
            </a:pPr>
            <a:r>
              <a:rPr lang="en-US" sz="1700" b="1" u="none" cap="none" dirty="0">
                <a:solidFill>
                  <a:srgbClr val="C81919"/>
                </a:solidFill>
                <a:latin typeface="Aptos"/>
                <a:ea typeface="Aptos"/>
                <a:cs typeface="Aptos"/>
              </a:rPr>
              <a:t>	Solved during internship</a:t>
            </a:r>
            <a:endParaRPr lang="en-NL" sz="1700" b="1" u="none" cap="none" dirty="0">
              <a:solidFill>
                <a:srgbClr val="C81919"/>
              </a:solidFill>
              <a:latin typeface="Aptos"/>
              <a:ea typeface="Aptos"/>
              <a:cs typeface="Aptos"/>
            </a:endParaRPr>
          </a:p>
        </p:txBody>
      </p:sp>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2600077" y="295788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2600077" y="2957885"/>
                <a:ext cx="1537024" cy="784830"/>
              </a:xfrm>
              <a:prstGeom prst="rect">
                <a:avLst/>
              </a:prstGeom>
              <a:blipFill>
                <a:blip r:embed="rId6"/>
                <a:stretch>
                  <a:fillRect/>
                </a:stretch>
              </a:blipFill>
            </p:spPr>
            <p:txBody>
              <a:bodyPr/>
              <a:lstStyle/>
              <a:p>
                <a:r>
                  <a:rPr lang="en-NL">
                    <a:noFill/>
                  </a:rPr>
                  <a:t> </a:t>
                </a:r>
              </a:p>
            </p:txBody>
          </p:sp>
        </mc:Fallback>
      </mc:AlternateContent>
      <p:pic>
        <p:nvPicPr>
          <p:cNvPr id="18" name="Picture 17">
            <a:extLst>
              <a:ext uri="{FF2B5EF4-FFF2-40B4-BE49-F238E27FC236}">
                <a16:creationId xmlns:a16="http://schemas.microsoft.com/office/drawing/2014/main" id="{154D371C-D7D6-BD77-3191-47D1C39F619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56887" y="2641600"/>
            <a:ext cx="3315113" cy="1981200"/>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2"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p:pic>
        <p:nvPicPr>
          <p:cNvPr id="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p:pic>
        <p:nvPicPr>
          <p:cNvPr id="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614483" y="254000"/>
            <a:ext cx="7915034"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044FF13-72DA-8A91-3497-927C848DB90E}"/>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CD268D8F-D606-F686-A7E2-DC9C2DCCD26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pic>
        <p:nvPicPr>
          <p:cNvPr id="13" name="Picture 12">
            <a:extLst>
              <a:ext uri="{FF2B5EF4-FFF2-40B4-BE49-F238E27FC236}">
                <a16:creationId xmlns:a16="http://schemas.microsoft.com/office/drawing/2014/main" id="{B42275AF-475C-8088-3DD8-744DBC78D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20880" y="190500"/>
            <a:ext cx="3319826" cy="4132712"/>
          </a:xfrm>
          <a:prstGeom prst="rect">
            <a:avLst/>
          </a:prstGeom>
        </p:spPr>
      </p:pic>
      <p:sp>
        <p:nvSpPr>
          <p:cNvPr id="14" name="TextBox 13">
            <a:extLst>
              <a:ext uri="{FF2B5EF4-FFF2-40B4-BE49-F238E27FC236}">
                <a16:creationId xmlns:a16="http://schemas.microsoft.com/office/drawing/2014/main" id="{8C40AB9D-19FD-6C78-D5E8-40A0CB8B9631}"/>
              </a:ext>
            </a:extLst>
          </p:cNvPr>
          <p:cNvSpPr txBox="1"/>
          <p:nvPr/>
        </p:nvSpPr>
        <p:spPr>
          <a:xfrm>
            <a:off x="1651000" y="4445000"/>
            <a:ext cx="5842000" cy="254000"/>
          </a:xfrm>
          <a:prstGeom prst="rect">
            <a:avLst/>
          </a:prstGeom>
          <a:noFill/>
          <a:ln>
            <a:noFill/>
          </a:ln>
        </p:spPr>
        <p:txBody>
          <a:bodyPr wrap="square" lIns="0" tIns="0" rIns="0" bIns="0" rtlCol="0" anchor="t">
            <a:noAutofit/>
          </a:bodyPr>
          <a:lstStyle/>
          <a:p>
            <a:pPr marL="0" indent="0" algn="ctr">
              <a:spcAft>
                <a:spcPts val="0"/>
              </a:spcAft>
              <a:buNone/>
              <a:defRPr sz="1200" b="0" u="none" cap="none">
                <a:solidFill>
                  <a:srgbClr val="747B82"/>
                </a:solidFill>
                <a:latin typeface="Aptos"/>
                <a:ea typeface="Aptos"/>
                <a:cs typeface="Aptos"/>
              </a:defRPr>
            </a:pPr>
            <a:r>
              <a:rPr lang="en-US" sz="1200" b="0" u="none" cap="none" dirty="0">
                <a:solidFill>
                  <a:srgbClr val="747B82"/>
                </a:solidFill>
                <a:latin typeface="Aptos"/>
                <a:ea typeface="Aptos"/>
                <a:cs typeface="Aptos"/>
              </a:rPr>
              <a:t>[1] beta oscillatory activity in basal ganglia</a:t>
            </a:r>
            <a:endParaRPr lang="en-NL" sz="1200" b="0" u="none" cap="none" dirty="0">
              <a:solidFill>
                <a:srgbClr val="747B82"/>
              </a:solidFill>
              <a:latin typeface="Aptos"/>
              <a:ea typeface="Aptos"/>
              <a:cs typeface="Aptos"/>
            </a:endParaRPr>
          </a:p>
        </p:txBody>
      </p:sp>
      <p:sp>
        <p:nvSpPr>
          <p:cNvPr id="15" name="Rectangle 14">
            <a:extLst>
              <a:ext uri="{FF2B5EF4-FFF2-40B4-BE49-F238E27FC236}">
                <a16:creationId xmlns:a16="http://schemas.microsoft.com/office/drawing/2014/main" id="{C0F45872-814F-5DFF-46B3-563E22BDF6BD}"/>
              </a:ext>
            </a:extLst>
          </p:cNvPr>
          <p:cNvSpPr/>
          <p:nvPr/>
        </p:nvSpPr>
        <p:spPr>
          <a:xfrm>
            <a:off x="3669628" y="2073088"/>
            <a:ext cx="1957890" cy="11403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a:extLst>
              <a:ext uri="{FF2B5EF4-FFF2-40B4-BE49-F238E27FC236}">
                <a16:creationId xmlns:a16="http://schemas.microsoft.com/office/drawing/2014/main" id="{A7083375-9871-5280-E4BF-17CD4BA6A67E}"/>
              </a:ext>
            </a:extLst>
          </p:cNvPr>
          <p:cNvSpPr/>
          <p:nvPr/>
        </p:nvSpPr>
        <p:spPr>
          <a:xfrm>
            <a:off x="2920880" y="3213400"/>
            <a:ext cx="1361934" cy="11098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Multiplication Sign 17">
            <a:extLst>
              <a:ext uri="{FF2B5EF4-FFF2-40B4-BE49-F238E27FC236}">
                <a16:creationId xmlns:a16="http://schemas.microsoft.com/office/drawing/2014/main" id="{A5A353CB-8FCF-5451-37B1-5E85D08ACF38}"/>
              </a:ext>
            </a:extLst>
          </p:cNvPr>
          <p:cNvSpPr/>
          <p:nvPr/>
        </p:nvSpPr>
        <p:spPr>
          <a:xfrm>
            <a:off x="4358117" y="2438848"/>
            <a:ext cx="398033" cy="408791"/>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1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6214474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𝜏</m:t>
                                  </m:r>
                                </m:e>
                                <m:sub>
                                  <m:r>
                                    <m:rPr>
                                      <m:sty m:val="p"/>
                                    </m:rPr>
                                    <a:rPr lang="en-US" sz="1800" b="0" i="1" smtClean="0">
                                      <a:solidFill>
                                        <a:srgbClr val="00B050"/>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𝜏</m:t>
                                  </m:r>
                                </m:e>
                                <m:sub>
                                  <m:r>
                                    <m:rPr>
                                      <m:sty m:val="p"/>
                                    </m:rPr>
                                    <a:rPr lang="en-US" sz="1800" b="0" i="1" smtClean="0">
                                      <a:solidFill>
                                        <a:srgbClr val="00B050"/>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𝜏</m:t>
                                  </m:r>
                                </m:e>
                                <m:sub>
                                  <m:r>
                                    <m:rPr>
                                      <m:sty m:val="p"/>
                                    </m:rPr>
                                    <a:rPr lang="en-US" sz="1800" b="0" i="1" smtClean="0">
                                      <a:solidFill>
                                        <a:srgbClr val="00B050"/>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𝑤</m:t>
                              </m:r>
                            </m:e>
                            <m:sub>
                              <m:r>
                                <m:rPr>
                                  <m:sty m:val="p"/>
                                </m:rPr>
                                <a:rPr lang="en-US" sz="1800" b="0" i="1" smtClean="0">
                                  <a:solidFill>
                                    <a:srgbClr val="00B050"/>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𝑤</m:t>
                              </m:r>
                            </m:e>
                            <m:sub>
                              <m:r>
                                <m:rPr>
                                  <m:sty m:val="p"/>
                                </m:rPr>
                                <a:rPr lang="en-US" sz="1800" b="0" i="1" smtClean="0">
                                  <a:solidFill>
                                    <a:srgbClr val="00B050"/>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𝑤</m:t>
                              </m:r>
                            </m:e>
                            <m:sub>
                              <m:r>
                                <m:rPr>
                                  <m:sty m:val="p"/>
                                </m:rPr>
                                <a:rPr lang="en-US" sz="1800" b="0" i="1" smtClean="0">
                                  <a:solidFill>
                                    <a:srgbClr val="00B050"/>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𝛿</m:t>
                              </m:r>
                            </m:e>
                            <m:sub>
                              <m:r>
                                <m:rPr>
                                  <m:sty m:val="p"/>
                                </m:rPr>
                                <a:rPr lang="en-US" sz="1800" b="0" i="1" smtClean="0">
                                  <a:solidFill>
                                    <a:srgbClr val="00B050"/>
                                  </a:solidFill>
                                  <a:latin typeface="Cambria Math" panose="02040503050406030204" pitchFamily="18" charset="0"/>
                                </a:rPr>
                                <m:t>S</m:t>
                              </m:r>
                            </m:sub>
                          </m:sSub>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00B050"/>
                                  </a:solidFill>
                                  <a:latin typeface="Cambria Math" panose="02040503050406030204" pitchFamily="18" charset="0"/>
                                </a:rPr>
                              </m:ctrlPr>
                            </m:sSubPr>
                            <m:e>
                              <m:r>
                                <a:rPr lang="en-US" sz="1800" b="0" i="1" smtClean="0">
                                  <a:solidFill>
                                    <a:srgbClr val="00B050"/>
                                  </a:solidFill>
                                  <a:latin typeface="Cambria Math" panose="02040503050406030204" pitchFamily="18" charset="0"/>
                                </a:rPr>
                                <m:t>𝛿</m:t>
                              </m:r>
                            </m:e>
                            <m:sub>
                              <m:r>
                                <m:rPr>
                                  <m:sty m:val="p"/>
                                </m:rPr>
                                <a:rPr lang="en-US" sz="1800" b="0" i="1" smtClean="0">
                                  <a:solidFill>
                                    <a:srgbClr val="00B050"/>
                                  </a:solidFill>
                                  <a:latin typeface="Cambria Math" panose="02040503050406030204" pitchFamily="18" charset="0"/>
                                </a:rPr>
                                <m:t>G</m:t>
                              </m:r>
                            </m:sub>
                          </m:sSub>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00B050"/>
                              </a:solidFill>
                              <a:latin typeface="Cambria Math" panose="02040503050406030204" pitchFamily="18" charset="0"/>
                            </a:rPr>
                            <m:t>𝑢</m:t>
                          </m:r>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noFill/>
              <a:ln>
                <a:noFill/>
              </a:ln>
            </p:spPr>
            <p:txBody>
              <a:bodyPr lIns="0" rIns="0" tIns="0" bIns="0" anchor="t" wrap="none">
                <a:noAutofit/>
              </a:bodyPr>
              <a:lstStyle/>
              <a:p>
                <a:pPr algn="ctr">
                  <a:spcAft>
                    <a:spcPts val="0"/>
                  </a:spcAft>
                  <a:defRPr sz="1700" b="0" u="none" cap="none">
                    <a:solidFill>
                      <a:srgbClr val="252529"/>
                    </a:solidFill>
                    <a:latin typeface="Cambria Math"/>
                    <a:ea typeface="Cambria Math"/>
                    <a:cs typeface="Cambria Math"/>
                  </a:defRPr>
                </a:pPr>
                <a:r>
                  <a:rPr lang="en-NL" sz="1700">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78400" y="1216977"/>
            <a:ext cx="3771900" cy="2303146"/>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8400" y="1465393"/>
            <a:ext cx="3771900" cy="1806313"/>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Partial Integral Equations (PIEs).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Duality argument</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BFC43C3-8B99-46F4-BD95-944C7898DE67}"/>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9637BDBB-3B9D-2687-E9E1-D43633E63E41}"/>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8E8896B-3DA3-FACD-171F-4DBC43529CA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2A669DD-15C7-3D44-4C07-9180C312FE08}"/>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Partial Integral Equations (PIEs).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25EA5956-0319-154B-CE86-8DA441CC7C38}"/>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20000"/>
              </a:lnSpc>
              <a:spcAft>
                <a:spcPts val="1900"/>
              </a:spcAft>
              <a:defRPr sz="2100" b="0" u="none" cap="none">
                <a:solidFill>
                  <a:srgbClr val="252529"/>
                </a:solidFill>
                <a:latin typeface="Aptos"/>
                <a:ea typeface="Aptos"/>
                <a:cs typeface="Aptos"/>
              </a:defRPr>
            </a:pPr>
            <a:r>
              <a:rPr lang="en-US" sz="1600" b="1" dirty="0">
                <a:solidFill>
                  <a:srgbClr val="C81919">
                    <a:alpha val="100000"/>
                  </a:srgbClr>
                </a:solidFill>
                <a:latin typeface="Aptos"/>
              </a:rPr>
              <a:t>Duality argument</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9B97984B-9357-32C5-0A6D-7E3F706CC546}"/>
              </a:ext>
            </a:extLst>
          </p:cNvPr>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79246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Partial Integral Equations (PIEs).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Duality argument</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Partial Integral Equations (PIEs).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Duality argument</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68072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5308600" y="2656920"/>
            <a:ext cx="1528175" cy="300082"/>
          </a:xfrm>
          <a:prstGeom prst="rect">
            <a:avLst/>
          </a:prstGeom>
          <a:noFill/>
        </p:spPr>
        <p:txBody>
          <a:bodyPr wrap="none" rtlCol="0">
            <a:spAutoFit/>
          </a:bodyPr>
          <a:lstStyle/>
          <a:p>
            <a:r>
              <a:rPr lang="en-US" dirty="0"/>
              <a:t>Main contributions</a:t>
            </a:r>
            <a:endParaRPr lang="en-NL" dirty="0"/>
          </a:p>
        </p:txBody>
      </p:sp>
    </p:spTree>
    <p:extLst>
      <p:ext uri="{BB962C8B-B14F-4D97-AF65-F5344CB8AC3E}">
        <p14:creationId xmlns:p14="http://schemas.microsoft.com/office/powerpoint/2010/main" val="4244936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2097</TotalTime>
  <Words>2353</Words>
  <Application>Microsoft Office PowerPoint</Application>
  <PresentationFormat>On-screen Show (16:9)</PresentationFormat>
  <Paragraphs>258</Paragraphs>
  <Slides>25</Slides>
  <Notes>20</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Arial</vt:lpstr>
      <vt:lpstr>Calibri</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10</cp:revision>
  <dcterms:created xsi:type="dcterms:W3CDTF">2019-11-27T15:26:32Z</dcterms:created>
  <dcterms:modified xsi:type="dcterms:W3CDTF">2026-09-24T09:43:44Z</dcterms:modified>
</cp:coreProperties>
</file>