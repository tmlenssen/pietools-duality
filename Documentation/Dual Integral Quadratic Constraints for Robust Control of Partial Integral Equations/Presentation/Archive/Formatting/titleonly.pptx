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268" r:id="rId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dirty="0"/>
              <a:t>Dual Integral Quadratic Constraints for Robust Control of Partial Integral Equations </a:t>
            </a:r>
          </a:p>
        </p:txBody>
      </p:sp>
      <p:sp>
        <p:nvSpPr>
          <p:cNvPr id="7" name="Ondertitel 6"/>
          <p:cNvSpPr>
            <a:spLocks noGrp="1"/>
          </p:cNvSpPr>
          <p:nvPr>
            <p:ph type="subTitle" idx="1"/>
          </p:nvPr>
        </p:nvSpPr>
        <p:spPr/>
        <p:txBody>
          <a:bodyPr/>
          <a:lstStyle/>
          <a:p>
            <a:r>
              <a:rPr lang="en-GB" dirty="0"/>
              <a:t>An engineering overview</a:t>
            </a:r>
          </a:p>
        </p:txBody>
      </p:sp>
      <p:sp>
        <p:nvSpPr>
          <p:cNvPr id="8" name="Tijdelijke aanduiding voor tekst 7"/>
          <p:cNvSpPr>
            <a:spLocks noGrp="1"/>
          </p:cNvSpPr>
          <p:nvPr>
            <p:ph type="body" sz="quarter" idx="13"/>
          </p:nvPr>
        </p:nvSpPr>
        <p:spPr/>
        <p:txBody>
          <a:bodyPr/>
          <a:lstStyle/>
          <a:p>
            <a:r>
              <a:rPr lang="en-GB" dirty="0"/>
              <a:t>T.M. Lenssen – supervisor: Amritam Das</a:t>
            </a:r>
          </a:p>
        </p:txBody>
      </p:sp>
      <p:sp>
        <p:nvSpPr>
          <p:cNvPr id="9" name="Tijdelijke aanduiding voor tekst 8"/>
          <p:cNvSpPr>
            <a:spLocks noGrp="1"/>
          </p:cNvSpPr>
          <p:nvPr>
            <p:ph type="body" sz="quarter" idx="14"/>
          </p:nvPr>
        </p:nvSpPr>
        <p:spPr/>
        <p:txBody>
          <a:bodyPr/>
          <a:lstStyle/>
          <a:p>
            <a:r>
              <a:rPr lang="en-GB" dirty="0"/>
              <a:t>CS – System &amp; Control / 30-09-2026</a:t>
            </a:r>
          </a:p>
        </p:txBody>
      </p:sp>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578181" y="588714"/>
            <a:ext cx="3595688" cy="732238"/>
          </a:xfrm>
        </p:spPr>
        <p:txBody>
          <a:bodyPr/>
          <a:lstStyle/>
          <a:p>
            <a:r>
              <a:rPr lang="en-US" b="1" dirty="0"/>
              <a:t>Rigid body representation</a:t>
            </a:r>
            <a:br>
              <a:rPr lang="en-US" dirty="0"/>
            </a:br>
            <a:r>
              <a:rPr lang="en-US" dirty="0"/>
              <a:t>Ordinary Differential Equation (ODE)</a:t>
            </a:r>
            <a:endParaRPr lang="en-NL" dirty="0"/>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p:txBody>
          <a:bodyPr/>
          <a:lstStyle/>
          <a:p>
            <a:fld id="{C194BDB0-F4EA-4DD6-8281-CCE2440D0CE0}" type="slidenum">
              <a:rPr lang="en-GB" smtClean="0"/>
              <a:t>2</a:t>
            </a:fld>
            <a:endParaRPr lang="en-GB" dirty="0"/>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p:txBody>
          <a:bodyPr/>
          <a:lstStyle/>
          <a:p>
            <a:r>
              <a:rPr lang="en-US" b="1" dirty="0"/>
              <a:t>Flexible body representation</a:t>
            </a:r>
            <a:endParaRPr lang="en-US" dirty="0"/>
          </a:p>
          <a:p>
            <a:r>
              <a:rPr lang="en-US" dirty="0"/>
              <a:t>Partial Differential Equation (PDE)</a:t>
            </a:r>
            <a:endParaRPr lang="en-NL" dirty="0"/>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755650" y="1749425"/>
            <a:ext cx="3598863" cy="2024063"/>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22813" y="1749425"/>
            <a:ext cx="3597275" cy="2024063"/>
          </a:xfr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p:txBody>
          <a:bodyPr/>
          <a:lstStyle/>
          <a:p>
            <a:fld id="{C194BDB0-F4EA-4DD6-8281-CCE2440D0CE0}" type="slidenum">
              <a:rPr lang="en-GB" smtClean="0"/>
              <a:t>3</a:t>
            </a:fld>
            <a:endParaRPr lang="en-GB" dirty="0"/>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79420" y="731106"/>
            <a:ext cx="3063532" cy="1721084"/>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79420" y="242803"/>
            <a:ext cx="3063532" cy="369332"/>
          </a:xfrm>
          <a:prstGeom prst="rect">
            <a:avLst/>
          </a:prstGeom>
          <a:noFill/>
        </p:spPr>
        <p:txBody>
          <a:bodyPr wrap="square" rtlCol="0">
            <a:spAutoFit/>
          </a:bodyPr>
          <a:lstStyle/>
          <a:p>
            <a:pPr algn="ctr"/>
            <a:r>
              <a:rPr lang="en-US" sz="1800" b="1" dirty="0"/>
              <a:t>ASML wafer stage</a:t>
            </a:r>
            <a:endParaRPr lang="en-NL" sz="1800" b="1" dirty="0"/>
          </a:p>
        </p:txBody>
      </p:sp>
      <p:sp>
        <p:nvSpPr>
          <p:cNvPr id="18" name="TextBox 17">
            <a:extLst>
              <a:ext uri="{FF2B5EF4-FFF2-40B4-BE49-F238E27FC236}">
                <a16:creationId xmlns:a16="http://schemas.microsoft.com/office/drawing/2014/main" id="{1439CADF-05D4-7D60-D962-6667713AE717}"/>
              </a:ext>
            </a:extLst>
          </p:cNvPr>
          <p:cNvSpPr txBox="1"/>
          <p:nvPr/>
        </p:nvSpPr>
        <p:spPr>
          <a:xfrm>
            <a:off x="3103734" y="242803"/>
            <a:ext cx="3063532" cy="369332"/>
          </a:xfrm>
          <a:prstGeom prst="rect">
            <a:avLst/>
          </a:prstGeom>
          <a:noFill/>
        </p:spPr>
        <p:txBody>
          <a:bodyPr wrap="square" rtlCol="0">
            <a:spAutoFit/>
          </a:bodyPr>
          <a:lstStyle/>
          <a:p>
            <a:pPr algn="ctr"/>
            <a:r>
              <a:rPr lang="en-US" sz="1800" b="1" dirty="0"/>
              <a:t>Canon Production Printing</a:t>
            </a:r>
            <a:endParaRPr lang="en-NL" sz="1800" b="1" dirty="0"/>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206850" y="761797"/>
            <a:ext cx="3063532" cy="1724832"/>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167266" y="242803"/>
            <a:ext cx="3063532" cy="369332"/>
          </a:xfrm>
          <a:prstGeom prst="rect">
            <a:avLst/>
          </a:prstGeom>
          <a:noFill/>
        </p:spPr>
        <p:txBody>
          <a:bodyPr wrap="square" rtlCol="0">
            <a:spAutoFit/>
          </a:bodyPr>
          <a:lstStyle/>
          <a:p>
            <a:pPr algn="ctr"/>
            <a:r>
              <a:rPr lang="en-US" sz="1800" b="1" dirty="0"/>
              <a:t>Parkinsons Disease</a:t>
            </a:r>
            <a:endParaRPr lang="en-NL" sz="1800" b="1" dirty="0"/>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334280" y="770298"/>
            <a:ext cx="2730300" cy="27303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462978" y="3585293"/>
            <a:ext cx="2642839" cy="300082"/>
          </a:xfrm>
          <a:prstGeom prst="rect">
            <a:avLst/>
          </a:prstGeom>
          <a:noFill/>
        </p:spPr>
        <p:txBody>
          <a:bodyPr wrap="none" rtlCol="0">
            <a:spAutoFit/>
          </a:bodyPr>
          <a:lstStyle/>
          <a:p>
            <a:r>
              <a:rPr lang="en-US" dirty="0"/>
              <a:t>Diffusion-Reaction Equations (PDE)</a:t>
            </a:r>
            <a:endParaRPr lang="en-NL" dirty="0"/>
          </a:p>
        </p:txBody>
      </p:sp>
      <p:sp>
        <p:nvSpPr>
          <p:cNvPr id="26" name="TextBox 25">
            <a:extLst>
              <a:ext uri="{FF2B5EF4-FFF2-40B4-BE49-F238E27FC236}">
                <a16:creationId xmlns:a16="http://schemas.microsoft.com/office/drawing/2014/main" id="{2F1903D6-4357-9D9B-6625-8DD12CD399A3}"/>
              </a:ext>
            </a:extLst>
          </p:cNvPr>
          <p:cNvSpPr txBox="1"/>
          <p:nvPr/>
        </p:nvSpPr>
        <p:spPr>
          <a:xfrm>
            <a:off x="6631079" y="3584376"/>
            <a:ext cx="2174378" cy="507831"/>
          </a:xfrm>
          <a:prstGeom prst="rect">
            <a:avLst/>
          </a:prstGeom>
          <a:noFill/>
        </p:spPr>
        <p:txBody>
          <a:bodyPr wrap="none" rtlCol="0">
            <a:spAutoFit/>
          </a:bodyPr>
          <a:lstStyle/>
          <a:p>
            <a:r>
              <a:rPr lang="en-US" dirty="0"/>
              <a:t>Differential Delay Equations </a:t>
            </a:r>
          </a:p>
          <a:p>
            <a:r>
              <a:rPr lang="en-US" dirty="0"/>
              <a:t>(DDE -&gt; PDE)</a:t>
            </a:r>
            <a:endParaRPr lang="en-NL" dirty="0"/>
          </a:p>
        </p:txBody>
      </p:sp>
      <p:sp>
        <p:nvSpPr>
          <p:cNvPr id="27" name="TextBox 26">
            <a:extLst>
              <a:ext uri="{FF2B5EF4-FFF2-40B4-BE49-F238E27FC236}">
                <a16:creationId xmlns:a16="http://schemas.microsoft.com/office/drawing/2014/main" id="{B3155AC1-FC2D-454D-38A1-B2C4E5F12CF3}"/>
              </a:ext>
            </a:extLst>
          </p:cNvPr>
          <p:cNvSpPr txBox="1"/>
          <p:nvPr/>
        </p:nvSpPr>
        <p:spPr>
          <a:xfrm>
            <a:off x="557214" y="3584376"/>
            <a:ext cx="2205091" cy="300082"/>
          </a:xfrm>
          <a:prstGeom prst="rect">
            <a:avLst/>
          </a:prstGeom>
          <a:noFill/>
        </p:spPr>
        <p:txBody>
          <a:bodyPr wrap="none" rtlCol="0">
            <a:spAutoFit/>
          </a:bodyPr>
          <a:lstStyle/>
          <a:p>
            <a:r>
              <a:rPr lang="en-US" dirty="0"/>
              <a:t>Wave/beam equations (PDE)</a:t>
            </a:r>
            <a:endParaRPr lang="en-NL" dirty="0"/>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206850" y="2451057"/>
            <a:ext cx="3063532" cy="1023530"/>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4280" y="799017"/>
            <a:ext cx="2905249" cy="2163805"/>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p:txBody>
          <a:bodyPr/>
          <a:lstStyle/>
          <a:p>
            <a:r>
              <a:rPr lang="en-US" b="1" dirty="0"/>
              <a:t>Partial Integral Equations</a:t>
            </a:r>
            <a:endParaRPr lang="en-NL" b="1" dirty="0"/>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755650" y="1032734"/>
            <a:ext cx="3598863" cy="3196367"/>
          </a:xfrm>
        </p:spPr>
        <p:txBody>
          <a:bodyPr/>
          <a:lstStyle/>
          <a:p>
            <a:pPr marL="342900" indent="-342900">
              <a:buFont typeface="Arial" panose="020B0604020202020204" pitchFamily="34" charset="0"/>
              <a:buChar char="•"/>
            </a:pPr>
            <a:r>
              <a:rPr lang="en-US" dirty="0"/>
              <a:t>Equivalent dynamics</a:t>
            </a:r>
          </a:p>
          <a:p>
            <a:pPr marL="342900" indent="-342900">
              <a:buFont typeface="Arial" panose="020B0604020202020204" pitchFamily="34" charset="0"/>
              <a:buChar char="•"/>
            </a:pPr>
            <a:r>
              <a:rPr lang="en-US" dirty="0"/>
              <a:t>Built in boundary conditions</a:t>
            </a:r>
          </a:p>
          <a:p>
            <a:pPr marL="342900" indent="-342900">
              <a:buFont typeface="Arial" panose="020B0604020202020204" pitchFamily="34" charset="0"/>
              <a:buChar char="•"/>
            </a:pPr>
            <a:r>
              <a:rPr lang="en-US" dirty="0"/>
              <a:t>Bounded operators</a:t>
            </a:r>
          </a:p>
          <a:p>
            <a:pPr marL="342900" indent="-342900">
              <a:buFont typeface="Arial" panose="020B0604020202020204" pitchFamily="34" charset="0"/>
              <a:buChar char="•"/>
            </a:pPr>
            <a:r>
              <a:rPr lang="en-US" b="1" u="sng" dirty="0"/>
              <a:t>Matrix-like algebra</a:t>
            </a:r>
          </a:p>
          <a:p>
            <a:pPr marL="342900" indent="-342900">
              <a:buFont typeface="Arial" panose="020B0604020202020204" pitchFamily="34" charset="0"/>
              <a:buChar char="•"/>
            </a:pPr>
            <a:r>
              <a:rPr lang="en-US" b="1" u="sng" dirty="0"/>
              <a:t>LMI-like computations</a:t>
            </a:r>
          </a:p>
          <a:p>
            <a:pPr marL="342900" indent="-342900">
              <a:buFont typeface="Arial" panose="020B0604020202020204" pitchFamily="34" charset="0"/>
              <a:buChar char="•"/>
            </a:pPr>
            <a:r>
              <a:rPr lang="en-US" dirty="0"/>
              <a:t>Controller synthesis for linear systems…..</a:t>
            </a:r>
            <a:endParaRPr lang="en-NL" dirty="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p:txBody>
          <a:bodyPr/>
          <a:lstStyle/>
          <a:p>
            <a:r>
              <a:rPr lang="nb-NO" dirty="0"/>
              <a:t>Msc Defence T.M. Lenssen</a:t>
            </a:r>
            <a:endParaRPr lang="en-GB" dirty="0"/>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p:txBody>
          <a:bodyPr/>
          <a:lstStyle/>
          <a:p>
            <a:fld id="{C194BDB0-F4EA-4DD6-8281-CCE2440D0CE0}" type="slidenum">
              <a:rPr lang="en-GB" smtClean="0"/>
              <a:t>4</a:t>
            </a:fld>
            <a:endParaRPr lang="en-GB" dirty="0"/>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4354513"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ODE-PDE</a:t>
            </a:r>
            <a:endParaRPr lang="en-NL" sz="2400" dirty="0"/>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069138"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PIE</a:t>
            </a:r>
            <a:endParaRPr lang="en-NL" sz="2400" dirty="0"/>
          </a:p>
        </p:txBody>
      </p:sp>
      <p:sp>
        <p:nvSpPr>
          <p:cNvPr id="14" name="Arrow: Left-Right 13">
            <a:extLst>
              <a:ext uri="{FF2B5EF4-FFF2-40B4-BE49-F238E27FC236}">
                <a16:creationId xmlns:a16="http://schemas.microsoft.com/office/drawing/2014/main" id="{A23F5219-74E1-ACD0-29BD-58B5CE4B6421}"/>
              </a:ext>
            </a:extLst>
          </p:cNvPr>
          <p:cNvSpPr/>
          <p:nvPr/>
        </p:nvSpPr>
        <p:spPr>
          <a:xfrm>
            <a:off x="6172200" y="960360"/>
            <a:ext cx="609600" cy="25675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6067978" y="1390621"/>
            <a:ext cx="818044" cy="400110"/>
          </a:xfrm>
          <a:prstGeom prst="rect">
            <a:avLst/>
          </a:prstGeom>
          <a:noFill/>
        </p:spPr>
        <p:txBody>
          <a:bodyPr wrap="none" rtlCol="0">
            <a:spAutoFit/>
          </a:bodyPr>
          <a:lstStyle/>
          <a:p>
            <a:r>
              <a:rPr lang="en-US" sz="2000" dirty="0">
                <a:solidFill>
                  <a:srgbClr val="FF0000"/>
                </a:solidFill>
              </a:rPr>
              <a:t>Exact!</a:t>
            </a:r>
            <a:endParaRPr lang="en-NL" dirty="0">
              <a:solidFill>
                <a:srgbClr val="FF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4421854" y="1788615"/>
                <a:ext cx="1250599" cy="629852"/>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𝑇</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i="1" dirty="0">
                  <a:latin typeface="Cambria Math" panose="02040503050406030204" pitchFamily="18" charset="0"/>
                </a:endParaRPr>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NL"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4421854" y="1788615"/>
                <a:ext cx="1250599" cy="629852"/>
              </a:xfrm>
              <a:prstGeom prst="rect">
                <a:avLst/>
              </a:prstGeom>
              <a:blipFill>
                <a:blip r:embed="rId3"/>
                <a:stretch>
                  <a:fillRect l="-2913" t="-3846" r="-1456" b="-1057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7065962" y="1784863"/>
                <a:ext cx="1952625" cy="948529"/>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𝑠</m:t>
                          </m:r>
                        </m:sup>
                        <m:e>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𝜉</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𝜉𝜉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𝜉</m:t>
                              </m:r>
                            </m:e>
                          </m:d>
                          <m:r>
                            <a:rPr lang="en-US" b="0" i="1" smtClean="0">
                              <a:latin typeface="Cambria Math" panose="02040503050406030204" pitchFamily="18" charset="0"/>
                            </a:rPr>
                            <m:t>𝑑</m:t>
                          </m:r>
                          <m:r>
                            <a:rPr lang="en-US" b="0" i="1" smtClean="0">
                              <a:latin typeface="Cambria Math" panose="02040503050406030204" pitchFamily="18" charset="0"/>
                            </a:rPr>
                            <m:t>𝜉</m:t>
                          </m:r>
                        </m:e>
                      </m:nary>
                    </m:oMath>
                  </m:oMathPara>
                </a14:m>
                <a:endParaRPr lang="en-NL"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7065962" y="1784863"/>
                <a:ext cx="1952625" cy="948529"/>
              </a:xfrm>
              <a:prstGeom prst="rect">
                <a:avLst/>
              </a:prstGeom>
              <a:blipFill>
                <a:blip r:embed="rId4"/>
                <a:stretch>
                  <a:fillRect l="-22188" t="-44516" b="-12709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2641601" y="2942701"/>
                <a:ext cx="4427537" cy="1792542"/>
              </a:xfrm>
              <a:prstGeom prst="rect">
                <a:avLst/>
              </a:prstGeom>
              <a:noFill/>
            </p:spPr>
            <p:txBody>
              <a:bodyPr wrap="square" lIns="0" tIns="0" rIns="0" bIns="0" rtlCol="0">
                <a:spAutoFit/>
              </a:bodyPr>
              <a:lstStyle/>
              <a:p>
                <a:pPr/>
                <a14:m>
                  <m:oMathPara xmlns:m="http://schemas.openxmlformats.org/officeDocument/2006/math">
                    <m:oMath>
                      <m:r>
                        <a:rPr lang="en-US" sz="2800" b="0" i="1" smtClean="0">
                          <a:solidFill>
                            <a:srgbClr val="00B050"/>
                          </a:solidFill>
                          <a:latin typeface="Cambria Math" panose="02040503050406030204" pitchFamily="18" charset="0"/>
                        </a:rPr>
                        <m:t>𝒯</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𝐱</m:t>
                              </m:r>
                            </m:e>
                          </m:acc>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ℬ</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i="1" dirty="0">
                  <a:latin typeface="Cambria Math" panose="02040503050406030204" pitchFamily="18" charset="0"/>
                </a:endParaRPr>
              </a:p>
              <a:p>
                <a:pPr/>
                <a14:m>
                  <m:oMathPara xmlns:m="http://schemas.openxmlformats.org/officeDocument/2006/math">
                    <m:oMath>
                      <m:r>
                        <a:rPr lang="en-US" sz="2800" b="0" i="1" smtClean="0">
                          <a:latin typeface="Cambria Math" panose="02040503050406030204" pitchFamily="18" charset="0"/>
                        </a:rPr>
                        <m:t>𝑧</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𝒞</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𝒟</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dirty="0"/>
              </a:p>
              <a:p>
                <a:pPr/>
                <a14:m>
                  <m:oMathPara xmlns:m="http://schemas.openxmlformats.org/officeDocument/2006/math">
                    <m:oMath>
                      <m:r>
                        <a:rPr lang="en-US" sz="2800" b="0" i="1" smtClean="0">
                          <a:solidFill>
                            <a:srgbClr val="00B050"/>
                          </a:solidFill>
                          <a:latin typeface="Cambria Math" panose="02040503050406030204" pitchFamily="18" charset="0"/>
                        </a:rPr>
                        <m:t>𝒯</m:t>
                      </m:r>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1" smtClean="0">
                              <a:latin typeface="Cambria Math" panose="02040503050406030204" pitchFamily="18" charset="0"/>
                            </a:rPr>
                            <m:t>Π</m:t>
                          </m:r>
                        </m:e>
                        <m:sub>
                          <m:r>
                            <a:rPr lang="en-US" sz="2800" b="0" i="1" smtClean="0">
                              <a:latin typeface="Cambria Math" panose="02040503050406030204" pitchFamily="18" charset="0"/>
                            </a:rPr>
                            <m:t>4</m:t>
                          </m:r>
                        </m:sub>
                      </m:sSub>
                    </m:oMath>
                  </m:oMathPara>
                </a14:m>
                <a:endParaRPr lang="en-US" sz="2800" b="0" dirty="0"/>
              </a:p>
              <a:p>
                <a:endParaRPr lang="en-NL" sz="28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2641601" y="2942701"/>
                <a:ext cx="4427537" cy="1792542"/>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2507669" y="3374832"/>
                <a:ext cx="14594316" cy="622158"/>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𝒜</m:t>
                      </m:r>
                      <m:r>
                        <a:rPr lang="en-US" sz="2400" b="0" i="1" smtClean="0">
                          <a:latin typeface="Cambria Math" panose="02040503050406030204" pitchFamily="18" charset="0"/>
                        </a:rPr>
                        <m:t>+</m:t>
                      </m:r>
                      <m:r>
                        <a:rPr lang="en-US" sz="2400" b="0" i="1" smtClean="0">
                          <a:latin typeface="Cambria Math" panose="02040503050406030204" pitchFamily="18" charset="0"/>
                        </a:rPr>
                        <m:t>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r>
                        <a:rPr lang="en-US" sz="2400" b="0" i="1" smtClean="0">
                          <a:latin typeface="Cambria Math" panose="02040503050406030204" pitchFamily="18" charset="0"/>
                        </a:rPr>
                        <m:t>𝒜ℬ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𝒜</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a:rPr lang="en-US" sz="2400" b="0" i="1" smtClean="0">
                                    <a:latin typeface="Cambria Math" panose="02040503050406030204" pitchFamily="18" charset="0"/>
                                  </a:rPr>
                                  <m:t>𝒜</m:t>
                                </m:r>
                              </m:e>
                              <m:e>
                                <m:r>
                                  <a:rPr lang="en-US" sz="2400" b="0" i="1" smtClean="0">
                                    <a:latin typeface="Cambria Math" panose="02040503050406030204" pitchFamily="18" charset="0"/>
                                  </a:rPr>
                                  <m:t>ℬ</m:t>
                                </m:r>
                              </m:e>
                            </m:mr>
                          </m:m>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oMath>
                  </m:oMathPara>
                </a14:m>
                <a:endParaRPr lang="en-US" b="0" dirty="0"/>
              </a:p>
              <a:p>
                <a:endParaRPr lang="en-NL"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2507669" y="3374832"/>
                <a:ext cx="14594316" cy="622158"/>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2854148" y="3031511"/>
                <a:ext cx="4386009" cy="960904"/>
              </a:xfrm>
              <a:prstGeom prst="rect">
                <a:avLst/>
              </a:prstGeom>
              <a:noFill/>
            </p:spPr>
            <p:txBody>
              <a:bodyPr wrap="none" lIns="0" tIns="0" rIns="0" bIns="0" rtlCol="0">
                <a:spAutoFit/>
              </a:bodyPr>
              <a:lstStyle/>
              <a:p>
                <a:r>
                  <a:rPr lang="en-US" sz="2000" b="0" i="1" dirty="0"/>
                  <a:t>Exponential stability  of PDE</a:t>
                </a:r>
              </a:p>
              <a:p>
                <a:pPr/>
                <a14:m>
                  <m:oMathPara xmlns:m="http://schemas.openxmlformats.org/officeDocument/2006/math">
                    <m:oMath>
                      <m:r>
                        <a:rPr lang="en-US" sz="2000" b="0" i="1" smtClean="0">
                          <a:latin typeface="Cambria Math" panose="02040503050406030204" pitchFamily="18" charset="0"/>
                        </a:rPr>
                        <m:t>∃</m:t>
                      </m:r>
                      <m:r>
                        <a:rPr lang="en-US" sz="2000" b="0" i="1" smtClean="0">
                          <a:latin typeface="Cambria Math" panose="02040503050406030204" pitchFamily="18" charset="0"/>
                        </a:rPr>
                        <m:t>𝒫</m:t>
                      </m:r>
                      <m:r>
                        <a:rPr lang="en-US" sz="2000" b="0" i="1" smtClean="0">
                          <a:latin typeface="Cambria Math" panose="02040503050406030204" pitchFamily="18" charset="0"/>
                        </a:rPr>
                        <m:t>≻0, 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𝒫𝒜</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oMath>
                  </m:oMathPara>
                </a14:m>
                <a:endParaRPr lang="en-US" sz="2000" b="0" i="1" dirty="0">
                  <a:latin typeface="Cambria Math" panose="02040503050406030204" pitchFamily="18" charset="0"/>
                </a:endParaRPr>
              </a:p>
              <a:p>
                <a:pPr/>
                <a14:m>
                  <m:oMathPara xmlns:m="http://schemas.openxmlformats.org/officeDocument/2006/math">
                    <m:oMath>
                      <m:r>
                        <a:rPr lang="en-US" sz="2000" b="0" i="1" smtClean="0">
                          <a:latin typeface="Cambria Math" panose="02040503050406030204" pitchFamily="18" charset="0"/>
                        </a:rPr>
                        <m:t>  </m:t>
                      </m:r>
                    </m:oMath>
                  </m:oMathPara>
                </a14:m>
                <a:endParaRPr lang="en-NL" sz="20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2854148" y="3031511"/>
                <a:ext cx="4386009" cy="960904"/>
              </a:xfrm>
              <a:prstGeom prst="rect">
                <a:avLst/>
              </a:prstGeom>
              <a:blipFill>
                <a:blip r:embed="rId7"/>
                <a:stretch>
                  <a:fillRect l="-3472" t="-8228"/>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9" presetClass="emph" presetSubtype="0" grpId="1" nodeType="withEffect">
                                  <p:stCondLst>
                                    <p:cond delay="0"/>
                                  </p:stCondLst>
                                  <p:childTnLst>
                                    <p:set>
                                      <p:cBhvr>
                                        <p:cTn id="20" dur="indefinite"/>
                                        <p:tgtEl>
                                          <p:spTgt spid="3">
                                            <p:txEl>
                                              <p:pRg st="0" end="0"/>
                                            </p:txEl>
                                          </p:spTgt>
                                        </p:tgtEl>
                                        <p:attrNameLst>
                                          <p:attrName>style.opacity</p:attrName>
                                        </p:attrNameLst>
                                      </p:cBhvr>
                                      <p:to>
                                        <p:strVal val="0.5"/>
                                      </p:to>
                                    </p:set>
                                    <p:animEffect filter="image" prLst="opacity: 0.5">
                                      <p:cBhvr rctx="IE">
                                        <p:cTn id="21" dur="indefinite"/>
                                        <p:tgtEl>
                                          <p:spTgt spid="3">
                                            <p:txEl>
                                              <p:pRg st="0" end="0"/>
                                            </p:txEl>
                                          </p:spTgt>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18"/>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17"/>
                                        </p:tgtEl>
                                        <p:attrNameLst>
                                          <p:attrName>style.visibility</p:attrName>
                                        </p:attrNameLst>
                                      </p:cBhvr>
                                      <p:to>
                                        <p:strVal val="hidden"/>
                                      </p:to>
                                    </p:set>
                                  </p:childTnLst>
                                </p:cTn>
                              </p:par>
                              <p:par>
                                <p:cTn id="34" presetID="9" presetClass="emph" presetSubtype="0" grpId="1" nodeType="withEffect">
                                  <p:stCondLst>
                                    <p:cond delay="0"/>
                                  </p:stCondLst>
                                  <p:childTnLst>
                                    <p:set>
                                      <p:cBhvr>
                                        <p:cTn id="35" dur="indefinite"/>
                                        <p:tgtEl>
                                          <p:spTgt spid="3">
                                            <p:txEl>
                                              <p:pRg st="1" end="1"/>
                                            </p:txEl>
                                          </p:spTgt>
                                        </p:tgtEl>
                                        <p:attrNameLst>
                                          <p:attrName>style.opacity</p:attrName>
                                        </p:attrNameLst>
                                      </p:cBhvr>
                                      <p:to>
                                        <p:strVal val="0.5"/>
                                      </p:to>
                                    </p:set>
                                    <p:animEffect filter="image" prLst="opacity: 0.5">
                                      <p:cBhvr rctx="IE">
                                        <p:cTn id="36" dur="indefinite"/>
                                        <p:tgtEl>
                                          <p:spTgt spid="3">
                                            <p:txEl>
                                              <p:pRg st="1" end="1"/>
                                            </p:txEl>
                                          </p:spTgt>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9" presetClass="emph" presetSubtype="0" grpId="1" nodeType="withEffect">
                                  <p:stCondLst>
                                    <p:cond delay="0"/>
                                  </p:stCondLst>
                                  <p:childTnLst>
                                    <p:set>
                                      <p:cBhvr>
                                        <p:cTn id="48" dur="indefinite"/>
                                        <p:tgtEl>
                                          <p:spTgt spid="3">
                                            <p:txEl>
                                              <p:pRg st="2" end="2"/>
                                            </p:txEl>
                                          </p:spTgt>
                                        </p:tgtEl>
                                        <p:attrNameLst>
                                          <p:attrName>style.opacity</p:attrName>
                                        </p:attrNameLst>
                                      </p:cBhvr>
                                      <p:to>
                                        <p:strVal val="0.5"/>
                                      </p:to>
                                    </p:set>
                                    <p:animEffect filter="image" prLst="opacity: 0.5">
                                      <p:cBhvr rctx="IE">
                                        <p:cTn id="49" dur="indefinite"/>
                                        <p:tgtEl>
                                          <p:spTgt spid="3">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xit" presetSubtype="0" fill="hold" grpId="1" nodeType="withEffect">
                                  <p:stCondLst>
                                    <p:cond delay="0"/>
                                  </p:stCondLst>
                                  <p:childTnLst>
                                    <p:set>
                                      <p:cBhvr>
                                        <p:cTn id="57" dur="1" fill="hold">
                                          <p:stCondLst>
                                            <p:cond delay="0"/>
                                          </p:stCondLst>
                                        </p:cTn>
                                        <p:tgtEl>
                                          <p:spTgt spid="22"/>
                                        </p:tgtEl>
                                        <p:attrNameLst>
                                          <p:attrName>style.visibility</p:attrName>
                                        </p:attrNameLst>
                                      </p:cBhvr>
                                      <p:to>
                                        <p:strVal val="hidden"/>
                                      </p:to>
                                    </p:set>
                                  </p:childTnLst>
                                </p:cTn>
                              </p:par>
                              <p:par>
                                <p:cTn id="58" presetID="9" presetClass="emph" presetSubtype="0" grpId="1" nodeType="withEffect">
                                  <p:stCondLst>
                                    <p:cond delay="0"/>
                                  </p:stCondLst>
                                  <p:childTnLst>
                                    <p:set>
                                      <p:cBhvr>
                                        <p:cTn id="59" dur="indefinite"/>
                                        <p:tgtEl>
                                          <p:spTgt spid="3">
                                            <p:txEl>
                                              <p:pRg st="3" end="3"/>
                                            </p:txEl>
                                          </p:spTgt>
                                        </p:tgtEl>
                                        <p:attrNameLst>
                                          <p:attrName>style.opacity</p:attrName>
                                        </p:attrNameLst>
                                      </p:cBhvr>
                                      <p:to>
                                        <p:strVal val="0.5"/>
                                      </p:to>
                                    </p:set>
                                    <p:animEffect filter="image" prLst="opacity: 0.5">
                                      <p:cBhvr rctx="IE">
                                        <p:cTn id="60" dur="indefinite"/>
                                        <p:tgtEl>
                                          <p:spTgt spid="3">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9" presetClass="emph" presetSubtype="0" grpId="1" nodeType="withEffect">
                                  <p:stCondLst>
                                    <p:cond delay="0"/>
                                  </p:stCondLst>
                                  <p:childTnLst>
                                    <p:set>
                                      <p:cBhvr>
                                        <p:cTn id="68" dur="indefinite"/>
                                        <p:tgtEl>
                                          <p:spTgt spid="3">
                                            <p:txEl>
                                              <p:pRg st="4" end="4"/>
                                            </p:txEl>
                                          </p:spTgt>
                                        </p:tgtEl>
                                        <p:attrNameLst>
                                          <p:attrName>style.opacity</p:attrName>
                                        </p:attrNameLst>
                                      </p:cBhvr>
                                      <p:to>
                                        <p:strVal val="0.5"/>
                                      </p:to>
                                    </p:set>
                                    <p:animEffect filter="image" prLst="opacity: 0.5">
                                      <p:cBhvr rctx="IE">
                                        <p:cTn id="69"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11" grpId="0" animBg="1"/>
      <p:bldP spid="13" grpId="0" animBg="1"/>
      <p:bldP spid="14" grpId="0" animBg="1"/>
      <p:bldP spid="15" grpId="0"/>
      <p:bldP spid="17" grpId="0"/>
      <p:bldP spid="17" grpId="1"/>
      <p:bldP spid="18" grpId="0"/>
      <p:bldP spid="18" grpId="1"/>
      <p:bldP spid="21" grpId="0"/>
      <p:bldP spid="21" grpId="1"/>
      <p:bldP spid="22" grpId="0"/>
      <p:bldP spid="22" grpId="1"/>
      <p:bldP spid="23" grpId="0"/>
      <p:bldP spid="2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p:txBody>
          <a:bodyPr/>
          <a:lstStyle/>
          <a:p>
            <a:fld id="{C194BDB0-F4EA-4DD6-8281-CCE2440D0CE0}" type="slidenum">
              <a:rPr lang="en-GB" smtClean="0"/>
              <a:t>5</a:t>
            </a:fld>
            <a:endParaRPr lang="en-GB"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1719776" y="1565551"/>
                <a:ext cx="5704447" cy="463653"/>
              </a:xfrm>
              <a:prstGeom prst="rect">
                <a:avLst/>
              </a:prstGeom>
              <a:noFill/>
            </p:spPr>
            <p:txBody>
              <a:bodyPr wrap="none" lIns="0" tIns="0" rIns="0" bIns="0" rtlCol="0">
                <a:spAutoFit/>
              </a:bodyPr>
              <a:lstStyle/>
              <a:p>
                <a14:m>
                  <m:oMathPara xmlns:m="http://schemas.openxmlformats.org/officeDocument/2006/math">
                    <m:oMath>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𝑡</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=0.01 </m:t>
                      </m:r>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𝑠𝑠</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d>
                        <m:dPr>
                          <m:begChr m:val="["/>
                          <m:endChr m:val="]"/>
                          <m:ctrlPr>
                            <a:rPr lang="nl-NL" i="1">
                              <a:latin typeface="Cambria Math" panose="02040503050406030204" pitchFamily="18" charset="0"/>
                            </a:rPr>
                          </m:ctrlPr>
                        </m:dPr>
                        <m:e>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0.25</m:t>
                                  </m:r>
                                  <m:d>
                                    <m:dPr>
                                      <m:ctrlPr>
                                        <a:rPr lang="nl-NL" i="1">
                                          <a:latin typeface="Cambria Math" panose="02040503050406030204" pitchFamily="18" charset="0"/>
                                        </a:rPr>
                                      </m:ctrlPr>
                                    </m:dPr>
                                    <m:e>
                                      <m:r>
                                        <a:rPr lang="nl-NL" i="1">
                                          <a:latin typeface="Cambria Math" panose="02040503050406030204" pitchFamily="18" charset="0"/>
                                        </a:rPr>
                                        <m:t>1+</m:t>
                                      </m:r>
                                      <m:r>
                                        <a:rPr lang="nl-NL" i="1">
                                          <a:latin typeface="Cambria Math" panose="02040503050406030204" pitchFamily="18" charset="0"/>
                                        </a:rPr>
                                        <m:t>𝛿</m:t>
                                      </m:r>
                                    </m:e>
                                  </m:d>
                                </m:e>
                              </m:groupChr>
                            </m:e>
                            <m:lim>
                              <m:r>
                                <m:rPr>
                                  <m:nor/>
                                </m:rPr>
                                <a:rPr lang="nl-NL" i="0">
                                  <a:latin typeface="Cambria Math" panose="02040503050406030204" pitchFamily="18" charset="0"/>
                                </a:rPr>
                                <m:t>heat generation</m:t>
                              </m:r>
                            </m:lim>
                          </m:limLow>
                          <m:r>
                            <a:rPr lang="nl-NL" i="1">
                              <a:latin typeface="Cambria Math" panose="02040503050406030204" pitchFamily="18" charset="0"/>
                            </a:rPr>
                            <m:t>−</m:t>
                          </m:r>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m:t>
                                  </m:r>
                                </m:e>
                              </m:groupChr>
                            </m:e>
                            <m:lim>
                              <m:r>
                                <m:rPr>
                                  <m:nor/>
                                </m:rPr>
                                <a:rPr lang="nl-NL" i="0">
                                  <a:latin typeface="Cambria Math" panose="02040503050406030204" pitchFamily="18" charset="0"/>
                                </a:rPr>
                                <m:t>cooling</m:t>
                              </m:r>
                            </m:lim>
                          </m:limLow>
                        </m:e>
                      </m:d>
                      <m:r>
                        <m:rPr>
                          <m:sty m:val="p"/>
                        </m:rPr>
                        <a:rPr lang="nl-NL" i="1">
                          <a:latin typeface="Cambria Math" panose="02040503050406030204" pitchFamily="18" charset="0"/>
                        </a:rPr>
                        <m:t>heat</m:t>
                      </m:r>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oMath>
                  </m:oMathPara>
                </a14:m>
                <a:endParaRPr lang="en-NL"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1719776" y="1565551"/>
                <a:ext cx="5704447" cy="463653"/>
              </a:xfrm>
              <a:prstGeom prst="rect">
                <a:avLst/>
              </a:prstGeom>
              <a:blipFill>
                <a:blip r:embed="rId3"/>
                <a:stretch>
                  <a:fillRect l="-214" b="-9211"/>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426" y="2119148"/>
            <a:ext cx="3947796" cy="2359308"/>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9862" y="0"/>
            <a:ext cx="9015684" cy="1713094"/>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260489" y="2964256"/>
            <a:ext cx="3625327" cy="3000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Solved during internship</a:t>
            </a:r>
            <a:endParaRPr lang="en-NL" dirty="0"/>
          </a:p>
        </p:txBody>
      </p:sp>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p:txBody>
          <a:bodyPr/>
          <a:lstStyle/>
          <a:p>
            <a:fld id="{C194BDB0-F4EA-4DD6-8281-CCE2440D0CE0}" type="slidenum">
              <a:rPr lang="en-GB" smtClean="0"/>
              <a:t>6</a:t>
            </a:fld>
            <a:endParaRPr lang="en-GB" dirty="0"/>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3600"/>
            <a:ext cx="4572000" cy="4572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0" y="0"/>
            <a:ext cx="9143998" cy="5135173"/>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p:txBody>
          <a:bodyPr/>
          <a:lstStyle/>
          <a:p>
            <a:fld id="{C194BDB0-F4EA-4DD6-8281-CCE2440D0CE0}" type="slidenum">
              <a:rPr lang="en-GB" smtClean="0"/>
              <a:t>8</a:t>
            </a:fld>
            <a:endParaRPr lang="en-GB" dirty="0"/>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730" y="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2736730" y="4132712"/>
            <a:ext cx="3152723" cy="300082"/>
          </a:xfrm>
          <a:prstGeom prst="rect">
            <a:avLst/>
          </a:prstGeom>
          <a:noFill/>
        </p:spPr>
        <p:txBody>
          <a:bodyPr wrap="none" rtlCol="0">
            <a:spAutoFit/>
          </a:bodyPr>
          <a:lstStyle/>
          <a:p>
            <a:r>
              <a:rPr lang="en-US" dirty="0"/>
              <a:t>[1] beta oscillatory activity in basal ganglia</a:t>
            </a:r>
            <a:endParaRPr lang="en-NL" dirty="0"/>
          </a:p>
        </p:txBody>
      </p:sp>
      <p:sp>
        <p:nvSpPr>
          <p:cNvPr id="15" name="Rectangle 14">
            <a:extLst>
              <a:ext uri="{FF2B5EF4-FFF2-40B4-BE49-F238E27FC236}">
                <a16:creationId xmlns:a16="http://schemas.microsoft.com/office/drawing/2014/main" id="{C0F45872-814F-5DFF-46B3-563E22BDF6BD}"/>
              </a:ext>
            </a:extLst>
          </p:cNvPr>
          <p:cNvSpPr/>
          <p:nvPr/>
        </p:nvSpPr>
        <p:spPr>
          <a:xfrm>
            <a:off x="3485478" y="1882588"/>
            <a:ext cx="1957890" cy="11403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736730" y="3022900"/>
            <a:ext cx="1361934" cy="11098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173967" y="22483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p:txBody>
          <a:bodyPr/>
          <a:lstStyle/>
          <a:p>
            <a:r>
              <a:rPr lang="en-US" dirty="0"/>
              <a:t>References</a:t>
            </a:r>
            <a:endParaRPr lang="en-NL" dirty="0"/>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p:txBody>
          <a:bodyPr/>
          <a:lstStyle/>
          <a:p>
            <a:r>
              <a:rPr lang="nb-NO"/>
              <a:t>Msc Defence T.M. Lenssen</a:t>
            </a:r>
            <a:endParaRPr lang="en-GB" dirty="0"/>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p:txBody>
          <a:bodyPr/>
          <a:lstStyle/>
          <a:p>
            <a:fld id="{C194BDB0-F4EA-4DD6-8281-CCE2440D0CE0}" type="slidenum">
              <a:rPr lang="en-GB" smtClean="0"/>
              <a:t>10</a:t>
            </a:fld>
            <a:endParaRPr lang="en-GB" dirty="0"/>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p:txBody>
          <a:bodyPr/>
          <a:lstStyle/>
          <a:p>
            <a:r>
              <a:rPr lang="en-US" dirty="0"/>
              <a:t>[1] </a:t>
            </a:r>
            <a:r>
              <a:rPr lang="en-US" dirty="0" err="1"/>
              <a:t>B.De</a:t>
            </a:r>
            <a:r>
              <a:rPr lang="en-US" dirty="0"/>
              <a:t> la </a:t>
            </a:r>
            <a:r>
              <a:rPr lang="en-US" dirty="0" err="1"/>
              <a:t>Crompe</a:t>
            </a:r>
            <a:r>
              <a:rPr lang="en-US" dirty="0"/>
              <a:t>, </a:t>
            </a:r>
            <a:r>
              <a:rPr lang="en-US" dirty="0" err="1"/>
              <a:t>M.Deffains</a:t>
            </a:r>
            <a:r>
              <a:rPr lang="en-US" dirty="0"/>
              <a:t>, </a:t>
            </a:r>
            <a:r>
              <a:rPr lang="en-US" dirty="0" err="1"/>
              <a:t>A.Leblois</a:t>
            </a:r>
            <a:r>
              <a:rPr lang="en-US" dirty="0"/>
              <a:t>, </a:t>
            </a:r>
            <a:r>
              <a:rPr lang="en-US" dirty="0" err="1"/>
              <a:t>N.Mallet</a:t>
            </a:r>
            <a:r>
              <a:rPr lang="en-US" dirty="0"/>
              <a:t>, “Reevaluating the role of the STN-</a:t>
            </a:r>
            <a:r>
              <a:rPr lang="en-US" dirty="0" err="1"/>
              <a:t>Gpe</a:t>
            </a:r>
            <a:r>
              <a:rPr lang="en-US" dirty="0"/>
              <a:t> network in generating beta synchronized oscillatory activity in parkinsonism.”</a:t>
            </a:r>
          </a:p>
          <a:p>
            <a:r>
              <a:rPr lang="en-US" dirty="0"/>
              <a:t>[2]A.J. Nevado </a:t>
            </a:r>
            <a:r>
              <a:rPr lang="en-US" dirty="0" err="1"/>
              <a:t>Holgade</a:t>
            </a:r>
            <a:r>
              <a:rPr lang="en-US" dirty="0"/>
              <a:t>, </a:t>
            </a:r>
            <a:r>
              <a:rPr lang="en-US" dirty="0" err="1"/>
              <a:t>J.R.Terry,R.Bogacz</a:t>
            </a:r>
            <a:r>
              <a:rPr lang="en-US" dirty="0"/>
              <a:t>, “Conditions for the Generation of Beta Oscillations in the Subthalamic Nucleus-Globus Pallidus Network”</a:t>
            </a:r>
          </a:p>
        </p:txBody>
      </p:sp>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p:txBody>
          <a:bodyPr/>
          <a:lstStyle/>
          <a:p>
            <a:fld id="{C194BDB0-F4EA-4DD6-8281-CCE2440D0CE0}" type="slidenum">
              <a:rPr lang="en-GB" smtClean="0"/>
              <a:t>11</a:t>
            </a:fld>
            <a:endParaRPr lang="en-GB" dirty="0"/>
          </a:p>
        </p:txBody>
      </p:sp>
      <p:sp>
        <p:nvSpPr>
          <p:cNvPr id="6" name="TextBox 5">
            <a:extLst>
              <a:ext uri="{FF2B5EF4-FFF2-40B4-BE49-F238E27FC236}">
                <a16:creationId xmlns:a16="http://schemas.microsoft.com/office/drawing/2014/main" id="{3412D5D6-0185-91C2-2A41-6C3B78B8A65C}"/>
              </a:ext>
            </a:extLst>
          </p:cNvPr>
          <p:cNvSpPr txBox="1"/>
          <p:nvPr/>
        </p:nvSpPr>
        <p:spPr>
          <a:xfrm>
            <a:off x="986980" y="817582"/>
            <a:ext cx="7170040" cy="300082"/>
          </a:xfrm>
          <a:prstGeom prst="rect">
            <a:avLst/>
          </a:prstGeom>
          <a:noFill/>
        </p:spPr>
        <p:txBody>
          <a:bodyPr wrap="none" rtlCol="0">
            <a:spAutoFit/>
          </a:bodyPr>
          <a:lstStyle/>
          <a:p>
            <a:r>
              <a:rPr lang="en-US" dirty="0"/>
              <a:t>Goal: Can we find a single tool to </a:t>
            </a:r>
            <a:r>
              <a:rPr lang="en-US" dirty="0" err="1"/>
              <a:t>analyse</a:t>
            </a:r>
            <a:r>
              <a:rPr lang="en-US" dirty="0"/>
              <a:t> and control a large class of Partial Integral Equations(PIE)?</a:t>
            </a:r>
            <a:endParaRPr lang="en-NL" dirty="0"/>
          </a:p>
        </p:txBody>
      </p:sp>
      <p:sp>
        <p:nvSpPr>
          <p:cNvPr id="7" name="TextBox 6">
            <a:extLst>
              <a:ext uri="{FF2B5EF4-FFF2-40B4-BE49-F238E27FC236}">
                <a16:creationId xmlns:a16="http://schemas.microsoft.com/office/drawing/2014/main" id="{1E839C8E-BE40-063E-7661-6AADA38550E1}"/>
              </a:ext>
            </a:extLst>
          </p:cNvPr>
          <p:cNvSpPr txBox="1"/>
          <p:nvPr/>
        </p:nvSpPr>
        <p:spPr>
          <a:xfrm>
            <a:off x="2786231" y="1430767"/>
            <a:ext cx="2725746" cy="715581"/>
          </a:xfrm>
          <a:prstGeom prst="rect">
            <a:avLst/>
          </a:prstGeom>
          <a:noFill/>
        </p:spPr>
        <p:txBody>
          <a:bodyPr wrap="none" rtlCol="0">
            <a:spAutoFit/>
          </a:bodyPr>
          <a:lstStyle/>
          <a:p>
            <a:pPr marL="285750" indent="-285750">
              <a:buFont typeface="Arial" panose="020B0604020202020204" pitchFamily="34" charset="0"/>
              <a:buChar char="•"/>
            </a:pPr>
            <a:r>
              <a:rPr lang="en-US" dirty="0"/>
              <a:t>Analysis capabilities</a:t>
            </a:r>
          </a:p>
          <a:p>
            <a:pPr marL="285750" indent="-285750">
              <a:buFont typeface="Arial" panose="020B0604020202020204" pitchFamily="34" charset="0"/>
              <a:buChar char="•"/>
            </a:pPr>
            <a:r>
              <a:rPr lang="en-US" dirty="0"/>
              <a:t>Duality argument</a:t>
            </a:r>
          </a:p>
          <a:p>
            <a:pPr marL="285750" indent="-285750">
              <a:buFont typeface="Arial" panose="020B0604020202020204" pitchFamily="34" charset="0"/>
              <a:buChar char="•"/>
            </a:pPr>
            <a:r>
              <a:rPr lang="en-US" dirty="0"/>
              <a:t>Convex state feedback synthesis</a:t>
            </a:r>
            <a:endParaRPr lang="en-NL" dirty="0"/>
          </a:p>
        </p:txBody>
      </p:sp>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