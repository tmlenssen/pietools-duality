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howSpecialPlsOnTitleSld="0" saveSubsetFonts="1">
  <p:sldMasterIdLst>
    <p:sldMasterId id="2147483660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 showMasterSp="0">
  <p:cSld name="Clean White -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44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1663700"/>
            <a:ext cx="822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sp>
        <p:nvSpPr>
          <p:cNvPr id="4" name="Clean body 13"/>
          <p:cNvSpPr>
            <a:spLocks noGrp="1"/>
          </p:cNvSpPr>
          <p:nvPr>
            <p:ph type="body" idx="13"/>
          </p:nvPr>
        </p:nvSpPr>
        <p:spPr>
          <a:xfrm>
            <a:off x="457200" y="2971800"/>
            <a:ext cx="32766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3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Name and supervisor</a:t>
            </a:r>
          </a:p>
        </p:txBody>
      </p:sp>
      <p:sp>
        <p:nvSpPr>
          <p:cNvPr id="5" name="Clean body 14"/>
          <p:cNvSpPr>
            <a:spLocks noGrp="1"/>
          </p:cNvSpPr>
          <p:nvPr>
            <p:ph type="body" idx="14"/>
          </p:nvPr>
        </p:nvSpPr>
        <p:spPr>
          <a:xfrm>
            <a:off x="457200" y="3835400"/>
            <a:ext cx="3276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1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Department / date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 showMasterSp="0">
  <p:cSld name="Clean White -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171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section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3048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 showMasterSp="0">
  <p:cSld name="Clean White - Title with fig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44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1663700"/>
            <a:ext cx="822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sp>
        <p:nvSpPr>
          <p:cNvPr id="4" name="Clean body 13"/>
          <p:cNvSpPr>
            <a:spLocks noGrp="1"/>
          </p:cNvSpPr>
          <p:nvPr>
            <p:ph type="body" idx="13"/>
          </p:nvPr>
        </p:nvSpPr>
        <p:spPr>
          <a:xfrm>
            <a:off x="457200" y="2971800"/>
            <a:ext cx="32766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3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Name and supervisor</a:t>
            </a:r>
          </a:p>
        </p:txBody>
      </p:sp>
      <p:sp>
        <p:nvSpPr>
          <p:cNvPr id="5" name="Clean body 14"/>
          <p:cNvSpPr>
            <a:spLocks noGrp="1"/>
          </p:cNvSpPr>
          <p:nvPr>
            <p:ph type="body" idx="14"/>
          </p:nvPr>
        </p:nvSpPr>
        <p:spPr>
          <a:xfrm>
            <a:off x="457200" y="3835400"/>
            <a:ext cx="3276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1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Department / date</a:t>
            </a:r>
          </a:p>
        </p:txBody>
      </p:sp>
      <p:sp>
        <p:nvSpPr>
          <p:cNvPr id="25" name="Clean pic 15"/>
          <p:cNvSpPr>
            <a:spLocks noGrp="1"/>
          </p:cNvSpPr>
          <p:nvPr>
            <p:ph type="pic" idx="15"/>
          </p:nvPr>
        </p:nvSpPr>
        <p:spPr>
          <a:xfrm>
            <a:off x="4381500" y="2349500"/>
            <a:ext cx="4064000" cy="20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 showMasterSp="1">
  <p:cSld name="Clean White -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 showMasterSp="1">
  <p:cSld name="Clean White -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444500"/>
            <a:ext cx="3911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Left heading</a:t>
            </a:r>
          </a:p>
        </p:txBody>
      </p:sp>
      <p:sp>
        <p:nvSpPr>
          <p:cNvPr id="23" name="Clean body 13"/>
          <p:cNvSpPr>
            <a:spLocks noGrp="1"/>
          </p:cNvSpPr>
          <p:nvPr>
            <p:ph type="body" idx="13"/>
          </p:nvPr>
        </p:nvSpPr>
        <p:spPr>
          <a:xfrm>
            <a:off x="4775200" y="444500"/>
            <a:ext cx="3911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Right heading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536700"/>
            <a:ext cx="39116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12" name="Clean obj 2"/>
          <p:cNvSpPr>
            <a:spLocks noGrp="1"/>
          </p:cNvSpPr>
          <p:nvPr>
            <p:ph type="obj" idx="2"/>
          </p:nvPr>
        </p:nvSpPr>
        <p:spPr>
          <a:xfrm>
            <a:off x="4775200" y="1536700"/>
            <a:ext cx="39116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 showMasterSp="1">
  <p:cSld name="Clean White - Text and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 showMasterSp="1">
  <p:cSld name="Clean White - Wide Text and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5334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6248400" y="1219200"/>
            <a:ext cx="24384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 showMasterSp="1">
  <p:cSld name="Clean White - Figur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obj 13"/>
          <p:cNvSpPr>
            <a:spLocks noGrp="1"/>
          </p:cNvSpPr>
          <p:nvPr>
            <p:ph type="obj" idx="13"/>
          </p:nvPr>
        </p:nvSpPr>
        <p:spPr>
          <a:xfrm>
            <a:off x="1625600" y="1092200"/>
            <a:ext cx="5892800" cy="3314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figure or video</a:t>
            </a:r>
          </a:p>
        </p:txBody>
      </p:sp>
      <p:sp>
        <p:nvSpPr>
          <p:cNvPr id="24" name="Clean body 14"/>
          <p:cNvSpPr>
            <a:spLocks noGrp="1"/>
          </p:cNvSpPr>
          <p:nvPr>
            <p:ph type="body" idx="14"/>
          </p:nvPr>
        </p:nvSpPr>
        <p:spPr>
          <a:xfrm>
            <a:off x="914400" y="44704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ctr">
              <a:lnSpc>
                <a:spcPct val="112000"/>
              </a:lnSpc>
              <a:spcAft>
                <a:spcPts val="0"/>
              </a:spcAft>
              <a:buNone/>
              <a:defRPr sz="12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Click to add caption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Three Pa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5" name="Clean pic 15"/>
          <p:cNvSpPr>
            <a:spLocks noGrp="1"/>
          </p:cNvSpPr>
          <p:nvPr>
            <p:ph type="pic" idx="15"/>
          </p:nvPr>
        </p:nvSpPr>
        <p:spPr>
          <a:xfrm>
            <a:off x="4572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23" name="Clean obj 13"/>
          <p:cNvSpPr>
            <a:spLocks noGrp="1"/>
          </p:cNvSpPr>
          <p:nvPr>
            <p:ph type="obj" idx="13"/>
          </p:nvPr>
        </p:nvSpPr>
        <p:spPr>
          <a:xfrm>
            <a:off x="33528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6" name="Clean pic 16"/>
          <p:cNvSpPr>
            <a:spLocks noGrp="1"/>
          </p:cNvSpPr>
          <p:nvPr>
            <p:ph type="pic" idx="16"/>
          </p:nvPr>
        </p:nvSpPr>
        <p:spPr>
          <a:xfrm>
            <a:off x="33528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24" name="Clean obj 14"/>
          <p:cNvSpPr>
            <a:spLocks noGrp="1"/>
          </p:cNvSpPr>
          <p:nvPr>
            <p:ph type="obj" idx="14"/>
          </p:nvPr>
        </p:nvSpPr>
        <p:spPr>
          <a:xfrm>
            <a:off x="62484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7" name="Clean pic 17"/>
          <p:cNvSpPr>
            <a:spLocks noGrp="1"/>
          </p:cNvSpPr>
          <p:nvPr>
            <p:ph type="pic" idx="17"/>
          </p:nvPr>
        </p:nvSpPr>
        <p:spPr>
          <a:xfrm>
            <a:off x="62484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Pictur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Picture and Wide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219200"/>
            <a:ext cx="24384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3352800" y="1219200"/>
            <a:ext cx="5334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 showMasterSp="1">
  <p:cSld name="Clean White - 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Clean White -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 showMasterSp="1">
  <p:cSld name="Clean White - Large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092200"/>
            <a:ext cx="8229600" cy="347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 showMasterSp="1">
  <p:cSld name="Clean White -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12" name="Clean obj 2"/>
          <p:cNvSpPr>
            <a:spLocks noGrp="1"/>
          </p:cNvSpPr>
          <p:nvPr>
            <p:ph type="obj" idx="2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tbl" preserve="1" showMasterSp="1">
  <p:cSld name="Clean White - Table and No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tbl 13"/>
          <p:cNvSpPr>
            <a:spLocks noGrp="1"/>
          </p:cNvSpPr>
          <p:nvPr>
            <p:ph type="tbl" idx="13"/>
          </p:nvPr>
        </p:nvSpPr>
        <p:spPr>
          <a:xfrm>
            <a:off x="457200" y="1219200"/>
            <a:ext cx="8229600" cy="22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table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3721100"/>
            <a:ext cx="82296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notes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chart" preserve="1" showMasterSp="1">
  <p:cSld name="Clean White -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chart 13"/>
          <p:cNvSpPr>
            <a:spLocks noGrp="1"/>
          </p:cNvSpPr>
          <p:nvPr>
            <p:ph type="chart" idx="13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chart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Ue - Clean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body 1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  <p:pic>
        <p:nvPicPr>
          <p:cNvPr id="100" name="TUe 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4813300"/>
            <a:ext cx="457200" cy="2670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hdr="0" dt="0" ftr="1" sldNum="1"/>
  <p:txStyles>
    <p:titleStyle>
      <a:lvl1pPr marL="0" indent="0" algn="l">
        <a:lnSpc>
          <a:spcPct val="112000"/>
        </a:lnSpc>
        <a:spcAft>
          <a:spcPts val="0"/>
        </a:spcAft>
        <a:buNone/>
        <a:defRPr sz="2500" b="1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0"/>
        </a:spcAft>
        <a:buNone/>
        <a:defRPr sz="2400" b="1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2300" b="1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2200" b="1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2100" b="1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2000" b="1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900" b="1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800" b="1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700" b="1">
          <a:solidFill>
            <a:srgbClr val="252529"/>
          </a:solidFill>
          <a:latin typeface="Aptos"/>
          <a:ea typeface="Aptos"/>
          <a:cs typeface="Aptos"/>
        </a:defRPr>
      </a:lvl9pPr>
    </p:titleStyle>
    <p:bodyStyle>
      <a:lvl1pPr marL="0" indent="0" algn="l">
        <a:lnSpc>
          <a:spcPct val="112000"/>
        </a:lnSpc>
        <a:spcAft>
          <a:spcPts val="1000"/>
        </a:spcAft>
        <a:buNone/>
        <a:defRPr sz="1800" b="0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1000"/>
        </a:spcAft>
        <a:buNone/>
        <a:defRPr sz="1700" b="0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1600" b="0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1500" b="0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9pPr>
    </p:bodyStyle>
    <p:otherStyle>
      <a:lvl1pPr marL="0" indent="0" algn="l">
        <a:lnSpc>
          <a:spcPct val="112000"/>
        </a:lnSpc>
        <a:spcAft>
          <a:spcPts val="1000"/>
        </a:spcAft>
        <a:buNone/>
        <a:defRPr sz="1800" b="0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1000"/>
        </a:spcAft>
        <a:buNone/>
        <a:defRPr sz="1700" b="0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1600" b="0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1500" b="0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RC circuit - structured uncertainty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2616630" y="1818389"/>
            <a:ext cx="3910740" cy="1951222"/>
            <a:chOff x="2616630" y="1818389"/>
            <a:chExt cx="3910740" cy="195122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3693693" y="2743599"/>
              <a:ext cx="1865233" cy="1026012"/>
            </a:xfrm>
            <a:custGeom>
              <a:avLst/>
              <a:gdLst/>
              <a:ahLst/>
              <a:cxnLst/>
              <a:rect l="0" t="0" r="r" b="b"/>
              <a:pathLst>
                <a:path w="1865233" h="1026012" fill="norm" stroke="1">
                  <a:moveTo>
                    <a:pt x="1829173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989952"/>
                  </a:lnTo>
                  <a:cubicBezTo>
                    <a:pt x="0" y="1009867"/>
                    <a:pt x="16145" y="1026012"/>
                    <a:pt x="36060" y="1026012"/>
                  </a:cubicBezTo>
                  <a:lnTo>
                    <a:pt x="1829173" y="1026012"/>
                  </a:lnTo>
                  <a:cubicBezTo>
                    <a:pt x="1849089" y="1026012"/>
                    <a:pt x="1865233" y="1009867"/>
                    <a:pt x="1865233" y="989952"/>
                  </a:cubicBezTo>
                  <a:lnTo>
                    <a:pt x="1865233" y="36060"/>
                  </a:lnTo>
                  <a:cubicBezTo>
                    <a:pt x="1865233" y="16145"/>
                    <a:pt x="1849089" y="0"/>
                    <a:pt x="1829173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104379" y="1818389"/>
              <a:ext cx="1043861" cy="742340"/>
            </a:xfrm>
            <a:custGeom>
              <a:avLst/>
              <a:gdLst/>
              <a:ahLst/>
              <a:cxnLst/>
              <a:rect l="0" t="0" r="r" b="b"/>
              <a:pathLst>
                <a:path w="1043861" h="742340" fill="norm" stroke="1">
                  <a:moveTo>
                    <a:pt x="1007801" y="0"/>
                  </a:moveTo>
                  <a:lnTo>
                    <a:pt x="36060" y="0"/>
                  </a:lnTo>
                  <a:cubicBezTo>
                    <a:pt x="16144" y="0"/>
                    <a:pt x="0" y="16144"/>
                    <a:pt x="0" y="36060"/>
                  </a:cubicBezTo>
                  <a:lnTo>
                    <a:pt x="0" y="706280"/>
                  </a:lnTo>
                  <a:cubicBezTo>
                    <a:pt x="0" y="726195"/>
                    <a:pt x="16144" y="742340"/>
                    <a:pt x="36060" y="742340"/>
                  </a:cubicBezTo>
                  <a:lnTo>
                    <a:pt x="1007801" y="742340"/>
                  </a:lnTo>
                  <a:cubicBezTo>
                    <a:pt x="1027717" y="742340"/>
                    <a:pt x="1043861" y="726195"/>
                    <a:pt x="1043861" y="706280"/>
                  </a:cubicBezTo>
                  <a:lnTo>
                    <a:pt x="1043861" y="36060"/>
                  </a:lnTo>
                  <a:cubicBezTo>
                    <a:pt x="1043861" y="16144"/>
                    <a:pt x="1027717" y="0"/>
                    <a:pt x="1007801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172892" y="2189299"/>
              <a:ext cx="924211" cy="130"/>
            </a:xfrm>
            <a:custGeom>
              <a:avLst/>
              <a:gdLst/>
              <a:ahLst/>
              <a:cxnLst/>
              <a:rect l="0" t="0" r="r" b="b"/>
              <a:pathLst>
                <a:path w="924211" h="130" fill="norm" stroke="1">
                  <a:moveTo>
                    <a:pt x="924211" y="13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172892" y="2189299"/>
              <a:ext cx="177" cy="841527"/>
            </a:xfrm>
            <a:custGeom>
              <a:avLst/>
              <a:gdLst/>
              <a:ahLst/>
              <a:cxnLst/>
              <a:rect l="0" t="0" r="r" b="b"/>
              <a:pathLst>
                <a:path w="177" h="841527" fill="norm" stroke="1">
                  <a:moveTo>
                    <a:pt x="0" y="0"/>
                  </a:moveTo>
                  <a:lnTo>
                    <a:pt x="177" y="84152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173069" y="3030827"/>
              <a:ext cx="421053" cy="127"/>
            </a:xfrm>
            <a:custGeom>
              <a:avLst/>
              <a:gdLst/>
              <a:ahLst/>
              <a:cxnLst/>
              <a:rect l="0" t="0" r="r" b="b"/>
              <a:pathLst>
                <a:path w="421053" h="127" fill="norm" stroke="1">
                  <a:moveTo>
                    <a:pt x="0" y="0"/>
                  </a:moveTo>
                  <a:lnTo>
                    <a:pt x="421053" y="24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3558023" y="2987749"/>
              <a:ext cx="114535" cy="86199"/>
            </a:xfrm>
            <a:custGeom>
              <a:avLst/>
              <a:gdLst/>
              <a:ahLst/>
              <a:cxnLst/>
              <a:rect l="0" t="0" r="r" b="b"/>
              <a:pathLst>
                <a:path w="114535" h="86199" fill="norm" stroke="1">
                  <a:moveTo>
                    <a:pt x="114535" y="43105"/>
                  </a:moveTo>
                  <a:lnTo>
                    <a:pt x="4" y="0"/>
                  </a:lnTo>
                  <a:lnTo>
                    <a:pt x="38502" y="43102"/>
                  </a:lnTo>
                  <a:lnTo>
                    <a:pt x="0" y="86199"/>
                  </a:lnTo>
                  <a:lnTo>
                    <a:pt x="114535" y="43105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566366" y="3030827"/>
              <a:ext cx="513184" cy="127"/>
            </a:xfrm>
            <a:custGeom>
              <a:avLst/>
              <a:gdLst/>
              <a:ahLst/>
              <a:cxnLst/>
              <a:rect l="0" t="0" r="r" b="b"/>
              <a:pathLst>
                <a:path w="513184" h="127" fill="norm" stroke="1">
                  <a:moveTo>
                    <a:pt x="0" y="28"/>
                  </a:moveTo>
                  <a:lnTo>
                    <a:pt x="513184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6079550" y="2189299"/>
              <a:ext cx="177" cy="841527"/>
            </a:xfrm>
            <a:custGeom>
              <a:avLst/>
              <a:gdLst/>
              <a:ahLst/>
              <a:cxnLst/>
              <a:rect l="0" t="0" r="r" b="b"/>
              <a:pathLst>
                <a:path w="177" h="841527" fill="norm" stroke="1">
                  <a:moveTo>
                    <a:pt x="0" y="841527"/>
                  </a:moveTo>
                  <a:lnTo>
                    <a:pt x="177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5247646" y="2189299"/>
              <a:ext cx="832081" cy="127"/>
            </a:xfrm>
            <a:custGeom>
              <a:avLst/>
              <a:gdLst/>
              <a:ahLst/>
              <a:cxnLst/>
              <a:rect l="0" t="0" r="r" b="b"/>
              <a:pathLst>
                <a:path w="832081" h="127" fill="norm" stroke="1">
                  <a:moveTo>
                    <a:pt x="832081" y="0"/>
                  </a:moveTo>
                  <a:lnTo>
                    <a:pt x="0" y="118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5169209" y="2146312"/>
              <a:ext cx="114539" cy="86199"/>
            </a:xfrm>
            <a:custGeom>
              <a:avLst/>
              <a:gdLst/>
              <a:ahLst/>
              <a:cxnLst/>
              <a:rect l="0" t="0" r="r" b="b"/>
              <a:pathLst>
                <a:path w="114539" h="86199" fill="norm" stroke="1">
                  <a:moveTo>
                    <a:pt x="0" y="43116"/>
                  </a:moveTo>
                  <a:lnTo>
                    <a:pt x="114539" y="86199"/>
                  </a:lnTo>
                  <a:lnTo>
                    <a:pt x="76034" y="43105"/>
                  </a:lnTo>
                  <a:lnTo>
                    <a:pt x="114527" y="0"/>
                  </a:lnTo>
                  <a:lnTo>
                    <a:pt x="0" y="4311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4238424" y="1926688"/>
              <a:ext cx="60325" cy="526034"/>
            </a:xfrm>
            <a:custGeom>
              <a:avLst/>
              <a:gdLst/>
              <a:ahLst/>
              <a:cxnLst/>
              <a:rect l="0" t="0" r="r" b="b"/>
              <a:pathLst>
                <a:path w="60325" h="526034" fill="norm" stroke="1">
                  <a:moveTo>
                    <a:pt x="60325" y="0"/>
                  </a:moveTo>
                  <a:lnTo>
                    <a:pt x="0" y="0"/>
                  </a:lnTo>
                  <a:lnTo>
                    <a:pt x="0" y="526034"/>
                  </a:lnTo>
                  <a:lnTo>
                    <a:pt x="60325" y="526034"/>
                  </a:lnTo>
                </a:path>
              </a:pathLst>
            </a:custGeom>
            <a:noFill/>
            <a:ln w="9652">
              <a:solidFill>
                <a:srgbClr val="C8191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4943329" y="1926688"/>
              <a:ext cx="60325" cy="526034"/>
            </a:xfrm>
            <a:custGeom>
              <a:avLst/>
              <a:gdLst/>
              <a:ahLst/>
              <a:cxnLst/>
              <a:rect l="0" t="0" r="r" b="b"/>
              <a:pathLst>
                <a:path w="60325" h="526034" fill="norm" stroke="1">
                  <a:moveTo>
                    <a:pt x="0" y="0"/>
                  </a:moveTo>
                  <a:lnTo>
                    <a:pt x="60325" y="0"/>
                  </a:lnTo>
                  <a:lnTo>
                    <a:pt x="60325" y="526034"/>
                  </a:lnTo>
                  <a:lnTo>
                    <a:pt x="0" y="526034"/>
                  </a:lnTo>
                </a:path>
              </a:pathLst>
            </a:custGeom>
            <a:noFill/>
            <a:ln w="9652">
              <a:solidFill>
                <a:srgbClr val="C81919"/>
              </a:solidFill>
              <a:round/>
            </a:ln>
          </p:spPr>
        </p:sp>
        <p:sp>
          <p:nvSpPr>
            <p:cNvPr id="10013" name="Editable label: H(R0, C0)"/>
            <p:cNvSpPr txBox="1"/>
            <p:nvPr/>
          </p:nvSpPr>
          <p:spPr>
            <a:xfrm>
              <a:off x="3642281" y="2998016"/>
              <a:ext cx="1967736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r>
                <a:rPr lang="en-GB" sz="2839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(</a:t>
              </a: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R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0</a:t>
              </a: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, C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0</a:t>
              </a:r>
              <a:r>
                <a:rPr lang="en-GB" sz="2839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)</a:t>
              </a:r>
              <a:endParaRPr lang="en-GB" sz="2839"/>
            </a:p>
          </p:txBody>
        </p:sp>
        <p:sp>
          <p:nvSpPr>
            <p:cNvPr id="10014" name="Editable label: δ1"/>
            <p:cNvSpPr txBox="1"/>
            <p:nvPr/>
          </p:nvSpPr>
          <p:spPr>
            <a:xfrm>
              <a:off x="4293681" y="1903996"/>
              <a:ext cx="258787" cy="320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47" b="0" i="1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r>
                <a:rPr lang="en-GB" sz="1153" b="0" i="0" baseline="-14996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1</a:t>
              </a:r>
              <a:endParaRPr lang="en-GB" sz="1647"/>
            </a:p>
          </p:txBody>
        </p:sp>
        <p:sp>
          <p:nvSpPr>
            <p:cNvPr id="10015" name="Editable label: δ2"/>
            <p:cNvSpPr txBox="1"/>
            <p:nvPr/>
          </p:nvSpPr>
          <p:spPr>
            <a:xfrm>
              <a:off x="4689611" y="2154968"/>
              <a:ext cx="258787" cy="320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47" b="0" i="1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r>
                <a:rPr lang="en-GB" sz="1153" b="0" i="0" baseline="-14996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2</a:t>
              </a:r>
              <a:endParaRPr lang="en-GB" sz="1647"/>
            </a:p>
          </p:txBody>
        </p:sp>
        <p:sp>
          <p:nvSpPr>
            <p:cNvPr id="10016" name="Editable label: wΔ"/>
            <p:cNvSpPr txBox="1"/>
            <p:nvPr/>
          </p:nvSpPr>
          <p:spPr>
            <a:xfrm>
              <a:off x="2546688" y="2311903"/>
              <a:ext cx="634793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17" name="Editable label: zΔ"/>
            <p:cNvSpPr txBox="1"/>
            <p:nvPr/>
          </p:nvSpPr>
          <p:spPr>
            <a:xfrm>
              <a:off x="6061110" y="2311903"/>
              <a:ext cx="528061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</a:t>
            </a:r>
            <a:endParaRPr lang="en-GB" sz="8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Closed-loop stability interconnection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036419" y="1824423"/>
            <a:ext cx="3071161" cy="1939155"/>
            <a:chOff x="3036419" y="1824423"/>
            <a:chExt cx="3071161" cy="1939155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13315" y="2737565"/>
              <a:ext cx="1026012" cy="1026012"/>
            </a:xfrm>
            <a:custGeom>
              <a:avLst/>
              <a:gdLst/>
              <a:ahLst/>
              <a:cxnLst/>
              <a:rect l="0" t="0" r="r" b="b"/>
              <a:pathLst>
                <a:path w="1026012" h="1026012" fill="norm" stroke="1">
                  <a:moveTo>
                    <a:pt x="989952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989952"/>
                  </a:lnTo>
                  <a:cubicBezTo>
                    <a:pt x="0" y="1009867"/>
                    <a:pt x="16145" y="1026012"/>
                    <a:pt x="36060" y="1026012"/>
                  </a:cubicBezTo>
                  <a:lnTo>
                    <a:pt x="989952" y="1026012"/>
                  </a:lnTo>
                  <a:cubicBezTo>
                    <a:pt x="1009867" y="1026012"/>
                    <a:pt x="1026012" y="1009867"/>
                    <a:pt x="1026012" y="989952"/>
                  </a:cubicBezTo>
                  <a:lnTo>
                    <a:pt x="1026012" y="36060"/>
                  </a:lnTo>
                  <a:cubicBezTo>
                    <a:pt x="1026012" y="16145"/>
                    <a:pt x="1009867" y="0"/>
                    <a:pt x="989952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67218" y="1824423"/>
              <a:ext cx="718206" cy="718206"/>
            </a:xfrm>
            <a:custGeom>
              <a:avLst/>
              <a:gdLst/>
              <a:ahLst/>
              <a:cxnLst/>
              <a:rect l="0" t="0" r="r" b="b"/>
              <a:pathLst>
                <a:path w="718206" h="718206" fill="norm" stroke="1">
                  <a:moveTo>
                    <a:pt x="682145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682146"/>
                  </a:lnTo>
                  <a:cubicBezTo>
                    <a:pt x="0" y="702061"/>
                    <a:pt x="16144" y="718206"/>
                    <a:pt x="36060" y="718206"/>
                  </a:cubicBezTo>
                  <a:lnTo>
                    <a:pt x="682145" y="718206"/>
                  </a:lnTo>
                  <a:cubicBezTo>
                    <a:pt x="702061" y="718206"/>
                    <a:pt x="718206" y="702061"/>
                    <a:pt x="718206" y="682146"/>
                  </a:cubicBezTo>
                  <a:lnTo>
                    <a:pt x="718206" y="36060"/>
                  </a:lnTo>
                  <a:cubicBezTo>
                    <a:pt x="718206" y="16145"/>
                    <a:pt x="702061" y="0"/>
                    <a:pt x="682145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592720" y="2183266"/>
              <a:ext cx="667243" cy="130"/>
            </a:xfrm>
            <a:custGeom>
              <a:avLst/>
              <a:gdLst/>
              <a:ahLst/>
              <a:cxnLst/>
              <a:rect l="0" t="0" r="r" b="b"/>
              <a:pathLst>
                <a:path w="667243" h="130" fill="norm" stroke="1">
                  <a:moveTo>
                    <a:pt x="667243" y="13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592720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0"/>
                  </a:moveTo>
                  <a:lnTo>
                    <a:pt x="126" y="84152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592845" y="3024793"/>
              <a:ext cx="421002" cy="127"/>
            </a:xfrm>
            <a:custGeom>
              <a:avLst/>
              <a:gdLst/>
              <a:ahLst/>
              <a:cxnLst/>
              <a:rect l="0" t="0" r="r" b="b"/>
              <a:pathLst>
                <a:path w="421002" h="127" fill="norm" stroke="1">
                  <a:moveTo>
                    <a:pt x="0" y="0"/>
                  </a:moveTo>
                  <a:lnTo>
                    <a:pt x="421002" y="24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3977748" y="2981715"/>
              <a:ext cx="114535" cy="86199"/>
            </a:xfrm>
            <a:custGeom>
              <a:avLst/>
              <a:gdLst/>
              <a:ahLst/>
              <a:cxnLst/>
              <a:rect l="0" t="0" r="r" b="b"/>
              <a:pathLst>
                <a:path w="114535" h="86199" fill="norm" stroke="1">
                  <a:moveTo>
                    <a:pt x="114535" y="43105"/>
                  </a:moveTo>
                  <a:lnTo>
                    <a:pt x="4" y="0"/>
                  </a:lnTo>
                  <a:lnTo>
                    <a:pt x="38502" y="43102"/>
                  </a:lnTo>
                  <a:lnTo>
                    <a:pt x="0" y="86199"/>
                  </a:lnTo>
                  <a:lnTo>
                    <a:pt x="114535" y="43105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146665" y="3024793"/>
              <a:ext cx="513131" cy="127"/>
            </a:xfrm>
            <a:custGeom>
              <a:avLst/>
              <a:gdLst/>
              <a:ahLst/>
              <a:cxnLst/>
              <a:rect l="0" t="0" r="r" b="b"/>
              <a:pathLst>
                <a:path w="513131" h="127" fill="norm" stroke="1">
                  <a:moveTo>
                    <a:pt x="0" y="28"/>
                  </a:moveTo>
                  <a:lnTo>
                    <a:pt x="513131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5659797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841527"/>
                  </a:moveTo>
                  <a:lnTo>
                    <a:pt x="12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5084810" y="2183266"/>
              <a:ext cx="575112" cy="127"/>
            </a:xfrm>
            <a:custGeom>
              <a:avLst/>
              <a:gdLst/>
              <a:ahLst/>
              <a:cxnLst/>
              <a:rect l="0" t="0" r="r" b="b"/>
              <a:pathLst>
                <a:path w="575112" h="127" fill="norm" stroke="1">
                  <a:moveTo>
                    <a:pt x="575112" y="0"/>
                  </a:moveTo>
                  <a:lnTo>
                    <a:pt x="0" y="112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5006374" y="2140271"/>
              <a:ext cx="114542" cy="86199"/>
            </a:xfrm>
            <a:custGeom>
              <a:avLst/>
              <a:gdLst/>
              <a:ahLst/>
              <a:cxnLst/>
              <a:rect l="0" t="0" r="r" b="b"/>
              <a:pathLst>
                <a:path w="114542" h="86199" fill="norm" stroke="1">
                  <a:moveTo>
                    <a:pt x="0" y="43123"/>
                  </a:moveTo>
                  <a:lnTo>
                    <a:pt x="114542" y="86199"/>
                  </a:lnTo>
                  <a:lnTo>
                    <a:pt x="76034" y="43107"/>
                  </a:lnTo>
                  <a:lnTo>
                    <a:pt x="114525" y="0"/>
                  </a:lnTo>
                  <a:lnTo>
                    <a:pt x="0" y="43123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Editable label: H"/>
            <p:cNvSpPr txBox="1"/>
            <p:nvPr/>
          </p:nvSpPr>
          <p:spPr>
            <a:xfrm>
              <a:off x="4409434" y="3009820"/>
              <a:ext cx="404394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839"/>
            </a:p>
          </p:txBody>
        </p:sp>
        <p:sp>
          <p:nvSpPr>
            <p:cNvPr id="10012" name="Editable label: Δ"/>
            <p:cNvSpPr txBox="1"/>
            <p:nvPr/>
          </p:nvSpPr>
          <p:spPr>
            <a:xfrm>
              <a:off x="4423630" y="1942767"/>
              <a:ext cx="405245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13" name="Editable label: wΔ"/>
            <p:cNvSpPr txBox="1"/>
            <p:nvPr/>
          </p:nvSpPr>
          <p:spPr>
            <a:xfrm>
              <a:off x="2966477" y="2305870"/>
              <a:ext cx="634793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14" name="Editable label: zΔ"/>
            <p:cNvSpPr txBox="1"/>
            <p:nvPr/>
          </p:nvSpPr>
          <p:spPr>
            <a:xfrm>
              <a:off x="5641321" y="2305870"/>
              <a:ext cx="528061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5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en-GB" sz="8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Extended plant - performance channels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036419" y="1824423"/>
            <a:ext cx="3071161" cy="1939155"/>
            <a:chOff x="3036419" y="1824423"/>
            <a:chExt cx="3071161" cy="1939155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13315" y="2737565"/>
              <a:ext cx="1026012" cy="1026012"/>
            </a:xfrm>
            <a:custGeom>
              <a:avLst/>
              <a:gdLst/>
              <a:ahLst/>
              <a:cxnLst/>
              <a:rect l="0" t="0" r="r" b="b"/>
              <a:pathLst>
                <a:path w="1026012" h="1026012" fill="norm" stroke="1">
                  <a:moveTo>
                    <a:pt x="989952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989952"/>
                  </a:lnTo>
                  <a:cubicBezTo>
                    <a:pt x="0" y="1009868"/>
                    <a:pt x="16145" y="1026012"/>
                    <a:pt x="36060" y="1026012"/>
                  </a:cubicBezTo>
                  <a:lnTo>
                    <a:pt x="989952" y="1026012"/>
                  </a:lnTo>
                  <a:cubicBezTo>
                    <a:pt x="1009867" y="1026012"/>
                    <a:pt x="1026012" y="1009868"/>
                    <a:pt x="1026012" y="989952"/>
                  </a:cubicBezTo>
                  <a:lnTo>
                    <a:pt x="1026012" y="36060"/>
                  </a:lnTo>
                  <a:cubicBezTo>
                    <a:pt x="1026012" y="16145"/>
                    <a:pt x="1009867" y="0"/>
                    <a:pt x="989952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67218" y="1824423"/>
              <a:ext cx="718206" cy="718206"/>
            </a:xfrm>
            <a:custGeom>
              <a:avLst/>
              <a:gdLst/>
              <a:ahLst/>
              <a:cxnLst/>
              <a:rect l="0" t="0" r="r" b="b"/>
              <a:pathLst>
                <a:path w="718206" h="718206" fill="norm" stroke="1">
                  <a:moveTo>
                    <a:pt x="682145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682146"/>
                  </a:lnTo>
                  <a:cubicBezTo>
                    <a:pt x="0" y="702061"/>
                    <a:pt x="16144" y="718206"/>
                    <a:pt x="36060" y="718206"/>
                  </a:cubicBezTo>
                  <a:lnTo>
                    <a:pt x="682145" y="718206"/>
                  </a:lnTo>
                  <a:cubicBezTo>
                    <a:pt x="702061" y="718206"/>
                    <a:pt x="718206" y="702061"/>
                    <a:pt x="718206" y="682146"/>
                  </a:cubicBezTo>
                  <a:lnTo>
                    <a:pt x="718206" y="36060"/>
                  </a:lnTo>
                  <a:cubicBezTo>
                    <a:pt x="718206" y="16145"/>
                    <a:pt x="702061" y="0"/>
                    <a:pt x="682145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490364" y="3476322"/>
              <a:ext cx="523482" cy="127"/>
            </a:xfrm>
            <a:custGeom>
              <a:avLst/>
              <a:gdLst/>
              <a:ahLst/>
              <a:cxnLst/>
              <a:rect l="0" t="0" r="r" b="b"/>
              <a:pathLst>
                <a:path w="523482" h="127" fill="norm" stroke="1">
                  <a:moveTo>
                    <a:pt x="0" y="0"/>
                  </a:moveTo>
                  <a:lnTo>
                    <a:pt x="523482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977749" y="343322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146665" y="3476322"/>
              <a:ext cx="523482" cy="127"/>
            </a:xfrm>
            <a:custGeom>
              <a:avLst/>
              <a:gdLst/>
              <a:ahLst/>
              <a:cxnLst/>
              <a:rect l="0" t="0" r="r" b="b"/>
              <a:pathLst>
                <a:path w="523482" h="127" fill="norm" stroke="1">
                  <a:moveTo>
                    <a:pt x="0" y="0"/>
                  </a:moveTo>
                  <a:lnTo>
                    <a:pt x="523482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634050" y="343322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592720" y="2183266"/>
              <a:ext cx="667243" cy="130"/>
            </a:xfrm>
            <a:custGeom>
              <a:avLst/>
              <a:gdLst/>
              <a:ahLst/>
              <a:cxnLst/>
              <a:rect l="0" t="0" r="r" b="b"/>
              <a:pathLst>
                <a:path w="667243" h="130" fill="norm" stroke="1">
                  <a:moveTo>
                    <a:pt x="667243" y="13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592720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0"/>
                  </a:moveTo>
                  <a:lnTo>
                    <a:pt x="126" y="84152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592845" y="3024793"/>
              <a:ext cx="421002" cy="127"/>
            </a:xfrm>
            <a:custGeom>
              <a:avLst/>
              <a:gdLst/>
              <a:ahLst/>
              <a:cxnLst/>
              <a:rect l="0" t="0" r="r" b="b"/>
              <a:pathLst>
                <a:path w="421002" h="127" fill="norm" stroke="1">
                  <a:moveTo>
                    <a:pt x="0" y="0"/>
                  </a:moveTo>
                  <a:lnTo>
                    <a:pt x="421002" y="24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3977748" y="2981715"/>
              <a:ext cx="114535" cy="86199"/>
            </a:xfrm>
            <a:custGeom>
              <a:avLst/>
              <a:gdLst/>
              <a:ahLst/>
              <a:cxnLst/>
              <a:rect l="0" t="0" r="r" b="b"/>
              <a:pathLst>
                <a:path w="114535" h="86199" fill="norm" stroke="1">
                  <a:moveTo>
                    <a:pt x="114535" y="43105"/>
                  </a:moveTo>
                  <a:lnTo>
                    <a:pt x="4" y="0"/>
                  </a:lnTo>
                  <a:lnTo>
                    <a:pt x="38502" y="43102"/>
                  </a:lnTo>
                  <a:lnTo>
                    <a:pt x="0" y="86199"/>
                  </a:lnTo>
                  <a:lnTo>
                    <a:pt x="114535" y="43105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146665" y="3024793"/>
              <a:ext cx="513131" cy="127"/>
            </a:xfrm>
            <a:custGeom>
              <a:avLst/>
              <a:gdLst/>
              <a:ahLst/>
              <a:cxnLst/>
              <a:rect l="0" t="0" r="r" b="b"/>
              <a:pathLst>
                <a:path w="513131" h="127" fill="norm" stroke="1">
                  <a:moveTo>
                    <a:pt x="0" y="28"/>
                  </a:moveTo>
                  <a:lnTo>
                    <a:pt x="513131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659797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841527"/>
                  </a:moveTo>
                  <a:lnTo>
                    <a:pt x="12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5084810" y="2183266"/>
              <a:ext cx="575112" cy="127"/>
            </a:xfrm>
            <a:custGeom>
              <a:avLst/>
              <a:gdLst/>
              <a:ahLst/>
              <a:cxnLst/>
              <a:rect l="0" t="0" r="r" b="b"/>
              <a:pathLst>
                <a:path w="575112" h="127" fill="norm" stroke="1">
                  <a:moveTo>
                    <a:pt x="575112" y="0"/>
                  </a:moveTo>
                  <a:lnTo>
                    <a:pt x="0" y="112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5006374" y="2140271"/>
              <a:ext cx="114542" cy="86199"/>
            </a:xfrm>
            <a:custGeom>
              <a:avLst/>
              <a:gdLst/>
              <a:ahLst/>
              <a:cxnLst/>
              <a:rect l="0" t="0" r="r" b="b"/>
              <a:pathLst>
                <a:path w="114542" h="86199" fill="norm" stroke="1">
                  <a:moveTo>
                    <a:pt x="0" y="43123"/>
                  </a:moveTo>
                  <a:lnTo>
                    <a:pt x="114542" y="86199"/>
                  </a:lnTo>
                  <a:lnTo>
                    <a:pt x="76034" y="43107"/>
                  </a:lnTo>
                  <a:lnTo>
                    <a:pt x="114525" y="0"/>
                  </a:lnTo>
                  <a:lnTo>
                    <a:pt x="0" y="43123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He"/>
            <p:cNvSpPr txBox="1"/>
            <p:nvPr/>
          </p:nvSpPr>
          <p:spPr>
            <a:xfrm>
              <a:off x="4334328" y="2997990"/>
              <a:ext cx="565918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e</a:t>
              </a:r>
              <a:endParaRPr lang="en-GB" sz="2839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23630" y="1942767"/>
              <a:ext cx="405245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031279" y="3153629"/>
              <a:ext cx="530545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839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725909" y="3153629"/>
              <a:ext cx="423813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839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2966477" y="2305870"/>
              <a:ext cx="634793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641321" y="2305870"/>
              <a:ext cx="528061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6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en-GB" sz="8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Performance objective - compact loop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070699" y="1824423"/>
            <a:ext cx="3002602" cy="1939155"/>
            <a:chOff x="3070699" y="1824423"/>
            <a:chExt cx="3002602" cy="1939155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090744" y="2737565"/>
              <a:ext cx="1026012" cy="1026012"/>
            </a:xfrm>
            <a:custGeom>
              <a:avLst/>
              <a:gdLst/>
              <a:ahLst/>
              <a:cxnLst/>
              <a:rect l="0" t="0" r="r" b="b"/>
              <a:pathLst>
                <a:path w="1026012" h="1026012" fill="norm" stroke="1">
                  <a:moveTo>
                    <a:pt x="989952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989952"/>
                  </a:lnTo>
                  <a:cubicBezTo>
                    <a:pt x="0" y="1009868"/>
                    <a:pt x="16145" y="1026012"/>
                    <a:pt x="36060" y="1026012"/>
                  </a:cubicBezTo>
                  <a:lnTo>
                    <a:pt x="989952" y="1026012"/>
                  </a:lnTo>
                  <a:cubicBezTo>
                    <a:pt x="1009868" y="1026012"/>
                    <a:pt x="1026012" y="1009868"/>
                    <a:pt x="1026012" y="989952"/>
                  </a:cubicBezTo>
                  <a:lnTo>
                    <a:pt x="1026012" y="36060"/>
                  </a:lnTo>
                  <a:cubicBezTo>
                    <a:pt x="1026012" y="16145"/>
                    <a:pt x="1009868" y="0"/>
                    <a:pt x="989952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44648" y="1824423"/>
              <a:ext cx="718206" cy="718206"/>
            </a:xfrm>
            <a:custGeom>
              <a:avLst/>
              <a:gdLst/>
              <a:ahLst/>
              <a:cxnLst/>
              <a:rect l="0" t="0" r="r" b="b"/>
              <a:pathLst>
                <a:path w="718206" h="718206" fill="norm" stroke="1">
                  <a:moveTo>
                    <a:pt x="682146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682146"/>
                  </a:lnTo>
                  <a:cubicBezTo>
                    <a:pt x="0" y="702061"/>
                    <a:pt x="16144" y="718206"/>
                    <a:pt x="36060" y="718206"/>
                  </a:cubicBezTo>
                  <a:lnTo>
                    <a:pt x="682146" y="718206"/>
                  </a:lnTo>
                  <a:cubicBezTo>
                    <a:pt x="702061" y="718206"/>
                    <a:pt x="718206" y="702061"/>
                    <a:pt x="718206" y="682146"/>
                  </a:cubicBezTo>
                  <a:lnTo>
                    <a:pt x="718206" y="36060"/>
                  </a:lnTo>
                  <a:cubicBezTo>
                    <a:pt x="718206" y="16145"/>
                    <a:pt x="702061" y="0"/>
                    <a:pt x="682146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467793" y="3476322"/>
              <a:ext cx="523482" cy="127"/>
            </a:xfrm>
            <a:custGeom>
              <a:avLst/>
              <a:gdLst/>
              <a:ahLst/>
              <a:cxnLst/>
              <a:rect l="0" t="0" r="r" b="b"/>
              <a:pathLst>
                <a:path w="523482" h="127" fill="norm" stroke="1">
                  <a:moveTo>
                    <a:pt x="0" y="0"/>
                  </a:moveTo>
                  <a:lnTo>
                    <a:pt x="523482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955178" y="343322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124095" y="3476322"/>
              <a:ext cx="523482" cy="127"/>
            </a:xfrm>
            <a:custGeom>
              <a:avLst/>
              <a:gdLst/>
              <a:ahLst/>
              <a:cxnLst/>
              <a:rect l="0" t="0" r="r" b="b"/>
              <a:pathLst>
                <a:path w="523482" h="127" fill="norm" stroke="1">
                  <a:moveTo>
                    <a:pt x="0" y="0"/>
                  </a:moveTo>
                  <a:lnTo>
                    <a:pt x="523482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611480" y="343322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734355" y="2183266"/>
              <a:ext cx="503037" cy="130"/>
            </a:xfrm>
            <a:custGeom>
              <a:avLst/>
              <a:gdLst/>
              <a:ahLst/>
              <a:cxnLst/>
              <a:rect l="0" t="0" r="r" b="b"/>
              <a:pathLst>
                <a:path w="503037" h="130" fill="norm" stroke="1">
                  <a:moveTo>
                    <a:pt x="503037" y="13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734355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0"/>
                  </a:moveTo>
                  <a:lnTo>
                    <a:pt x="106" y="84152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734461" y="3024793"/>
              <a:ext cx="256816" cy="127"/>
            </a:xfrm>
            <a:custGeom>
              <a:avLst/>
              <a:gdLst/>
              <a:ahLst/>
              <a:cxnLst/>
              <a:rect l="0" t="0" r="r" b="b"/>
              <a:pathLst>
                <a:path w="256816" h="127" fill="norm" stroke="1">
                  <a:moveTo>
                    <a:pt x="0" y="0"/>
                  </a:moveTo>
                  <a:lnTo>
                    <a:pt x="256816" y="21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3955177" y="2981711"/>
              <a:ext cx="114537" cy="86199"/>
            </a:xfrm>
            <a:custGeom>
              <a:avLst/>
              <a:gdLst/>
              <a:ahLst/>
              <a:cxnLst/>
              <a:rect l="0" t="0" r="r" b="b"/>
              <a:pathLst>
                <a:path w="114537" h="86199" fill="norm" stroke="1">
                  <a:moveTo>
                    <a:pt x="114537" y="43109"/>
                  </a:moveTo>
                  <a:lnTo>
                    <a:pt x="7" y="0"/>
                  </a:lnTo>
                  <a:lnTo>
                    <a:pt x="38503" y="43103"/>
                  </a:lnTo>
                  <a:lnTo>
                    <a:pt x="0" y="86199"/>
                  </a:lnTo>
                  <a:lnTo>
                    <a:pt x="114537" y="43109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124095" y="3024793"/>
              <a:ext cx="348946" cy="127"/>
            </a:xfrm>
            <a:custGeom>
              <a:avLst/>
              <a:gdLst/>
              <a:ahLst/>
              <a:cxnLst/>
              <a:rect l="0" t="0" r="r" b="b"/>
              <a:pathLst>
                <a:path w="348946" h="127" fill="norm" stroke="1">
                  <a:moveTo>
                    <a:pt x="0" y="28"/>
                  </a:moveTo>
                  <a:lnTo>
                    <a:pt x="34894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473041" y="2183266"/>
              <a:ext cx="127" cy="841527"/>
            </a:xfrm>
            <a:custGeom>
              <a:avLst/>
              <a:gdLst/>
              <a:ahLst/>
              <a:cxnLst/>
              <a:rect l="0" t="0" r="r" b="b"/>
              <a:pathLst>
                <a:path w="127" h="841527" fill="norm" stroke="1">
                  <a:moveTo>
                    <a:pt x="0" y="841527"/>
                  </a:moveTo>
                  <a:lnTo>
                    <a:pt x="10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5062240" y="2183266"/>
              <a:ext cx="410907" cy="127"/>
            </a:xfrm>
            <a:custGeom>
              <a:avLst/>
              <a:gdLst/>
              <a:ahLst/>
              <a:cxnLst/>
              <a:rect l="0" t="0" r="r" b="b"/>
              <a:pathLst>
                <a:path w="410907" h="127" fill="norm" stroke="1">
                  <a:moveTo>
                    <a:pt x="410907" y="0"/>
                  </a:moveTo>
                  <a:lnTo>
                    <a:pt x="0" y="10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983803" y="2140267"/>
              <a:ext cx="114543" cy="86199"/>
            </a:xfrm>
            <a:custGeom>
              <a:avLst/>
              <a:gdLst/>
              <a:ahLst/>
              <a:cxnLst/>
              <a:rect l="0" t="0" r="r" b="b"/>
              <a:pathLst>
                <a:path w="114543" h="86199" fill="norm" stroke="1">
                  <a:moveTo>
                    <a:pt x="0" y="43126"/>
                  </a:moveTo>
                  <a:lnTo>
                    <a:pt x="114543" y="86199"/>
                  </a:lnTo>
                  <a:lnTo>
                    <a:pt x="76034" y="43108"/>
                  </a:lnTo>
                  <a:lnTo>
                    <a:pt x="114523" y="0"/>
                  </a:lnTo>
                  <a:lnTo>
                    <a:pt x="0" y="4312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He"/>
            <p:cNvSpPr txBox="1"/>
            <p:nvPr/>
          </p:nvSpPr>
          <p:spPr>
            <a:xfrm>
              <a:off x="4311754" y="2997990"/>
              <a:ext cx="565961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e</a:t>
              </a:r>
              <a:endParaRPr lang="en-GB" sz="2839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01059" y="1942767"/>
              <a:ext cx="405245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008705" y="3153629"/>
              <a:ext cx="530588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839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703338" y="3153629"/>
              <a:ext cx="423813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839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108108" y="2305870"/>
              <a:ext cx="634836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454570" y="2305870"/>
              <a:ext cx="528061" cy="524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83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88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839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7, 8, 9, 10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4</a:t>
            </a:r>
            <a:endParaRPr lang="en-GB" sz="8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ODE - stability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394745" y="1986019"/>
            <a:ext cx="2354510" cy="1615962"/>
            <a:chOff x="3394745" y="1986019"/>
            <a:chExt cx="2354510" cy="161596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89751" y="2746971"/>
              <a:ext cx="855009" cy="855009"/>
            </a:xfrm>
            <a:custGeom>
              <a:avLst/>
              <a:gdLst/>
              <a:ahLst/>
              <a:cxnLst/>
              <a:rect l="0" t="0" r="r" b="b"/>
              <a:pathLst>
                <a:path w="855009" h="855009" fill="norm" stroke="1">
                  <a:moveTo>
                    <a:pt x="818949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818949"/>
                  </a:lnTo>
                  <a:cubicBezTo>
                    <a:pt x="0" y="838865"/>
                    <a:pt x="16145" y="855009"/>
                    <a:pt x="36060" y="855009"/>
                  </a:cubicBezTo>
                  <a:lnTo>
                    <a:pt x="818949" y="855009"/>
                  </a:lnTo>
                  <a:cubicBezTo>
                    <a:pt x="838864" y="855009"/>
                    <a:pt x="855009" y="838865"/>
                    <a:pt x="855009" y="818949"/>
                  </a:cubicBezTo>
                  <a:lnTo>
                    <a:pt x="855009" y="36060"/>
                  </a:lnTo>
                  <a:cubicBezTo>
                    <a:pt x="855009" y="16145"/>
                    <a:pt x="838864" y="0"/>
                    <a:pt x="818949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318003" y="1986019"/>
              <a:ext cx="598504" cy="598505"/>
            </a:xfrm>
            <a:custGeom>
              <a:avLst/>
              <a:gdLst/>
              <a:ahLst/>
              <a:cxnLst/>
              <a:rect l="0" t="0" r="r" b="b"/>
              <a:pathLst>
                <a:path w="598504" h="598505" fill="norm" stroke="1">
                  <a:moveTo>
                    <a:pt x="5624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562444"/>
                  </a:lnTo>
                  <a:cubicBezTo>
                    <a:pt x="0" y="582360"/>
                    <a:pt x="16145" y="598505"/>
                    <a:pt x="36060" y="598505"/>
                  </a:cubicBezTo>
                  <a:lnTo>
                    <a:pt x="562444" y="598505"/>
                  </a:lnTo>
                  <a:cubicBezTo>
                    <a:pt x="582360" y="598505"/>
                    <a:pt x="598504" y="582360"/>
                    <a:pt x="598504" y="562444"/>
                  </a:cubicBezTo>
                  <a:lnTo>
                    <a:pt x="598504" y="36060"/>
                  </a:lnTo>
                  <a:cubicBezTo>
                    <a:pt x="598504" y="16145"/>
                    <a:pt x="582360" y="0"/>
                    <a:pt x="562444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858280" y="2284858"/>
              <a:ext cx="453644" cy="207"/>
            </a:xfrm>
            <a:custGeom>
              <a:avLst/>
              <a:gdLst/>
              <a:ahLst/>
              <a:cxnLst/>
              <a:rect l="0" t="0" r="r" b="b"/>
              <a:pathLst>
                <a:path w="453644" h="207" fill="norm" stroke="1">
                  <a:moveTo>
                    <a:pt x="453644" y="207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858280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0"/>
                  </a:moveTo>
                  <a:lnTo>
                    <a:pt x="176" y="70142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858456" y="2986287"/>
              <a:ext cx="232954" cy="127"/>
            </a:xfrm>
            <a:custGeom>
              <a:avLst/>
              <a:gdLst/>
              <a:ahLst/>
              <a:cxnLst/>
              <a:rect l="0" t="0" r="r" b="b"/>
              <a:pathLst>
                <a:path w="232954" h="127" fill="norm" stroke="1">
                  <a:moveTo>
                    <a:pt x="0" y="0"/>
                  </a:moveTo>
                  <a:lnTo>
                    <a:pt x="232954" y="31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4055307" y="2943213"/>
              <a:ext cx="114539" cy="86199"/>
            </a:xfrm>
            <a:custGeom>
              <a:avLst/>
              <a:gdLst/>
              <a:ahLst/>
              <a:cxnLst/>
              <a:rect l="0" t="0" r="r" b="b"/>
              <a:pathLst>
                <a:path w="114539" h="86199" fill="norm" stroke="1">
                  <a:moveTo>
                    <a:pt x="114539" y="43116"/>
                  </a:moveTo>
                  <a:lnTo>
                    <a:pt x="12" y="0"/>
                  </a:lnTo>
                  <a:lnTo>
                    <a:pt x="38505" y="43105"/>
                  </a:lnTo>
                  <a:lnTo>
                    <a:pt x="0" y="86199"/>
                  </a:lnTo>
                  <a:lnTo>
                    <a:pt x="114539" y="4311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050971" y="2986287"/>
              <a:ext cx="325084" cy="127"/>
            </a:xfrm>
            <a:custGeom>
              <a:avLst/>
              <a:gdLst/>
              <a:ahLst/>
              <a:cxnLst/>
              <a:rect l="0" t="0" r="r" b="b"/>
              <a:pathLst>
                <a:path w="325084" h="127" fill="norm" stroke="1">
                  <a:moveTo>
                    <a:pt x="0" y="43"/>
                  </a:moveTo>
                  <a:lnTo>
                    <a:pt x="325084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5376055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701429"/>
                  </a:moveTo>
                  <a:lnTo>
                    <a:pt x="17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5014719" y="2284858"/>
              <a:ext cx="361512" cy="167"/>
            </a:xfrm>
            <a:custGeom>
              <a:avLst/>
              <a:gdLst/>
              <a:ahLst/>
              <a:cxnLst/>
              <a:rect l="0" t="0" r="r" b="b"/>
              <a:pathLst>
                <a:path w="361512" h="167" fill="norm" stroke="1">
                  <a:moveTo>
                    <a:pt x="361512" y="0"/>
                  </a:moveTo>
                  <a:lnTo>
                    <a:pt x="0" y="16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936282" y="2241910"/>
              <a:ext cx="114552" cy="86199"/>
            </a:xfrm>
            <a:custGeom>
              <a:avLst/>
              <a:gdLst/>
              <a:ahLst/>
              <a:cxnLst/>
              <a:rect l="0" t="0" r="r" b="b"/>
              <a:pathLst>
                <a:path w="114552" h="86199" fill="norm" stroke="1">
                  <a:moveTo>
                    <a:pt x="0" y="43149"/>
                  </a:moveTo>
                  <a:lnTo>
                    <a:pt x="114552" y="86199"/>
                  </a:lnTo>
                  <a:lnTo>
                    <a:pt x="76034" y="43116"/>
                  </a:lnTo>
                  <a:lnTo>
                    <a:pt x="114515" y="0"/>
                  </a:lnTo>
                  <a:lnTo>
                    <a:pt x="0" y="43149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Editable label: ODE"/>
            <p:cNvSpPr txBox="1"/>
            <p:nvPr/>
          </p:nvSpPr>
          <p:spPr>
            <a:xfrm>
              <a:off x="4207651" y="2977238"/>
              <a:ext cx="819189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252529"/>
                  </a:solidFill>
                  <a:latin typeface="Aptos"/>
                  <a:ea typeface="Aptos"/>
                  <a:cs typeface="Aptos"/>
                </a:rPr>
                <a:t xml:space="preserve">ODE</a:t>
              </a:r>
              <a:endParaRPr lang="en-GB" sz="2366"/>
            </a:p>
          </p:txBody>
        </p:sp>
        <p:sp>
          <p:nvSpPr>
            <p:cNvPr id="10012" name="Editable label: Δ"/>
            <p:cNvSpPr txBox="1"/>
            <p:nvPr/>
          </p:nvSpPr>
          <p:spPr>
            <a:xfrm>
              <a:off x="4444129" y="2081450"/>
              <a:ext cx="346171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13" name="Editable label: wΔ"/>
            <p:cNvSpPr txBox="1"/>
            <p:nvPr/>
          </p:nvSpPr>
          <p:spPr>
            <a:xfrm>
              <a:off x="3332224" y="2383926"/>
              <a:ext cx="537497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14" name="Editable label: zΔ"/>
            <p:cNvSpPr txBox="1"/>
            <p:nvPr/>
          </p:nvSpPr>
          <p:spPr>
            <a:xfrm>
              <a:off x="5356472" y="2383926"/>
              <a:ext cx="448517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13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5</a:t>
            </a:r>
            <a:endParaRPr lang="en-GB" sz="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ODE - performance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320796" y="1986019"/>
            <a:ext cx="2502407" cy="1615962"/>
            <a:chOff x="3320796" y="1986019"/>
            <a:chExt cx="2502407" cy="161596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70939" y="2746971"/>
              <a:ext cx="855009" cy="855009"/>
            </a:xfrm>
            <a:custGeom>
              <a:avLst/>
              <a:gdLst/>
              <a:ahLst/>
              <a:cxnLst/>
              <a:rect l="0" t="0" r="r" b="b"/>
              <a:pathLst>
                <a:path w="855009" h="855009" fill="norm" stroke="1">
                  <a:moveTo>
                    <a:pt x="818949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818949"/>
                  </a:lnTo>
                  <a:cubicBezTo>
                    <a:pt x="0" y="838865"/>
                    <a:pt x="16145" y="855009"/>
                    <a:pt x="36060" y="855009"/>
                  </a:cubicBezTo>
                  <a:lnTo>
                    <a:pt x="818949" y="855009"/>
                  </a:lnTo>
                  <a:cubicBezTo>
                    <a:pt x="838864" y="855009"/>
                    <a:pt x="855009" y="838865"/>
                    <a:pt x="855009" y="818949"/>
                  </a:cubicBezTo>
                  <a:lnTo>
                    <a:pt x="855009" y="36060"/>
                  </a:lnTo>
                  <a:cubicBezTo>
                    <a:pt x="855009" y="16145"/>
                    <a:pt x="838864" y="0"/>
                    <a:pt x="818949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99191" y="1986019"/>
              <a:ext cx="598504" cy="598505"/>
            </a:xfrm>
            <a:custGeom>
              <a:avLst/>
              <a:gdLst/>
              <a:ahLst/>
              <a:cxnLst/>
              <a:rect l="0" t="0" r="r" b="b"/>
              <a:pathLst>
                <a:path w="598504" h="598505" fill="norm" stroke="1">
                  <a:moveTo>
                    <a:pt x="5624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562444"/>
                  </a:lnTo>
                  <a:cubicBezTo>
                    <a:pt x="0" y="582360"/>
                    <a:pt x="16145" y="598505"/>
                    <a:pt x="36060" y="598505"/>
                  </a:cubicBezTo>
                  <a:lnTo>
                    <a:pt x="562444" y="598505"/>
                  </a:lnTo>
                  <a:cubicBezTo>
                    <a:pt x="582360" y="598505"/>
                    <a:pt x="598504" y="582360"/>
                    <a:pt x="598504" y="562444"/>
                  </a:cubicBezTo>
                  <a:lnTo>
                    <a:pt x="598504" y="36060"/>
                  </a:lnTo>
                  <a:cubicBezTo>
                    <a:pt x="598504" y="16145"/>
                    <a:pt x="582360" y="0"/>
                    <a:pt x="562444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651717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4036500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032159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416942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839468" y="2284858"/>
              <a:ext cx="453644" cy="207"/>
            </a:xfrm>
            <a:custGeom>
              <a:avLst/>
              <a:gdLst/>
              <a:ahLst/>
              <a:cxnLst/>
              <a:rect l="0" t="0" r="r" b="b"/>
              <a:pathLst>
                <a:path w="453644" h="207" fill="norm" stroke="1">
                  <a:moveTo>
                    <a:pt x="453644" y="207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839468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0"/>
                  </a:moveTo>
                  <a:lnTo>
                    <a:pt x="176" y="70142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839644" y="2986287"/>
              <a:ext cx="232954" cy="127"/>
            </a:xfrm>
            <a:custGeom>
              <a:avLst/>
              <a:gdLst/>
              <a:ahLst/>
              <a:cxnLst/>
              <a:rect l="0" t="0" r="r" b="b"/>
              <a:pathLst>
                <a:path w="232954" h="127" fill="norm" stroke="1">
                  <a:moveTo>
                    <a:pt x="0" y="0"/>
                  </a:moveTo>
                  <a:lnTo>
                    <a:pt x="232954" y="31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036495" y="2943213"/>
              <a:ext cx="114539" cy="86199"/>
            </a:xfrm>
            <a:custGeom>
              <a:avLst/>
              <a:gdLst/>
              <a:ahLst/>
              <a:cxnLst/>
              <a:rect l="0" t="0" r="r" b="b"/>
              <a:pathLst>
                <a:path w="114539" h="86199" fill="norm" stroke="1">
                  <a:moveTo>
                    <a:pt x="114539" y="43116"/>
                  </a:moveTo>
                  <a:lnTo>
                    <a:pt x="12" y="0"/>
                  </a:lnTo>
                  <a:lnTo>
                    <a:pt x="38505" y="43105"/>
                  </a:lnTo>
                  <a:lnTo>
                    <a:pt x="0" y="86199"/>
                  </a:lnTo>
                  <a:lnTo>
                    <a:pt x="114539" y="4311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032159" y="2986287"/>
              <a:ext cx="325084" cy="127"/>
            </a:xfrm>
            <a:custGeom>
              <a:avLst/>
              <a:gdLst/>
              <a:ahLst/>
              <a:cxnLst/>
              <a:rect l="0" t="0" r="r" b="b"/>
              <a:pathLst>
                <a:path w="325084" h="127" fill="norm" stroke="1">
                  <a:moveTo>
                    <a:pt x="0" y="43"/>
                  </a:moveTo>
                  <a:lnTo>
                    <a:pt x="325084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357243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701429"/>
                  </a:moveTo>
                  <a:lnTo>
                    <a:pt x="17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4995907" y="2284858"/>
              <a:ext cx="361512" cy="167"/>
            </a:xfrm>
            <a:custGeom>
              <a:avLst/>
              <a:gdLst/>
              <a:ahLst/>
              <a:cxnLst/>
              <a:rect l="0" t="0" r="r" b="b"/>
              <a:pathLst>
                <a:path w="361512" h="167" fill="norm" stroke="1">
                  <a:moveTo>
                    <a:pt x="361512" y="0"/>
                  </a:moveTo>
                  <a:lnTo>
                    <a:pt x="0" y="16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917470" y="2241910"/>
              <a:ext cx="114552" cy="86199"/>
            </a:xfrm>
            <a:custGeom>
              <a:avLst/>
              <a:gdLst/>
              <a:ahLst/>
              <a:cxnLst/>
              <a:rect l="0" t="0" r="r" b="b"/>
              <a:pathLst>
                <a:path w="114552" h="86199" fill="norm" stroke="1">
                  <a:moveTo>
                    <a:pt x="0" y="43149"/>
                  </a:moveTo>
                  <a:lnTo>
                    <a:pt x="114552" y="86199"/>
                  </a:lnTo>
                  <a:lnTo>
                    <a:pt x="76034" y="43116"/>
                  </a:lnTo>
                  <a:lnTo>
                    <a:pt x="114515" y="0"/>
                  </a:lnTo>
                  <a:lnTo>
                    <a:pt x="0" y="43149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ODE"/>
            <p:cNvSpPr txBox="1"/>
            <p:nvPr/>
          </p:nvSpPr>
          <p:spPr>
            <a:xfrm>
              <a:off x="4188839" y="2977238"/>
              <a:ext cx="819189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252529"/>
                  </a:solidFill>
                  <a:latin typeface="Aptos"/>
                  <a:ea typeface="Aptos"/>
                  <a:cs typeface="Aptos"/>
                </a:rPr>
                <a:t xml:space="preserve">ODE</a:t>
              </a:r>
              <a:endParaRPr lang="en-GB" sz="2366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25293" y="2081450"/>
              <a:ext cx="346170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264901" y="3090525"/>
              <a:ext cx="450623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510636" y="3090525"/>
              <a:ext cx="361679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313388" y="2383926"/>
              <a:ext cx="537497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337657" y="2383926"/>
              <a:ext cx="448553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14, 15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6</a:t>
            </a:r>
            <a:endParaRPr lang="en-GB" sz="8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PDE - stability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406424" y="1917782"/>
            <a:ext cx="2331151" cy="1752436"/>
            <a:chOff x="3406424" y="1917782"/>
            <a:chExt cx="2331151" cy="1752436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15472" y="2668831"/>
              <a:ext cx="1001387" cy="1001387"/>
            </a:xfrm>
            <a:custGeom>
              <a:avLst/>
              <a:gdLst/>
              <a:ahLst/>
              <a:cxnLst/>
              <a:rect l="0" t="0" r="r" b="b"/>
              <a:pathLst>
                <a:path w="1001387" h="1001387" fill="norm" stroke="1">
                  <a:moveTo>
                    <a:pt x="965327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965326"/>
                  </a:lnTo>
                  <a:cubicBezTo>
                    <a:pt x="0" y="985241"/>
                    <a:pt x="16145" y="1001387"/>
                    <a:pt x="36060" y="1001387"/>
                  </a:cubicBezTo>
                  <a:lnTo>
                    <a:pt x="965327" y="1001387"/>
                  </a:lnTo>
                  <a:cubicBezTo>
                    <a:pt x="985242" y="1001387"/>
                    <a:pt x="1001387" y="985241"/>
                    <a:pt x="1001387" y="965326"/>
                  </a:cubicBezTo>
                  <a:lnTo>
                    <a:pt x="1001387" y="36060"/>
                  </a:lnTo>
                  <a:cubicBezTo>
                    <a:pt x="1001387" y="16145"/>
                    <a:pt x="985242" y="0"/>
                    <a:pt x="965327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82368" y="1917782"/>
              <a:ext cx="667595" cy="667595"/>
            </a:xfrm>
            <a:custGeom>
              <a:avLst/>
              <a:gdLst/>
              <a:ahLst/>
              <a:cxnLst/>
              <a:rect l="0" t="0" r="r" b="b"/>
              <a:pathLst>
                <a:path w="667595" h="667595" fill="norm" stroke="1">
                  <a:moveTo>
                    <a:pt x="631535" y="0"/>
                  </a:moveTo>
                  <a:lnTo>
                    <a:pt x="36060" y="0"/>
                  </a:lnTo>
                  <a:cubicBezTo>
                    <a:pt x="16145" y="0"/>
                    <a:pt x="0" y="16144"/>
                    <a:pt x="0" y="36060"/>
                  </a:cubicBezTo>
                  <a:lnTo>
                    <a:pt x="0" y="631534"/>
                  </a:lnTo>
                  <a:cubicBezTo>
                    <a:pt x="0" y="651450"/>
                    <a:pt x="16145" y="667595"/>
                    <a:pt x="36060" y="667595"/>
                  </a:cubicBezTo>
                  <a:lnTo>
                    <a:pt x="631535" y="667595"/>
                  </a:lnTo>
                  <a:cubicBezTo>
                    <a:pt x="651450" y="667595"/>
                    <a:pt x="667595" y="651450"/>
                    <a:pt x="667595" y="631534"/>
                  </a:cubicBezTo>
                  <a:lnTo>
                    <a:pt x="667595" y="36060"/>
                  </a:lnTo>
                  <a:cubicBezTo>
                    <a:pt x="667595" y="16144"/>
                    <a:pt x="651450" y="0"/>
                    <a:pt x="631535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858881" y="2251306"/>
              <a:ext cx="417571" cy="137"/>
            </a:xfrm>
            <a:custGeom>
              <a:avLst/>
              <a:gdLst/>
              <a:ahLst/>
              <a:cxnLst/>
              <a:rect l="0" t="0" r="r" b="b"/>
              <a:pathLst>
                <a:path w="417571" h="137" fill="norm" stroke="1">
                  <a:moveTo>
                    <a:pt x="417571" y="137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858881" y="2251306"/>
              <a:ext cx="127" cy="734576"/>
            </a:xfrm>
            <a:custGeom>
              <a:avLst/>
              <a:gdLst/>
              <a:ahLst/>
              <a:cxnLst/>
              <a:rect l="0" t="0" r="r" b="b"/>
              <a:pathLst>
                <a:path w="127" h="734576" fill="norm" stroke="1">
                  <a:moveTo>
                    <a:pt x="0" y="0"/>
                  </a:moveTo>
                  <a:lnTo>
                    <a:pt x="113" y="734576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858994" y="2985883"/>
              <a:ext cx="158333" cy="127"/>
            </a:xfrm>
            <a:custGeom>
              <a:avLst/>
              <a:gdLst/>
              <a:ahLst/>
              <a:cxnLst/>
              <a:rect l="0" t="0" r="r" b="b"/>
              <a:pathLst>
                <a:path w="158333" h="127" fill="norm" stroke="1">
                  <a:moveTo>
                    <a:pt x="0" y="0"/>
                  </a:moveTo>
                  <a:lnTo>
                    <a:pt x="158333" y="1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3981225" y="2942798"/>
              <a:ext cx="114537" cy="86199"/>
            </a:xfrm>
            <a:custGeom>
              <a:avLst/>
              <a:gdLst/>
              <a:ahLst/>
              <a:cxnLst/>
              <a:rect l="0" t="0" r="r" b="b"/>
              <a:pathLst>
                <a:path w="114537" h="86199" fill="norm" stroke="1">
                  <a:moveTo>
                    <a:pt x="114537" y="43110"/>
                  </a:moveTo>
                  <a:lnTo>
                    <a:pt x="8" y="0"/>
                  </a:lnTo>
                  <a:lnTo>
                    <a:pt x="38503" y="43103"/>
                  </a:lnTo>
                  <a:lnTo>
                    <a:pt x="0" y="86199"/>
                  </a:lnTo>
                  <a:lnTo>
                    <a:pt x="114537" y="4311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122875" y="2985883"/>
              <a:ext cx="250462" cy="127"/>
            </a:xfrm>
            <a:custGeom>
              <a:avLst/>
              <a:gdLst/>
              <a:ahLst/>
              <a:cxnLst/>
              <a:rect l="0" t="0" r="r" b="b"/>
              <a:pathLst>
                <a:path w="250462" h="127" fill="norm" stroke="1">
                  <a:moveTo>
                    <a:pt x="0" y="27"/>
                  </a:moveTo>
                  <a:lnTo>
                    <a:pt x="250462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5373337" y="2251306"/>
              <a:ext cx="127" cy="734576"/>
            </a:xfrm>
            <a:custGeom>
              <a:avLst/>
              <a:gdLst/>
              <a:ahLst/>
              <a:cxnLst/>
              <a:rect l="0" t="0" r="r" b="b"/>
              <a:pathLst>
                <a:path w="127" h="734576" fill="norm" stroke="1">
                  <a:moveTo>
                    <a:pt x="0" y="734576"/>
                  </a:moveTo>
                  <a:lnTo>
                    <a:pt x="113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5048009" y="2251306"/>
              <a:ext cx="325441" cy="127"/>
            </a:xfrm>
            <a:custGeom>
              <a:avLst/>
              <a:gdLst/>
              <a:ahLst/>
              <a:cxnLst/>
              <a:rect l="0" t="0" r="r" b="b"/>
              <a:pathLst>
                <a:path w="325441" h="127" fill="norm" stroke="1">
                  <a:moveTo>
                    <a:pt x="325441" y="0"/>
                  </a:moveTo>
                  <a:lnTo>
                    <a:pt x="0" y="10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969572" y="2208304"/>
              <a:ext cx="114546" cy="86199"/>
            </a:xfrm>
            <a:custGeom>
              <a:avLst/>
              <a:gdLst/>
              <a:ahLst/>
              <a:cxnLst/>
              <a:rect l="0" t="0" r="r" b="b"/>
              <a:pathLst>
                <a:path w="114546" h="86199" fill="norm" stroke="1">
                  <a:moveTo>
                    <a:pt x="0" y="43134"/>
                  </a:moveTo>
                  <a:lnTo>
                    <a:pt x="114546" y="86199"/>
                  </a:lnTo>
                  <a:lnTo>
                    <a:pt x="76034" y="43111"/>
                  </a:lnTo>
                  <a:lnTo>
                    <a:pt x="114520" y="0"/>
                  </a:lnTo>
                  <a:lnTo>
                    <a:pt x="0" y="43134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Editable label: PDE"/>
            <p:cNvSpPr txBox="1"/>
            <p:nvPr/>
          </p:nvSpPr>
          <p:spPr>
            <a:xfrm>
              <a:off x="4234960" y="2976496"/>
              <a:ext cx="762333" cy="434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09" b="0" i="0" baseline="0">
                  <a:solidFill>
                    <a:srgbClr val="252529"/>
                  </a:solidFill>
                  <a:latin typeface="Aptos"/>
                  <a:ea typeface="Aptos"/>
                  <a:cs typeface="Aptos"/>
                </a:rPr>
                <a:t xml:space="preserve">PDE</a:t>
              </a:r>
              <a:endParaRPr lang="en-GB" sz="2309"/>
            </a:p>
          </p:txBody>
        </p:sp>
        <p:sp>
          <p:nvSpPr>
            <p:cNvPr id="10012" name="Editable label: Δ"/>
            <p:cNvSpPr txBox="1"/>
            <p:nvPr/>
          </p:nvSpPr>
          <p:spPr>
            <a:xfrm>
              <a:off x="4446576" y="2052202"/>
              <a:ext cx="339082" cy="434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09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09"/>
            </a:p>
          </p:txBody>
        </p:sp>
        <p:sp>
          <p:nvSpPr>
            <p:cNvPr id="10013" name="Editable label: wΔ"/>
            <p:cNvSpPr txBox="1"/>
            <p:nvPr/>
          </p:nvSpPr>
          <p:spPr>
            <a:xfrm>
              <a:off x="3344794" y="2372543"/>
              <a:ext cx="525816" cy="434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0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17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09"/>
            </a:p>
          </p:txBody>
        </p:sp>
        <p:sp>
          <p:nvSpPr>
            <p:cNvPr id="10014" name="Editable label: zΔ"/>
            <p:cNvSpPr txBox="1"/>
            <p:nvPr/>
          </p:nvSpPr>
          <p:spPr>
            <a:xfrm>
              <a:off x="5353578" y="2372543"/>
              <a:ext cx="439007" cy="434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09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17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09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41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7</a:t>
            </a:r>
            <a:endParaRPr lang="en-GB" sz="8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PDE - performance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320796" y="1986019"/>
            <a:ext cx="2502407" cy="1615962"/>
            <a:chOff x="3320796" y="1986019"/>
            <a:chExt cx="2502407" cy="161596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70939" y="2746972"/>
              <a:ext cx="855009" cy="855009"/>
            </a:xfrm>
            <a:custGeom>
              <a:avLst/>
              <a:gdLst/>
              <a:ahLst/>
              <a:cxnLst/>
              <a:rect l="0" t="0" r="r" b="b"/>
              <a:pathLst>
                <a:path w="855009" h="855009" fill="norm" stroke="1">
                  <a:moveTo>
                    <a:pt x="818949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818949"/>
                  </a:lnTo>
                  <a:cubicBezTo>
                    <a:pt x="0" y="838864"/>
                    <a:pt x="16145" y="855009"/>
                    <a:pt x="36060" y="855009"/>
                  </a:cubicBezTo>
                  <a:lnTo>
                    <a:pt x="818949" y="855009"/>
                  </a:lnTo>
                  <a:cubicBezTo>
                    <a:pt x="838864" y="855009"/>
                    <a:pt x="855009" y="838864"/>
                    <a:pt x="855009" y="818949"/>
                  </a:cubicBezTo>
                  <a:lnTo>
                    <a:pt x="855009" y="36060"/>
                  </a:lnTo>
                  <a:cubicBezTo>
                    <a:pt x="855009" y="16145"/>
                    <a:pt x="838864" y="0"/>
                    <a:pt x="818949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99191" y="1986019"/>
              <a:ext cx="598504" cy="598505"/>
            </a:xfrm>
            <a:custGeom>
              <a:avLst/>
              <a:gdLst/>
              <a:ahLst/>
              <a:cxnLst/>
              <a:rect l="0" t="0" r="r" b="b"/>
              <a:pathLst>
                <a:path w="598504" h="598505" fill="norm" stroke="1">
                  <a:moveTo>
                    <a:pt x="5624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562444"/>
                  </a:lnTo>
                  <a:cubicBezTo>
                    <a:pt x="0" y="582360"/>
                    <a:pt x="16145" y="598505"/>
                    <a:pt x="36060" y="598505"/>
                  </a:cubicBezTo>
                  <a:lnTo>
                    <a:pt x="562444" y="598505"/>
                  </a:lnTo>
                  <a:cubicBezTo>
                    <a:pt x="582360" y="598505"/>
                    <a:pt x="598504" y="582360"/>
                    <a:pt x="598504" y="562444"/>
                  </a:cubicBezTo>
                  <a:lnTo>
                    <a:pt x="598504" y="36060"/>
                  </a:lnTo>
                  <a:cubicBezTo>
                    <a:pt x="598504" y="16145"/>
                    <a:pt x="582360" y="0"/>
                    <a:pt x="562444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651717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4036500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032159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416942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839468" y="2284858"/>
              <a:ext cx="453644" cy="207"/>
            </a:xfrm>
            <a:custGeom>
              <a:avLst/>
              <a:gdLst/>
              <a:ahLst/>
              <a:cxnLst/>
              <a:rect l="0" t="0" r="r" b="b"/>
              <a:pathLst>
                <a:path w="453644" h="207" fill="norm" stroke="1">
                  <a:moveTo>
                    <a:pt x="453644" y="207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839468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0"/>
                  </a:moveTo>
                  <a:lnTo>
                    <a:pt x="176" y="70142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839644" y="2986287"/>
              <a:ext cx="232954" cy="127"/>
            </a:xfrm>
            <a:custGeom>
              <a:avLst/>
              <a:gdLst/>
              <a:ahLst/>
              <a:cxnLst/>
              <a:rect l="0" t="0" r="r" b="b"/>
              <a:pathLst>
                <a:path w="232954" h="127" fill="norm" stroke="1">
                  <a:moveTo>
                    <a:pt x="0" y="0"/>
                  </a:moveTo>
                  <a:lnTo>
                    <a:pt x="232954" y="31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036495" y="2943213"/>
              <a:ext cx="114539" cy="86199"/>
            </a:xfrm>
            <a:custGeom>
              <a:avLst/>
              <a:gdLst/>
              <a:ahLst/>
              <a:cxnLst/>
              <a:rect l="0" t="0" r="r" b="b"/>
              <a:pathLst>
                <a:path w="114539" h="86199" fill="norm" stroke="1">
                  <a:moveTo>
                    <a:pt x="114539" y="43116"/>
                  </a:moveTo>
                  <a:lnTo>
                    <a:pt x="12" y="0"/>
                  </a:lnTo>
                  <a:lnTo>
                    <a:pt x="38505" y="43105"/>
                  </a:lnTo>
                  <a:lnTo>
                    <a:pt x="0" y="86199"/>
                  </a:lnTo>
                  <a:lnTo>
                    <a:pt x="114539" y="4311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032159" y="2986287"/>
              <a:ext cx="325084" cy="127"/>
            </a:xfrm>
            <a:custGeom>
              <a:avLst/>
              <a:gdLst/>
              <a:ahLst/>
              <a:cxnLst/>
              <a:rect l="0" t="0" r="r" b="b"/>
              <a:pathLst>
                <a:path w="325084" h="127" fill="norm" stroke="1">
                  <a:moveTo>
                    <a:pt x="0" y="43"/>
                  </a:moveTo>
                  <a:lnTo>
                    <a:pt x="325084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357243" y="2284858"/>
              <a:ext cx="176" cy="701429"/>
            </a:xfrm>
            <a:custGeom>
              <a:avLst/>
              <a:gdLst/>
              <a:ahLst/>
              <a:cxnLst/>
              <a:rect l="0" t="0" r="r" b="b"/>
              <a:pathLst>
                <a:path w="176" h="701429" fill="norm" stroke="1">
                  <a:moveTo>
                    <a:pt x="0" y="701429"/>
                  </a:moveTo>
                  <a:lnTo>
                    <a:pt x="17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4995907" y="2284858"/>
              <a:ext cx="361512" cy="167"/>
            </a:xfrm>
            <a:custGeom>
              <a:avLst/>
              <a:gdLst/>
              <a:ahLst/>
              <a:cxnLst/>
              <a:rect l="0" t="0" r="r" b="b"/>
              <a:pathLst>
                <a:path w="361512" h="167" fill="norm" stroke="1">
                  <a:moveTo>
                    <a:pt x="361512" y="0"/>
                  </a:moveTo>
                  <a:lnTo>
                    <a:pt x="0" y="167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917470" y="2241910"/>
              <a:ext cx="114552" cy="86199"/>
            </a:xfrm>
            <a:custGeom>
              <a:avLst/>
              <a:gdLst/>
              <a:ahLst/>
              <a:cxnLst/>
              <a:rect l="0" t="0" r="r" b="b"/>
              <a:pathLst>
                <a:path w="114552" h="86199" fill="norm" stroke="1">
                  <a:moveTo>
                    <a:pt x="0" y="43149"/>
                  </a:moveTo>
                  <a:lnTo>
                    <a:pt x="114552" y="86199"/>
                  </a:lnTo>
                  <a:lnTo>
                    <a:pt x="76034" y="43116"/>
                  </a:lnTo>
                  <a:lnTo>
                    <a:pt x="114515" y="0"/>
                  </a:lnTo>
                  <a:lnTo>
                    <a:pt x="0" y="43149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PDE"/>
            <p:cNvSpPr txBox="1"/>
            <p:nvPr/>
          </p:nvSpPr>
          <p:spPr>
            <a:xfrm>
              <a:off x="4208491" y="2977165"/>
              <a:ext cx="779830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252529"/>
                  </a:solidFill>
                  <a:latin typeface="Aptos"/>
                  <a:ea typeface="Aptos"/>
                  <a:cs typeface="Aptos"/>
                </a:rPr>
                <a:t xml:space="preserve">PDE</a:t>
              </a:r>
              <a:endParaRPr lang="en-GB" sz="2366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25293" y="2081450"/>
              <a:ext cx="346170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264901" y="3090525"/>
              <a:ext cx="450623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510636" y="3090525"/>
              <a:ext cx="361679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313388" y="2383926"/>
              <a:ext cx="537497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337657" y="2383926"/>
              <a:ext cx="448553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43, 44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8</a:t>
            </a:r>
            <a:endParaRPr lang="en-GB" sz="8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PIE - conversion output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144469" y="1986019"/>
            <a:ext cx="2855062" cy="1615962"/>
            <a:chOff x="3144469" y="1986019"/>
            <a:chExt cx="2855062" cy="161596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3994679" y="2746971"/>
              <a:ext cx="1207548" cy="855009"/>
            </a:xfrm>
            <a:custGeom>
              <a:avLst/>
              <a:gdLst/>
              <a:ahLst/>
              <a:cxnLst/>
              <a:rect l="0" t="0" r="r" b="b"/>
              <a:pathLst>
                <a:path w="1207548" h="855009" fill="norm" stroke="1">
                  <a:moveTo>
                    <a:pt x="1171488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818949"/>
                  </a:lnTo>
                  <a:cubicBezTo>
                    <a:pt x="0" y="838865"/>
                    <a:pt x="16144" y="855009"/>
                    <a:pt x="36060" y="855009"/>
                  </a:cubicBezTo>
                  <a:lnTo>
                    <a:pt x="1171488" y="855009"/>
                  </a:lnTo>
                  <a:cubicBezTo>
                    <a:pt x="1191403" y="855009"/>
                    <a:pt x="1207548" y="838865"/>
                    <a:pt x="1207548" y="818949"/>
                  </a:cubicBezTo>
                  <a:lnTo>
                    <a:pt x="1207548" y="36060"/>
                  </a:lnTo>
                  <a:cubicBezTo>
                    <a:pt x="1207548" y="16145"/>
                    <a:pt x="1191403" y="0"/>
                    <a:pt x="1171488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99201" y="1986019"/>
              <a:ext cx="598504" cy="598505"/>
            </a:xfrm>
            <a:custGeom>
              <a:avLst/>
              <a:gdLst/>
              <a:ahLst/>
              <a:cxnLst/>
              <a:rect l="0" t="0" r="r" b="b"/>
              <a:pathLst>
                <a:path w="598504" h="598505" fill="norm" stroke="1">
                  <a:moveTo>
                    <a:pt x="5624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562444"/>
                  </a:lnTo>
                  <a:cubicBezTo>
                    <a:pt x="0" y="582360"/>
                    <a:pt x="16145" y="598505"/>
                    <a:pt x="36060" y="598505"/>
                  </a:cubicBezTo>
                  <a:lnTo>
                    <a:pt x="562444" y="598505"/>
                  </a:lnTo>
                  <a:cubicBezTo>
                    <a:pt x="582360" y="598505"/>
                    <a:pt x="598504" y="582360"/>
                    <a:pt x="598504" y="562444"/>
                  </a:cubicBezTo>
                  <a:lnTo>
                    <a:pt x="598504" y="36060"/>
                  </a:lnTo>
                  <a:cubicBezTo>
                    <a:pt x="598504" y="16145"/>
                    <a:pt x="582360" y="0"/>
                    <a:pt x="562444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475374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860156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208520" y="3362622"/>
              <a:ext cx="420880" cy="127"/>
            </a:xfrm>
            <a:custGeom>
              <a:avLst/>
              <a:gdLst/>
              <a:ahLst/>
              <a:cxnLst/>
              <a:rect l="0" t="0" r="r" b="b"/>
              <a:pathLst>
                <a:path w="420880" h="127" fill="norm" stroke="1">
                  <a:moveTo>
                    <a:pt x="0" y="0"/>
                  </a:moveTo>
                  <a:lnTo>
                    <a:pt x="42088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593303" y="331952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663043" y="2284858"/>
              <a:ext cx="630078" cy="207"/>
            </a:xfrm>
            <a:custGeom>
              <a:avLst/>
              <a:gdLst/>
              <a:ahLst/>
              <a:cxnLst/>
              <a:rect l="0" t="0" r="r" b="b"/>
              <a:pathLst>
                <a:path w="630078" h="207" fill="norm" stroke="1">
                  <a:moveTo>
                    <a:pt x="630078" y="207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663043" y="2284858"/>
              <a:ext cx="217" cy="701429"/>
            </a:xfrm>
            <a:custGeom>
              <a:avLst/>
              <a:gdLst/>
              <a:ahLst/>
              <a:cxnLst/>
              <a:rect l="0" t="0" r="r" b="b"/>
              <a:pathLst>
                <a:path w="217" h="701429" fill="norm" stroke="1">
                  <a:moveTo>
                    <a:pt x="0" y="0"/>
                  </a:moveTo>
                  <a:lnTo>
                    <a:pt x="217" y="70142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663259" y="2986287"/>
              <a:ext cx="232996" cy="127"/>
            </a:xfrm>
            <a:custGeom>
              <a:avLst/>
              <a:gdLst/>
              <a:ahLst/>
              <a:cxnLst/>
              <a:rect l="0" t="0" r="r" b="b"/>
              <a:pathLst>
                <a:path w="232996" h="127" fill="norm" stroke="1">
                  <a:moveTo>
                    <a:pt x="0" y="0"/>
                  </a:moveTo>
                  <a:lnTo>
                    <a:pt x="232996" y="31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3860152" y="2943213"/>
              <a:ext cx="114539" cy="86199"/>
            </a:xfrm>
            <a:custGeom>
              <a:avLst/>
              <a:gdLst/>
              <a:ahLst/>
              <a:cxnLst/>
              <a:rect l="0" t="0" r="r" b="b"/>
              <a:pathLst>
                <a:path w="114539" h="86199" fill="norm" stroke="1">
                  <a:moveTo>
                    <a:pt x="114539" y="43116"/>
                  </a:moveTo>
                  <a:lnTo>
                    <a:pt x="12" y="0"/>
                  </a:lnTo>
                  <a:lnTo>
                    <a:pt x="38505" y="43105"/>
                  </a:lnTo>
                  <a:lnTo>
                    <a:pt x="0" y="86199"/>
                  </a:lnTo>
                  <a:lnTo>
                    <a:pt x="114539" y="43116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208520" y="2986287"/>
              <a:ext cx="325126" cy="127"/>
            </a:xfrm>
            <a:custGeom>
              <a:avLst/>
              <a:gdLst/>
              <a:ahLst/>
              <a:cxnLst/>
              <a:rect l="0" t="0" r="r" b="b"/>
              <a:pathLst>
                <a:path w="325126" h="127" fill="norm" stroke="1">
                  <a:moveTo>
                    <a:pt x="0" y="43"/>
                  </a:moveTo>
                  <a:lnTo>
                    <a:pt x="32512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533646" y="2284858"/>
              <a:ext cx="217" cy="701429"/>
            </a:xfrm>
            <a:custGeom>
              <a:avLst/>
              <a:gdLst/>
              <a:ahLst/>
              <a:cxnLst/>
              <a:rect l="0" t="0" r="r" b="b"/>
              <a:pathLst>
                <a:path w="217" h="701429" fill="norm" stroke="1">
                  <a:moveTo>
                    <a:pt x="0" y="701429"/>
                  </a:moveTo>
                  <a:lnTo>
                    <a:pt x="217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4995916" y="2284858"/>
              <a:ext cx="537946" cy="179"/>
            </a:xfrm>
            <a:custGeom>
              <a:avLst/>
              <a:gdLst/>
              <a:ahLst/>
              <a:cxnLst/>
              <a:rect l="0" t="0" r="r" b="b"/>
              <a:pathLst>
                <a:path w="537946" h="179" fill="norm" stroke="1">
                  <a:moveTo>
                    <a:pt x="537946" y="0"/>
                  </a:moveTo>
                  <a:lnTo>
                    <a:pt x="0" y="17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917479" y="2241926"/>
              <a:ext cx="114546" cy="86199"/>
            </a:xfrm>
            <a:custGeom>
              <a:avLst/>
              <a:gdLst/>
              <a:ahLst/>
              <a:cxnLst/>
              <a:rect l="0" t="0" r="r" b="b"/>
              <a:pathLst>
                <a:path w="114546" h="86199" fill="norm" stroke="1">
                  <a:moveTo>
                    <a:pt x="0" y="43134"/>
                  </a:moveTo>
                  <a:lnTo>
                    <a:pt x="114546" y="86199"/>
                  </a:lnTo>
                  <a:lnTo>
                    <a:pt x="76034" y="43111"/>
                  </a:lnTo>
                  <a:lnTo>
                    <a:pt x="114520" y="0"/>
                  </a:lnTo>
                  <a:lnTo>
                    <a:pt x="0" y="43134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H{P IE}"/>
            <p:cNvSpPr txBox="1"/>
            <p:nvPr/>
          </p:nvSpPr>
          <p:spPr>
            <a:xfrm>
              <a:off x="3980138" y="2934525"/>
              <a:ext cx="1221508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r>
                <a:rPr lang="en-GB" sz="1656" b="0" i="0" baseline="-18058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{</a:t>
              </a:r>
              <a:r>
                <a:rPr lang="en-GB" sz="1656" b="0" i="1" baseline="-18058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PIE</a:t>
              </a:r>
              <a:r>
                <a:rPr lang="en-GB" sz="1656" b="0" i="0" baseline="-18058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}</a:t>
              </a:r>
              <a:endParaRPr lang="en-GB" sz="2366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25308" y="2081450"/>
              <a:ext cx="346170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088577" y="3090525"/>
              <a:ext cx="450588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686995" y="3090525"/>
              <a:ext cx="361644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1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366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136992" y="2383926"/>
              <a:ext cx="537461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514089" y="2383926"/>
              <a:ext cx="448517" cy="44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6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656" b="0" i="0" baseline="-1500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366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44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9</a:t>
            </a:r>
            <a:endParaRPr lang="en-GB" sz="8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Admissible uncertainty - performance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120717" y="1856744"/>
            <a:ext cx="2902567" cy="1874512"/>
            <a:chOff x="3120717" y="1856744"/>
            <a:chExt cx="2902567" cy="1874512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106788" y="2739447"/>
              <a:ext cx="991809" cy="991809"/>
            </a:xfrm>
            <a:custGeom>
              <a:avLst/>
              <a:gdLst/>
              <a:ahLst/>
              <a:cxnLst/>
              <a:rect l="0" t="0" r="r" b="b"/>
              <a:pathLst>
                <a:path w="991809" h="991809" fill="norm" stroke="1">
                  <a:moveTo>
                    <a:pt x="955748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955749"/>
                  </a:lnTo>
                  <a:cubicBezTo>
                    <a:pt x="0" y="975665"/>
                    <a:pt x="16144" y="991809"/>
                    <a:pt x="36060" y="991809"/>
                  </a:cubicBezTo>
                  <a:lnTo>
                    <a:pt x="955748" y="991809"/>
                  </a:lnTo>
                  <a:cubicBezTo>
                    <a:pt x="975664" y="991809"/>
                    <a:pt x="991809" y="975665"/>
                    <a:pt x="991809" y="955749"/>
                  </a:cubicBezTo>
                  <a:lnTo>
                    <a:pt x="991809" y="36060"/>
                  </a:lnTo>
                  <a:cubicBezTo>
                    <a:pt x="991809" y="16145"/>
                    <a:pt x="975664" y="0"/>
                    <a:pt x="955748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255560" y="1856744"/>
              <a:ext cx="694264" cy="694264"/>
            </a:xfrm>
            <a:custGeom>
              <a:avLst/>
              <a:gdLst/>
              <a:ahLst/>
              <a:cxnLst/>
              <a:rect l="0" t="0" r="r" b="b"/>
              <a:pathLst>
                <a:path w="694264" h="694264" fill="norm" stroke="1">
                  <a:moveTo>
                    <a:pt x="658204" y="0"/>
                  </a:moveTo>
                  <a:lnTo>
                    <a:pt x="36060" y="0"/>
                  </a:lnTo>
                  <a:cubicBezTo>
                    <a:pt x="16145" y="0"/>
                    <a:pt x="0" y="16144"/>
                    <a:pt x="0" y="36060"/>
                  </a:cubicBezTo>
                  <a:lnTo>
                    <a:pt x="0" y="658204"/>
                  </a:lnTo>
                  <a:cubicBezTo>
                    <a:pt x="0" y="678119"/>
                    <a:pt x="16145" y="694264"/>
                    <a:pt x="36060" y="694264"/>
                  </a:cubicBezTo>
                  <a:lnTo>
                    <a:pt x="658204" y="694264"/>
                  </a:lnTo>
                  <a:cubicBezTo>
                    <a:pt x="678119" y="694264"/>
                    <a:pt x="694264" y="678119"/>
                    <a:pt x="694264" y="658204"/>
                  </a:cubicBezTo>
                  <a:lnTo>
                    <a:pt x="694264" y="36060"/>
                  </a:lnTo>
                  <a:cubicBezTo>
                    <a:pt x="694264" y="16144"/>
                    <a:pt x="678119" y="0"/>
                    <a:pt x="658204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504577" y="3453582"/>
              <a:ext cx="502960" cy="127"/>
            </a:xfrm>
            <a:custGeom>
              <a:avLst/>
              <a:gdLst/>
              <a:ahLst/>
              <a:cxnLst/>
              <a:rect l="0" t="0" r="r" b="b"/>
              <a:pathLst>
                <a:path w="502960" h="127" fill="norm" stroke="1">
                  <a:moveTo>
                    <a:pt x="0" y="0"/>
                  </a:moveTo>
                  <a:lnTo>
                    <a:pt x="50296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971440" y="341048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105715" y="3453582"/>
              <a:ext cx="502960" cy="127"/>
            </a:xfrm>
            <a:custGeom>
              <a:avLst/>
              <a:gdLst/>
              <a:ahLst/>
              <a:cxnLst/>
              <a:rect l="0" t="0" r="r" b="b"/>
              <a:pathLst>
                <a:path w="502960" h="127" fill="norm" stroke="1">
                  <a:moveTo>
                    <a:pt x="0" y="0"/>
                  </a:moveTo>
                  <a:lnTo>
                    <a:pt x="50296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572579" y="3410482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762210" y="2203573"/>
              <a:ext cx="486326" cy="152"/>
            </a:xfrm>
            <a:custGeom>
              <a:avLst/>
              <a:gdLst/>
              <a:ahLst/>
              <a:cxnLst/>
              <a:rect l="0" t="0" r="r" b="b"/>
              <a:pathLst>
                <a:path w="486326" h="152" fill="norm" stroke="1">
                  <a:moveTo>
                    <a:pt x="486326" y="152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762210" y="2203573"/>
              <a:ext cx="127" cy="813516"/>
            </a:xfrm>
            <a:custGeom>
              <a:avLst/>
              <a:gdLst/>
              <a:ahLst/>
              <a:cxnLst/>
              <a:rect l="0" t="0" r="r" b="b"/>
              <a:pathLst>
                <a:path w="127" h="813516" fill="norm" stroke="1">
                  <a:moveTo>
                    <a:pt x="0" y="0"/>
                  </a:moveTo>
                  <a:lnTo>
                    <a:pt x="123" y="813516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762334" y="3017089"/>
              <a:ext cx="245205" cy="127"/>
            </a:xfrm>
            <a:custGeom>
              <a:avLst/>
              <a:gdLst/>
              <a:ahLst/>
              <a:cxnLst/>
              <a:rect l="0" t="0" r="r" b="b"/>
              <a:pathLst>
                <a:path w="245205" h="127" fill="norm" stroke="1">
                  <a:moveTo>
                    <a:pt x="0" y="0"/>
                  </a:moveTo>
                  <a:lnTo>
                    <a:pt x="245205" y="25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3971439" y="2974012"/>
              <a:ext cx="114537" cy="86199"/>
            </a:xfrm>
            <a:custGeom>
              <a:avLst/>
              <a:gdLst/>
              <a:ahLst/>
              <a:cxnLst/>
              <a:rect l="0" t="0" r="r" b="b"/>
              <a:pathLst>
                <a:path w="114537" h="86199" fill="norm" stroke="1">
                  <a:moveTo>
                    <a:pt x="114537" y="43109"/>
                  </a:moveTo>
                  <a:lnTo>
                    <a:pt x="7" y="0"/>
                  </a:lnTo>
                  <a:lnTo>
                    <a:pt x="38503" y="43103"/>
                  </a:lnTo>
                  <a:lnTo>
                    <a:pt x="0" y="86199"/>
                  </a:lnTo>
                  <a:lnTo>
                    <a:pt x="114537" y="43109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5105715" y="3017089"/>
              <a:ext cx="337336" cy="127"/>
            </a:xfrm>
            <a:custGeom>
              <a:avLst/>
              <a:gdLst/>
              <a:ahLst/>
              <a:cxnLst/>
              <a:rect l="0" t="0" r="r" b="b"/>
              <a:pathLst>
                <a:path w="337336" h="127" fill="norm" stroke="1">
                  <a:moveTo>
                    <a:pt x="0" y="32"/>
                  </a:moveTo>
                  <a:lnTo>
                    <a:pt x="33733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443051" y="2203573"/>
              <a:ext cx="127" cy="813516"/>
            </a:xfrm>
            <a:custGeom>
              <a:avLst/>
              <a:gdLst/>
              <a:ahLst/>
              <a:cxnLst/>
              <a:rect l="0" t="0" r="r" b="b"/>
              <a:pathLst>
                <a:path w="127" h="813516" fill="norm" stroke="1">
                  <a:moveTo>
                    <a:pt x="0" y="813516"/>
                  </a:moveTo>
                  <a:lnTo>
                    <a:pt x="123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5048978" y="2203573"/>
              <a:ext cx="394197" cy="127"/>
            </a:xfrm>
            <a:custGeom>
              <a:avLst/>
              <a:gdLst/>
              <a:ahLst/>
              <a:cxnLst/>
              <a:rect l="0" t="0" r="r" b="b"/>
              <a:pathLst>
                <a:path w="394197" h="127" fill="norm" stroke="1">
                  <a:moveTo>
                    <a:pt x="394197" y="0"/>
                  </a:moveTo>
                  <a:lnTo>
                    <a:pt x="0" y="125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970541" y="2160588"/>
              <a:ext cx="114546" cy="86199"/>
            </a:xfrm>
            <a:custGeom>
              <a:avLst/>
              <a:gdLst/>
              <a:ahLst/>
              <a:cxnLst/>
              <a:rect l="0" t="0" r="r" b="b"/>
              <a:pathLst>
                <a:path w="114546" h="86199" fill="norm" stroke="1">
                  <a:moveTo>
                    <a:pt x="0" y="43133"/>
                  </a:moveTo>
                  <a:lnTo>
                    <a:pt x="114546" y="86199"/>
                  </a:lnTo>
                  <a:lnTo>
                    <a:pt x="76034" y="43111"/>
                  </a:lnTo>
                  <a:lnTo>
                    <a:pt x="114521" y="0"/>
                  </a:lnTo>
                  <a:lnTo>
                    <a:pt x="0" y="43133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H"/>
            <p:cNvSpPr txBox="1"/>
            <p:nvPr/>
          </p:nvSpPr>
          <p:spPr>
            <a:xfrm>
              <a:off x="4392198" y="3001984"/>
              <a:ext cx="392607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745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05913" y="1970499"/>
              <a:ext cx="393430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745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059946" y="3140991"/>
              <a:ext cx="514554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21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745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664806" y="3140991"/>
              <a:ext cx="411379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21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745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155994" y="2321464"/>
              <a:ext cx="615327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921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745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424362" y="2321464"/>
              <a:ext cx="512152" cy="50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745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921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745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45, 46, 47, 48, 49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10</a:t>
            </a:r>
            <a:endParaRPr lang="en-GB" sz="8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Uncertainty input-output map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661544" y="2500727"/>
            <a:ext cx="1820912" cy="586545"/>
            <a:chOff x="3661544" y="2500727"/>
            <a:chExt cx="1820912" cy="586545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400565" y="2615305"/>
              <a:ext cx="471967" cy="471968"/>
            </a:xfrm>
            <a:custGeom>
              <a:avLst/>
              <a:gdLst/>
              <a:ahLst/>
              <a:cxnLst/>
              <a:rect l="0" t="0" r="r" b="b"/>
              <a:pathLst>
                <a:path w="471967" h="471968" fill="norm" stroke="1">
                  <a:moveTo>
                    <a:pt x="435906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435907"/>
                  </a:lnTo>
                  <a:cubicBezTo>
                    <a:pt x="0" y="455823"/>
                    <a:pt x="16144" y="471968"/>
                    <a:pt x="36060" y="471968"/>
                  </a:cubicBezTo>
                  <a:lnTo>
                    <a:pt x="435906" y="471968"/>
                  </a:lnTo>
                  <a:cubicBezTo>
                    <a:pt x="455822" y="471968"/>
                    <a:pt x="471967" y="455823"/>
                    <a:pt x="471967" y="435907"/>
                  </a:cubicBezTo>
                  <a:lnTo>
                    <a:pt x="471967" y="36060"/>
                  </a:lnTo>
                  <a:cubicBezTo>
                    <a:pt x="471967" y="16145"/>
                    <a:pt x="455822" y="0"/>
                    <a:pt x="435906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970267" y="2851069"/>
              <a:ext cx="206782" cy="127"/>
            </a:xfrm>
            <a:custGeom>
              <a:avLst/>
              <a:gdLst/>
              <a:ahLst/>
              <a:cxnLst/>
              <a:rect l="0" t="0" r="r" b="b"/>
              <a:pathLst>
                <a:path w="206782" h="127" fill="norm" stroke="1">
                  <a:moveTo>
                    <a:pt x="206782" y="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4891828" y="2807969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0" y="43101"/>
                  </a:moveTo>
                  <a:lnTo>
                    <a:pt x="114535" y="86201"/>
                  </a:lnTo>
                  <a:lnTo>
                    <a:pt x="76035" y="43101"/>
                  </a:lnTo>
                  <a:lnTo>
                    <a:pt x="114535" y="0"/>
                  </a:lnTo>
                  <a:lnTo>
                    <a:pt x="0" y="43101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4188178" y="2851069"/>
              <a:ext cx="206783" cy="127"/>
            </a:xfrm>
            <a:custGeom>
              <a:avLst/>
              <a:gdLst/>
              <a:ahLst/>
              <a:cxnLst/>
              <a:rect l="0" t="0" r="r" b="b"/>
              <a:pathLst>
                <a:path w="206783" h="127" fill="norm" stroke="1">
                  <a:moveTo>
                    <a:pt x="206783" y="0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4109740" y="2807969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0" y="43101"/>
                  </a:moveTo>
                  <a:lnTo>
                    <a:pt x="114535" y="86201"/>
                  </a:lnTo>
                  <a:lnTo>
                    <a:pt x="76035" y="43101"/>
                  </a:lnTo>
                  <a:lnTo>
                    <a:pt x="114535" y="0"/>
                  </a:lnTo>
                  <a:lnTo>
                    <a:pt x="0" y="43101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Editable label: Δ"/>
            <p:cNvSpPr txBox="1"/>
            <p:nvPr/>
          </p:nvSpPr>
          <p:spPr>
            <a:xfrm>
              <a:off x="4475242" y="2662267"/>
              <a:ext cx="322541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07" name="Editable label: zΔ"/>
            <p:cNvSpPr txBox="1"/>
            <p:nvPr/>
          </p:nvSpPr>
          <p:spPr>
            <a:xfrm>
              <a:off x="5119064" y="2444967"/>
              <a:ext cx="416700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08" name="Editable label: ΔzΔ"/>
            <p:cNvSpPr txBox="1"/>
            <p:nvPr/>
          </p:nvSpPr>
          <p:spPr>
            <a:xfrm>
              <a:off x="3587502" y="2479907"/>
              <a:ext cx="688544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50, 51, 52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11</a:t>
            </a:r>
            <a:endParaRPr lang="en-GB" sz="8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Dissipativity - stability loop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552018" y="2078187"/>
            <a:ext cx="2039964" cy="1431627"/>
            <a:chOff x="3552018" y="2078187"/>
            <a:chExt cx="2039964" cy="1431627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220338" y="2723209"/>
              <a:ext cx="786605" cy="786605"/>
            </a:xfrm>
            <a:custGeom>
              <a:avLst/>
              <a:gdLst/>
              <a:ahLst/>
              <a:cxnLst/>
              <a:rect l="0" t="0" r="r" b="b"/>
              <a:pathLst>
                <a:path w="786605" h="786605" fill="norm" stroke="1">
                  <a:moveTo>
                    <a:pt x="7505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750545"/>
                  </a:lnTo>
                  <a:cubicBezTo>
                    <a:pt x="0" y="770460"/>
                    <a:pt x="16145" y="786605"/>
                    <a:pt x="36060" y="786605"/>
                  </a:cubicBezTo>
                  <a:lnTo>
                    <a:pt x="750544" y="786605"/>
                  </a:lnTo>
                  <a:cubicBezTo>
                    <a:pt x="770459" y="786605"/>
                    <a:pt x="786605" y="770460"/>
                    <a:pt x="786605" y="750545"/>
                  </a:cubicBezTo>
                  <a:lnTo>
                    <a:pt x="786605" y="36060"/>
                  </a:lnTo>
                  <a:cubicBezTo>
                    <a:pt x="786605" y="16145"/>
                    <a:pt x="770459" y="0"/>
                    <a:pt x="750544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377657" y="2078187"/>
              <a:ext cx="471967" cy="471968"/>
            </a:xfrm>
            <a:custGeom>
              <a:avLst/>
              <a:gdLst/>
              <a:ahLst/>
              <a:cxnLst/>
              <a:rect l="0" t="0" r="r" b="b"/>
              <a:pathLst>
                <a:path w="471967" h="471968" fill="norm" stroke="1">
                  <a:moveTo>
                    <a:pt x="435906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435907"/>
                  </a:lnTo>
                  <a:cubicBezTo>
                    <a:pt x="0" y="455823"/>
                    <a:pt x="16144" y="471968"/>
                    <a:pt x="36060" y="471968"/>
                  </a:cubicBezTo>
                  <a:lnTo>
                    <a:pt x="435906" y="471968"/>
                  </a:lnTo>
                  <a:cubicBezTo>
                    <a:pt x="455822" y="471968"/>
                    <a:pt x="471967" y="455823"/>
                    <a:pt x="471967" y="435907"/>
                  </a:cubicBezTo>
                  <a:lnTo>
                    <a:pt x="471967" y="36060"/>
                  </a:lnTo>
                  <a:cubicBezTo>
                    <a:pt x="471967" y="16145"/>
                    <a:pt x="455822" y="0"/>
                    <a:pt x="435906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978504" y="2313922"/>
              <a:ext cx="393586" cy="127"/>
            </a:xfrm>
            <a:custGeom>
              <a:avLst/>
              <a:gdLst/>
              <a:ahLst/>
              <a:cxnLst/>
              <a:rect l="0" t="0" r="r" b="b"/>
              <a:pathLst>
                <a:path w="393586" h="127" fill="norm" stroke="1">
                  <a:moveTo>
                    <a:pt x="393586" y="124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978504" y="2313922"/>
              <a:ext cx="127" cy="629482"/>
            </a:xfrm>
            <a:custGeom>
              <a:avLst/>
              <a:gdLst/>
              <a:ahLst/>
              <a:cxnLst/>
              <a:rect l="0" t="0" r="r" b="b"/>
              <a:pathLst>
                <a:path w="127" h="629482" fill="norm" stroke="1">
                  <a:moveTo>
                    <a:pt x="0" y="0"/>
                  </a:moveTo>
                  <a:lnTo>
                    <a:pt x="99" y="629482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978602" y="2943404"/>
              <a:ext cx="143952" cy="127"/>
            </a:xfrm>
            <a:custGeom>
              <a:avLst/>
              <a:gdLst/>
              <a:ahLst/>
              <a:cxnLst/>
              <a:rect l="0" t="0" r="r" b="b"/>
              <a:pathLst>
                <a:path w="143952" h="127" fill="norm" stroke="1">
                  <a:moveTo>
                    <a:pt x="0" y="0"/>
                  </a:moveTo>
                  <a:lnTo>
                    <a:pt x="143952" y="1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4086455" y="2900320"/>
              <a:ext cx="114537" cy="86199"/>
            </a:xfrm>
            <a:custGeom>
              <a:avLst/>
              <a:gdLst/>
              <a:ahLst/>
              <a:cxnLst/>
              <a:rect l="0" t="0" r="r" b="b"/>
              <a:pathLst>
                <a:path w="114537" h="86199" fill="norm" stroke="1">
                  <a:moveTo>
                    <a:pt x="114537" y="43110"/>
                  </a:moveTo>
                  <a:lnTo>
                    <a:pt x="8" y="0"/>
                  </a:lnTo>
                  <a:lnTo>
                    <a:pt x="38503" y="43103"/>
                  </a:lnTo>
                  <a:lnTo>
                    <a:pt x="0" y="86199"/>
                  </a:lnTo>
                  <a:lnTo>
                    <a:pt x="114537" y="4311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012595" y="2943404"/>
              <a:ext cx="236083" cy="127"/>
            </a:xfrm>
            <a:custGeom>
              <a:avLst/>
              <a:gdLst/>
              <a:ahLst/>
              <a:cxnLst/>
              <a:rect l="0" t="0" r="r" b="b"/>
              <a:pathLst>
                <a:path w="236083" h="127" fill="norm" stroke="1">
                  <a:moveTo>
                    <a:pt x="0" y="27"/>
                  </a:moveTo>
                  <a:lnTo>
                    <a:pt x="236083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5248678" y="2313922"/>
              <a:ext cx="127" cy="629482"/>
            </a:xfrm>
            <a:custGeom>
              <a:avLst/>
              <a:gdLst/>
              <a:ahLst/>
              <a:cxnLst/>
              <a:rect l="0" t="0" r="r" b="b"/>
              <a:pathLst>
                <a:path w="127" h="629482" fill="norm" stroke="1">
                  <a:moveTo>
                    <a:pt x="0" y="629482"/>
                  </a:moveTo>
                  <a:lnTo>
                    <a:pt x="99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4947321" y="2313922"/>
              <a:ext cx="301456" cy="127"/>
            </a:xfrm>
            <a:custGeom>
              <a:avLst/>
              <a:gdLst/>
              <a:ahLst/>
              <a:cxnLst/>
              <a:rect l="0" t="0" r="r" b="b"/>
              <a:pathLst>
                <a:path w="301456" h="127" fill="norm" stroke="1">
                  <a:moveTo>
                    <a:pt x="301456" y="0"/>
                  </a:moveTo>
                  <a:lnTo>
                    <a:pt x="0" y="98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868884" y="2270910"/>
              <a:ext cx="114546" cy="86199"/>
            </a:xfrm>
            <a:custGeom>
              <a:avLst/>
              <a:gdLst/>
              <a:ahLst/>
              <a:cxnLst/>
              <a:rect l="0" t="0" r="r" b="b"/>
              <a:pathLst>
                <a:path w="114546" h="86199" fill="norm" stroke="1">
                  <a:moveTo>
                    <a:pt x="0" y="43133"/>
                  </a:moveTo>
                  <a:lnTo>
                    <a:pt x="114546" y="86199"/>
                  </a:lnTo>
                  <a:lnTo>
                    <a:pt x="76034" y="43111"/>
                  </a:lnTo>
                  <a:lnTo>
                    <a:pt x="114521" y="0"/>
                  </a:lnTo>
                  <a:lnTo>
                    <a:pt x="0" y="43133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Editable label: H"/>
            <p:cNvSpPr txBox="1"/>
            <p:nvPr/>
          </p:nvSpPr>
          <p:spPr>
            <a:xfrm>
              <a:off x="4441438" y="2927467"/>
              <a:ext cx="321888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177"/>
            </a:p>
          </p:txBody>
        </p:sp>
        <p:sp>
          <p:nvSpPr>
            <p:cNvPr id="10012" name="Editable label: Δ"/>
            <p:cNvSpPr txBox="1"/>
            <p:nvPr/>
          </p:nvSpPr>
          <p:spPr>
            <a:xfrm>
              <a:off x="4452319" y="2125145"/>
              <a:ext cx="322541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13" name="Editable label: wΔ"/>
            <p:cNvSpPr txBox="1"/>
            <p:nvPr/>
          </p:nvSpPr>
          <p:spPr>
            <a:xfrm>
              <a:off x="3492469" y="2395632"/>
              <a:ext cx="498528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14" name="Editable label: zΔ"/>
            <p:cNvSpPr txBox="1"/>
            <p:nvPr/>
          </p:nvSpPr>
          <p:spPr>
            <a:xfrm>
              <a:off x="5228590" y="2395632"/>
              <a:ext cx="416700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53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12</a:t>
            </a:r>
            <a:endParaRPr lang="en-GB" sz="8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Dissipativity - performance loop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420979" y="2078187"/>
            <a:ext cx="2302042" cy="1431627"/>
            <a:chOff x="3420979" y="2078187"/>
            <a:chExt cx="2302042" cy="1431627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4203049" y="2723209"/>
              <a:ext cx="786605" cy="786605"/>
            </a:xfrm>
            <a:custGeom>
              <a:avLst/>
              <a:gdLst/>
              <a:ahLst/>
              <a:cxnLst/>
              <a:rect l="0" t="0" r="r" b="b"/>
              <a:pathLst>
                <a:path w="786605" h="786605" fill="norm" stroke="1">
                  <a:moveTo>
                    <a:pt x="750544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750545"/>
                  </a:lnTo>
                  <a:cubicBezTo>
                    <a:pt x="0" y="770460"/>
                    <a:pt x="16145" y="786605"/>
                    <a:pt x="36060" y="786605"/>
                  </a:cubicBezTo>
                  <a:lnTo>
                    <a:pt x="750544" y="786605"/>
                  </a:lnTo>
                  <a:cubicBezTo>
                    <a:pt x="770459" y="786605"/>
                    <a:pt x="786605" y="770460"/>
                    <a:pt x="786605" y="750545"/>
                  </a:cubicBezTo>
                  <a:lnTo>
                    <a:pt x="786605" y="36060"/>
                  </a:lnTo>
                  <a:cubicBezTo>
                    <a:pt x="786605" y="16145"/>
                    <a:pt x="770459" y="0"/>
                    <a:pt x="750544" y="0"/>
                  </a:cubicBez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360368" y="2078187"/>
              <a:ext cx="471967" cy="471968"/>
            </a:xfrm>
            <a:custGeom>
              <a:avLst/>
              <a:gdLst/>
              <a:ahLst/>
              <a:cxnLst/>
              <a:rect l="0" t="0" r="r" b="b"/>
              <a:pathLst>
                <a:path w="471967" h="471968" fill="norm" stroke="1">
                  <a:moveTo>
                    <a:pt x="435907" y="0"/>
                  </a:moveTo>
                  <a:lnTo>
                    <a:pt x="36060" y="0"/>
                  </a:lnTo>
                  <a:cubicBezTo>
                    <a:pt x="16144" y="0"/>
                    <a:pt x="0" y="16145"/>
                    <a:pt x="0" y="36060"/>
                  </a:cubicBezTo>
                  <a:lnTo>
                    <a:pt x="0" y="435907"/>
                  </a:lnTo>
                  <a:cubicBezTo>
                    <a:pt x="0" y="455823"/>
                    <a:pt x="16144" y="471968"/>
                    <a:pt x="36060" y="471968"/>
                  </a:cubicBezTo>
                  <a:lnTo>
                    <a:pt x="435907" y="471968"/>
                  </a:lnTo>
                  <a:cubicBezTo>
                    <a:pt x="455822" y="471968"/>
                    <a:pt x="471967" y="455823"/>
                    <a:pt x="471967" y="435907"/>
                  </a:cubicBezTo>
                  <a:lnTo>
                    <a:pt x="471967" y="36060"/>
                  </a:lnTo>
                  <a:cubicBezTo>
                    <a:pt x="471967" y="16145"/>
                    <a:pt x="455822" y="0"/>
                    <a:pt x="435907" y="0"/>
                  </a:cubicBezTo>
                </a:path>
              </a:pathLst>
            </a:custGeom>
            <a:solidFill>
              <a:srgbClr val="F3F4F5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725429" y="3289591"/>
              <a:ext cx="379836" cy="127"/>
            </a:xfrm>
            <a:custGeom>
              <a:avLst/>
              <a:gdLst/>
              <a:ahLst/>
              <a:cxnLst/>
              <a:rect l="0" t="0" r="r" b="b"/>
              <a:pathLst>
                <a:path w="379836" h="127" fill="norm" stroke="1">
                  <a:moveTo>
                    <a:pt x="0" y="0"/>
                  </a:moveTo>
                  <a:lnTo>
                    <a:pt x="379836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4069168" y="324649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4995307" y="3289591"/>
              <a:ext cx="379837" cy="127"/>
            </a:xfrm>
            <a:custGeom>
              <a:avLst/>
              <a:gdLst/>
              <a:ahLst/>
              <a:cxnLst/>
              <a:rect l="0" t="0" r="r" b="b"/>
              <a:pathLst>
                <a:path w="379837" h="127" fill="norm" stroke="1">
                  <a:moveTo>
                    <a:pt x="0" y="0"/>
                  </a:moveTo>
                  <a:lnTo>
                    <a:pt x="379837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339046" y="3246491"/>
              <a:ext cx="114535" cy="86201"/>
            </a:xfrm>
            <a:custGeom>
              <a:avLst/>
              <a:gdLst/>
              <a:ahLst/>
              <a:cxnLst/>
              <a:rect l="0" t="0" r="r" b="b"/>
              <a:pathLst>
                <a:path w="114535" h="86201" fill="norm" stroke="1">
                  <a:moveTo>
                    <a:pt x="114535" y="43100"/>
                  </a:moveTo>
                  <a:lnTo>
                    <a:pt x="0" y="0"/>
                  </a:lnTo>
                  <a:lnTo>
                    <a:pt x="38500" y="43100"/>
                  </a:lnTo>
                  <a:lnTo>
                    <a:pt x="0" y="86201"/>
                  </a:lnTo>
                  <a:lnTo>
                    <a:pt x="114535" y="4310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961215" y="2313922"/>
              <a:ext cx="393586" cy="127"/>
            </a:xfrm>
            <a:custGeom>
              <a:avLst/>
              <a:gdLst/>
              <a:ahLst/>
              <a:cxnLst/>
              <a:rect l="0" t="0" r="r" b="b"/>
              <a:pathLst>
                <a:path w="393586" h="127" fill="norm" stroke="1">
                  <a:moveTo>
                    <a:pt x="393586" y="124"/>
                  </a:moveTo>
                  <a:lnTo>
                    <a:pt x="0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3961215" y="2313922"/>
              <a:ext cx="127" cy="629482"/>
            </a:xfrm>
            <a:custGeom>
              <a:avLst/>
              <a:gdLst/>
              <a:ahLst/>
              <a:cxnLst/>
              <a:rect l="0" t="0" r="r" b="b"/>
              <a:pathLst>
                <a:path w="127" h="629482" fill="norm" stroke="1">
                  <a:moveTo>
                    <a:pt x="0" y="0"/>
                  </a:moveTo>
                  <a:lnTo>
                    <a:pt x="99" y="629482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3961314" y="2943404"/>
              <a:ext cx="143952" cy="127"/>
            </a:xfrm>
            <a:custGeom>
              <a:avLst/>
              <a:gdLst/>
              <a:ahLst/>
              <a:cxnLst/>
              <a:rect l="0" t="0" r="r" b="b"/>
              <a:pathLst>
                <a:path w="143952" h="127" fill="norm" stroke="1">
                  <a:moveTo>
                    <a:pt x="0" y="0"/>
                  </a:moveTo>
                  <a:lnTo>
                    <a:pt x="143952" y="19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069166" y="2900320"/>
              <a:ext cx="114537" cy="86199"/>
            </a:xfrm>
            <a:custGeom>
              <a:avLst/>
              <a:gdLst/>
              <a:ahLst/>
              <a:cxnLst/>
              <a:rect l="0" t="0" r="r" b="b"/>
              <a:pathLst>
                <a:path w="114537" h="86199" fill="norm" stroke="1">
                  <a:moveTo>
                    <a:pt x="114537" y="43110"/>
                  </a:moveTo>
                  <a:lnTo>
                    <a:pt x="8" y="0"/>
                  </a:lnTo>
                  <a:lnTo>
                    <a:pt x="38503" y="43103"/>
                  </a:lnTo>
                  <a:lnTo>
                    <a:pt x="0" y="86199"/>
                  </a:lnTo>
                  <a:lnTo>
                    <a:pt x="114537" y="43110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4995307" y="2943404"/>
              <a:ext cx="236083" cy="127"/>
            </a:xfrm>
            <a:custGeom>
              <a:avLst/>
              <a:gdLst/>
              <a:ahLst/>
              <a:cxnLst/>
              <a:rect l="0" t="0" r="r" b="b"/>
              <a:pathLst>
                <a:path w="236083" h="127" fill="norm" stroke="1">
                  <a:moveTo>
                    <a:pt x="0" y="27"/>
                  </a:moveTo>
                  <a:lnTo>
                    <a:pt x="236083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5231390" y="2313922"/>
              <a:ext cx="127" cy="629482"/>
            </a:xfrm>
            <a:custGeom>
              <a:avLst/>
              <a:gdLst/>
              <a:ahLst/>
              <a:cxnLst/>
              <a:rect l="0" t="0" r="r" b="b"/>
              <a:pathLst>
                <a:path w="127" h="629482" fill="norm" stroke="1">
                  <a:moveTo>
                    <a:pt x="0" y="629482"/>
                  </a:moveTo>
                  <a:lnTo>
                    <a:pt x="99" y="0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4930032" y="2313922"/>
              <a:ext cx="301456" cy="127"/>
            </a:xfrm>
            <a:custGeom>
              <a:avLst/>
              <a:gdLst/>
              <a:ahLst/>
              <a:cxnLst/>
              <a:rect l="0" t="0" r="r" b="b"/>
              <a:pathLst>
                <a:path w="301456" h="127" fill="norm" stroke="1">
                  <a:moveTo>
                    <a:pt x="301456" y="0"/>
                  </a:moveTo>
                  <a:lnTo>
                    <a:pt x="0" y="98"/>
                  </a:lnTo>
                </a:path>
              </a:pathLst>
            </a:custGeom>
            <a:noFill/>
            <a:ln w="961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4851596" y="2270910"/>
              <a:ext cx="114546" cy="86199"/>
            </a:xfrm>
            <a:custGeom>
              <a:avLst/>
              <a:gdLst/>
              <a:ahLst/>
              <a:cxnLst/>
              <a:rect l="0" t="0" r="r" b="b"/>
              <a:pathLst>
                <a:path w="114546" h="86199" fill="norm" stroke="1">
                  <a:moveTo>
                    <a:pt x="0" y="43133"/>
                  </a:moveTo>
                  <a:lnTo>
                    <a:pt x="114546" y="86199"/>
                  </a:lnTo>
                  <a:lnTo>
                    <a:pt x="76034" y="43111"/>
                  </a:lnTo>
                  <a:lnTo>
                    <a:pt x="114521" y="0"/>
                  </a:lnTo>
                  <a:lnTo>
                    <a:pt x="0" y="43133"/>
                  </a:lnTo>
                </a:path>
              </a:pathLst>
            </a:custGeom>
            <a:solidFill>
              <a:srgbClr val="252529"/>
            </a:solidFill>
            <a:ln w="9616">
              <a:solidFill>
                <a:srgbClr val="252529"/>
              </a:solidFill>
              <a:round/>
            </a:ln>
          </p:spPr>
        </p:sp>
        <p:sp>
          <p:nvSpPr>
            <p:cNvPr id="10015" name="Editable label: H"/>
            <p:cNvSpPr txBox="1"/>
            <p:nvPr/>
          </p:nvSpPr>
          <p:spPr>
            <a:xfrm>
              <a:off x="4424148" y="2927467"/>
              <a:ext cx="321888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177"/>
            </a:p>
          </p:txBody>
        </p:sp>
        <p:sp>
          <p:nvSpPr>
            <p:cNvPr id="10016" name="Editable label: Δ"/>
            <p:cNvSpPr txBox="1"/>
            <p:nvPr/>
          </p:nvSpPr>
          <p:spPr>
            <a:xfrm>
              <a:off x="4435029" y="2125145"/>
              <a:ext cx="322541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17" name="Editable label: wp"/>
            <p:cNvSpPr txBox="1"/>
            <p:nvPr/>
          </p:nvSpPr>
          <p:spPr>
            <a:xfrm>
              <a:off x="3367524" y="3037732"/>
              <a:ext cx="418637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524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177"/>
            </a:p>
          </p:txBody>
        </p:sp>
        <p:sp>
          <p:nvSpPr>
            <p:cNvPr id="10018" name="Editable label: zp"/>
            <p:cNvSpPr txBox="1"/>
            <p:nvPr/>
          </p:nvSpPr>
          <p:spPr>
            <a:xfrm>
              <a:off x="5433456" y="3037732"/>
              <a:ext cx="336776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524" b="0" i="1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2177"/>
            </a:p>
          </p:txBody>
        </p:sp>
        <p:sp>
          <p:nvSpPr>
            <p:cNvPr id="10019" name="Editable label: wΔ"/>
            <p:cNvSpPr txBox="1"/>
            <p:nvPr/>
          </p:nvSpPr>
          <p:spPr>
            <a:xfrm>
              <a:off x="3475177" y="2395632"/>
              <a:ext cx="498561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  <p:sp>
          <p:nvSpPr>
            <p:cNvPr id="10020" name="Editable label: zΔ"/>
            <p:cNvSpPr txBox="1"/>
            <p:nvPr/>
          </p:nvSpPr>
          <p:spPr>
            <a:xfrm>
              <a:off x="5211300" y="2395632"/>
              <a:ext cx="416700" cy="411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177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524" b="0" i="0" baseline="-14996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177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54, 55, 56, 57, 58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13</a:t>
            </a:r>
            <a:endParaRPr lang="en-GB" sz="8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Plant with measured output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3061505" y="1533815"/>
            <a:ext cx="3020990" cy="2520369"/>
            <a:chOff x="3061505" y="1533815"/>
            <a:chExt cx="3020990" cy="2520369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3892016" y="2289652"/>
              <a:ext cx="889212" cy="889212"/>
            </a:xfrm>
            <a:custGeom>
              <a:avLst/>
              <a:gdLst/>
              <a:ahLst/>
              <a:cxnLst/>
              <a:rect l="0" t="0" r="r" b="b"/>
              <a:pathLst>
                <a:path w="889212" h="889212" fill="norm" stroke="1">
                  <a:moveTo>
                    <a:pt x="841132" y="0"/>
                  </a:moveTo>
                  <a:lnTo>
                    <a:pt x="48080" y="0"/>
                  </a:lnTo>
                  <a:cubicBezTo>
                    <a:pt x="21526" y="0"/>
                    <a:pt x="0" y="21526"/>
                    <a:pt x="0" y="48081"/>
                  </a:cubicBezTo>
                  <a:lnTo>
                    <a:pt x="0" y="841132"/>
                  </a:lnTo>
                  <a:cubicBezTo>
                    <a:pt x="0" y="867686"/>
                    <a:pt x="21526" y="889212"/>
                    <a:pt x="48080" y="889212"/>
                  </a:cubicBezTo>
                  <a:lnTo>
                    <a:pt x="841132" y="889212"/>
                  </a:lnTo>
                  <a:cubicBezTo>
                    <a:pt x="867686" y="889212"/>
                    <a:pt x="889212" y="867686"/>
                    <a:pt x="889212" y="841132"/>
                  </a:cubicBezTo>
                  <a:lnTo>
                    <a:pt x="889212" y="48081"/>
                  </a:lnTo>
                  <a:cubicBezTo>
                    <a:pt x="889212" y="21526"/>
                    <a:pt x="867686" y="0"/>
                    <a:pt x="841132" y="0"/>
                  </a:cubicBezTo>
                </a:path>
              </a:pathLst>
            </a:custGeom>
            <a:solidFill>
              <a:srgbClr val="FFFFFF"/>
            </a:solidFill>
            <a:ln w="13222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4037772" y="1533815"/>
              <a:ext cx="597700" cy="533532"/>
            </a:xfrm>
            <a:custGeom>
              <a:avLst/>
              <a:gdLst/>
              <a:ahLst/>
              <a:cxnLst/>
              <a:rect l="0" t="0" r="r" b="b"/>
              <a:pathLst>
                <a:path w="597700" h="533532" fill="norm" stroke="1">
                  <a:moveTo>
                    <a:pt x="561640" y="0"/>
                  </a:moveTo>
                  <a:lnTo>
                    <a:pt x="36060" y="0"/>
                  </a:lnTo>
                  <a:cubicBezTo>
                    <a:pt x="16145" y="0"/>
                    <a:pt x="0" y="16145"/>
                    <a:pt x="0" y="36060"/>
                  </a:cubicBezTo>
                  <a:lnTo>
                    <a:pt x="0" y="497472"/>
                  </a:lnTo>
                  <a:cubicBezTo>
                    <a:pt x="0" y="517388"/>
                    <a:pt x="16145" y="533532"/>
                    <a:pt x="36060" y="533532"/>
                  </a:cubicBezTo>
                  <a:lnTo>
                    <a:pt x="561640" y="533532"/>
                  </a:lnTo>
                  <a:cubicBezTo>
                    <a:pt x="581555" y="533532"/>
                    <a:pt x="597700" y="517388"/>
                    <a:pt x="597700" y="497472"/>
                  </a:cubicBezTo>
                  <a:lnTo>
                    <a:pt x="597700" y="36060"/>
                  </a:lnTo>
                  <a:cubicBezTo>
                    <a:pt x="597700" y="16145"/>
                    <a:pt x="581555" y="0"/>
                    <a:pt x="561640" y="0"/>
                  </a:cubicBezTo>
                </a:path>
              </a:pathLst>
            </a:custGeom>
            <a:solidFill>
              <a:srgbClr val="FFFFFF"/>
            </a:solidFill>
            <a:ln w="13222">
              <a:solidFill>
                <a:srgbClr val="C8191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3762750" y="2538193"/>
              <a:ext cx="120910" cy="158"/>
            </a:xfrm>
            <a:custGeom>
              <a:avLst/>
              <a:gdLst/>
              <a:ahLst/>
              <a:cxnLst/>
              <a:rect l="0" t="0" r="r" b="b"/>
              <a:pathLst>
                <a:path w="120910" h="158" fill="norm" stroke="1">
                  <a:moveTo>
                    <a:pt x="120910" y="158"/>
                  </a:moveTo>
                  <a:lnTo>
                    <a:pt x="0" y="0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3762750" y="1799977"/>
              <a:ext cx="127" cy="738216"/>
            </a:xfrm>
            <a:custGeom>
              <a:avLst/>
              <a:gdLst/>
              <a:ahLst/>
              <a:cxnLst/>
              <a:rect l="0" t="0" r="r" b="b"/>
              <a:pathLst>
                <a:path w="127" h="738216" fill="norm" stroke="1">
                  <a:moveTo>
                    <a:pt x="0" y="738216"/>
                  </a:moveTo>
                  <a:lnTo>
                    <a:pt x="0" y="0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3320942" y="2090738"/>
              <a:ext cx="431496" cy="156695"/>
            </a:xfrm>
            <a:custGeom>
              <a:avLst/>
              <a:gdLst/>
              <a:ahLst/>
              <a:cxnLst/>
              <a:rect l="0" t="0" r="r" b="b"/>
              <a:pathLst>
                <a:path w="431496" h="156695" fill="norm" stroke="1">
                  <a:moveTo>
                    <a:pt x="0" y="0"/>
                  </a:moveTo>
                  <a:lnTo>
                    <a:pt x="431496" y="0"/>
                  </a:lnTo>
                  <a:lnTo>
                    <a:pt x="431496" y="156695"/>
                  </a:lnTo>
                  <a:lnTo>
                    <a:pt x="0" y="156695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3762750" y="1799977"/>
              <a:ext cx="189520" cy="216"/>
            </a:xfrm>
            <a:custGeom>
              <a:avLst/>
              <a:gdLst/>
              <a:ahLst/>
              <a:cxnLst/>
              <a:rect l="0" t="0" r="r" b="b"/>
              <a:pathLst>
                <a:path w="189520" h="216" fill="norm" stroke="1">
                  <a:moveTo>
                    <a:pt x="0" y="0"/>
                  </a:moveTo>
                  <a:lnTo>
                    <a:pt x="189520" y="216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3926612" y="1769927"/>
              <a:ext cx="80120" cy="60473"/>
            </a:xfrm>
            <a:custGeom>
              <a:avLst/>
              <a:gdLst/>
              <a:ahLst/>
              <a:cxnLst/>
              <a:rect l="0" t="0" r="r" b="b"/>
              <a:pathLst>
                <a:path w="80120" h="60473" fill="norm" stroke="1">
                  <a:moveTo>
                    <a:pt x="80120" y="30327"/>
                  </a:moveTo>
                  <a:lnTo>
                    <a:pt x="68" y="0"/>
                  </a:lnTo>
                  <a:lnTo>
                    <a:pt x="29624" y="30270"/>
                  </a:lnTo>
                  <a:lnTo>
                    <a:pt x="0" y="60473"/>
                  </a:lnTo>
                  <a:lnTo>
                    <a:pt x="80120" y="30327"/>
                  </a:lnTo>
                </a:path>
              </a:pathLst>
            </a:custGeom>
            <a:solidFill>
              <a:srgbClr val="252529"/>
            </a:solidFill>
            <a:ln w="15866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4644333" y="1799977"/>
              <a:ext cx="267085" cy="302"/>
            </a:xfrm>
            <a:custGeom>
              <a:avLst/>
              <a:gdLst/>
              <a:ahLst/>
              <a:cxnLst/>
              <a:rect l="0" t="0" r="r" b="b"/>
              <a:pathLst>
                <a:path w="267085" h="302" fill="norm" stroke="1">
                  <a:moveTo>
                    <a:pt x="0" y="302"/>
                  </a:moveTo>
                  <a:lnTo>
                    <a:pt x="267085" y="0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4911418" y="1799977"/>
              <a:ext cx="320" cy="738216"/>
            </a:xfrm>
            <a:custGeom>
              <a:avLst/>
              <a:gdLst/>
              <a:ahLst/>
              <a:cxnLst/>
              <a:rect l="0" t="0" r="r" b="b"/>
              <a:pathLst>
                <a:path w="320" h="738216" fill="norm" stroke="1">
                  <a:moveTo>
                    <a:pt x="0" y="0"/>
                  </a:moveTo>
                  <a:lnTo>
                    <a:pt x="320" y="738216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4921891" y="2090737"/>
              <a:ext cx="492887" cy="156695"/>
            </a:xfrm>
            <a:custGeom>
              <a:avLst/>
              <a:gdLst/>
              <a:ahLst/>
              <a:cxnLst/>
              <a:rect l="0" t="0" r="r" b="b"/>
              <a:pathLst>
                <a:path w="492887" h="156695" fill="norm" stroke="1">
                  <a:moveTo>
                    <a:pt x="0" y="0"/>
                  </a:moveTo>
                  <a:lnTo>
                    <a:pt x="492887" y="0"/>
                  </a:lnTo>
                  <a:lnTo>
                    <a:pt x="492887" y="156695"/>
                  </a:lnTo>
                  <a:lnTo>
                    <a:pt x="0" y="156695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4867468" y="2538193"/>
              <a:ext cx="44270" cy="127"/>
            </a:xfrm>
            <a:custGeom>
              <a:avLst/>
              <a:gdLst/>
              <a:ahLst/>
              <a:cxnLst/>
              <a:rect l="0" t="0" r="r" b="b"/>
              <a:pathLst>
                <a:path w="44270" h="127" fill="norm" stroke="1">
                  <a:moveTo>
                    <a:pt x="44270" y="0"/>
                  </a:moveTo>
                  <a:lnTo>
                    <a:pt x="0" y="59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4813007" y="2507982"/>
              <a:ext cx="80125" cy="60473"/>
            </a:xfrm>
            <a:custGeom>
              <a:avLst/>
              <a:gdLst/>
              <a:ahLst/>
              <a:cxnLst/>
              <a:rect l="0" t="0" r="r" b="b"/>
              <a:pathLst>
                <a:path w="80125" h="60473" fill="norm" stroke="1">
                  <a:moveTo>
                    <a:pt x="0" y="30341"/>
                  </a:moveTo>
                  <a:lnTo>
                    <a:pt x="80125" y="60473"/>
                  </a:lnTo>
                  <a:lnTo>
                    <a:pt x="50495" y="30275"/>
                  </a:lnTo>
                  <a:lnTo>
                    <a:pt x="80046" y="0"/>
                  </a:lnTo>
                  <a:lnTo>
                    <a:pt x="0" y="30341"/>
                  </a:lnTo>
                </a:path>
              </a:pathLst>
            </a:custGeom>
            <a:solidFill>
              <a:srgbClr val="252529"/>
            </a:solidFill>
            <a:ln w="15866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3115968" y="2929683"/>
              <a:ext cx="767692" cy="127"/>
            </a:xfrm>
            <a:custGeom>
              <a:avLst/>
              <a:gdLst/>
              <a:ahLst/>
              <a:cxnLst/>
              <a:rect l="0" t="0" r="r" b="b"/>
              <a:pathLst>
                <a:path w="767692" h="127" fill="norm" stroke="1">
                  <a:moveTo>
                    <a:pt x="767692" y="0"/>
                  </a:moveTo>
                  <a:lnTo>
                    <a:pt x="0" y="0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3061505" y="2899445"/>
              <a:ext cx="80087" cy="60474"/>
            </a:xfrm>
            <a:custGeom>
              <a:avLst/>
              <a:gdLst/>
              <a:ahLst/>
              <a:cxnLst/>
              <a:rect l="0" t="0" r="r" b="b"/>
              <a:pathLst>
                <a:path w="80087" h="60474" fill="norm" stroke="1">
                  <a:moveTo>
                    <a:pt x="0" y="30237"/>
                  </a:moveTo>
                  <a:lnTo>
                    <a:pt x="80087" y="60474"/>
                  </a:lnTo>
                  <a:lnTo>
                    <a:pt x="50496" y="30237"/>
                  </a:lnTo>
                  <a:lnTo>
                    <a:pt x="80087" y="0"/>
                  </a:lnTo>
                  <a:lnTo>
                    <a:pt x="0" y="30237"/>
                  </a:lnTo>
                </a:path>
              </a:pathLst>
            </a:custGeom>
            <a:solidFill>
              <a:srgbClr val="252529"/>
            </a:solidFill>
            <a:ln w="15866">
              <a:solidFill>
                <a:srgbClr val="252529"/>
              </a:solidFill>
              <a:round/>
            </a:ln>
          </p:spPr>
        </p:sp>
        <p:sp>
          <p:nvSpPr>
            <p:cNvPr id="10015" name="Diagram block or connection 10015"/>
            <p:cNvSpPr/>
            <p:nvPr/>
          </p:nvSpPr>
          <p:spPr>
            <a:xfrm>
              <a:off x="3376834" y="2793927"/>
              <a:ext cx="253383" cy="125442"/>
            </a:xfrm>
            <a:custGeom>
              <a:avLst/>
              <a:gdLst/>
              <a:ahLst/>
              <a:cxnLst/>
              <a:rect l="0" t="0" r="r" b="b"/>
              <a:pathLst>
                <a:path w="253383" h="125442" fill="norm" stroke="1">
                  <a:moveTo>
                    <a:pt x="0" y="0"/>
                  </a:moveTo>
                  <a:lnTo>
                    <a:pt x="253383" y="0"/>
                  </a:lnTo>
                  <a:lnTo>
                    <a:pt x="253383" y="125442"/>
                  </a:lnTo>
                  <a:lnTo>
                    <a:pt x="0" y="125442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16" name="Diagram block or connection 10016"/>
            <p:cNvSpPr/>
            <p:nvPr/>
          </p:nvSpPr>
          <p:spPr>
            <a:xfrm>
              <a:off x="4337037" y="3187394"/>
              <a:ext cx="127" cy="812328"/>
            </a:xfrm>
            <a:custGeom>
              <a:avLst/>
              <a:gdLst/>
              <a:ahLst/>
              <a:cxnLst/>
              <a:rect l="0" t="0" r="r" b="b"/>
              <a:pathLst>
                <a:path w="127" h="812328" fill="norm" stroke="1">
                  <a:moveTo>
                    <a:pt x="0" y="0"/>
                  </a:moveTo>
                  <a:lnTo>
                    <a:pt x="0" y="812328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17" name="Diagram block or connection 10017"/>
            <p:cNvSpPr/>
            <p:nvPr/>
          </p:nvSpPr>
          <p:spPr>
            <a:xfrm>
              <a:off x="4306800" y="3974097"/>
              <a:ext cx="60474" cy="80087"/>
            </a:xfrm>
            <a:custGeom>
              <a:avLst/>
              <a:gdLst/>
              <a:ahLst/>
              <a:cxnLst/>
              <a:rect l="0" t="0" r="r" b="b"/>
              <a:pathLst>
                <a:path w="60474" h="80087" fill="norm" stroke="1">
                  <a:moveTo>
                    <a:pt x="30237" y="80087"/>
                  </a:moveTo>
                  <a:lnTo>
                    <a:pt x="60474" y="0"/>
                  </a:lnTo>
                  <a:lnTo>
                    <a:pt x="30237" y="29591"/>
                  </a:lnTo>
                  <a:lnTo>
                    <a:pt x="0" y="0"/>
                  </a:lnTo>
                  <a:lnTo>
                    <a:pt x="30237" y="80087"/>
                  </a:lnTo>
                </a:path>
              </a:pathLst>
            </a:custGeom>
            <a:solidFill>
              <a:srgbClr val="252529"/>
            </a:solidFill>
            <a:ln w="15866">
              <a:solidFill>
                <a:srgbClr val="252529"/>
              </a:solidFill>
              <a:round/>
            </a:ln>
          </p:spPr>
        </p:sp>
        <p:sp>
          <p:nvSpPr>
            <p:cNvPr id="10018" name="Diagram block or connection 10018"/>
            <p:cNvSpPr/>
            <p:nvPr/>
          </p:nvSpPr>
          <p:spPr>
            <a:xfrm>
              <a:off x="4347350" y="3548096"/>
              <a:ext cx="259604" cy="167980"/>
            </a:xfrm>
            <a:custGeom>
              <a:avLst/>
              <a:gdLst/>
              <a:ahLst/>
              <a:cxnLst/>
              <a:rect l="0" t="0" r="r" b="b"/>
              <a:pathLst>
                <a:path w="259604" h="167980" fill="norm" stroke="1">
                  <a:moveTo>
                    <a:pt x="0" y="0"/>
                  </a:moveTo>
                  <a:lnTo>
                    <a:pt x="259604" y="0"/>
                  </a:lnTo>
                  <a:lnTo>
                    <a:pt x="259604" y="167980"/>
                  </a:lnTo>
                  <a:lnTo>
                    <a:pt x="0" y="167980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19" name="Diagram block or connection 10019"/>
            <p:cNvSpPr/>
            <p:nvPr/>
          </p:nvSpPr>
          <p:spPr>
            <a:xfrm>
              <a:off x="4867470" y="2929683"/>
              <a:ext cx="767693" cy="127"/>
            </a:xfrm>
            <a:custGeom>
              <a:avLst/>
              <a:gdLst/>
              <a:ahLst/>
              <a:cxnLst/>
              <a:rect l="0" t="0" r="r" b="b"/>
              <a:pathLst>
                <a:path w="767693" h="127" fill="norm" stroke="1">
                  <a:moveTo>
                    <a:pt x="767693" y="0"/>
                  </a:moveTo>
                  <a:lnTo>
                    <a:pt x="0" y="0"/>
                  </a:lnTo>
                </a:path>
              </a:pathLst>
            </a:custGeom>
            <a:noFill/>
            <a:ln w="15866">
              <a:solidFill>
                <a:srgbClr val="252529"/>
              </a:solidFill>
              <a:round/>
            </a:ln>
          </p:spPr>
        </p:sp>
        <p:sp>
          <p:nvSpPr>
            <p:cNvPr id="10020" name="Diagram block or connection 10020"/>
            <p:cNvSpPr/>
            <p:nvPr/>
          </p:nvSpPr>
          <p:spPr>
            <a:xfrm>
              <a:off x="4813007" y="2899445"/>
              <a:ext cx="80087" cy="60474"/>
            </a:xfrm>
            <a:custGeom>
              <a:avLst/>
              <a:gdLst/>
              <a:ahLst/>
              <a:cxnLst/>
              <a:rect l="0" t="0" r="r" b="b"/>
              <a:pathLst>
                <a:path w="80087" h="60474" fill="norm" stroke="1">
                  <a:moveTo>
                    <a:pt x="0" y="30237"/>
                  </a:moveTo>
                  <a:lnTo>
                    <a:pt x="80087" y="60474"/>
                  </a:lnTo>
                  <a:lnTo>
                    <a:pt x="50496" y="30237"/>
                  </a:lnTo>
                  <a:lnTo>
                    <a:pt x="80087" y="0"/>
                  </a:lnTo>
                  <a:lnTo>
                    <a:pt x="0" y="30237"/>
                  </a:lnTo>
                </a:path>
              </a:pathLst>
            </a:custGeom>
            <a:solidFill>
              <a:srgbClr val="252529"/>
            </a:solidFill>
            <a:ln w="15866">
              <a:solidFill>
                <a:srgbClr val="252529"/>
              </a:solidFill>
              <a:round/>
            </a:ln>
          </p:spPr>
        </p:sp>
        <p:sp>
          <p:nvSpPr>
            <p:cNvPr id="10021" name="Diagram block or connection 10021"/>
            <p:cNvSpPr/>
            <p:nvPr/>
          </p:nvSpPr>
          <p:spPr>
            <a:xfrm>
              <a:off x="5645477" y="2836143"/>
              <a:ext cx="437018" cy="187078"/>
            </a:xfrm>
            <a:custGeom>
              <a:avLst/>
              <a:gdLst/>
              <a:ahLst/>
              <a:cxnLst/>
              <a:rect l="0" t="0" r="r" b="b"/>
              <a:pathLst>
                <a:path w="437018" h="187078" fill="norm" stroke="1">
                  <a:moveTo>
                    <a:pt x="0" y="0"/>
                  </a:moveTo>
                  <a:lnTo>
                    <a:pt x="437018" y="0"/>
                  </a:lnTo>
                  <a:lnTo>
                    <a:pt x="437018" y="187078"/>
                  </a:lnTo>
                  <a:lnTo>
                    <a:pt x="0" y="187078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22" name="Editable label: H"/>
            <p:cNvSpPr txBox="1"/>
            <p:nvPr/>
          </p:nvSpPr>
          <p:spPr>
            <a:xfrm>
              <a:off x="4145264" y="2523047"/>
              <a:ext cx="357248" cy="459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461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461"/>
            </a:p>
          </p:txBody>
        </p:sp>
        <p:sp>
          <p:nvSpPr>
            <p:cNvPr id="10023" name="Editable label: Δ"/>
            <p:cNvSpPr txBox="1"/>
            <p:nvPr/>
          </p:nvSpPr>
          <p:spPr>
            <a:xfrm>
              <a:off x="4142982" y="1571120"/>
              <a:ext cx="387169" cy="50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695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695"/>
            </a:p>
          </p:txBody>
        </p:sp>
        <p:sp>
          <p:nvSpPr>
            <p:cNvPr id="10024" name="Editable label: zΔ"/>
            <p:cNvSpPr txBox="1"/>
            <p:nvPr/>
          </p:nvSpPr>
          <p:spPr>
            <a:xfrm>
              <a:off x="3331863" y="1981039"/>
              <a:ext cx="393988" cy="33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723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230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723"/>
            </a:p>
          </p:txBody>
        </p:sp>
        <p:sp>
          <p:nvSpPr>
            <p:cNvPr id="10025" name="Editable label: wΔ"/>
            <p:cNvSpPr txBox="1"/>
            <p:nvPr/>
          </p:nvSpPr>
          <p:spPr>
            <a:xfrm>
              <a:off x="4927292" y="1981039"/>
              <a:ext cx="466427" cy="33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723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230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723"/>
            </a:p>
          </p:txBody>
        </p:sp>
        <p:sp>
          <p:nvSpPr>
            <p:cNvPr id="10026" name="Editable label: z"/>
            <p:cNvSpPr txBox="1"/>
            <p:nvPr/>
          </p:nvSpPr>
          <p:spPr>
            <a:xfrm>
              <a:off x="3380562" y="2675441"/>
              <a:ext cx="236747" cy="33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723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endParaRPr lang="en-GB" sz="1723"/>
            </a:p>
          </p:txBody>
        </p:sp>
        <p:sp>
          <p:nvSpPr>
            <p:cNvPr id="10027" name="Editable label: y"/>
            <p:cNvSpPr txBox="1"/>
            <p:nvPr/>
          </p:nvSpPr>
          <p:spPr>
            <a:xfrm>
              <a:off x="4354814" y="3429600"/>
              <a:ext cx="236747" cy="33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723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y</a:t>
              </a:r>
              <a:endParaRPr lang="en-GB" sz="1723"/>
            </a:p>
          </p:txBody>
        </p:sp>
        <p:sp>
          <p:nvSpPr>
            <p:cNvPr id="10028" name="Editable label: wp"/>
            <p:cNvSpPr txBox="1"/>
            <p:nvPr/>
          </p:nvSpPr>
          <p:spPr>
            <a:xfrm>
              <a:off x="5655913" y="2726463"/>
              <a:ext cx="400417" cy="33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723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230" b="0" i="1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1723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61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en-GB" sz="8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Luenberger observer interconnection</a:t>
            </a:r>
            <a:endParaRPr lang="en-GB" sz="2500"/>
          </a:p>
        </p:txBody>
      </p:sp>
      <p:grpSp>
        <p:nvGrpSpPr>
          <p:cNvPr id="10" name="Editable LFR diagram"/>
          <p:cNvGrpSpPr/>
          <p:nvPr/>
        </p:nvGrpSpPr>
        <p:grpSpPr>
          <a:xfrm>
            <a:off x="1065201" y="1193800"/>
            <a:ext cx="7013599" cy="3200400"/>
            <a:chOff x="1065201" y="1193800"/>
            <a:chExt cx="7013599" cy="3200400"/>
          </a:xfrm>
        </p:grpSpPr>
        <p:sp>
          <p:nvSpPr>
            <p:cNvPr id="10001" name="Diagram block or connection 10001"/>
            <p:cNvSpPr/>
            <p:nvPr/>
          </p:nvSpPr>
          <p:spPr>
            <a:xfrm>
              <a:off x="5948030" y="1929034"/>
              <a:ext cx="864973" cy="864974"/>
            </a:xfrm>
            <a:custGeom>
              <a:avLst/>
              <a:gdLst/>
              <a:ahLst/>
              <a:cxnLst/>
              <a:rect l="0" t="0" r="r" b="b"/>
              <a:pathLst>
                <a:path w="864973" h="864974" fill="norm" stroke="1">
                  <a:moveTo>
                    <a:pt x="818204" y="0"/>
                  </a:moveTo>
                  <a:lnTo>
                    <a:pt x="46770" y="0"/>
                  </a:lnTo>
                  <a:cubicBezTo>
                    <a:pt x="20939" y="0"/>
                    <a:pt x="0" y="20939"/>
                    <a:pt x="0" y="46770"/>
                  </a:cubicBezTo>
                  <a:lnTo>
                    <a:pt x="0" y="818204"/>
                  </a:lnTo>
                  <a:cubicBezTo>
                    <a:pt x="0" y="844034"/>
                    <a:pt x="20939" y="864974"/>
                    <a:pt x="46770" y="864974"/>
                  </a:cubicBezTo>
                  <a:lnTo>
                    <a:pt x="818204" y="864974"/>
                  </a:lnTo>
                  <a:cubicBezTo>
                    <a:pt x="844034" y="864974"/>
                    <a:pt x="864973" y="844034"/>
                    <a:pt x="864973" y="818204"/>
                  </a:cubicBezTo>
                  <a:lnTo>
                    <a:pt x="864973" y="46770"/>
                  </a:lnTo>
                  <a:cubicBezTo>
                    <a:pt x="864973" y="20939"/>
                    <a:pt x="844034" y="0"/>
                    <a:pt x="818204" y="0"/>
                  </a:cubicBezTo>
                </a:path>
              </a:pathLst>
            </a:custGeom>
            <a:solidFill>
              <a:srgbClr val="FFFFFF"/>
            </a:solidFill>
            <a:ln w="12861">
              <a:solidFill>
                <a:srgbClr val="252529"/>
              </a:solidFill>
              <a:round/>
            </a:ln>
          </p:spPr>
        </p:sp>
        <p:sp>
          <p:nvSpPr>
            <p:cNvPr id="10002" name="Diagram block or connection 10002"/>
            <p:cNvSpPr/>
            <p:nvPr/>
          </p:nvSpPr>
          <p:spPr>
            <a:xfrm>
              <a:off x="3768292" y="3529227"/>
              <a:ext cx="864973" cy="864973"/>
            </a:xfrm>
            <a:custGeom>
              <a:avLst/>
              <a:gdLst/>
              <a:ahLst/>
              <a:cxnLst/>
              <a:rect l="0" t="0" r="r" b="b"/>
              <a:pathLst>
                <a:path w="864973" h="864973" fill="norm" stroke="1">
                  <a:moveTo>
                    <a:pt x="818204" y="0"/>
                  </a:moveTo>
                  <a:lnTo>
                    <a:pt x="46770" y="0"/>
                  </a:lnTo>
                  <a:cubicBezTo>
                    <a:pt x="20939" y="0"/>
                    <a:pt x="0" y="20939"/>
                    <a:pt x="0" y="46770"/>
                  </a:cubicBezTo>
                  <a:lnTo>
                    <a:pt x="0" y="818203"/>
                  </a:lnTo>
                  <a:cubicBezTo>
                    <a:pt x="0" y="844034"/>
                    <a:pt x="20939" y="864973"/>
                    <a:pt x="46770" y="864973"/>
                  </a:cubicBezTo>
                  <a:lnTo>
                    <a:pt x="818204" y="864973"/>
                  </a:lnTo>
                  <a:cubicBezTo>
                    <a:pt x="844034" y="864973"/>
                    <a:pt x="864973" y="844034"/>
                    <a:pt x="864973" y="818203"/>
                  </a:cubicBezTo>
                  <a:lnTo>
                    <a:pt x="864973" y="46770"/>
                  </a:lnTo>
                  <a:cubicBezTo>
                    <a:pt x="864973" y="20939"/>
                    <a:pt x="844034" y="0"/>
                    <a:pt x="818204" y="0"/>
                  </a:cubicBezTo>
                </a:path>
              </a:pathLst>
            </a:custGeom>
            <a:solidFill>
              <a:srgbClr val="FFFFFF"/>
            </a:solidFill>
            <a:ln w="12861">
              <a:solidFill>
                <a:srgbClr val="252529"/>
              </a:solidFill>
              <a:round/>
            </a:ln>
          </p:spPr>
        </p:sp>
        <p:sp>
          <p:nvSpPr>
            <p:cNvPr id="10003" name="Diagram block or connection 10003"/>
            <p:cNvSpPr/>
            <p:nvPr/>
          </p:nvSpPr>
          <p:spPr>
            <a:xfrm>
              <a:off x="6089813" y="1193800"/>
              <a:ext cx="581407" cy="518989"/>
            </a:xfrm>
            <a:custGeom>
              <a:avLst/>
              <a:gdLst/>
              <a:ahLst/>
              <a:cxnLst/>
              <a:rect l="0" t="0" r="r" b="b"/>
              <a:pathLst>
                <a:path w="581407" h="518989" fill="norm" stroke="1">
                  <a:moveTo>
                    <a:pt x="546330" y="0"/>
                  </a:moveTo>
                  <a:lnTo>
                    <a:pt x="35077" y="0"/>
                  </a:lnTo>
                  <a:cubicBezTo>
                    <a:pt x="15705" y="0"/>
                    <a:pt x="0" y="15705"/>
                    <a:pt x="0" y="35077"/>
                  </a:cubicBezTo>
                  <a:lnTo>
                    <a:pt x="0" y="483912"/>
                  </a:lnTo>
                  <a:cubicBezTo>
                    <a:pt x="0" y="503284"/>
                    <a:pt x="15705" y="518989"/>
                    <a:pt x="35077" y="518989"/>
                  </a:cubicBezTo>
                  <a:lnTo>
                    <a:pt x="546330" y="518989"/>
                  </a:lnTo>
                  <a:cubicBezTo>
                    <a:pt x="565703" y="518989"/>
                    <a:pt x="581407" y="503284"/>
                    <a:pt x="581407" y="483912"/>
                  </a:cubicBezTo>
                  <a:lnTo>
                    <a:pt x="581407" y="35077"/>
                  </a:lnTo>
                  <a:cubicBezTo>
                    <a:pt x="581407" y="15705"/>
                    <a:pt x="565703" y="0"/>
                    <a:pt x="546330" y="0"/>
                  </a:cubicBezTo>
                </a:path>
              </a:pathLst>
            </a:custGeom>
            <a:solidFill>
              <a:srgbClr val="FFFFFF"/>
            </a:solidFill>
            <a:ln w="12861">
              <a:solidFill>
                <a:srgbClr val="C81919"/>
              </a:solidFill>
              <a:round/>
            </a:ln>
          </p:spPr>
        </p:sp>
        <p:sp>
          <p:nvSpPr>
            <p:cNvPr id="10004" name="Diagram block or connection 10004"/>
            <p:cNvSpPr/>
            <p:nvPr/>
          </p:nvSpPr>
          <p:spPr>
            <a:xfrm>
              <a:off x="5822288" y="2170799"/>
              <a:ext cx="117614" cy="154"/>
            </a:xfrm>
            <a:custGeom>
              <a:avLst/>
              <a:gdLst/>
              <a:ahLst/>
              <a:cxnLst/>
              <a:rect l="0" t="0" r="r" b="b"/>
              <a:pathLst>
                <a:path w="117614" h="154" fill="norm" stroke="1">
                  <a:moveTo>
                    <a:pt x="117614" y="154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05" name="Diagram block or connection 10005"/>
            <p:cNvSpPr/>
            <p:nvPr/>
          </p:nvSpPr>
          <p:spPr>
            <a:xfrm>
              <a:off x="5822288" y="1452707"/>
              <a:ext cx="127" cy="718093"/>
            </a:xfrm>
            <a:custGeom>
              <a:avLst/>
              <a:gdLst/>
              <a:ahLst/>
              <a:cxnLst/>
              <a:rect l="0" t="0" r="r" b="b"/>
              <a:pathLst>
                <a:path w="127" h="718093" fill="norm" stroke="1">
                  <a:moveTo>
                    <a:pt x="0" y="718093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06" name="Diagram block or connection 10006"/>
            <p:cNvSpPr/>
            <p:nvPr/>
          </p:nvSpPr>
          <p:spPr>
            <a:xfrm>
              <a:off x="5392523" y="1735541"/>
              <a:ext cx="419734" cy="152423"/>
            </a:xfrm>
            <a:custGeom>
              <a:avLst/>
              <a:gdLst/>
              <a:ahLst/>
              <a:cxnLst/>
              <a:rect l="0" t="0" r="r" b="b"/>
              <a:pathLst>
                <a:path w="419734" h="152423" fill="norm" stroke="1">
                  <a:moveTo>
                    <a:pt x="0" y="0"/>
                  </a:moveTo>
                  <a:lnTo>
                    <a:pt x="419734" y="0"/>
                  </a:lnTo>
                  <a:lnTo>
                    <a:pt x="419734" y="152423"/>
                  </a:lnTo>
                  <a:lnTo>
                    <a:pt x="0" y="152423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07" name="Diagram block or connection 10007"/>
            <p:cNvSpPr/>
            <p:nvPr/>
          </p:nvSpPr>
          <p:spPr>
            <a:xfrm>
              <a:off x="5822288" y="1452707"/>
              <a:ext cx="184354" cy="210"/>
            </a:xfrm>
            <a:custGeom>
              <a:avLst/>
              <a:gdLst/>
              <a:ahLst/>
              <a:cxnLst/>
              <a:rect l="0" t="0" r="r" b="b"/>
              <a:pathLst>
                <a:path w="184354" h="210" fill="norm" stroke="1">
                  <a:moveTo>
                    <a:pt x="0" y="0"/>
                  </a:moveTo>
                  <a:lnTo>
                    <a:pt x="184354" y="21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08" name="Diagram block or connection 10008"/>
            <p:cNvSpPr/>
            <p:nvPr/>
          </p:nvSpPr>
          <p:spPr>
            <a:xfrm>
              <a:off x="5981683" y="1423475"/>
              <a:ext cx="77936" cy="58825"/>
            </a:xfrm>
            <a:custGeom>
              <a:avLst/>
              <a:gdLst/>
              <a:ahLst/>
              <a:cxnLst/>
              <a:rect l="0" t="0" r="r" b="b"/>
              <a:pathLst>
                <a:path w="77936" h="58825" fill="norm" stroke="1">
                  <a:moveTo>
                    <a:pt x="77936" y="29500"/>
                  </a:moveTo>
                  <a:lnTo>
                    <a:pt x="66" y="0"/>
                  </a:lnTo>
                  <a:lnTo>
                    <a:pt x="28817" y="29445"/>
                  </a:lnTo>
                  <a:lnTo>
                    <a:pt x="0" y="58825"/>
                  </a:lnTo>
                  <a:lnTo>
                    <a:pt x="77936" y="29500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09" name="Diagram block or connection 10009"/>
            <p:cNvSpPr/>
            <p:nvPr/>
          </p:nvSpPr>
          <p:spPr>
            <a:xfrm>
              <a:off x="6679840" y="1452707"/>
              <a:ext cx="259805" cy="294"/>
            </a:xfrm>
            <a:custGeom>
              <a:avLst/>
              <a:gdLst/>
              <a:ahLst/>
              <a:cxnLst/>
              <a:rect l="0" t="0" r="r" b="b"/>
              <a:pathLst>
                <a:path w="259805" h="294" fill="norm" stroke="1">
                  <a:moveTo>
                    <a:pt x="0" y="294"/>
                  </a:moveTo>
                  <a:lnTo>
                    <a:pt x="259805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0" name="Diagram block or connection 10010"/>
            <p:cNvSpPr/>
            <p:nvPr/>
          </p:nvSpPr>
          <p:spPr>
            <a:xfrm>
              <a:off x="6939645" y="1452707"/>
              <a:ext cx="311" cy="718093"/>
            </a:xfrm>
            <a:custGeom>
              <a:avLst/>
              <a:gdLst/>
              <a:ahLst/>
              <a:cxnLst/>
              <a:rect l="0" t="0" r="r" b="b"/>
              <a:pathLst>
                <a:path w="311" h="718093" fill="norm" stroke="1">
                  <a:moveTo>
                    <a:pt x="0" y="0"/>
                  </a:moveTo>
                  <a:lnTo>
                    <a:pt x="311" y="718093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1" name="Diagram block or connection 10011"/>
            <p:cNvSpPr/>
            <p:nvPr/>
          </p:nvSpPr>
          <p:spPr>
            <a:xfrm>
              <a:off x="6949832" y="1735541"/>
              <a:ext cx="479452" cy="152423"/>
            </a:xfrm>
            <a:custGeom>
              <a:avLst/>
              <a:gdLst/>
              <a:ahLst/>
              <a:cxnLst/>
              <a:rect l="0" t="0" r="r" b="b"/>
              <a:pathLst>
                <a:path w="479452" h="152423" fill="norm" stroke="1">
                  <a:moveTo>
                    <a:pt x="0" y="0"/>
                  </a:moveTo>
                  <a:lnTo>
                    <a:pt x="479452" y="0"/>
                  </a:lnTo>
                  <a:lnTo>
                    <a:pt x="479452" y="152423"/>
                  </a:lnTo>
                  <a:lnTo>
                    <a:pt x="0" y="152423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12" name="Diagram block or connection 10012"/>
            <p:cNvSpPr/>
            <p:nvPr/>
          </p:nvSpPr>
          <p:spPr>
            <a:xfrm>
              <a:off x="6896893" y="2170799"/>
              <a:ext cx="43063" cy="127"/>
            </a:xfrm>
            <a:custGeom>
              <a:avLst/>
              <a:gdLst/>
              <a:ahLst/>
              <a:cxnLst/>
              <a:rect l="0" t="0" r="r" b="b"/>
              <a:pathLst>
                <a:path w="43063" h="127" fill="norm" stroke="1">
                  <a:moveTo>
                    <a:pt x="43063" y="0"/>
                  </a:moveTo>
                  <a:lnTo>
                    <a:pt x="0" y="57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3" name="Diagram block or connection 10013"/>
            <p:cNvSpPr/>
            <p:nvPr/>
          </p:nvSpPr>
          <p:spPr>
            <a:xfrm>
              <a:off x="6843916" y="2141411"/>
              <a:ext cx="77941" cy="58825"/>
            </a:xfrm>
            <a:custGeom>
              <a:avLst/>
              <a:gdLst/>
              <a:ahLst/>
              <a:cxnLst/>
              <a:rect l="0" t="0" r="r" b="b"/>
              <a:pathLst>
                <a:path w="77941" h="58825" fill="norm" stroke="1">
                  <a:moveTo>
                    <a:pt x="0" y="29514"/>
                  </a:moveTo>
                  <a:lnTo>
                    <a:pt x="77941" y="58825"/>
                  </a:lnTo>
                  <a:lnTo>
                    <a:pt x="49119" y="29450"/>
                  </a:lnTo>
                  <a:lnTo>
                    <a:pt x="77864" y="0"/>
                  </a:lnTo>
                  <a:lnTo>
                    <a:pt x="0" y="29514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14" name="Diagram block or connection 10014"/>
            <p:cNvSpPr/>
            <p:nvPr/>
          </p:nvSpPr>
          <p:spPr>
            <a:xfrm>
              <a:off x="3910076" y="2794007"/>
              <a:ext cx="581407" cy="518988"/>
            </a:xfrm>
            <a:custGeom>
              <a:avLst/>
              <a:gdLst/>
              <a:ahLst/>
              <a:cxnLst/>
              <a:rect l="0" t="0" r="r" b="b"/>
              <a:pathLst>
                <a:path w="581407" h="518988" fill="norm" stroke="1">
                  <a:moveTo>
                    <a:pt x="546330" y="0"/>
                  </a:moveTo>
                  <a:lnTo>
                    <a:pt x="35077" y="0"/>
                  </a:lnTo>
                  <a:cubicBezTo>
                    <a:pt x="15705" y="0"/>
                    <a:pt x="0" y="15705"/>
                    <a:pt x="0" y="35077"/>
                  </a:cubicBezTo>
                  <a:lnTo>
                    <a:pt x="0" y="483911"/>
                  </a:lnTo>
                  <a:cubicBezTo>
                    <a:pt x="0" y="503284"/>
                    <a:pt x="15705" y="518988"/>
                    <a:pt x="35077" y="518988"/>
                  </a:cubicBezTo>
                  <a:lnTo>
                    <a:pt x="546330" y="518988"/>
                  </a:lnTo>
                  <a:cubicBezTo>
                    <a:pt x="565702" y="518988"/>
                    <a:pt x="581407" y="503284"/>
                    <a:pt x="581407" y="483911"/>
                  </a:cubicBezTo>
                  <a:lnTo>
                    <a:pt x="581407" y="35077"/>
                  </a:lnTo>
                  <a:cubicBezTo>
                    <a:pt x="581407" y="15705"/>
                    <a:pt x="565702" y="0"/>
                    <a:pt x="546330" y="0"/>
                  </a:cubicBezTo>
                </a:path>
              </a:pathLst>
            </a:custGeom>
            <a:solidFill>
              <a:srgbClr val="FFFFFF"/>
            </a:solidFill>
            <a:ln w="12861">
              <a:solidFill>
                <a:srgbClr val="C81919"/>
              </a:solidFill>
              <a:round/>
            </a:ln>
          </p:spPr>
        </p:sp>
        <p:sp>
          <p:nvSpPr>
            <p:cNvPr id="10015" name="Diagram block or connection 10015"/>
            <p:cNvSpPr/>
            <p:nvPr/>
          </p:nvSpPr>
          <p:spPr>
            <a:xfrm>
              <a:off x="3641280" y="3771768"/>
              <a:ext cx="118037" cy="157"/>
            </a:xfrm>
            <a:custGeom>
              <a:avLst/>
              <a:gdLst/>
              <a:ahLst/>
              <a:cxnLst/>
              <a:rect l="0" t="0" r="r" b="b"/>
              <a:pathLst>
                <a:path w="118037" h="157" fill="norm" stroke="1">
                  <a:moveTo>
                    <a:pt x="118037" y="0"/>
                  </a:moveTo>
                  <a:lnTo>
                    <a:pt x="0" y="157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6" name="Diagram block or connection 10016"/>
            <p:cNvSpPr/>
            <p:nvPr/>
          </p:nvSpPr>
          <p:spPr>
            <a:xfrm>
              <a:off x="3641280" y="3053535"/>
              <a:ext cx="127" cy="718389"/>
            </a:xfrm>
            <a:custGeom>
              <a:avLst/>
              <a:gdLst/>
              <a:ahLst/>
              <a:cxnLst/>
              <a:rect l="0" t="0" r="r" b="b"/>
              <a:pathLst>
                <a:path w="127" h="718389" fill="norm" stroke="1">
                  <a:moveTo>
                    <a:pt x="0" y="718389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7" name="Diagram block or connection 10017"/>
            <p:cNvSpPr/>
            <p:nvPr/>
          </p:nvSpPr>
          <p:spPr>
            <a:xfrm>
              <a:off x="3211514" y="3308440"/>
              <a:ext cx="419733" cy="208580"/>
            </a:xfrm>
            <a:custGeom>
              <a:avLst/>
              <a:gdLst/>
              <a:ahLst/>
              <a:cxnLst/>
              <a:rect l="0" t="0" r="r" b="b"/>
              <a:pathLst>
                <a:path w="419733" h="208580" fill="norm" stroke="1">
                  <a:moveTo>
                    <a:pt x="0" y="0"/>
                  </a:moveTo>
                  <a:lnTo>
                    <a:pt x="419733" y="0"/>
                  </a:lnTo>
                  <a:lnTo>
                    <a:pt x="419733" y="208580"/>
                  </a:lnTo>
                  <a:lnTo>
                    <a:pt x="0" y="208580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18" name="Diagram block or connection 10018"/>
            <p:cNvSpPr/>
            <p:nvPr/>
          </p:nvSpPr>
          <p:spPr>
            <a:xfrm>
              <a:off x="3641280" y="3053518"/>
              <a:ext cx="185200" cy="127"/>
            </a:xfrm>
            <a:custGeom>
              <a:avLst/>
              <a:gdLst/>
              <a:ahLst/>
              <a:cxnLst/>
              <a:rect l="0" t="0" r="r" b="b"/>
              <a:pathLst>
                <a:path w="185200" h="127" fill="norm" stroke="1">
                  <a:moveTo>
                    <a:pt x="0" y="16"/>
                  </a:moveTo>
                  <a:lnTo>
                    <a:pt x="18520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19" name="Diagram block or connection 10019"/>
            <p:cNvSpPr/>
            <p:nvPr/>
          </p:nvSpPr>
          <p:spPr>
            <a:xfrm>
              <a:off x="3801554" y="3024105"/>
              <a:ext cx="77904" cy="58826"/>
            </a:xfrm>
            <a:custGeom>
              <a:avLst/>
              <a:gdLst/>
              <a:ahLst/>
              <a:cxnLst/>
              <a:rect l="0" t="0" r="r" b="b"/>
              <a:pathLst>
                <a:path w="77904" h="58826" fill="norm" stroke="1">
                  <a:moveTo>
                    <a:pt x="77904" y="29413"/>
                  </a:moveTo>
                  <a:lnTo>
                    <a:pt x="0" y="0"/>
                  </a:lnTo>
                  <a:lnTo>
                    <a:pt x="28784" y="29413"/>
                  </a:lnTo>
                  <a:lnTo>
                    <a:pt x="0" y="58826"/>
                  </a:lnTo>
                  <a:lnTo>
                    <a:pt x="77904" y="29413"/>
                  </a:lnTo>
                </a:path>
              </a:pathLst>
            </a:custGeom>
            <a:solidFill>
              <a:srgbClr val="252529"/>
            </a:solidFill>
            <a:ln w="15434">
              <a:solidFill>
                <a:srgbClr val="252529"/>
              </a:solidFill>
              <a:round/>
            </a:ln>
          </p:spPr>
        </p:sp>
        <p:sp>
          <p:nvSpPr>
            <p:cNvPr id="10020" name="Diagram block or connection 10020"/>
            <p:cNvSpPr/>
            <p:nvPr/>
          </p:nvSpPr>
          <p:spPr>
            <a:xfrm>
              <a:off x="4499679" y="3053518"/>
              <a:ext cx="259382" cy="127"/>
            </a:xfrm>
            <a:custGeom>
              <a:avLst/>
              <a:gdLst/>
              <a:ahLst/>
              <a:cxnLst/>
              <a:rect l="0" t="0" r="r" b="b"/>
              <a:pathLst>
                <a:path w="259382" h="127" fill="norm" stroke="1">
                  <a:moveTo>
                    <a:pt x="0" y="0"/>
                  </a:moveTo>
                  <a:lnTo>
                    <a:pt x="259382" y="16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21" name="Diagram block or connection 10021"/>
            <p:cNvSpPr/>
            <p:nvPr/>
          </p:nvSpPr>
          <p:spPr>
            <a:xfrm>
              <a:off x="4758947" y="3053535"/>
              <a:ext cx="127" cy="718389"/>
            </a:xfrm>
            <a:custGeom>
              <a:avLst/>
              <a:gdLst/>
              <a:ahLst/>
              <a:cxnLst/>
              <a:rect l="0" t="0" r="r" b="b"/>
              <a:pathLst>
                <a:path w="127" h="718389" fill="norm" stroke="1">
                  <a:moveTo>
                    <a:pt x="114" y="0"/>
                  </a:moveTo>
                  <a:lnTo>
                    <a:pt x="0" y="718389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22" name="Diagram block or connection 10022"/>
            <p:cNvSpPr/>
            <p:nvPr/>
          </p:nvSpPr>
          <p:spPr>
            <a:xfrm>
              <a:off x="4769036" y="3308439"/>
              <a:ext cx="479451" cy="208579"/>
            </a:xfrm>
            <a:custGeom>
              <a:avLst/>
              <a:gdLst/>
              <a:ahLst/>
              <a:cxnLst/>
              <a:rect l="0" t="0" r="r" b="b"/>
              <a:pathLst>
                <a:path w="479451" h="208579" fill="norm" stroke="1">
                  <a:moveTo>
                    <a:pt x="0" y="0"/>
                  </a:moveTo>
                  <a:lnTo>
                    <a:pt x="479451" y="0"/>
                  </a:lnTo>
                  <a:lnTo>
                    <a:pt x="479451" y="208579"/>
                  </a:lnTo>
                  <a:lnTo>
                    <a:pt x="0" y="208579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23" name="Diagram block or connection 10023"/>
            <p:cNvSpPr/>
            <p:nvPr/>
          </p:nvSpPr>
          <p:spPr>
            <a:xfrm>
              <a:off x="4716308" y="3771867"/>
              <a:ext cx="42639" cy="127"/>
            </a:xfrm>
            <a:custGeom>
              <a:avLst/>
              <a:gdLst/>
              <a:ahLst/>
              <a:cxnLst/>
              <a:rect l="0" t="0" r="r" b="b"/>
              <a:pathLst>
                <a:path w="42639" h="127" fill="norm" stroke="1">
                  <a:moveTo>
                    <a:pt x="42639" y="57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24" name="Diagram block or connection 10024"/>
            <p:cNvSpPr/>
            <p:nvPr/>
          </p:nvSpPr>
          <p:spPr>
            <a:xfrm>
              <a:off x="4663332" y="3742488"/>
              <a:ext cx="77942" cy="58825"/>
            </a:xfrm>
            <a:custGeom>
              <a:avLst/>
              <a:gdLst/>
              <a:ahLst/>
              <a:cxnLst/>
              <a:rect l="0" t="0" r="r" b="b"/>
              <a:pathLst>
                <a:path w="77942" h="58825" fill="norm" stroke="1">
                  <a:moveTo>
                    <a:pt x="0" y="29309"/>
                  </a:moveTo>
                  <a:lnTo>
                    <a:pt x="77863" y="58825"/>
                  </a:lnTo>
                  <a:lnTo>
                    <a:pt x="49119" y="29374"/>
                  </a:lnTo>
                  <a:lnTo>
                    <a:pt x="77942" y="0"/>
                  </a:lnTo>
                  <a:lnTo>
                    <a:pt x="0" y="29309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25" name="Diagram block or connection 10025"/>
            <p:cNvSpPr/>
            <p:nvPr/>
          </p:nvSpPr>
          <p:spPr>
            <a:xfrm>
              <a:off x="1761565" y="2370159"/>
              <a:ext cx="363287" cy="363287"/>
            </a:xfrm>
            <a:custGeom>
              <a:avLst/>
              <a:gdLst/>
              <a:ahLst/>
              <a:cxnLst/>
              <a:rect l="0" t="0" r="r" b="b"/>
              <a:pathLst>
                <a:path w="363287" h="363287" fill="norm" stroke="1">
                  <a:moveTo>
                    <a:pt x="363287" y="181644"/>
                  </a:moveTo>
                  <a:cubicBezTo>
                    <a:pt x="363287" y="81323"/>
                    <a:pt x="281964" y="0"/>
                    <a:pt x="181644" y="0"/>
                  </a:cubicBezTo>
                  <a:cubicBezTo>
                    <a:pt x="81323" y="0"/>
                    <a:pt x="0" y="81323"/>
                    <a:pt x="0" y="181644"/>
                  </a:cubicBezTo>
                  <a:cubicBezTo>
                    <a:pt x="0" y="281964"/>
                    <a:pt x="81323" y="363287"/>
                    <a:pt x="181644" y="363287"/>
                  </a:cubicBezTo>
                  <a:cubicBezTo>
                    <a:pt x="281964" y="363287"/>
                    <a:pt x="363287" y="281964"/>
                    <a:pt x="363287" y="181644"/>
                  </a:cubicBezTo>
                </a:path>
              </a:pathLst>
            </a:custGeom>
            <a:solidFill>
              <a:srgbClr val="FFFFFF"/>
            </a:solidFill>
            <a:ln w="12861">
              <a:solidFill>
                <a:srgbClr val="252529"/>
              </a:solidFill>
              <a:round/>
            </a:ln>
          </p:spPr>
        </p:sp>
        <p:sp>
          <p:nvSpPr>
            <p:cNvPr id="10026" name="Diagram block or connection 10026"/>
            <p:cNvSpPr/>
            <p:nvPr/>
          </p:nvSpPr>
          <p:spPr>
            <a:xfrm>
              <a:off x="2311144" y="3931117"/>
              <a:ext cx="424348" cy="441785"/>
            </a:xfrm>
            <a:custGeom>
              <a:avLst/>
              <a:gdLst/>
              <a:ahLst/>
              <a:cxnLst/>
              <a:rect l="0" t="0" r="r" b="b"/>
              <a:pathLst>
                <a:path w="424348" h="441785" fill="norm" stroke="1">
                  <a:moveTo>
                    <a:pt x="0" y="220893"/>
                  </a:moveTo>
                  <a:lnTo>
                    <a:pt x="424348" y="441785"/>
                  </a:lnTo>
                  <a:lnTo>
                    <a:pt x="424348" y="0"/>
                  </a:lnTo>
                  <a:lnTo>
                    <a:pt x="0" y="220893"/>
                  </a:lnTo>
                </a:path>
              </a:pathLst>
            </a:custGeom>
            <a:solidFill>
              <a:srgbClr val="FFFFFF"/>
            </a:solidFill>
            <a:ln w="12861">
              <a:solidFill>
                <a:srgbClr val="252529"/>
              </a:solidFill>
              <a:round/>
            </a:ln>
          </p:spPr>
        </p:sp>
        <p:sp>
          <p:nvSpPr>
            <p:cNvPr id="10027" name="Diagram block or connection 10027"/>
            <p:cNvSpPr/>
            <p:nvPr/>
          </p:nvSpPr>
          <p:spPr>
            <a:xfrm>
              <a:off x="6380920" y="2802304"/>
              <a:ext cx="202" cy="1350358"/>
            </a:xfrm>
            <a:custGeom>
              <a:avLst/>
              <a:gdLst/>
              <a:ahLst/>
              <a:cxnLst/>
              <a:rect l="0" t="0" r="r" b="b"/>
              <a:pathLst>
                <a:path w="202" h="1350358" fill="norm" stroke="1">
                  <a:moveTo>
                    <a:pt x="0" y="0"/>
                  </a:moveTo>
                  <a:lnTo>
                    <a:pt x="202" y="1350358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28" name="Diagram block or connection 10028"/>
            <p:cNvSpPr/>
            <p:nvPr/>
          </p:nvSpPr>
          <p:spPr>
            <a:xfrm>
              <a:off x="6391053" y="3395782"/>
              <a:ext cx="252528" cy="163401"/>
            </a:xfrm>
            <a:custGeom>
              <a:avLst/>
              <a:gdLst/>
              <a:ahLst/>
              <a:cxnLst/>
              <a:rect l="0" t="0" r="r" b="b"/>
              <a:pathLst>
                <a:path w="252528" h="163401" fill="norm" stroke="1">
                  <a:moveTo>
                    <a:pt x="0" y="0"/>
                  </a:moveTo>
                  <a:lnTo>
                    <a:pt x="252528" y="0"/>
                  </a:lnTo>
                  <a:lnTo>
                    <a:pt x="252528" y="163401"/>
                  </a:lnTo>
                  <a:lnTo>
                    <a:pt x="0" y="163401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29" name="Diagram block or connection 10029"/>
            <p:cNvSpPr/>
            <p:nvPr/>
          </p:nvSpPr>
          <p:spPr>
            <a:xfrm>
              <a:off x="4716308" y="4152442"/>
              <a:ext cx="1664814" cy="220"/>
            </a:xfrm>
            <a:custGeom>
              <a:avLst/>
              <a:gdLst/>
              <a:ahLst/>
              <a:cxnLst/>
              <a:rect l="0" t="0" r="r" b="b"/>
              <a:pathLst>
                <a:path w="1664814" h="220" fill="norm" stroke="1">
                  <a:moveTo>
                    <a:pt x="1664814" y="220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30" name="Diagram block or connection 10030"/>
            <p:cNvSpPr/>
            <p:nvPr/>
          </p:nvSpPr>
          <p:spPr>
            <a:xfrm>
              <a:off x="4663332" y="4123033"/>
              <a:ext cx="77907" cy="58825"/>
            </a:xfrm>
            <a:custGeom>
              <a:avLst/>
              <a:gdLst/>
              <a:ahLst/>
              <a:cxnLst/>
              <a:rect l="0" t="0" r="r" b="b"/>
              <a:pathLst>
                <a:path w="77907" h="58825" fill="norm" stroke="1">
                  <a:moveTo>
                    <a:pt x="0" y="29402"/>
                  </a:moveTo>
                  <a:lnTo>
                    <a:pt x="77898" y="58825"/>
                  </a:lnTo>
                  <a:lnTo>
                    <a:pt x="49119" y="29409"/>
                  </a:lnTo>
                  <a:lnTo>
                    <a:pt x="77907" y="0"/>
                  </a:lnTo>
                  <a:lnTo>
                    <a:pt x="0" y="29402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31" name="Diagram block or connection 10031"/>
            <p:cNvSpPr/>
            <p:nvPr/>
          </p:nvSpPr>
          <p:spPr>
            <a:xfrm>
              <a:off x="2207543" y="2551617"/>
              <a:ext cx="3732359" cy="127"/>
            </a:xfrm>
            <a:custGeom>
              <a:avLst/>
              <a:gdLst/>
              <a:ahLst/>
              <a:cxnLst/>
              <a:rect l="0" t="0" r="r" b="b"/>
              <a:pathLst>
                <a:path w="3732359" h="127" fill="norm" stroke="1">
                  <a:moveTo>
                    <a:pt x="3732359" y="0"/>
                  </a:moveTo>
                  <a:lnTo>
                    <a:pt x="0" y="104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32" name="Diagram block or connection 10032"/>
            <p:cNvSpPr/>
            <p:nvPr/>
          </p:nvSpPr>
          <p:spPr>
            <a:xfrm>
              <a:off x="2154567" y="2522309"/>
              <a:ext cx="77903" cy="58825"/>
            </a:xfrm>
            <a:custGeom>
              <a:avLst/>
              <a:gdLst/>
              <a:ahLst/>
              <a:cxnLst/>
              <a:rect l="0" t="0" r="r" b="b"/>
              <a:pathLst>
                <a:path w="77903" h="58825" fill="norm" stroke="1">
                  <a:moveTo>
                    <a:pt x="0" y="29414"/>
                  </a:moveTo>
                  <a:lnTo>
                    <a:pt x="77903" y="58825"/>
                  </a:lnTo>
                  <a:lnTo>
                    <a:pt x="49119" y="29413"/>
                  </a:lnTo>
                  <a:lnTo>
                    <a:pt x="77902" y="0"/>
                  </a:lnTo>
                  <a:lnTo>
                    <a:pt x="0" y="29414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33" name="Diagram block or connection 10033"/>
            <p:cNvSpPr/>
            <p:nvPr/>
          </p:nvSpPr>
          <p:spPr>
            <a:xfrm>
              <a:off x="4788674" y="2419591"/>
              <a:ext cx="246476" cy="122023"/>
            </a:xfrm>
            <a:custGeom>
              <a:avLst/>
              <a:gdLst/>
              <a:ahLst/>
              <a:cxnLst/>
              <a:rect l="0" t="0" r="r" b="b"/>
              <a:pathLst>
                <a:path w="246476" h="122023" fill="norm" stroke="1">
                  <a:moveTo>
                    <a:pt x="0" y="0"/>
                  </a:moveTo>
                  <a:lnTo>
                    <a:pt x="246476" y="0"/>
                  </a:lnTo>
                  <a:lnTo>
                    <a:pt x="246476" y="122023"/>
                  </a:lnTo>
                  <a:lnTo>
                    <a:pt x="0" y="122023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34" name="Diagram block or connection 10034"/>
            <p:cNvSpPr/>
            <p:nvPr/>
          </p:nvSpPr>
          <p:spPr>
            <a:xfrm>
              <a:off x="1118179" y="2551722"/>
              <a:ext cx="634329" cy="127"/>
            </a:xfrm>
            <a:custGeom>
              <a:avLst/>
              <a:gdLst/>
              <a:ahLst/>
              <a:cxnLst/>
              <a:rect l="0" t="0" r="r" b="b"/>
              <a:pathLst>
                <a:path w="634329" h="127" fill="norm" stroke="1">
                  <a:moveTo>
                    <a:pt x="634329" y="0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35" name="Diagram block or connection 10035"/>
            <p:cNvSpPr/>
            <p:nvPr/>
          </p:nvSpPr>
          <p:spPr>
            <a:xfrm>
              <a:off x="1065201" y="2522309"/>
              <a:ext cx="77904" cy="58826"/>
            </a:xfrm>
            <a:custGeom>
              <a:avLst/>
              <a:gdLst/>
              <a:ahLst/>
              <a:cxnLst/>
              <a:rect l="0" t="0" r="r" b="b"/>
              <a:pathLst>
                <a:path w="77904" h="58826" fill="norm" stroke="1">
                  <a:moveTo>
                    <a:pt x="0" y="29413"/>
                  </a:moveTo>
                  <a:lnTo>
                    <a:pt x="77904" y="58826"/>
                  </a:lnTo>
                  <a:lnTo>
                    <a:pt x="49120" y="29413"/>
                  </a:lnTo>
                  <a:lnTo>
                    <a:pt x="77904" y="0"/>
                  </a:lnTo>
                  <a:lnTo>
                    <a:pt x="0" y="29413"/>
                  </a:lnTo>
                </a:path>
              </a:pathLst>
            </a:custGeom>
            <a:solidFill>
              <a:srgbClr val="252529"/>
            </a:solidFill>
            <a:ln w="15434">
              <a:solidFill>
                <a:srgbClr val="252529"/>
              </a:solidFill>
              <a:round/>
            </a:ln>
          </p:spPr>
        </p:sp>
        <p:sp>
          <p:nvSpPr>
            <p:cNvPr id="10036" name="Diagram block or connection 10036"/>
            <p:cNvSpPr/>
            <p:nvPr/>
          </p:nvSpPr>
          <p:spPr>
            <a:xfrm>
              <a:off x="1255403" y="2389267"/>
              <a:ext cx="355858" cy="152423"/>
            </a:xfrm>
            <a:custGeom>
              <a:avLst/>
              <a:gdLst/>
              <a:ahLst/>
              <a:cxnLst/>
              <a:rect l="0" t="0" r="r" b="b"/>
              <a:pathLst>
                <a:path w="355858" h="152423" fill="norm" stroke="1">
                  <a:moveTo>
                    <a:pt x="0" y="0"/>
                  </a:moveTo>
                  <a:lnTo>
                    <a:pt x="355858" y="0"/>
                  </a:lnTo>
                  <a:lnTo>
                    <a:pt x="355858" y="152423"/>
                  </a:lnTo>
                  <a:lnTo>
                    <a:pt x="0" y="152423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37" name="Diagram block or connection 10037"/>
            <p:cNvSpPr/>
            <p:nvPr/>
          </p:nvSpPr>
          <p:spPr>
            <a:xfrm>
              <a:off x="6896894" y="2551617"/>
              <a:ext cx="746767" cy="127"/>
            </a:xfrm>
            <a:custGeom>
              <a:avLst/>
              <a:gdLst/>
              <a:ahLst/>
              <a:cxnLst/>
              <a:rect l="0" t="0" r="r" b="b"/>
              <a:pathLst>
                <a:path w="746767" h="127" fill="norm" stroke="1">
                  <a:moveTo>
                    <a:pt x="746767" y="0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38" name="Diagram block or connection 10038"/>
            <p:cNvSpPr/>
            <p:nvPr/>
          </p:nvSpPr>
          <p:spPr>
            <a:xfrm>
              <a:off x="6843916" y="2522204"/>
              <a:ext cx="77904" cy="58826"/>
            </a:xfrm>
            <a:custGeom>
              <a:avLst/>
              <a:gdLst/>
              <a:ahLst/>
              <a:cxnLst/>
              <a:rect l="0" t="0" r="r" b="b"/>
              <a:pathLst>
                <a:path w="77904" h="58826" fill="norm" stroke="1">
                  <a:moveTo>
                    <a:pt x="0" y="29413"/>
                  </a:moveTo>
                  <a:lnTo>
                    <a:pt x="77904" y="58826"/>
                  </a:lnTo>
                  <a:lnTo>
                    <a:pt x="49120" y="29413"/>
                  </a:lnTo>
                  <a:lnTo>
                    <a:pt x="77904" y="0"/>
                  </a:lnTo>
                  <a:lnTo>
                    <a:pt x="0" y="29413"/>
                  </a:lnTo>
                </a:path>
              </a:pathLst>
            </a:custGeom>
            <a:solidFill>
              <a:srgbClr val="252529"/>
            </a:solidFill>
            <a:ln w="15434">
              <a:solidFill>
                <a:srgbClr val="252529"/>
              </a:solidFill>
              <a:round/>
            </a:ln>
          </p:spPr>
        </p:sp>
        <p:sp>
          <p:nvSpPr>
            <p:cNvPr id="10039" name="Diagram block or connection 10039"/>
            <p:cNvSpPr/>
            <p:nvPr/>
          </p:nvSpPr>
          <p:spPr>
            <a:xfrm>
              <a:off x="7653694" y="2460628"/>
              <a:ext cx="425106" cy="181979"/>
            </a:xfrm>
            <a:custGeom>
              <a:avLst/>
              <a:gdLst/>
              <a:ahLst/>
              <a:cxnLst/>
              <a:rect l="0" t="0" r="r" b="b"/>
              <a:pathLst>
                <a:path w="425106" h="181979" fill="norm" stroke="1">
                  <a:moveTo>
                    <a:pt x="0" y="0"/>
                  </a:moveTo>
                  <a:lnTo>
                    <a:pt x="425106" y="0"/>
                  </a:lnTo>
                  <a:lnTo>
                    <a:pt x="425106" y="181979"/>
                  </a:lnTo>
                  <a:lnTo>
                    <a:pt x="0" y="181979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40" name="Diagram block or connection 10040"/>
            <p:cNvSpPr/>
            <p:nvPr/>
          </p:nvSpPr>
          <p:spPr>
            <a:xfrm>
              <a:off x="2818341" y="4152248"/>
              <a:ext cx="940976" cy="184"/>
            </a:xfrm>
            <a:custGeom>
              <a:avLst/>
              <a:gdLst/>
              <a:ahLst/>
              <a:cxnLst/>
              <a:rect l="0" t="0" r="r" b="b"/>
              <a:pathLst>
                <a:path w="940976" h="184" fill="norm" stroke="1">
                  <a:moveTo>
                    <a:pt x="940976" y="184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41" name="Diagram block or connection 10041"/>
            <p:cNvSpPr/>
            <p:nvPr/>
          </p:nvSpPr>
          <p:spPr>
            <a:xfrm>
              <a:off x="2765364" y="4122841"/>
              <a:ext cx="77908" cy="58825"/>
            </a:xfrm>
            <a:custGeom>
              <a:avLst/>
              <a:gdLst/>
              <a:ahLst/>
              <a:cxnLst/>
              <a:rect l="0" t="0" r="r" b="b"/>
              <a:pathLst>
                <a:path w="77908" h="58825" fill="norm" stroke="1">
                  <a:moveTo>
                    <a:pt x="0" y="29397"/>
                  </a:moveTo>
                  <a:lnTo>
                    <a:pt x="77897" y="58825"/>
                  </a:lnTo>
                  <a:lnTo>
                    <a:pt x="49119" y="29407"/>
                  </a:lnTo>
                  <a:lnTo>
                    <a:pt x="77908" y="0"/>
                  </a:lnTo>
                  <a:lnTo>
                    <a:pt x="0" y="29397"/>
                  </a:lnTo>
                </a:path>
              </a:pathLst>
            </a:custGeom>
            <a:solidFill>
              <a:srgbClr val="252529"/>
            </a:solidFill>
            <a:ln w="15433">
              <a:solidFill>
                <a:srgbClr val="252529"/>
              </a:solidFill>
              <a:round/>
            </a:ln>
          </p:spPr>
        </p:sp>
        <p:sp>
          <p:nvSpPr>
            <p:cNvPr id="10042" name="Diagram block or connection 10042"/>
            <p:cNvSpPr/>
            <p:nvPr/>
          </p:nvSpPr>
          <p:spPr>
            <a:xfrm>
              <a:off x="3331297" y="3964162"/>
              <a:ext cx="246476" cy="178179"/>
            </a:xfrm>
            <a:custGeom>
              <a:avLst/>
              <a:gdLst/>
              <a:ahLst/>
              <a:cxnLst/>
              <a:rect l="0" t="0" r="r" b="b"/>
              <a:pathLst>
                <a:path w="246476" h="178179" fill="norm" stroke="1">
                  <a:moveTo>
                    <a:pt x="0" y="0"/>
                  </a:moveTo>
                  <a:lnTo>
                    <a:pt x="246476" y="0"/>
                  </a:lnTo>
                  <a:lnTo>
                    <a:pt x="246476" y="178179"/>
                  </a:lnTo>
                  <a:lnTo>
                    <a:pt x="0" y="178179"/>
                  </a:lnTo>
                  <a:close/>
                </a:path>
              </a:pathLst>
            </a:custGeom>
            <a:solidFill>
              <a:srgbClr val="FFFFFF"/>
            </a:solidFill>
            <a:ln w="2540">
              <a:noFill/>
              <a:round/>
            </a:ln>
          </p:spPr>
        </p:sp>
        <p:sp>
          <p:nvSpPr>
            <p:cNvPr id="10043" name="Diagram block or connection 10043"/>
            <p:cNvSpPr/>
            <p:nvPr/>
          </p:nvSpPr>
          <p:spPr>
            <a:xfrm>
              <a:off x="1942548" y="2983954"/>
              <a:ext cx="349894" cy="1168286"/>
            </a:xfrm>
            <a:custGeom>
              <a:avLst/>
              <a:gdLst/>
              <a:ahLst/>
              <a:cxnLst/>
              <a:rect l="0" t="0" r="r" b="b"/>
              <a:pathLst>
                <a:path w="349894" h="1168286" fill="norm" stroke="1">
                  <a:moveTo>
                    <a:pt x="349894" y="1168286"/>
                  </a:moveTo>
                  <a:lnTo>
                    <a:pt x="0" y="1168286"/>
                  </a:ln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44" name="Diagram block or connection 10044"/>
            <p:cNvSpPr/>
            <p:nvPr/>
          </p:nvSpPr>
          <p:spPr>
            <a:xfrm>
              <a:off x="1942548" y="2816719"/>
              <a:ext cx="127" cy="167235"/>
            </a:xfrm>
            <a:custGeom>
              <a:avLst/>
              <a:gdLst/>
              <a:ahLst/>
              <a:cxnLst/>
              <a:rect l="0" t="0" r="r" b="b"/>
              <a:pathLst>
                <a:path w="127" h="167235" fill="norm" stroke="1">
                  <a:moveTo>
                    <a:pt x="0" y="167235"/>
                  </a:moveTo>
                  <a:lnTo>
                    <a:pt x="0" y="0"/>
                  </a:lnTo>
                </a:path>
              </a:pathLst>
            </a:custGeom>
            <a:noFill/>
            <a:ln w="15434">
              <a:solidFill>
                <a:srgbClr val="252529"/>
              </a:solidFill>
              <a:round/>
            </a:ln>
          </p:spPr>
        </p:sp>
        <p:sp>
          <p:nvSpPr>
            <p:cNvPr id="10045" name="Diagram block or connection 10045"/>
            <p:cNvSpPr/>
            <p:nvPr/>
          </p:nvSpPr>
          <p:spPr>
            <a:xfrm>
              <a:off x="1913135" y="2763741"/>
              <a:ext cx="58826" cy="77904"/>
            </a:xfrm>
            <a:custGeom>
              <a:avLst/>
              <a:gdLst/>
              <a:ahLst/>
              <a:cxnLst/>
              <a:rect l="0" t="0" r="r" b="b"/>
              <a:pathLst>
                <a:path w="58826" h="77904" fill="norm" stroke="1">
                  <a:moveTo>
                    <a:pt x="29413" y="0"/>
                  </a:moveTo>
                  <a:lnTo>
                    <a:pt x="0" y="77904"/>
                  </a:lnTo>
                  <a:lnTo>
                    <a:pt x="29413" y="49120"/>
                  </a:lnTo>
                  <a:lnTo>
                    <a:pt x="58826" y="77904"/>
                  </a:lnTo>
                  <a:lnTo>
                    <a:pt x="29413" y="0"/>
                  </a:lnTo>
                </a:path>
              </a:pathLst>
            </a:custGeom>
            <a:solidFill>
              <a:srgbClr val="252529"/>
            </a:solidFill>
            <a:ln w="15434">
              <a:solidFill>
                <a:srgbClr val="252529"/>
              </a:solidFill>
              <a:round/>
            </a:ln>
          </p:spPr>
        </p:sp>
        <p:sp>
          <p:nvSpPr>
            <p:cNvPr id="10046" name="Editable label: H"/>
            <p:cNvSpPr txBox="1"/>
            <p:nvPr/>
          </p:nvSpPr>
          <p:spPr>
            <a:xfrm>
              <a:off x="6193683" y="2155547"/>
              <a:ext cx="348895" cy="4484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94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H</a:t>
              </a:r>
              <a:endParaRPr lang="en-GB" sz="2394"/>
            </a:p>
          </p:txBody>
        </p:sp>
        <p:sp>
          <p:nvSpPr>
            <p:cNvPr id="10047" name="Editable label: E"/>
            <p:cNvSpPr txBox="1"/>
            <p:nvPr/>
          </p:nvSpPr>
          <p:spPr>
            <a:xfrm>
              <a:off x="4034223" y="3755744"/>
              <a:ext cx="315534" cy="4484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394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E</a:t>
              </a:r>
              <a:endParaRPr lang="en-GB" sz="2394"/>
            </a:p>
          </p:txBody>
        </p:sp>
        <p:sp>
          <p:nvSpPr>
            <p:cNvPr id="10048" name="Editable label: Δ"/>
            <p:cNvSpPr txBox="1"/>
            <p:nvPr/>
          </p:nvSpPr>
          <p:spPr>
            <a:xfrm>
              <a:off x="6191463" y="1229568"/>
              <a:ext cx="378000" cy="487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621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621"/>
            </a:p>
          </p:txBody>
        </p:sp>
        <p:sp>
          <p:nvSpPr>
            <p:cNvPr id="10049" name="Editable label: zΔ"/>
            <p:cNvSpPr txBox="1"/>
            <p:nvPr/>
          </p:nvSpPr>
          <p:spPr>
            <a:xfrm>
              <a:off x="5402454" y="1628314"/>
              <a:ext cx="384633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197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676"/>
            </a:p>
          </p:txBody>
        </p:sp>
        <p:sp>
          <p:nvSpPr>
            <p:cNvPr id="10050" name="Editable label: wΔ"/>
            <p:cNvSpPr txBox="1"/>
            <p:nvPr/>
          </p:nvSpPr>
          <p:spPr>
            <a:xfrm>
              <a:off x="6954393" y="1628314"/>
              <a:ext cx="455097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197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676"/>
            </a:p>
          </p:txBody>
        </p:sp>
        <p:sp>
          <p:nvSpPr>
            <p:cNvPr id="10051" name="Editable label: Δ"/>
            <p:cNvSpPr txBox="1"/>
            <p:nvPr/>
          </p:nvSpPr>
          <p:spPr>
            <a:xfrm>
              <a:off x="4011713" y="2829788"/>
              <a:ext cx="378000" cy="487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2621" b="0" i="0" baseline="0">
                  <a:solidFill>
                    <a:srgbClr val="C8191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2621"/>
            </a:p>
          </p:txBody>
        </p:sp>
        <p:sp>
          <p:nvSpPr>
            <p:cNvPr id="10052" name="Editable label: hat zΔ"/>
            <p:cNvSpPr txBox="1"/>
            <p:nvPr/>
          </p:nvSpPr>
          <p:spPr>
            <a:xfrm>
              <a:off x="3221460" y="3257381"/>
              <a:ext cx="384633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ẑ</a:t>
              </a:r>
              <a:r>
                <a:rPr lang="en-GB" sz="1197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676"/>
            </a:p>
          </p:txBody>
        </p:sp>
        <p:sp>
          <p:nvSpPr>
            <p:cNvPr id="10053" name="Editable label: hat wΔ"/>
            <p:cNvSpPr txBox="1"/>
            <p:nvPr/>
          </p:nvSpPr>
          <p:spPr>
            <a:xfrm>
              <a:off x="4773587" y="3257381"/>
              <a:ext cx="455098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ŵ</a:t>
              </a:r>
              <a:r>
                <a:rPr lang="en-GB" sz="1197" b="0" i="0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Δ</a:t>
              </a:r>
              <a:endParaRPr lang="en-GB" sz="1676"/>
            </a:p>
          </p:txBody>
        </p:sp>
        <p:sp>
          <p:nvSpPr>
            <p:cNvPr id="10054" name="Editable label: Σ"/>
            <p:cNvSpPr txBox="1"/>
            <p:nvPr/>
          </p:nvSpPr>
          <p:spPr>
            <a:xfrm>
              <a:off x="1807693" y="2383220"/>
              <a:ext cx="270910" cy="366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915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Σ</a:t>
              </a:r>
              <a:endParaRPr lang="en-GB" sz="1915"/>
            </a:p>
          </p:txBody>
        </p:sp>
        <p:sp>
          <p:nvSpPr>
            <p:cNvPr id="10055" name="Editable label: −1"/>
            <p:cNvSpPr txBox="1"/>
            <p:nvPr/>
          </p:nvSpPr>
          <p:spPr>
            <a:xfrm>
              <a:off x="2397136" y="4002920"/>
              <a:ext cx="389596" cy="28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436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−</a:t>
              </a:r>
              <a:r>
                <a:rPr lang="en-GB" sz="1436" b="0" i="0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1</a:t>
              </a:r>
              <a:endParaRPr lang="en-GB" sz="1436"/>
            </a:p>
          </p:txBody>
        </p:sp>
        <p:sp>
          <p:nvSpPr>
            <p:cNvPr id="10056" name="Editable label: y"/>
            <p:cNvSpPr txBox="1"/>
            <p:nvPr/>
          </p:nvSpPr>
          <p:spPr>
            <a:xfrm>
              <a:off x="6397615" y="3279998"/>
              <a:ext cx="231678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y</a:t>
              </a:r>
              <a:endParaRPr lang="en-GB" sz="1676"/>
            </a:p>
          </p:txBody>
        </p:sp>
        <p:sp>
          <p:nvSpPr>
            <p:cNvPr id="10057" name="Editable label: z"/>
            <p:cNvSpPr txBox="1"/>
            <p:nvPr/>
          </p:nvSpPr>
          <p:spPr>
            <a:xfrm>
              <a:off x="4791618" y="2303811"/>
              <a:ext cx="231678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endParaRPr lang="en-GB" sz="1676"/>
            </a:p>
          </p:txBody>
        </p:sp>
        <p:sp>
          <p:nvSpPr>
            <p:cNvPr id="10058" name="Editable label: ze"/>
            <p:cNvSpPr txBox="1"/>
            <p:nvPr/>
          </p:nvSpPr>
          <p:spPr>
            <a:xfrm>
              <a:off x="1271076" y="2282039"/>
              <a:ext cx="309302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z</a:t>
              </a:r>
              <a:r>
                <a:rPr lang="en-GB" sz="1197" b="0" i="1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e</a:t>
              </a:r>
              <a:endParaRPr lang="en-GB" sz="1676"/>
            </a:p>
          </p:txBody>
        </p:sp>
        <p:sp>
          <p:nvSpPr>
            <p:cNvPr id="10059" name="Editable label: wp"/>
            <p:cNvSpPr txBox="1"/>
            <p:nvPr/>
          </p:nvSpPr>
          <p:spPr>
            <a:xfrm>
              <a:off x="7663153" y="2353418"/>
              <a:ext cx="390887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w</a:t>
              </a:r>
              <a:r>
                <a:rPr lang="en-GB" sz="1197" b="0" i="1" baseline="-14282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p</a:t>
              </a:r>
              <a:endParaRPr lang="en-GB" sz="1676"/>
            </a:p>
          </p:txBody>
        </p:sp>
        <p:sp>
          <p:nvSpPr>
            <p:cNvPr id="10060" name="Editable label: hat z"/>
            <p:cNvSpPr txBox="1"/>
            <p:nvPr/>
          </p:nvSpPr>
          <p:spPr>
            <a:xfrm>
              <a:off x="3344279" y="3904547"/>
              <a:ext cx="231678" cy="32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676" b="0" i="1" baseline="0">
                  <a:solidFill>
                    <a:srgbClr val="252529"/>
                  </a:solidFill>
                  <a:latin typeface="Cambria Math"/>
                  <a:ea typeface="Cambria Math"/>
                  <a:cs typeface="Cambria Math"/>
                </a:rPr>
                <a:t xml:space="preserve">ẑ</a:t>
              </a:r>
              <a:endParaRPr lang="en-GB" sz="1676"/>
            </a:p>
          </p:txBody>
        </p: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62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15</a:t>
            </a:r>
            <a:endParaRPr lang="en-GB" sz="8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="1" i="0" baseline="0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PDE-to-PIE conversion</a:t>
            </a:r>
            <a:endParaRPr lang="en-GB" sz="2500"/>
          </a:p>
        </p:txBody>
      </p:sp>
      <p:grpSp>
        <p:nvGrpSpPr>
          <p:cNvPr id="30" name="Editable PDE-to-PIE conversion"/>
          <p:cNvGrpSpPr/>
          <p:nvPr/>
        </p:nvGrpSpPr>
        <p:grpSpPr>
          <a:xfrm>
            <a:off x="457200" y="1320800"/>
            <a:ext cx="8229600" cy="2870200"/>
            <a:chOff x="457200" y="1320800"/>
            <a:chExt cx="8229600" cy="2870200"/>
          </a:xfrm>
        </p:grpSpPr>
        <p:grpSp>
          <p:nvGrpSpPr>
            <p:cNvPr id="10" name="Editable LFR diagram"/>
            <p:cNvGrpSpPr/>
            <p:nvPr/>
          </p:nvGrpSpPr>
          <p:grpSpPr>
            <a:xfrm>
              <a:off x="983996" y="1947919"/>
              <a:ext cx="2502407" cy="1615962"/>
              <a:chOff x="983996" y="1947919"/>
              <a:chExt cx="2502407" cy="1615962"/>
            </a:xfrm>
          </p:grpSpPr>
          <p:sp>
            <p:nvSpPr>
              <p:cNvPr id="10001" name="Diagram block or connection 10001"/>
              <p:cNvSpPr/>
              <p:nvPr/>
            </p:nvSpPr>
            <p:spPr>
              <a:xfrm>
                <a:off x="1834139" y="2708872"/>
                <a:ext cx="855009" cy="855009"/>
              </a:xfrm>
              <a:custGeom>
                <a:avLst/>
                <a:gdLst/>
                <a:ahLst/>
                <a:cxnLst/>
                <a:rect l="0" t="0" r="r" b="b"/>
                <a:pathLst>
                  <a:path w="855009" h="855009" fill="norm" stroke="1">
                    <a:moveTo>
                      <a:pt x="818949" y="0"/>
                    </a:moveTo>
                    <a:lnTo>
                      <a:pt x="36060" y="0"/>
                    </a:lnTo>
                    <a:cubicBezTo>
                      <a:pt x="16145" y="0"/>
                      <a:pt x="0" y="16145"/>
                      <a:pt x="0" y="36060"/>
                    </a:cubicBezTo>
                    <a:lnTo>
                      <a:pt x="0" y="818949"/>
                    </a:lnTo>
                    <a:cubicBezTo>
                      <a:pt x="0" y="838864"/>
                      <a:pt x="16145" y="855009"/>
                      <a:pt x="36060" y="855009"/>
                    </a:cubicBezTo>
                    <a:lnTo>
                      <a:pt x="818949" y="855009"/>
                    </a:lnTo>
                    <a:cubicBezTo>
                      <a:pt x="838864" y="855009"/>
                      <a:pt x="855009" y="838864"/>
                      <a:pt x="855009" y="818949"/>
                    </a:cubicBezTo>
                    <a:lnTo>
                      <a:pt x="855009" y="36060"/>
                    </a:lnTo>
                    <a:cubicBezTo>
                      <a:pt x="855009" y="16145"/>
                      <a:pt x="838864" y="0"/>
                      <a:pt x="818949" y="0"/>
                    </a:cubicBez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2" name="Diagram block or connection 10002"/>
              <p:cNvSpPr/>
              <p:nvPr/>
            </p:nvSpPr>
            <p:spPr>
              <a:xfrm>
                <a:off x="1962391" y="1947919"/>
                <a:ext cx="598504" cy="598505"/>
              </a:xfrm>
              <a:custGeom>
                <a:avLst/>
                <a:gdLst/>
                <a:ahLst/>
                <a:cxnLst/>
                <a:rect l="0" t="0" r="r" b="b"/>
                <a:pathLst>
                  <a:path w="598504" h="598505" fill="norm" stroke="1">
                    <a:moveTo>
                      <a:pt x="562444" y="0"/>
                    </a:moveTo>
                    <a:lnTo>
                      <a:pt x="36060" y="0"/>
                    </a:lnTo>
                    <a:cubicBezTo>
                      <a:pt x="16145" y="0"/>
                      <a:pt x="0" y="16145"/>
                      <a:pt x="0" y="36060"/>
                    </a:cubicBezTo>
                    <a:lnTo>
                      <a:pt x="0" y="562444"/>
                    </a:lnTo>
                    <a:cubicBezTo>
                      <a:pt x="0" y="582360"/>
                      <a:pt x="16145" y="598505"/>
                      <a:pt x="36060" y="598505"/>
                    </a:cubicBezTo>
                    <a:lnTo>
                      <a:pt x="562444" y="598505"/>
                    </a:lnTo>
                    <a:cubicBezTo>
                      <a:pt x="582360" y="598505"/>
                      <a:pt x="598504" y="582360"/>
                      <a:pt x="598504" y="562444"/>
                    </a:cubicBezTo>
                    <a:lnTo>
                      <a:pt x="598504" y="36060"/>
                    </a:lnTo>
                    <a:cubicBezTo>
                      <a:pt x="598504" y="16145"/>
                      <a:pt x="582360" y="0"/>
                      <a:pt x="562444" y="0"/>
                    </a:cubicBezTo>
                  </a:path>
                </a:pathLst>
              </a:custGeom>
              <a:solidFill>
                <a:srgbClr val="F3F4F5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3" name="Diagram block or connection 10003"/>
              <p:cNvSpPr/>
              <p:nvPr/>
            </p:nvSpPr>
            <p:spPr>
              <a:xfrm>
                <a:off x="1314917" y="3324522"/>
                <a:ext cx="42088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420880" h="127" fill="norm" stroke="1">
                    <a:moveTo>
                      <a:pt x="0" y="0"/>
                    </a:moveTo>
                    <a:lnTo>
                      <a:pt x="42088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4" name="Diagram block or connection 10004"/>
              <p:cNvSpPr/>
              <p:nvPr/>
            </p:nvSpPr>
            <p:spPr>
              <a:xfrm>
                <a:off x="1699700" y="3281422"/>
                <a:ext cx="114535" cy="86201"/>
              </a:xfrm>
              <a:custGeom>
                <a:avLst/>
                <a:gdLst/>
                <a:ahLst/>
                <a:cxnLst/>
                <a:rect l="0" t="0" r="r" b="b"/>
                <a:pathLst>
                  <a:path w="114535" h="86201" fill="norm" stroke="1">
                    <a:moveTo>
                      <a:pt x="114535" y="43100"/>
                    </a:moveTo>
                    <a:lnTo>
                      <a:pt x="0" y="0"/>
                    </a:lnTo>
                    <a:lnTo>
                      <a:pt x="38500" y="43100"/>
                    </a:lnTo>
                    <a:lnTo>
                      <a:pt x="0" y="86201"/>
                    </a:lnTo>
                    <a:lnTo>
                      <a:pt x="114535" y="43100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5" name="Diagram block or connection 10005"/>
              <p:cNvSpPr/>
              <p:nvPr/>
            </p:nvSpPr>
            <p:spPr>
              <a:xfrm>
                <a:off x="2695359" y="3324522"/>
                <a:ext cx="42088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420880" h="127" fill="norm" stroke="1">
                    <a:moveTo>
                      <a:pt x="0" y="0"/>
                    </a:moveTo>
                    <a:lnTo>
                      <a:pt x="42088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6" name="Diagram block or connection 10006"/>
              <p:cNvSpPr/>
              <p:nvPr/>
            </p:nvSpPr>
            <p:spPr>
              <a:xfrm>
                <a:off x="3080142" y="3281422"/>
                <a:ext cx="114535" cy="86201"/>
              </a:xfrm>
              <a:custGeom>
                <a:avLst/>
                <a:gdLst/>
                <a:ahLst/>
                <a:cxnLst/>
                <a:rect l="0" t="0" r="r" b="b"/>
                <a:pathLst>
                  <a:path w="114535" h="86201" fill="norm" stroke="1">
                    <a:moveTo>
                      <a:pt x="114535" y="43100"/>
                    </a:moveTo>
                    <a:lnTo>
                      <a:pt x="0" y="0"/>
                    </a:lnTo>
                    <a:lnTo>
                      <a:pt x="38500" y="43100"/>
                    </a:lnTo>
                    <a:lnTo>
                      <a:pt x="0" y="86201"/>
                    </a:lnTo>
                    <a:lnTo>
                      <a:pt x="114535" y="43100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7" name="Diagram block or connection 10007"/>
              <p:cNvSpPr/>
              <p:nvPr/>
            </p:nvSpPr>
            <p:spPr>
              <a:xfrm>
                <a:off x="1502668" y="2246758"/>
                <a:ext cx="453644" cy="207"/>
              </a:xfrm>
              <a:custGeom>
                <a:avLst/>
                <a:gdLst/>
                <a:ahLst/>
                <a:cxnLst/>
                <a:rect l="0" t="0" r="r" b="b"/>
                <a:pathLst>
                  <a:path w="453644" h="207" fill="norm" stroke="1">
                    <a:moveTo>
                      <a:pt x="453644" y="207"/>
                    </a:moveTo>
                    <a:lnTo>
                      <a:pt x="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8" name="Diagram block or connection 10008"/>
              <p:cNvSpPr/>
              <p:nvPr/>
            </p:nvSpPr>
            <p:spPr>
              <a:xfrm>
                <a:off x="1502668" y="2246758"/>
                <a:ext cx="176" cy="701429"/>
              </a:xfrm>
              <a:custGeom>
                <a:avLst/>
                <a:gdLst/>
                <a:ahLst/>
                <a:cxnLst/>
                <a:rect l="0" t="0" r="r" b="b"/>
                <a:pathLst>
                  <a:path w="176" h="701429" fill="norm" stroke="1">
                    <a:moveTo>
                      <a:pt x="0" y="0"/>
                    </a:moveTo>
                    <a:lnTo>
                      <a:pt x="176" y="701429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09" name="Diagram block or connection 10009"/>
              <p:cNvSpPr/>
              <p:nvPr/>
            </p:nvSpPr>
            <p:spPr>
              <a:xfrm>
                <a:off x="1502844" y="2948187"/>
                <a:ext cx="232954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232954" h="127" fill="norm" stroke="1">
                    <a:moveTo>
                      <a:pt x="0" y="0"/>
                    </a:moveTo>
                    <a:lnTo>
                      <a:pt x="232954" y="31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0" name="Diagram block or connection 10010"/>
              <p:cNvSpPr/>
              <p:nvPr/>
            </p:nvSpPr>
            <p:spPr>
              <a:xfrm>
                <a:off x="1699695" y="2905113"/>
                <a:ext cx="114539" cy="86199"/>
              </a:xfrm>
              <a:custGeom>
                <a:avLst/>
                <a:gdLst/>
                <a:ahLst/>
                <a:cxnLst/>
                <a:rect l="0" t="0" r="r" b="b"/>
                <a:pathLst>
                  <a:path w="114539" h="86199" fill="norm" stroke="1">
                    <a:moveTo>
                      <a:pt x="114539" y="43116"/>
                    </a:moveTo>
                    <a:lnTo>
                      <a:pt x="12" y="0"/>
                    </a:lnTo>
                    <a:lnTo>
                      <a:pt x="38505" y="43105"/>
                    </a:lnTo>
                    <a:lnTo>
                      <a:pt x="0" y="86199"/>
                    </a:lnTo>
                    <a:lnTo>
                      <a:pt x="114539" y="43116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1" name="Diagram block or connection 10011"/>
              <p:cNvSpPr/>
              <p:nvPr/>
            </p:nvSpPr>
            <p:spPr>
              <a:xfrm>
                <a:off x="2695359" y="2948187"/>
                <a:ext cx="325084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25084" h="127" fill="norm" stroke="1">
                    <a:moveTo>
                      <a:pt x="0" y="43"/>
                    </a:moveTo>
                    <a:lnTo>
                      <a:pt x="325084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2" name="Diagram block or connection 10012"/>
              <p:cNvSpPr/>
              <p:nvPr/>
            </p:nvSpPr>
            <p:spPr>
              <a:xfrm>
                <a:off x="3020443" y="2246758"/>
                <a:ext cx="176" cy="701429"/>
              </a:xfrm>
              <a:custGeom>
                <a:avLst/>
                <a:gdLst/>
                <a:ahLst/>
                <a:cxnLst/>
                <a:rect l="0" t="0" r="r" b="b"/>
                <a:pathLst>
                  <a:path w="176" h="701429" fill="norm" stroke="1">
                    <a:moveTo>
                      <a:pt x="0" y="701429"/>
                    </a:moveTo>
                    <a:lnTo>
                      <a:pt x="176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3" name="Diagram block or connection 10013"/>
              <p:cNvSpPr/>
              <p:nvPr/>
            </p:nvSpPr>
            <p:spPr>
              <a:xfrm>
                <a:off x="2659107" y="2246758"/>
                <a:ext cx="361512" cy="167"/>
              </a:xfrm>
              <a:custGeom>
                <a:avLst/>
                <a:gdLst/>
                <a:ahLst/>
                <a:cxnLst/>
                <a:rect l="0" t="0" r="r" b="b"/>
                <a:pathLst>
                  <a:path w="361512" h="167" fill="norm" stroke="1">
                    <a:moveTo>
                      <a:pt x="361512" y="0"/>
                    </a:moveTo>
                    <a:lnTo>
                      <a:pt x="0" y="167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4" name="Diagram block or connection 10014"/>
              <p:cNvSpPr/>
              <p:nvPr/>
            </p:nvSpPr>
            <p:spPr>
              <a:xfrm>
                <a:off x="2580670" y="2203810"/>
                <a:ext cx="114552" cy="86199"/>
              </a:xfrm>
              <a:custGeom>
                <a:avLst/>
                <a:gdLst/>
                <a:ahLst/>
                <a:cxnLst/>
                <a:rect l="0" t="0" r="r" b="b"/>
                <a:pathLst>
                  <a:path w="114552" h="86199" fill="norm" stroke="1">
                    <a:moveTo>
                      <a:pt x="0" y="43149"/>
                    </a:moveTo>
                    <a:lnTo>
                      <a:pt x="114552" y="86199"/>
                    </a:lnTo>
                    <a:lnTo>
                      <a:pt x="76034" y="43116"/>
                    </a:lnTo>
                    <a:lnTo>
                      <a:pt x="114515" y="0"/>
                    </a:lnTo>
                    <a:lnTo>
                      <a:pt x="0" y="43149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10015" name="Editable label: PDE"/>
              <p:cNvSpPr txBox="1"/>
              <p:nvPr/>
            </p:nvSpPr>
            <p:spPr>
              <a:xfrm>
                <a:off x="1871691" y="2939065"/>
                <a:ext cx="779830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0" baseline="0">
                    <a:solidFill>
                      <a:srgbClr val="252529"/>
                    </a:solidFill>
                    <a:latin typeface="Aptos"/>
                    <a:ea typeface="Aptos"/>
                    <a:cs typeface="Aptos"/>
                  </a:rPr>
                  <a:t xml:space="preserve">PDE</a:t>
                </a:r>
                <a:endParaRPr lang="en-GB" sz="2366"/>
              </a:p>
            </p:txBody>
          </p:sp>
          <p:sp>
            <p:nvSpPr>
              <p:cNvPr id="10016" name="Editable label: Δ"/>
              <p:cNvSpPr txBox="1"/>
              <p:nvPr/>
            </p:nvSpPr>
            <p:spPr>
              <a:xfrm>
                <a:off x="2088493" y="2043350"/>
                <a:ext cx="346170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0" baseline="0">
                    <a:solidFill>
                      <a:srgbClr val="C8191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  <p:sp>
            <p:nvSpPr>
              <p:cNvPr id="10017" name="Editable label: wp"/>
              <p:cNvSpPr txBox="1"/>
              <p:nvPr/>
            </p:nvSpPr>
            <p:spPr>
              <a:xfrm>
                <a:off x="928101" y="3052425"/>
                <a:ext cx="450623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w</a:t>
                </a:r>
                <a:r>
                  <a:rPr lang="en-GB" sz="1656" b="0" i="1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p</a:t>
                </a:r>
                <a:endParaRPr lang="en-GB" sz="2366"/>
              </a:p>
            </p:txBody>
          </p:sp>
          <p:sp>
            <p:nvSpPr>
              <p:cNvPr id="10018" name="Editable label: zp"/>
              <p:cNvSpPr txBox="1"/>
              <p:nvPr/>
            </p:nvSpPr>
            <p:spPr>
              <a:xfrm>
                <a:off x="3173836" y="3052425"/>
                <a:ext cx="361679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z</a:t>
                </a:r>
                <a:r>
                  <a:rPr lang="en-GB" sz="1656" b="0" i="1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p</a:t>
                </a:r>
                <a:endParaRPr lang="en-GB" sz="2366"/>
              </a:p>
            </p:txBody>
          </p:sp>
          <p:sp>
            <p:nvSpPr>
              <p:cNvPr id="10019" name="Editable label: wΔ"/>
              <p:cNvSpPr txBox="1"/>
              <p:nvPr/>
            </p:nvSpPr>
            <p:spPr>
              <a:xfrm>
                <a:off x="976588" y="2345826"/>
                <a:ext cx="537497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w</a:t>
                </a:r>
                <a:r>
                  <a:rPr lang="en-GB" sz="1656" b="0" i="0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  <p:sp>
            <p:nvSpPr>
              <p:cNvPr id="10020" name="Editable label: zΔ"/>
              <p:cNvSpPr txBox="1"/>
              <p:nvPr/>
            </p:nvSpPr>
            <p:spPr>
              <a:xfrm>
                <a:off x="3000857" y="2345826"/>
                <a:ext cx="448553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z</a:t>
                </a:r>
                <a:r>
                  <a:rPr lang="en-GB" sz="1656" b="0" i="0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</p:grpSp>
        <p:sp>
          <p:nvSpPr>
            <p:cNvPr id="6" name="Conversion arrow"/>
            <p:cNvSpPr txBox="1"/>
            <p:nvPr/>
          </p:nvSpPr>
          <p:spPr>
            <a:xfrm>
              <a:off x="4140200" y="2324100"/>
              <a:ext cx="863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GB" sz="3500" b="0" i="0" baseline="0">
                  <a:solidFill>
                    <a:srgbClr val="252529"/>
                  </a:solidFill>
                  <a:latin typeface="Aptos"/>
                  <a:ea typeface="Aptos"/>
                  <a:cs typeface="Aptos"/>
                </a:rPr>
                <a:t xml:space="preserve">→</a:t>
              </a:r>
              <a:endParaRPr lang="en-GB" sz="3500"/>
            </a:p>
          </p:txBody>
        </p:sp>
        <p:sp>
          <p:nvSpPr>
            <p:cNvPr id="7" name="Conversion label"/>
            <p:cNvSpPr txBox="1"/>
            <p:nvPr/>
          </p:nvSpPr>
          <p:spPr>
            <a:xfrm>
              <a:off x="4102100" y="2882900"/>
              <a:ext cx="939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GB" sz="1200" b="0" i="0" baseline="0">
                  <a:solidFill>
                    <a:srgbClr val="747B82"/>
                  </a:solidFill>
                  <a:latin typeface="Aptos"/>
                  <a:ea typeface="Aptos"/>
                  <a:cs typeface="Aptos"/>
                </a:rPr>
                <a:t xml:space="preserve">convert</a:t>
              </a:r>
              <a:endParaRPr lang="en-GB" sz="1200"/>
            </a:p>
          </p:txBody>
        </p:sp>
        <p:grpSp>
          <p:nvGrpSpPr>
            <p:cNvPr id="20" name="Editable LFR diagram"/>
            <p:cNvGrpSpPr/>
            <p:nvPr/>
          </p:nvGrpSpPr>
          <p:grpSpPr>
            <a:xfrm>
              <a:off x="5481269" y="1947919"/>
              <a:ext cx="2855062" cy="1615962"/>
              <a:chOff x="5481269" y="1947919"/>
              <a:chExt cx="2855062" cy="1615962"/>
            </a:xfrm>
          </p:grpSpPr>
          <p:sp>
            <p:nvSpPr>
              <p:cNvPr id="20001" name="Diagram block or connection 20001"/>
              <p:cNvSpPr/>
              <p:nvPr/>
            </p:nvSpPr>
            <p:spPr>
              <a:xfrm>
                <a:off x="6331479" y="2708871"/>
                <a:ext cx="1207548" cy="855009"/>
              </a:xfrm>
              <a:custGeom>
                <a:avLst/>
                <a:gdLst/>
                <a:ahLst/>
                <a:cxnLst/>
                <a:rect l="0" t="0" r="r" b="b"/>
                <a:pathLst>
                  <a:path w="1207548" h="855009" fill="norm" stroke="1">
                    <a:moveTo>
                      <a:pt x="1171488" y="0"/>
                    </a:moveTo>
                    <a:lnTo>
                      <a:pt x="36060" y="0"/>
                    </a:lnTo>
                    <a:cubicBezTo>
                      <a:pt x="16144" y="0"/>
                      <a:pt x="0" y="16145"/>
                      <a:pt x="0" y="36060"/>
                    </a:cubicBezTo>
                    <a:lnTo>
                      <a:pt x="0" y="818949"/>
                    </a:lnTo>
                    <a:cubicBezTo>
                      <a:pt x="0" y="838865"/>
                      <a:pt x="16144" y="855009"/>
                      <a:pt x="36060" y="855009"/>
                    </a:cubicBezTo>
                    <a:lnTo>
                      <a:pt x="1171488" y="855009"/>
                    </a:lnTo>
                    <a:cubicBezTo>
                      <a:pt x="1191403" y="855009"/>
                      <a:pt x="1207548" y="838865"/>
                      <a:pt x="1207548" y="818949"/>
                    </a:cubicBezTo>
                    <a:lnTo>
                      <a:pt x="1207548" y="36060"/>
                    </a:lnTo>
                    <a:cubicBezTo>
                      <a:pt x="1207548" y="16145"/>
                      <a:pt x="1191403" y="0"/>
                      <a:pt x="1171488" y="0"/>
                    </a:cubicBez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2" name="Diagram block or connection 20002"/>
              <p:cNvSpPr/>
              <p:nvPr/>
            </p:nvSpPr>
            <p:spPr>
              <a:xfrm>
                <a:off x="6636001" y="1947919"/>
                <a:ext cx="598504" cy="598505"/>
              </a:xfrm>
              <a:custGeom>
                <a:avLst/>
                <a:gdLst/>
                <a:ahLst/>
                <a:cxnLst/>
                <a:rect l="0" t="0" r="r" b="b"/>
                <a:pathLst>
                  <a:path w="598504" h="598505" fill="norm" stroke="1">
                    <a:moveTo>
                      <a:pt x="562444" y="0"/>
                    </a:moveTo>
                    <a:lnTo>
                      <a:pt x="36060" y="0"/>
                    </a:lnTo>
                    <a:cubicBezTo>
                      <a:pt x="16145" y="0"/>
                      <a:pt x="0" y="16145"/>
                      <a:pt x="0" y="36060"/>
                    </a:cubicBezTo>
                    <a:lnTo>
                      <a:pt x="0" y="562444"/>
                    </a:lnTo>
                    <a:cubicBezTo>
                      <a:pt x="0" y="582360"/>
                      <a:pt x="16145" y="598505"/>
                      <a:pt x="36060" y="598505"/>
                    </a:cubicBezTo>
                    <a:lnTo>
                      <a:pt x="562444" y="598505"/>
                    </a:lnTo>
                    <a:cubicBezTo>
                      <a:pt x="582360" y="598505"/>
                      <a:pt x="598504" y="582360"/>
                      <a:pt x="598504" y="562444"/>
                    </a:cubicBezTo>
                    <a:lnTo>
                      <a:pt x="598504" y="36060"/>
                    </a:lnTo>
                    <a:cubicBezTo>
                      <a:pt x="598504" y="16145"/>
                      <a:pt x="582360" y="0"/>
                      <a:pt x="562444" y="0"/>
                    </a:cubicBezTo>
                  </a:path>
                </a:pathLst>
              </a:custGeom>
              <a:solidFill>
                <a:srgbClr val="F3F4F5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3" name="Diagram block or connection 20003"/>
              <p:cNvSpPr/>
              <p:nvPr/>
            </p:nvSpPr>
            <p:spPr>
              <a:xfrm>
                <a:off x="5812174" y="3324522"/>
                <a:ext cx="42088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420880" h="127" fill="norm" stroke="1">
                    <a:moveTo>
                      <a:pt x="0" y="0"/>
                    </a:moveTo>
                    <a:lnTo>
                      <a:pt x="42088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4" name="Diagram block or connection 20004"/>
              <p:cNvSpPr/>
              <p:nvPr/>
            </p:nvSpPr>
            <p:spPr>
              <a:xfrm>
                <a:off x="6196956" y="3281422"/>
                <a:ext cx="114535" cy="86201"/>
              </a:xfrm>
              <a:custGeom>
                <a:avLst/>
                <a:gdLst/>
                <a:ahLst/>
                <a:cxnLst/>
                <a:rect l="0" t="0" r="r" b="b"/>
                <a:pathLst>
                  <a:path w="114535" h="86201" fill="norm" stroke="1">
                    <a:moveTo>
                      <a:pt x="114535" y="43100"/>
                    </a:moveTo>
                    <a:lnTo>
                      <a:pt x="0" y="0"/>
                    </a:lnTo>
                    <a:lnTo>
                      <a:pt x="38500" y="43100"/>
                    </a:lnTo>
                    <a:lnTo>
                      <a:pt x="0" y="86201"/>
                    </a:lnTo>
                    <a:lnTo>
                      <a:pt x="114535" y="43100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5" name="Diagram block or connection 20005"/>
              <p:cNvSpPr/>
              <p:nvPr/>
            </p:nvSpPr>
            <p:spPr>
              <a:xfrm>
                <a:off x="7545320" y="3324522"/>
                <a:ext cx="42088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420880" h="127" fill="norm" stroke="1">
                    <a:moveTo>
                      <a:pt x="0" y="0"/>
                    </a:moveTo>
                    <a:lnTo>
                      <a:pt x="42088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6" name="Diagram block or connection 20006"/>
              <p:cNvSpPr/>
              <p:nvPr/>
            </p:nvSpPr>
            <p:spPr>
              <a:xfrm>
                <a:off x="7930103" y="3281422"/>
                <a:ext cx="114535" cy="86201"/>
              </a:xfrm>
              <a:custGeom>
                <a:avLst/>
                <a:gdLst/>
                <a:ahLst/>
                <a:cxnLst/>
                <a:rect l="0" t="0" r="r" b="b"/>
                <a:pathLst>
                  <a:path w="114535" h="86201" fill="norm" stroke="1">
                    <a:moveTo>
                      <a:pt x="114535" y="43100"/>
                    </a:moveTo>
                    <a:lnTo>
                      <a:pt x="0" y="0"/>
                    </a:lnTo>
                    <a:lnTo>
                      <a:pt x="38500" y="43100"/>
                    </a:lnTo>
                    <a:lnTo>
                      <a:pt x="0" y="86201"/>
                    </a:lnTo>
                    <a:lnTo>
                      <a:pt x="114535" y="43100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7" name="Diagram block or connection 20007"/>
              <p:cNvSpPr/>
              <p:nvPr/>
            </p:nvSpPr>
            <p:spPr>
              <a:xfrm>
                <a:off x="5999843" y="2246758"/>
                <a:ext cx="630078" cy="207"/>
              </a:xfrm>
              <a:custGeom>
                <a:avLst/>
                <a:gdLst/>
                <a:ahLst/>
                <a:cxnLst/>
                <a:rect l="0" t="0" r="r" b="b"/>
                <a:pathLst>
                  <a:path w="630078" h="207" fill="norm" stroke="1">
                    <a:moveTo>
                      <a:pt x="630078" y="207"/>
                    </a:moveTo>
                    <a:lnTo>
                      <a:pt x="0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8" name="Diagram block or connection 20008"/>
              <p:cNvSpPr/>
              <p:nvPr/>
            </p:nvSpPr>
            <p:spPr>
              <a:xfrm>
                <a:off x="5999843" y="2246758"/>
                <a:ext cx="217" cy="701429"/>
              </a:xfrm>
              <a:custGeom>
                <a:avLst/>
                <a:gdLst/>
                <a:ahLst/>
                <a:cxnLst/>
                <a:rect l="0" t="0" r="r" b="b"/>
                <a:pathLst>
                  <a:path w="217" h="701429" fill="norm" stroke="1">
                    <a:moveTo>
                      <a:pt x="0" y="0"/>
                    </a:moveTo>
                    <a:lnTo>
                      <a:pt x="217" y="701429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09" name="Diagram block or connection 20009"/>
              <p:cNvSpPr/>
              <p:nvPr/>
            </p:nvSpPr>
            <p:spPr>
              <a:xfrm>
                <a:off x="6000059" y="2948187"/>
                <a:ext cx="232996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232996" h="127" fill="norm" stroke="1">
                    <a:moveTo>
                      <a:pt x="0" y="0"/>
                    </a:moveTo>
                    <a:lnTo>
                      <a:pt x="232996" y="31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0" name="Diagram block or connection 20010"/>
              <p:cNvSpPr/>
              <p:nvPr/>
            </p:nvSpPr>
            <p:spPr>
              <a:xfrm>
                <a:off x="6196952" y="2905113"/>
                <a:ext cx="114539" cy="86199"/>
              </a:xfrm>
              <a:custGeom>
                <a:avLst/>
                <a:gdLst/>
                <a:ahLst/>
                <a:cxnLst/>
                <a:rect l="0" t="0" r="r" b="b"/>
                <a:pathLst>
                  <a:path w="114539" h="86199" fill="norm" stroke="1">
                    <a:moveTo>
                      <a:pt x="114539" y="43116"/>
                    </a:moveTo>
                    <a:lnTo>
                      <a:pt x="12" y="0"/>
                    </a:lnTo>
                    <a:lnTo>
                      <a:pt x="38505" y="43105"/>
                    </a:lnTo>
                    <a:lnTo>
                      <a:pt x="0" y="86199"/>
                    </a:lnTo>
                    <a:lnTo>
                      <a:pt x="114539" y="43116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1" name="Diagram block or connection 20011"/>
              <p:cNvSpPr/>
              <p:nvPr/>
            </p:nvSpPr>
            <p:spPr>
              <a:xfrm>
                <a:off x="7545320" y="2948187"/>
                <a:ext cx="325126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25126" h="127" fill="norm" stroke="1">
                    <a:moveTo>
                      <a:pt x="0" y="43"/>
                    </a:moveTo>
                    <a:lnTo>
                      <a:pt x="325126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2" name="Diagram block or connection 20012"/>
              <p:cNvSpPr/>
              <p:nvPr/>
            </p:nvSpPr>
            <p:spPr>
              <a:xfrm>
                <a:off x="7870446" y="2246758"/>
                <a:ext cx="217" cy="701429"/>
              </a:xfrm>
              <a:custGeom>
                <a:avLst/>
                <a:gdLst/>
                <a:ahLst/>
                <a:cxnLst/>
                <a:rect l="0" t="0" r="r" b="b"/>
                <a:pathLst>
                  <a:path w="217" h="701429" fill="norm" stroke="1">
                    <a:moveTo>
                      <a:pt x="0" y="701429"/>
                    </a:moveTo>
                    <a:lnTo>
                      <a:pt x="217" y="0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3" name="Diagram block or connection 20013"/>
              <p:cNvSpPr/>
              <p:nvPr/>
            </p:nvSpPr>
            <p:spPr>
              <a:xfrm>
                <a:off x="7332716" y="2246758"/>
                <a:ext cx="537946" cy="179"/>
              </a:xfrm>
              <a:custGeom>
                <a:avLst/>
                <a:gdLst/>
                <a:ahLst/>
                <a:cxnLst/>
                <a:rect l="0" t="0" r="r" b="b"/>
                <a:pathLst>
                  <a:path w="537946" h="179" fill="norm" stroke="1">
                    <a:moveTo>
                      <a:pt x="537946" y="0"/>
                    </a:moveTo>
                    <a:lnTo>
                      <a:pt x="0" y="179"/>
                    </a:lnTo>
                  </a:path>
                </a:pathLst>
              </a:custGeom>
              <a:noFill/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4" name="Diagram block or connection 20014"/>
              <p:cNvSpPr/>
              <p:nvPr/>
            </p:nvSpPr>
            <p:spPr>
              <a:xfrm>
                <a:off x="7254279" y="2203826"/>
                <a:ext cx="114546" cy="86199"/>
              </a:xfrm>
              <a:custGeom>
                <a:avLst/>
                <a:gdLst/>
                <a:ahLst/>
                <a:cxnLst/>
                <a:rect l="0" t="0" r="r" b="b"/>
                <a:pathLst>
                  <a:path w="114546" h="86199" fill="norm" stroke="1">
                    <a:moveTo>
                      <a:pt x="0" y="43134"/>
                    </a:moveTo>
                    <a:lnTo>
                      <a:pt x="114546" y="86199"/>
                    </a:lnTo>
                    <a:lnTo>
                      <a:pt x="76034" y="43111"/>
                    </a:lnTo>
                    <a:lnTo>
                      <a:pt x="114520" y="0"/>
                    </a:lnTo>
                    <a:lnTo>
                      <a:pt x="0" y="43134"/>
                    </a:lnTo>
                  </a:path>
                </a:pathLst>
              </a:custGeom>
              <a:solidFill>
                <a:srgbClr val="252529"/>
              </a:solidFill>
              <a:ln w="9616">
                <a:solidFill>
                  <a:srgbClr val="252529"/>
                </a:solidFill>
                <a:round/>
              </a:ln>
            </p:spPr>
          </p:sp>
          <p:sp>
            <p:nvSpPr>
              <p:cNvPr id="20015" name="Editable label: H{P IE}"/>
              <p:cNvSpPr txBox="1"/>
              <p:nvPr/>
            </p:nvSpPr>
            <p:spPr>
              <a:xfrm>
                <a:off x="6316938" y="2896425"/>
                <a:ext cx="1221508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H</a:t>
                </a:r>
                <a:r>
                  <a:rPr lang="en-GB" sz="1656" b="0" i="0" baseline="-18058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{</a:t>
                </a:r>
                <a:r>
                  <a:rPr lang="en-GB" sz="1656" b="0" i="1" baseline="-18058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PIE</a:t>
                </a:r>
                <a:r>
                  <a:rPr lang="en-GB" sz="1656" b="0" i="0" baseline="-18058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}</a:t>
                </a:r>
                <a:endParaRPr lang="en-GB" sz="2366"/>
              </a:p>
            </p:txBody>
          </p:sp>
          <p:sp>
            <p:nvSpPr>
              <p:cNvPr id="20016" name="Editable label: Δ"/>
              <p:cNvSpPr txBox="1"/>
              <p:nvPr/>
            </p:nvSpPr>
            <p:spPr>
              <a:xfrm>
                <a:off x="6762108" y="2043350"/>
                <a:ext cx="346170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0" baseline="0">
                    <a:solidFill>
                      <a:srgbClr val="C8191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  <p:sp>
            <p:nvSpPr>
              <p:cNvPr id="20017" name="Editable label: wp"/>
              <p:cNvSpPr txBox="1"/>
              <p:nvPr/>
            </p:nvSpPr>
            <p:spPr>
              <a:xfrm>
                <a:off x="5425377" y="3052425"/>
                <a:ext cx="450588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w</a:t>
                </a:r>
                <a:r>
                  <a:rPr lang="en-GB" sz="1656" b="0" i="1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p</a:t>
                </a:r>
                <a:endParaRPr lang="en-GB" sz="2366"/>
              </a:p>
            </p:txBody>
          </p:sp>
          <p:sp>
            <p:nvSpPr>
              <p:cNvPr id="20018" name="Editable label: zp"/>
              <p:cNvSpPr txBox="1"/>
              <p:nvPr/>
            </p:nvSpPr>
            <p:spPr>
              <a:xfrm>
                <a:off x="8023795" y="3052425"/>
                <a:ext cx="361644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z</a:t>
                </a:r>
                <a:r>
                  <a:rPr lang="en-GB" sz="1656" b="0" i="1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p</a:t>
                </a:r>
                <a:endParaRPr lang="en-GB" sz="2366"/>
              </a:p>
            </p:txBody>
          </p:sp>
          <p:sp>
            <p:nvSpPr>
              <p:cNvPr id="20019" name="Editable label: wΔ"/>
              <p:cNvSpPr txBox="1"/>
              <p:nvPr/>
            </p:nvSpPr>
            <p:spPr>
              <a:xfrm>
                <a:off x="5473792" y="2345826"/>
                <a:ext cx="537461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w</a:t>
                </a:r>
                <a:r>
                  <a:rPr lang="en-GB" sz="1656" b="0" i="0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  <p:sp>
            <p:nvSpPr>
              <p:cNvPr id="20020" name="Editable label: zΔ"/>
              <p:cNvSpPr txBox="1"/>
              <p:nvPr/>
            </p:nvSpPr>
            <p:spPr>
              <a:xfrm>
                <a:off x="7850889" y="2345826"/>
                <a:ext cx="448517" cy="44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GB" sz="2366" b="0" i="1" baseline="0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z</a:t>
                </a:r>
                <a:r>
                  <a:rPr lang="en-GB" sz="1656" b="0" i="0" baseline="-15006">
                    <a:solidFill>
                      <a:srgbClr val="252529"/>
                    </a:solidFill>
                    <a:latin typeface="Cambria Math"/>
                    <a:ea typeface="Cambria Math"/>
                    <a:cs typeface="Cambria Math"/>
                  </a:rPr>
                  <a:t xml:space="preserve">Δ</a:t>
                </a:r>
                <a:endParaRPr lang="en-GB" sz="2366"/>
              </a:p>
            </p:txBody>
          </p:sp>
        </p:grpSp>
      </p:grpSp>
      <p:sp>
        <p:nvSpPr>
          <p:cNvPr id="3" name="Source PDF pages"/>
          <p:cNvSpPr txBox="1"/>
          <p:nvPr/>
        </p:nvSpPr>
        <p:spPr>
          <a:xfrm>
            <a:off x="457200" y="4521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9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Source PDF: 44</a:t>
            </a:r>
            <a:endParaRPr lang="en-GB" sz="900"/>
          </a:p>
        </p:txBody>
      </p:sp>
      <p:sp>
        <p:nvSpPr>
          <p:cNvPr id="4" name="Footer"/>
          <p:cNvSpPr txBox="1"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lang="en-GB" sz="800"/>
          </a:p>
        </p:txBody>
      </p:sp>
      <p:sp>
        <p:nvSpPr>
          <p:cNvPr id="5" name="Slide number"/>
          <p:cNvSpPr txBox="1"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lang="en-GB" sz="800" b="0" i="0" baseline="0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16</a:t>
            </a:r>
            <a:endParaRPr lang="en-GB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e - Clean White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Clean White - 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- Clean White" id="{9370F84E-7576-4FDA-B736-A09996DF8429}" vid="{ED81D3C9-A1FB-4E5B-AF38-E92F700A58FD}"/>
    </a:ext>
  </a:extLst>
</a:theme>
</file>