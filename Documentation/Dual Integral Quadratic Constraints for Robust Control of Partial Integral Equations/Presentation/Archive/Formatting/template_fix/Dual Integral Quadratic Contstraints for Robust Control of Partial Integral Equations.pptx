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6"/>
  </p:notesMasterIdLst>
  <p:sldIdLst>
    <p:sldId id="401" r:id="rId2"/>
    <p:sldId id="402" r:id="rId3"/>
    <p:sldId id="403" r:id="rId4"/>
    <p:sldId id="404" r:id="rId5"/>
    <p:sldId id="405" r:id="rId6"/>
    <p:sldId id="406" r:id="rId7"/>
    <p:sldId id="407" r:id="rId8"/>
    <p:sldId id="408" r:id="rId9"/>
    <p:sldId id="409" r:id="rId10"/>
    <p:sldId id="410" r:id="rId11"/>
    <p:sldId id="411" r:id="rId12"/>
    <p:sldId id="412" r:id="rId13"/>
    <p:sldId id="413" r:id="rId14"/>
    <p:sldId id="414" r:id="rId15"/>
    <p:sldId id="415" r:id="rId16"/>
    <p:sldId id="416" r:id="rId17"/>
    <p:sldId id="417" r:id="rId18"/>
    <p:sldId id="418" r:id="rId19"/>
    <p:sldId id="419" r:id="rId20"/>
    <p:sldId id="420" r:id="rId21"/>
    <p:sldId id="422" r:id="rId22"/>
    <p:sldId id="423" r:id="rId23"/>
    <p:sldId id="424" r:id="rId24"/>
    <p:sldId id="421" r:id="rId2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63568" autoAdjust="0"/>
  </p:normalViewPr>
  <p:slideViewPr>
    <p:cSldViewPr snapToGrid="0" showGuides="1">
      <p:cViewPr>
        <p:scale>
          <a:sx n="75" d="100"/>
          <a:sy n="75" d="100"/>
        </p:scale>
        <p:origin x="1528" y="136"/>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24/09/2026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6</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15</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645701871"/>
      </p:ext>
    </p:extLst>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CleanLogo" Type="http://schemas.openxmlformats.org/officeDocument/2006/relationships/image" Target="../media/image2.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CleanLogo" Type="http://schemas.openxmlformats.org/officeDocument/2006/relationships/image" Target="../media/image2.pn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CleanLogo" Type="http://schemas.openxmlformats.org/officeDocument/2006/relationships/image" Target="../media/image2.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showMasterSp="0">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idx="0"/>
          </p:nvPr>
        </p:nvSpPr>
        <p:spPr>
          <a:xfrm>
            <a:off x="457200" y="444500"/>
            <a:ext cx="8229600" cy="1092200"/>
          </a:xfr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CleanLogo"/>
          <a:stretch>
            <a:fillRect/>
          </a:stretch>
        </p:blipFill>
        <p:spPr>
          <a:xfrm>
            <a:off x="457200" y="4523742"/>
            <a:ext cx="1587500" cy="507490"/>
          </a:xfrm>
          <a:prstGeom prst="rect">
            <a:avLst/>
          </a:prstGeom>
        </p:spPr>
      </p:pic>
    </p:spTree>
  </p:cSld>
  <p:clrMapOvr>
    <a:masterClrMapping/>
  </p:clrMapOvr>
  <p:hf hdr="0" dt="0" ftr="0" sldNum="0"/>
</p:sldLayout>
</file>

<file path=ppt/slideLayouts/slideLayout2.xml><?xml version="1.0" encoding="utf-8"?>
<p:sldLayout xmlns:p="http://schemas.openxmlformats.org/presentationml/2006/main" xmlns:a="http://schemas.openxmlformats.org/drawingml/2006/main" xmlns:r="http://schemas.openxmlformats.org/officeDocument/2006/relationships" type="secHead" preserve="1" showMasterSp="0">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idx="0"/>
          </p:nvPr>
        </p:nvSpPr>
        <p:spPr>
          <a:xfrm>
            <a:off x="457200" y="1714500"/>
            <a:ext cx="8229600" cy="1092200"/>
          </a:xfr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CleanLogo"/>
          <a:stretch>
            <a:fillRect/>
          </a:stretch>
        </p:blipFill>
        <p:spPr>
          <a:xfrm>
            <a:off x="457200" y="4523742"/>
            <a:ext cx="1587500" cy="507490"/>
          </a:xfrm>
          <a:prstGeom prst="rect">
            <a:avLst/>
          </a:prstGeom>
        </p:spPr>
      </p:pic>
    </p:spTree>
  </p:cSld>
  <p:clrMapOvr>
    <a:masterClrMapping/>
  </p:clrMapOvr>
  <p:hf hdr="0" dt="0" ftr="0" sldNum="0"/>
</p:sldLayout>
</file>

<file path=ppt/slideLayouts/slideLayout3.xml><?xml version="1.0" encoding="utf-8"?>
<p:sldLayout xmlns:p="http://schemas.openxmlformats.org/presentationml/2006/main" xmlns:a="http://schemas.openxmlformats.org/drawingml/2006/main" xmlns:r="http://schemas.openxmlformats.org/officeDocument/2006/relationships" type="title" preserve="1" showMasterSp="0">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idx="0"/>
          </p:nvPr>
        </p:nvSpPr>
        <p:spPr>
          <a:xfrm>
            <a:off x="457200" y="444500"/>
            <a:ext cx="8229600" cy="1092200"/>
          </a:xfr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CleanLogo"/>
          <a:stretch>
            <a:fillRect/>
          </a:stretch>
        </p:blipFill>
        <p:spPr>
          <a:xfrm>
            <a:off x="457200" y="4523742"/>
            <a:ext cx="1587500" cy="507490"/>
          </a:xfrm>
          <a:prstGeom prst="rect">
            <a:avLst/>
          </a:prstGeom>
        </p:spPr>
      </p:pic>
    </p:spTree>
  </p:cSld>
  <p:clrMapOvr>
    <a:masterClrMapping/>
  </p:clrMapOvr>
  <p:hf hdr="0" dt="0" ftr="0" sldNum="0"/>
</p:sldLayout>
</file>

<file path=ppt/slideLayouts/slideLayout4.xml><?xml version="1.0" encoding="utf-8"?>
<p:sldLayout xmlns:p="http://schemas.openxmlformats.org/presentationml/2006/main" xmlns:a="http://schemas.openxmlformats.org/drawingml/2006/main" xmlns:r="http://schemas.openxmlformats.org/officeDocument/2006/relationships" type="obj" preserve="1" showMasterSp="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8229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5.xml><?xml version="1.0" encoding="utf-8"?>
<p:sldLayout xmlns:p="http://schemas.openxmlformats.org/presentationml/2006/main" xmlns:a="http://schemas.openxmlformats.org/drawingml/2006/main" xmlns:r="http://schemas.openxmlformats.org/officeDocument/2006/relationships" type="twoObj" preserve="1" showMasterSp="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444500"/>
            <a:ext cx="3911600" cy="863600"/>
          </a:xfr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type="obj" idx="1"/>
          </p:nvPr>
        </p:nvSpPr>
        <p:spPr>
          <a:xfrm>
            <a:off x="457200" y="1536700"/>
            <a:ext cx="3911600" cy="2921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type="obj" idx="2"/>
          </p:nvPr>
        </p:nvSpPr>
        <p:spPr>
          <a:xfrm>
            <a:off x="4775200" y="1536700"/>
            <a:ext cx="3911600" cy="2921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6.xml><?xml version="1.0" encoding="utf-8"?>
<p:sldLayout xmlns:p="http://schemas.openxmlformats.org/presentationml/2006/main" xmlns:a="http://schemas.openxmlformats.org/drawingml/2006/main" xmlns:r="http://schemas.openxmlformats.org/officeDocument/2006/relationships" type="objTx" preserve="1" showMasterSp="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3911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7.xml><?xml version="1.0" encoding="utf-8"?>
<p:sldLayout xmlns:p="http://schemas.openxmlformats.org/presentationml/2006/main" xmlns:a="http://schemas.openxmlformats.org/drawingml/2006/main" xmlns:r="http://schemas.openxmlformats.org/officeDocument/2006/relationships" type="objTx" preserve="1" showMasterSp="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53340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8.xml><?xml version="1.0" encoding="utf-8"?>
<p:sldLayout xmlns:p="http://schemas.openxmlformats.org/presentationml/2006/main" xmlns:a="http://schemas.openxmlformats.org/drawingml/2006/main" xmlns:r="http://schemas.openxmlformats.org/officeDocument/2006/relationships" type="obj" preserve="1" showMasterSp="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type="obj" idx="13"/>
          </p:nvPr>
        </p:nvSpPr>
        <p:spPr>
          <a:xfrm>
            <a:off x="1625600" y="1092200"/>
            <a:ext cx="5892800" cy="33147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9.xml><?xml version="1.0" encoding="utf-8"?>
<p:sldLayout xmlns:p="http://schemas.openxmlformats.org/presentationml/2006/main" xmlns:a="http://schemas.openxmlformats.org/drawingml/2006/main" xmlns:r="http://schemas.openxmlformats.org/officeDocument/2006/relationships" type="cust" preserve="1" showMasterSp="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2438400" cy="635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type="obj" idx="13"/>
          </p:nvPr>
        </p:nvSpPr>
        <p:spPr>
          <a:xfrm>
            <a:off x="3352800" y="1219200"/>
            <a:ext cx="2438400" cy="635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type="obj" idx="14"/>
          </p:nvPr>
        </p:nvSpPr>
        <p:spPr>
          <a:xfrm>
            <a:off x="6248400" y="1219200"/>
            <a:ext cx="2438400" cy="635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0.xml><?xml version="1.0" encoding="utf-8"?>
<p:sldLayout xmlns:p="http://schemas.openxmlformats.org/presentationml/2006/main" xmlns:a="http://schemas.openxmlformats.org/drawingml/2006/main" xmlns:r="http://schemas.openxmlformats.org/officeDocument/2006/relationships" type="cust" preserve="1" showMasterSp="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type="obj" idx="1"/>
          </p:nvPr>
        </p:nvSpPr>
        <p:spPr>
          <a:xfrm>
            <a:off x="4775200" y="1219200"/>
            <a:ext cx="3911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1.xml><?xml version="1.0" encoding="utf-8"?>
<p:sldLayout xmlns:p="http://schemas.openxmlformats.org/presentationml/2006/main" xmlns:a="http://schemas.openxmlformats.org/drawingml/2006/main" xmlns:r="http://schemas.openxmlformats.org/officeDocument/2006/relationships" type="cust" preserve="1" showMasterSp="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type="obj" idx="1"/>
          </p:nvPr>
        </p:nvSpPr>
        <p:spPr>
          <a:xfrm>
            <a:off x="3352800" y="1219200"/>
            <a:ext cx="53340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2.xml><?xml version="1.0" encoding="utf-8"?>
<p:sldLayout xmlns:p="http://schemas.openxmlformats.org/presentationml/2006/main" xmlns:a="http://schemas.openxmlformats.org/drawingml/2006/main" xmlns:r="http://schemas.openxmlformats.org/officeDocument/2006/relationships" type="titleOnly" preserve="1" showMasterSp="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3.xml><?xml version="1.0" encoding="utf-8"?>
<p:sldLayout xmlns:p="http://schemas.openxmlformats.org/presentationml/2006/main" xmlns:a="http://schemas.openxmlformats.org/drawingml/2006/main" xmlns:r="http://schemas.openxmlformats.org/officeDocument/2006/relationships" type="blank" preserve="1" showMasterSp="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4.xml><?xml version="1.0" encoding="utf-8"?>
<p:sldLayout xmlns:p="http://schemas.openxmlformats.org/presentationml/2006/main" xmlns:a="http://schemas.openxmlformats.org/drawingml/2006/main" xmlns:r="http://schemas.openxmlformats.org/officeDocument/2006/relationships" type="picTx" preserve="1" showMasterSp="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5.xml><?xml version="1.0" encoding="utf-8"?>
<p:sldLayout xmlns:p="http://schemas.openxmlformats.org/presentationml/2006/main" xmlns:a="http://schemas.openxmlformats.org/drawingml/2006/main" xmlns:r="http://schemas.openxmlformats.org/officeDocument/2006/relationships" type="twoObj" preserve="1" showMasterSp="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3911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type="obj" idx="2"/>
          </p:nvPr>
        </p:nvSpPr>
        <p:spPr>
          <a:xfrm>
            <a:off x="4775200" y="1219200"/>
            <a:ext cx="3911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6.xml><?xml version="1.0" encoding="utf-8"?>
<p:sldLayout xmlns:p="http://schemas.openxmlformats.org/presentationml/2006/main" xmlns:a="http://schemas.openxmlformats.org/drawingml/2006/main" xmlns:r="http://schemas.openxmlformats.org/officeDocument/2006/relationships" type="tbl" preserve="1" showMasterSp="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type="obj" idx="1"/>
          </p:nvPr>
        </p:nvSpPr>
        <p:spPr>
          <a:xfrm>
            <a:off x="457200" y="3721100"/>
            <a:ext cx="8229600" cy="8255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7.xml><?xml version="1.0" encoding="utf-8"?>
<p:sldLayout xmlns:p="http://schemas.openxmlformats.org/presentationml/2006/main" xmlns:a="http://schemas.openxmlformats.org/drawingml/2006/main" xmlns:r="http://schemas.openxmlformats.org/officeDocument/2006/relationships" type="chart" preserve="1" showMasterSp="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ftr="1" sldNum="1"/>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Original title response figure"/>
          <p:cNvPicPr>
            <a:picLocks noChangeAspect="1"/>
          </p:cNvPicPr>
          <p:nvPr/>
        </p:nvPicPr>
        <p:blipFill>
          <a:blip r:embed="rId3"/>
          <a:srcRect l="20719" t="2278" r="21000" b="44944"/>
          <a:stretch>
            <a:fillRect/>
          </a:stretch>
        </p:blipFill>
        <p:spPr>
          <a:xfrm>
            <a:off x="4387883" y="2349500"/>
            <a:ext cx="4063933" cy="2070100"/>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352800" y="2837514"/>
            <a:ext cx="2438400" cy="814673"/>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8400" y="1530350"/>
            <a:ext cx="2438400" cy="1816100"/>
          </a:xfrm>
          <a:prstGeom prst="rect">
            <a:avLst/>
          </a:prstGeom>
        </p:spPr>
      </p:pic>
      <p:pic>
        <p:nvPicPr>
          <p:cNvPr id="32" name="Original TUe logo"/>
          <p:cNvPicPr>
            <a:picLocks noChangeAspect="1"/>
          </p:cNvPicPr>
          <p:nvPr/>
        </p:nvPicPr>
        <p:blipFill>
          <a:blip r:embed="rId8"/>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nl-NL" sz="1800" i="1">
                              <a:latin typeface="Cambria Math" panose="02040503050406030204" pitchFamily="18" charset="0"/>
                            </a:rPr>
                          </m:ctrlPr>
                        </m:sSubPr>
                        <m:e>
                          <m:r>
                            <m:rPr>
                              <m:sty m:val="p"/>
                            </m:rPr>
                            <a:rPr lang="nl-NL" sz="1800" i="1">
                              <a:latin typeface="Cambria Math" panose="02040503050406030204" pitchFamily="18" charset="0"/>
                            </a:rPr>
                            <m:t>heat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nl-NL" sz="1800" i="1">
                              <a:latin typeface="Cambria Math" panose="02040503050406030204" pitchFamily="18" charset="0"/>
                            </a:rPr>
                          </m:ctrlPr>
                        </m:sSubPr>
                        <m:e>
                          <m:r>
                            <m:rPr>
                              <m:sty m:val="p"/>
                            </m:rPr>
                            <a:rPr lang="nl-NL" sz="1800" i="1">
                              <a:latin typeface="Cambria Math" panose="02040503050406030204" pitchFamily="18" charset="0"/>
                            </a:rPr>
                            <m:t>heat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nl-NL" sz="1800" i="1">
                          <a:latin typeface="Cambria Math" panose="02040503050406030204" pitchFamily="18" charset="0"/>
                        </a:rPr>
                        <m:t>heat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3"/>
                <a:stretch>
                  <a:fillRect l="-400"/>
                </a:stretch>
              </a:blipFill>
              <a:ln>
                <a:noFill/>
              </a:ln>
            </p:spPr>
            <p:txBody>
              <a:bodyPr/>
              <a:lstStyle/>
              <a:p>
                <a:r>
                  <a:rPr lang="en-NL">
                    <a:noFill/>
                  </a:rPr>
                  <a:t> </a:t>
                </a:r>
              </a:p>
            </p:txBody>
          </p:sp>
        </mc:Fallback>
      </mc:AlternateContent>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8835" y="330200"/>
            <a:ext cx="7686330" cy="1460500"/>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740400" y="3340100"/>
            <a:ext cx="2946400" cy="77470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marL="0" indent="0" algn="l" defTabSz="1">
              <a:lnSpc>
                <a:spcPct val="115000"/>
              </a:lnSpc>
              <a:spcAft>
                <a:spcPts val="0"/>
              </a:spcAft>
              <a:buNone/>
              <a:defRPr sz="1700" b="1" u="none" cap="none">
                <a:solidFill>
                  <a:srgbClr val="C81919"/>
                </a:solidFill>
                <a:latin typeface="Aptos"/>
                <a:ea typeface="Aptos"/>
                <a:cs typeface="Aptos"/>
              </a:defRPr>
            </a:pPr>
            <a:r>
              <a:rPr lang="en-US" sz="1700" b="1" u="none" cap="none" dirty="0">
                <a:solidFill>
                  <a:srgbClr val="C81919"/>
                </a:solidFill>
                <a:latin typeface="Aptos"/>
                <a:ea typeface="Aptos"/>
                <a:cs typeface="Aptos"/>
              </a:rPr>
              <a:t>	Solved during internship</a:t>
            </a:r>
            <a:endParaRPr lang="en-NL" sz="1700" b="1" u="none" cap="none" dirty="0">
              <a:solidFill>
                <a:srgbClr val="C81919"/>
              </a:solidFill>
              <a:latin typeface="Aptos"/>
              <a:ea typeface="Aptos"/>
              <a:cs typeface="Aptos"/>
            </a:endParaRPr>
          </a:p>
        </p:txBody>
      </p:sp>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A707A7B-DF5A-2FD7-2E79-44904714E5AA}"/>
                  </a:ext>
                </a:extLst>
              </p:cNvPr>
              <p:cNvSpPr txBox="1"/>
              <p:nvPr/>
            </p:nvSpPr>
            <p:spPr>
              <a:xfrm>
                <a:off x="2600077" y="2957885"/>
                <a:ext cx="1537024" cy="784830"/>
              </a:xfrm>
              <a:prstGeom prst="rect">
                <a:avLst/>
              </a:prstGeom>
              <a:noFill/>
            </p:spPr>
            <p:txBody>
              <a:bodyPr wrap="none" rtlCol="0">
                <a:spAutoFit/>
              </a:bodyPr>
              <a:lstStyle/>
              <a:p>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2600077" y="2957885"/>
                <a:ext cx="1537024" cy="784830"/>
              </a:xfrm>
              <a:prstGeom prst="rect">
                <a:avLst/>
              </a:prstGeom>
              <a:blipFill>
                <a:blip r:embed="rId6"/>
                <a:stretch>
                  <a:fillRect/>
                </a:stretch>
              </a:blipFill>
            </p:spPr>
            <p:txBody>
              <a:bodyPr/>
              <a:lstStyle/>
              <a:p>
                <a:r>
                  <a:rPr lang="en-NL">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56887" y="2641600"/>
            <a:ext cx="3315113" cy="1981200"/>
          </a:xfrm>
          <a:prstGeom prst="rect">
            <a:avLst/>
          </a:prstGeom>
        </p:spPr>
      </p:pic>
    </p:spTree>
    <p:extLst>
      <p:ext uri="{BB962C8B-B14F-4D97-AF65-F5344CB8AC3E}">
        <p14:creationId xmlns:p14="http://schemas.microsoft.com/office/powerpoint/2010/main" val="2649137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2"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614483" y="254000"/>
            <a:ext cx="7915034"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20880" y="19050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1651000" y="4445000"/>
            <a:ext cx="5842000" cy="254000"/>
          </a:xfrm>
          <a:prstGeom prst="rect">
            <a:avLst/>
          </a:prstGeom>
          <a:noFill/>
          <a:ln>
            <a:noFill/>
          </a:ln>
        </p:spPr>
        <p:txBody>
          <a:bodyPr wrap="square" lIns="0" tIns="0" rIns="0" bIns="0" rtlCol="0" anchor="t">
            <a:noAutofit/>
          </a:bodyPr>
          <a:lstStyle/>
          <a:p>
            <a:pPr marL="0" indent="0" algn="ctr">
              <a:spcAft>
                <a:spcPts val="0"/>
              </a:spcAft>
              <a:buNone/>
              <a:defRPr sz="1200" b="0" u="none" cap="none">
                <a:solidFill>
                  <a:srgbClr val="747B82"/>
                </a:solidFill>
                <a:latin typeface="Aptos"/>
                <a:ea typeface="Aptos"/>
                <a:cs typeface="Aptos"/>
              </a:defRPr>
            </a:pPr>
            <a:r>
              <a:rPr lang="en-US" sz="1200" b="0" u="none" cap="none" dirty="0">
                <a:solidFill>
                  <a:srgbClr val="747B82"/>
                </a:solidFill>
                <a:latin typeface="Aptos"/>
                <a:ea typeface="Aptos"/>
                <a:cs typeface="Aptos"/>
              </a:rPr>
              <a:t>[1] beta oscillatory activity in basal ganglia</a:t>
            </a:r>
            <a:endParaRPr lang="en-NL" sz="1200" b="0" u="none" cap="none" dirty="0">
              <a:solidFill>
                <a:srgbClr val="747B82"/>
              </a:solidFill>
              <a:latin typeface="Aptos"/>
              <a:ea typeface="Aptos"/>
              <a:cs typeface="Aptos"/>
            </a:endParaRPr>
          </a:p>
        </p:txBody>
      </p:sp>
      <p:sp>
        <p:nvSpPr>
          <p:cNvPr id="15" name="Rectangle 14">
            <a:extLst>
              <a:ext uri="{FF2B5EF4-FFF2-40B4-BE49-F238E27FC236}">
                <a16:creationId xmlns:a16="http://schemas.microsoft.com/office/drawing/2014/main" id="{C0F45872-814F-5DFF-46B3-563E22BDF6BD}"/>
              </a:ext>
            </a:extLst>
          </p:cNvPr>
          <p:cNvSpPr/>
          <p:nvPr/>
        </p:nvSpPr>
        <p:spPr>
          <a:xfrm>
            <a:off x="3669628" y="2073088"/>
            <a:ext cx="1957890" cy="11403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920880" y="3213400"/>
            <a:ext cx="1361934" cy="11098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358117" y="24388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1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6214474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𝜏</m:t>
                                  </m:r>
                                </m:e>
                                <m:sub>
                                  <m:r>
                                    <m:rPr>
                                      <m:sty m:val="p"/>
                                    </m:rPr>
                                    <a:rPr lang="en-US" sz="1800" b="0" i="1" smtClean="0">
                                      <a:solidFill>
                                        <a:srgbClr val="00B050"/>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𝜏</m:t>
                                  </m:r>
                                </m:e>
                                <m:sub>
                                  <m:r>
                                    <m:rPr>
                                      <m:sty m:val="p"/>
                                    </m:rPr>
                                    <a:rPr lang="en-US" sz="1800" b="0" i="1" smtClean="0">
                                      <a:solidFill>
                                        <a:srgbClr val="00B050"/>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𝜏</m:t>
                                  </m:r>
                                </m:e>
                                <m:sub>
                                  <m:r>
                                    <m:rPr>
                                      <m:sty m:val="p"/>
                                    </m:rPr>
                                    <a:rPr lang="en-US" sz="1800" b="0" i="1" smtClean="0">
                                      <a:solidFill>
                                        <a:srgbClr val="00B050"/>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𝑤</m:t>
                              </m:r>
                            </m:e>
                            <m:sub>
                              <m:r>
                                <m:rPr>
                                  <m:sty m:val="p"/>
                                </m:rPr>
                                <a:rPr lang="en-US" sz="1800" b="0" i="1" smtClean="0">
                                  <a:solidFill>
                                    <a:srgbClr val="00B050"/>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𝑤</m:t>
                              </m:r>
                            </m:e>
                            <m:sub>
                              <m:r>
                                <m:rPr>
                                  <m:sty m:val="p"/>
                                </m:rPr>
                                <a:rPr lang="en-US" sz="1800" b="0" i="1" smtClean="0">
                                  <a:solidFill>
                                    <a:srgbClr val="00B050"/>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𝑤</m:t>
                              </m:r>
                            </m:e>
                            <m:sub>
                              <m:r>
                                <m:rPr>
                                  <m:sty m:val="p"/>
                                </m:rPr>
                                <a:rPr lang="en-US" sz="1800" b="0" i="1" smtClean="0">
                                  <a:solidFill>
                                    <a:srgbClr val="00B050"/>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𝛿</m:t>
                              </m:r>
                            </m:e>
                            <m:sub>
                              <m:r>
                                <m:rPr>
                                  <m:sty m:val="p"/>
                                </m:rPr>
                                <a:rPr lang="en-US" sz="1800" b="0" i="1" smtClean="0">
                                  <a:solidFill>
                                    <a:srgbClr val="00B050"/>
                                  </a:solidFill>
                                  <a:latin typeface="Cambria Math" panose="02040503050406030204" pitchFamily="18" charset="0"/>
                                </a:rPr>
                                <m:t>S</m:t>
                              </m:r>
                            </m:sub>
                          </m:sSub>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𝛿</m:t>
                              </m:r>
                            </m:e>
                            <m:sub>
                              <m:r>
                                <m:rPr>
                                  <m:sty m:val="p"/>
                                </m:rPr>
                                <a:rPr lang="en-US" sz="1800" b="0" i="1" smtClean="0">
                                  <a:solidFill>
                                    <a:srgbClr val="00B050"/>
                                  </a:solidFill>
                                  <a:latin typeface="Cambria Math" panose="02040503050406030204" pitchFamily="18" charset="0"/>
                                </a:rPr>
                                <m:t>G</m:t>
                              </m:r>
                            </m:sub>
                          </m:sSub>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00B050"/>
                              </a:solidFill>
                              <a:latin typeface="Cambria Math" panose="02040503050406030204" pitchFamily="18" charset="0"/>
                            </a:rPr>
                            <m:t>𝑢</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noFill/>
              <a:ln>
                <a:noFill/>
              </a:ln>
            </p:spPr>
            <p:txBody>
              <a:bodyPr lIns="0" rIns="0" tIns="0" bIns="0" anchor="t" wrap="none">
                <a:noAutofit/>
              </a:bodyPr>
              <a:lstStyle/>
              <a:p>
                <a:pPr algn="ctr">
                  <a:spcAft>
                    <a:spcPts val="0"/>
                  </a:spcAft>
                  <a:defRPr sz="1700" b="0" u="none" cap="none">
                    <a:solidFill>
                      <a:srgbClr val="252529"/>
                    </a:solidFill>
                    <a:latin typeface="Cambria Math"/>
                    <a:ea typeface="Cambria Math"/>
                    <a:cs typeface="Cambria Math"/>
                  </a:defRPr>
                </a:pPr>
                <a:r>
                  <a:rPr lang="en-NL" sz="1700">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78400" y="1216977"/>
            <a:ext cx="3771900" cy="2303146"/>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8400" y="1465393"/>
            <a:ext cx="3771900" cy="1806313"/>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BFC43C3-8B99-46F4-BD95-944C7898DE67}"/>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9637BDBB-3B9D-2687-E9E1-D43633E63E41}"/>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8E8896B-3DA3-FACD-171F-4DBC43529CA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2A669DD-15C7-3D44-4C07-9180C312FE08}"/>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25EA5956-0319-154B-CE86-8DA441CC7C38}"/>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20000"/>
              </a:lnSpc>
              <a:spcAft>
                <a:spcPts val="1900"/>
              </a:spcAft>
              <a:defRPr sz="2100" b="0" u="none" cap="none">
                <a:solidFill>
                  <a:srgbClr val="252529"/>
                </a:solidFill>
                <a:latin typeface="Aptos"/>
                <a:ea typeface="Aptos"/>
                <a:cs typeface="Aptos"/>
              </a:defRPr>
            </a:pPr>
            <a:r>
              <a:rPr lang="en-US" sz="1600" b="1" dirty="0">
                <a:solidFill>
                  <a:srgbClr val="C81919">
                    <a:alpha val="10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9B97984B-9357-32C5-0A6D-7E3F706CC546}"/>
              </a:ext>
            </a:extLst>
          </p:cNvPr>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7924690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57E14EB9-25EF-9958-4CF0-1913B341FF06}"/>
              </a:ext>
            </a:extLst>
          </p:cNvPr>
          <p:cNvSpPr/>
          <p:nvPr/>
        </p:nvSpPr>
        <p:spPr>
          <a:xfrm>
            <a:off x="4196079" y="2468880"/>
            <a:ext cx="460587" cy="68072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B4FA7C39-98E1-6813-7859-6EA9CE74D41B}"/>
              </a:ext>
            </a:extLst>
          </p:cNvPr>
          <p:cNvSpPr txBox="1"/>
          <p:nvPr/>
        </p:nvSpPr>
        <p:spPr>
          <a:xfrm>
            <a:off x="5308600" y="2656920"/>
            <a:ext cx="1528175" cy="300082"/>
          </a:xfrm>
          <a:prstGeom prst="rect">
            <a:avLst/>
          </a:prstGeom>
          <a:noFill/>
        </p:spPr>
        <p:txBody>
          <a:bodyPr wrap="none" rtlCol="0">
            <a:spAutoFit/>
          </a:bodyPr>
          <a:lstStyle/>
          <a:p>
            <a:r>
              <a:rPr lang="en-US" dirty="0"/>
              <a:t>Main contributions</a:t>
            </a:r>
            <a:endParaRPr lang="en-NL" dirty="0"/>
          </a:p>
        </p:txBody>
      </p:sp>
    </p:spTree>
    <p:extLst>
      <p:ext uri="{BB962C8B-B14F-4D97-AF65-F5344CB8AC3E}">
        <p14:creationId xmlns:p14="http://schemas.microsoft.com/office/powerpoint/2010/main" val="184162772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2096</TotalTime>
  <Words>2315</Words>
  <Application>Microsoft Office PowerPoint</Application>
  <PresentationFormat>On-screen Show (16:9)</PresentationFormat>
  <Paragraphs>251</Paragraphs>
  <Slides>24</Slides>
  <Notes>19</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9</cp:revision>
  <dcterms:created xsi:type="dcterms:W3CDTF">2019-11-27T15:26:32Z</dcterms:created>
  <dcterms:modified xsi:type="dcterms:W3CDTF">2026-09-24T09:26:47Z</dcterms:modified>
</cp:coreProperties>
</file>