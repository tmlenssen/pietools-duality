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gif" ContentType="image/gif"/>
  <Default Extension="jpg" ContentType="image/jpeg"/>
  <Default Extension="mp4" ContentType="video/mp4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New1"/>
    <p:sldId id="257" r:id="rIdNew2"/>
    <p:sldId id="258" r:id="rIdNew3"/>
    <p:sldId id="259" r:id="rIdNew4"/>
    <p:sldId id="260" r:id="rIdNew5"/>
    <p:sldId id="261" r:id="rIdNew6"/>
    <p:sldId id="262" r:id="rIdNew7"/>
    <p:sldId id="263" r:id="rIdNew8"/>
    <p:sldId id="264" r:id="rIdNew9"/>
    <p:sldId id="265" r:id="rIdNew10"/>
    <p:sldId id="266" r:id="rIdNew11"/>
  </p:sldIdLst>
  <p:sldSz cx="9144000" cy="51435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New1" Type="http://schemas.openxmlformats.org/officeDocument/2006/relationships/slide" Target="slides/slide1.xml"/><Relationship Id="rIdNew2" Type="http://schemas.openxmlformats.org/officeDocument/2006/relationships/slide" Target="slides/slide2.xml"/><Relationship Id="rIdNew3" Type="http://schemas.openxmlformats.org/officeDocument/2006/relationships/slide" Target="slides/slide3.xml"/><Relationship Id="rIdNew4" Type="http://schemas.openxmlformats.org/officeDocument/2006/relationships/slide" Target="slides/slide4.xml"/><Relationship Id="rIdNew5" Type="http://schemas.openxmlformats.org/officeDocument/2006/relationships/slide" Target="slides/slide5.xml"/><Relationship Id="rIdNew6" Type="http://schemas.openxmlformats.org/officeDocument/2006/relationships/slide" Target="slides/slide6.xml"/><Relationship Id="rIdNew7" Type="http://schemas.openxmlformats.org/officeDocument/2006/relationships/slide" Target="slides/slide7.xml"/><Relationship Id="rIdNew8" Type="http://schemas.openxmlformats.org/officeDocument/2006/relationships/slide" Target="slides/slide8.xml"/><Relationship Id="rIdNew9" Type="http://schemas.openxmlformats.org/officeDocument/2006/relationships/slide" Target="slides/slide9.xml"/><Relationship Id="rIdNew10" Type="http://schemas.openxmlformats.org/officeDocument/2006/relationships/slide" Target="slides/slide10.xml"/><Relationship Id="rIdNew11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6B6F-1B31-5704-4D5B-0120C3831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6E997-A2EF-AD9D-3D85-0AEAD305F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B864E-6AB7-118A-8606-0EE3CCD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7A76C-67F6-4767-31DD-33A2EA2F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EF871-703F-22F9-E133-1859AF38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046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55B1-9A81-B782-C7C3-9703634F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BEDA-73B6-B564-2D8D-95854D3A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30C78-8536-F57A-2793-C63632AB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4F855-8017-B67A-ACDA-079CA277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EDAF-B47B-0176-2DBB-C12E9208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29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A063-2673-5EA2-15D3-B06CD8DA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DD106-8A21-054B-5BCF-35DF79DF1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13B4D-2418-B17A-C88A-8DF86539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156C-9985-1DD1-81BD-62BFD918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79F65-8F4A-CD19-0492-A8657AD7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814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7E57-64B7-E5C9-595C-081EFC8C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14A5-6E80-52AD-8C3D-417E37102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052B1-E864-0110-9507-4FD1F28EE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06E6B-79D3-79AA-6741-71A2BD6A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ECFFE-2A4C-324A-6D1A-F1A10AE3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E1AB7-3FC1-6313-913C-09979A60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77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6B17-5786-BB44-3798-09369320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4F23-BD0F-1738-A389-E1FE9E210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DDE23-2154-5E66-9021-80FC04D9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0C707-502E-A505-1979-32692A2D4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ADF31-72FB-EE15-1C53-403C1AF2F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8CF8F-A186-50CE-F4CC-41FF09C3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8FE6D-12ED-1EEB-1B1F-DA10A615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23941-F975-4448-FE56-B7534004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80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5C4B-7EFB-9072-EE60-7E250E2E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40F63-E837-093D-41E8-36217D0E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910B7-C92F-F4E1-C340-97148FEA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D10B0-CB9F-6B69-4F7A-72B30FD8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888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D73F8-F435-11FD-D739-C63D14EF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387-A58F-7FC3-1BA7-1A8D97DD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7926B-03FD-5EC0-4B37-F1865C42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93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2EB8-4CFF-96CF-EE82-13A5CA6A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3E48-9E83-6ECC-BB99-3D50DF58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9301A-3744-9085-1FC6-D827C54BA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3CFF-4C2B-B9B7-5962-7CE1DBAF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8D32C-42E9-58DB-A180-38C0F964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BAA75-C427-37AF-3212-6EC73431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699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73D6-89B6-515C-E35A-6BA81A5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80D6-EE2D-3C73-9629-9C17889FF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8B1C3-816E-07FF-73C5-E3E14EE3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0268B-2F5A-3A55-9207-606F4678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9DCAA-AA29-34A0-0F8A-F589B610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03A32-FAFE-AE44-4BB5-A686CCBA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564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A77A-0F6A-5411-E208-73777929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95862-ADD3-F98C-8536-C1082048A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D1E2-EC17-1B0D-A5CE-6C749D32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685BA-3667-46AB-1FA7-43E0CD91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F39-D926-1D57-123D-A0DCB69F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076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1629B-98B6-05A3-B655-DB703A6D4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5CA47-75AE-FA17-FCF0-17E28733B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DD30-9563-A16B-5F53-D248AAFA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C344F-5368-6A63-6AA8-96B0B468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D8F2-23FA-8318-1626-1BA570EE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10700-351A-EF22-3259-7257F921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E434-704A-8130-9415-CF9A03D9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92BCA-155A-5334-4CB8-30B324BB9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F39FD-61D4-5E8E-0C6D-1A7545FB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18FB-9B9F-1B04-A137-49DCF4EDB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627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Dual Integral Quadratic Constraints for Robust Control of Partial Integral Equations </a:t>
            </a:r>
          </a:p>
        </p:txBody>
      </p:sp>
      <p:sp>
        <p:nvSpPr>
          <p:cNvPr id="7" name="Ond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 engineering overview</a:t>
            </a:r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T.M. Lenssen – supervisor: Amritam Das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CS – System &amp; Control / 30-09-2026</a:t>
            </a:r>
          </a:p>
        </p:txBody>
      </p:sp>
    </p:spTree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3E02-D28A-2C3B-67AC-3A6A281F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81" y="588714"/>
            <a:ext cx="3595688" cy="732238"/>
          </a:xfrm>
        </p:spPr>
        <p:txBody>
          <a:bodyPr/>
          <a:lstStyle/>
          <a:p>
            <a:r>
              <a:rPr lang="en-US" b="1" dirty="0"/>
              <a:t>Rigid body representation</a:t>
            </a:r>
            <a:br>
              <a:rPr lang="en-US" dirty="0"/>
            </a:br>
            <a:r>
              <a:rPr lang="en-US" dirty="0"/>
              <a:t>Ordinary Differential Equation (ODE)</a:t>
            </a:r>
            <a:endParaRPr lang="en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32162-6519-8054-2F67-6DB512F0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DA0C4-5253-32A4-DE29-89F56385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2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C2B974-7D0E-F052-FC62-EAA0358C7B6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b="1" dirty="0"/>
              <a:t>Flexible body representation</a:t>
            </a:r>
            <a:endParaRPr lang="en-US" dirty="0"/>
          </a:p>
          <a:p>
            <a:r>
              <a:rPr lang="en-US" dirty="0"/>
              <a:t>Partial Differential Equation (PDE)</a:t>
            </a:r>
            <a:endParaRPr lang="en-NL" dirty="0"/>
          </a:p>
        </p:txBody>
      </p:sp>
      <p:pic>
        <p:nvPicPr>
          <p:cNvPr id="20" name="cart_rigid">
            <a:hlinkClick r:id="" action="ppaction://media"/>
            <a:extLst>
              <a:ext uri="{FF2B5EF4-FFF2-40B4-BE49-F238E27FC236}">
                <a16:creationId xmlns:a16="http://schemas.microsoft.com/office/drawing/2014/main" id="{0DA75698-EB46-588E-ADA7-50CBD9F326A5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5650" y="1749425"/>
            <a:ext cx="3598863" cy="2024063"/>
          </a:xfrm>
        </p:spPr>
      </p:pic>
      <p:pic>
        <p:nvPicPr>
          <p:cNvPr id="21" name="cart_flexible">
            <a:hlinkClick r:id="" action="ppaction://media"/>
            <a:extLst>
              <a:ext uri="{FF2B5EF4-FFF2-40B4-BE49-F238E27FC236}">
                <a16:creationId xmlns:a16="http://schemas.microsoft.com/office/drawing/2014/main" id="{31F434AF-6A59-BDFD-1561-13E726349F00}"/>
              </a:ext>
            </a:extLst>
          </p:cNvPr>
          <p:cNvPicPr>
            <a:picLocks noGrp="1" noChangeAspect="1"/>
          </p:cNvPicPr>
          <p:nvPr>
            <p:ph sz="half" idx="2"/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722813" y="1749425"/>
            <a:ext cx="3597275" cy="2024063"/>
          </a:xfrm>
        </p:spPr>
      </p:pic>
    </p:spTree>
    <p:extLst>
      <p:ext uri="{BB962C8B-B14F-4D97-AF65-F5344CB8AC3E}">
        <p14:creationId xmlns:p14="http://schemas.microsoft.com/office/powerpoint/2010/main" val="3822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05015-C4A8-AC7D-A3D9-9C61B3AE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21A65-D21A-6541-2096-EDFA3A2E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3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00E0AB-D61D-0722-09F6-12DB2BB3E8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8" r="6507" b="12822"/>
          <a:stretch>
            <a:fillRect/>
          </a:stretch>
        </p:blipFill>
        <p:spPr>
          <a:xfrm>
            <a:off x="79420" y="731106"/>
            <a:ext cx="3063532" cy="17210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6D63BC-A2D1-E7AC-72DC-07EDD2B9EBC8}"/>
              </a:ext>
            </a:extLst>
          </p:cNvPr>
          <p:cNvSpPr txBox="1"/>
          <p:nvPr/>
        </p:nvSpPr>
        <p:spPr>
          <a:xfrm>
            <a:off x="79420" y="242803"/>
            <a:ext cx="306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ASML wafer stage</a:t>
            </a:r>
            <a:endParaRPr lang="en-NL" sz="1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39CADF-05D4-7D60-D962-6667713AE717}"/>
              </a:ext>
            </a:extLst>
          </p:cNvPr>
          <p:cNvSpPr txBox="1"/>
          <p:nvPr/>
        </p:nvSpPr>
        <p:spPr>
          <a:xfrm>
            <a:off x="3103734" y="242803"/>
            <a:ext cx="306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Canon Production Printing</a:t>
            </a:r>
            <a:endParaRPr lang="en-NL" sz="1800" b="1" dirty="0"/>
          </a:p>
        </p:txBody>
      </p:sp>
      <p:pic>
        <p:nvPicPr>
          <p:cNvPr id="19" name="Picture 18" descr="Products and Technologies - Canon Production Printing">
            <a:extLst>
              <a:ext uri="{FF2B5EF4-FFF2-40B4-BE49-F238E27FC236}">
                <a16:creationId xmlns:a16="http://schemas.microsoft.com/office/drawing/2014/main" id="{FD54911E-9942-BB25-ECEB-C50E9A6F4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850" y="761797"/>
            <a:ext cx="3063532" cy="17248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D70A06-0726-1FB4-B77B-E627C962EDE0}"/>
              </a:ext>
            </a:extLst>
          </p:cNvPr>
          <p:cNvSpPr txBox="1"/>
          <p:nvPr/>
        </p:nvSpPr>
        <p:spPr>
          <a:xfrm>
            <a:off x="6167266" y="242803"/>
            <a:ext cx="306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Parkinsons Disease</a:t>
            </a:r>
            <a:endParaRPr lang="en-NL" sz="1800" b="1" dirty="0"/>
          </a:p>
        </p:txBody>
      </p:sp>
      <p:pic>
        <p:nvPicPr>
          <p:cNvPr id="24" name="Picture 23" descr="basal ganglia 1">
            <a:extLst>
              <a:ext uri="{FF2B5EF4-FFF2-40B4-BE49-F238E27FC236}">
                <a16:creationId xmlns:a16="http://schemas.microsoft.com/office/drawing/2014/main" id="{A6E636D6-25C1-A448-E6C2-44FBF9AB7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280" y="770298"/>
            <a:ext cx="2730300" cy="27303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8DCB431-6101-95B4-03AC-356659B97ABB}"/>
              </a:ext>
            </a:extLst>
          </p:cNvPr>
          <p:cNvSpPr txBox="1"/>
          <p:nvPr/>
        </p:nvSpPr>
        <p:spPr>
          <a:xfrm>
            <a:off x="3462978" y="3585293"/>
            <a:ext cx="26428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Diffusion-Reaction Equations (PDE)</a:t>
            </a:r>
            <a:endParaRPr lang="en-N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1903D6-4357-9D9B-6625-8DD12CD399A3}"/>
              </a:ext>
            </a:extLst>
          </p:cNvPr>
          <p:cNvSpPr txBox="1"/>
          <p:nvPr/>
        </p:nvSpPr>
        <p:spPr>
          <a:xfrm>
            <a:off x="6631079" y="3584376"/>
            <a:ext cx="217437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Delay Equations </a:t>
            </a:r>
          </a:p>
          <a:p>
            <a:r>
              <a:rPr lang="en-US" dirty="0"/>
              <a:t>(DDE -&gt; PDE)</a:t>
            </a:r>
            <a:endParaRPr lang="en-N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155AC1-FC2D-454D-38A1-B2C4E5F12CF3}"/>
              </a:ext>
            </a:extLst>
          </p:cNvPr>
          <p:cNvSpPr txBox="1"/>
          <p:nvPr/>
        </p:nvSpPr>
        <p:spPr>
          <a:xfrm>
            <a:off x="557214" y="3584376"/>
            <a:ext cx="220509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Wave/beam equations (PDE)</a:t>
            </a:r>
            <a:endParaRPr lang="en-NL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AE4B616-1EB2-3538-1878-10B55C2CE3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6850" y="2451057"/>
            <a:ext cx="3063532" cy="102353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AAC8EA2-C55F-BCFB-1194-292E0CC634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280" y="799017"/>
            <a:ext cx="2905249" cy="216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38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8" grpId="1"/>
      <p:bldP spid="23" grpId="0"/>
      <p:bldP spid="25" grpId="0"/>
      <p:bldP spid="25" grpId="1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3A80-4A03-6D82-539D-B61EFFB7F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Partial Integral Equations</a:t>
            </a:r>
            <a:endParaRPr lang="en-N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DD763-E483-8AA1-FCA3-3E661682C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650" y="1032734"/>
            <a:ext cx="3598863" cy="319636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Equivalent dynamics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Built in boundary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Bounded operators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Matrix-like algebra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LMI-like computations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Controller synthesis for linear systems…..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BA12F-752D-17D7-5C0D-C12F76E5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Msc Defence T.M. Lenssen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992B8-D507-22C4-B34A-C71A5360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4</a:t>
            </a:fld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D39B4D-3750-F107-E2F0-C1D73584016C}"/>
              </a:ext>
            </a:extLst>
          </p:cNvPr>
          <p:cNvSpPr/>
          <p:nvPr/>
        </p:nvSpPr>
        <p:spPr>
          <a:xfrm>
            <a:off x="4354513" y="586800"/>
            <a:ext cx="1533525" cy="10038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ODE-PDE</a:t>
            </a:r>
            <a:endParaRPr lang="en-NL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D93FA5-B40C-EAB5-84D9-D4D25E85821B}"/>
              </a:ext>
            </a:extLst>
          </p:cNvPr>
          <p:cNvSpPr/>
          <p:nvPr/>
        </p:nvSpPr>
        <p:spPr>
          <a:xfrm>
            <a:off x="7069138" y="586800"/>
            <a:ext cx="1533525" cy="10038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PIE</a:t>
            </a:r>
            <a:endParaRPr lang="en-NL" sz="2400" dirty="0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A23F5219-74E1-ACD0-29BD-58B5CE4B6421}"/>
              </a:ext>
            </a:extLst>
          </p:cNvPr>
          <p:cNvSpPr/>
          <p:nvPr/>
        </p:nvSpPr>
        <p:spPr>
          <a:xfrm>
            <a:off x="6172200" y="960360"/>
            <a:ext cx="609600" cy="256756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E42D5-810F-6B94-EB4C-48000631517F}"/>
              </a:ext>
            </a:extLst>
          </p:cNvPr>
          <p:cNvSpPr txBox="1"/>
          <p:nvPr/>
        </p:nvSpPr>
        <p:spPr>
          <a:xfrm>
            <a:off x="6067978" y="1390621"/>
            <a:ext cx="8180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Exact!</a:t>
            </a:r>
            <a:endParaRPr lang="en-NL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6A1DA8-3169-D41D-49F1-F28B39BF7C9E}"/>
                  </a:ext>
                </a:extLst>
              </p:cNvPr>
              <p:cNvSpPr txBox="1"/>
              <p:nvPr/>
            </p:nvSpPr>
            <p:spPr>
              <a:xfrm>
                <a:off x="4421854" y="1788615"/>
                <a:ext cx="1250599" cy="629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6A1DA8-3169-D41D-49F1-F28B39BF7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854" y="1788615"/>
                <a:ext cx="1250599" cy="629852"/>
              </a:xfrm>
              <a:prstGeom prst="rect">
                <a:avLst/>
              </a:prstGeom>
              <a:blipFill>
                <a:blip r:embed="rId3"/>
                <a:stretch>
                  <a:fillRect l="-2913" t="-3846" r="-1456" b="-1057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1560D5-3827-94F1-89E3-71A5FECACCB6}"/>
                  </a:ext>
                </a:extLst>
              </p:cNvPr>
              <p:cNvSpPr txBox="1"/>
              <p:nvPr/>
            </p:nvSpPr>
            <p:spPr>
              <a:xfrm>
                <a:off x="7065962" y="1784863"/>
                <a:ext cx="1952625" cy="948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𝜉𝜉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nary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1560D5-3827-94F1-89E3-71A5FECAC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962" y="1784863"/>
                <a:ext cx="1952625" cy="948529"/>
              </a:xfrm>
              <a:prstGeom prst="rect">
                <a:avLst/>
              </a:prstGeom>
              <a:blipFill>
                <a:blip r:embed="rId4"/>
                <a:stretch>
                  <a:fillRect l="-22188" t="-44516" b="-12709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DBA0B0-2CCF-F6A7-EE9C-B855856178BB}"/>
                  </a:ext>
                </a:extLst>
              </p:cNvPr>
              <p:cNvSpPr txBox="1"/>
              <p:nvPr/>
            </p:nvSpPr>
            <p:spPr>
              <a:xfrm>
                <a:off x="2641601" y="2942701"/>
                <a:ext cx="4427537" cy="17925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𝒯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ℬ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𝒞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𝒯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,....∈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  <a:p>
                <a:endParaRPr lang="en-NL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DBA0B0-2CCF-F6A7-EE9C-B85585617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1" y="2942701"/>
                <a:ext cx="4427537" cy="17925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C8FEF0-3513-3273-4C7C-0A2C5EB2DD6A}"/>
                  </a:ext>
                </a:extLst>
              </p:cNvPr>
              <p:cNvSpPr txBox="1"/>
              <p:nvPr/>
            </p:nvSpPr>
            <p:spPr>
              <a:xfrm>
                <a:off x="-2507669" y="3374832"/>
                <a:ext cx="14594316" cy="6221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𝒜ℬ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, 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NL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C8FEF0-3513-3273-4C7C-0A2C5EB2D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07669" y="3374832"/>
                <a:ext cx="14594316" cy="6221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1CC601C-00A2-097D-0D27-A19317961092}"/>
                  </a:ext>
                </a:extLst>
              </p:cNvPr>
              <p:cNvSpPr txBox="1"/>
              <p:nvPr/>
            </p:nvSpPr>
            <p:spPr>
              <a:xfrm>
                <a:off x="2854148" y="3031511"/>
                <a:ext cx="4386009" cy="9609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b="0" i="1" dirty="0"/>
                  <a:t>Exponential stability  of PDE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≻0, 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𝒯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𝒫𝒜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𝒫𝒯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⪯−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𝒯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𝒫𝒯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NL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1CC601C-00A2-097D-0D27-A19317961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148" y="3031511"/>
                <a:ext cx="4386009" cy="960904"/>
              </a:xfrm>
              <a:prstGeom prst="rect">
                <a:avLst/>
              </a:prstGeom>
              <a:blipFill>
                <a:blip r:embed="rId7"/>
                <a:stretch>
                  <a:fillRect l="-3472" t="-822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73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9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9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11" grpId="0" animBg="1"/>
      <p:bldP spid="13" grpId="0" animBg="1"/>
      <p:bldP spid="14" grpId="0" animBg="1"/>
      <p:bldP spid="15" grpId="0"/>
      <p:bldP spid="17" grpId="0"/>
      <p:bldP spid="17" grpId="1"/>
      <p:bldP spid="18" grpId="0"/>
      <p:bldP spid="18" grpId="1"/>
      <p:bldP spid="21" grpId="0"/>
      <p:bldP spid="21" grpId="1"/>
      <p:bldP spid="22" grpId="0"/>
      <p:bldP spid="22" grpId="1"/>
      <p:bldP spid="23" grpId="0"/>
      <p:bldP spid="2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04493-B165-34FF-C39F-B2FC7BDF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78985-F656-F709-4899-3C28D7FF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5</a:t>
            </a:fld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91D938-0D59-0E14-FC38-BDE168568AE5}"/>
                  </a:ext>
                </a:extLst>
              </p:cNvPr>
              <p:cNvSpPr txBox="1"/>
              <p:nvPr/>
            </p:nvSpPr>
            <p:spPr>
              <a:xfrm>
                <a:off x="1719776" y="1565551"/>
                <a:ext cx="5704447" cy="463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NL" i="1">
                              <a:latin typeface="Cambria Math" panose="02040503050406030204" pitchFamily="18" charset="0"/>
                            </a:rPr>
                            <m:t>heat</m:t>
                          </m:r>
                        </m:e>
                        <m:sub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=0.01 </m:t>
                      </m:r>
                      <m:sSub>
                        <m:sSub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NL" i="1">
                              <a:latin typeface="Cambria Math" panose="02040503050406030204" pitchFamily="18" charset="0"/>
                            </a:rPr>
                            <m:t>heat</m:t>
                          </m:r>
                        </m:e>
                        <m:sub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pos m:val="bot"/>
                                  <m:vertJc m:val="top"/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0.25</m:t>
                                  </m:r>
                                  <m:d>
                                    <m:dPr>
                                      <m:ctrlPr>
                                        <a:rPr lang="nl-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nl-NL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nl-NL" i="0">
                                  <a:latin typeface="Cambria Math" panose="02040503050406030204" pitchFamily="18" charset="0"/>
                                </a:rPr>
                                <m:t>heat generation</m:t>
                              </m:r>
                            </m:lim>
                          </m:limLow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−</m:t>
                          </m:r>
                          <m:limLow>
                            <m:limLow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pos m:val="bot"/>
                                  <m:vertJc m:val="top"/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nl-NL" i="0">
                                  <a:latin typeface="Cambria Math" panose="02040503050406030204" pitchFamily="18" charset="0"/>
                                </a:rPr>
                                <m:t>cooling</m:t>
                              </m:r>
                            </m:lim>
                          </m:limLow>
                        </m:e>
                      </m:d>
                      <m:r>
                        <m:rPr>
                          <m:sty m:val="p"/>
                        </m:rPr>
                        <a:rPr lang="nl-NL" i="1">
                          <a:latin typeface="Cambria Math" panose="02040503050406030204" pitchFamily="18" charset="0"/>
                        </a:rPr>
                        <m:t>heat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91D938-0D59-0E14-FC38-BDE168568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776" y="1565551"/>
                <a:ext cx="5704447" cy="463653"/>
              </a:xfrm>
              <a:prstGeom prst="rect">
                <a:avLst/>
              </a:prstGeom>
              <a:blipFill>
                <a:blip r:embed="rId3"/>
                <a:stretch>
                  <a:fillRect l="-214" b="-921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154D371C-D7D6-BD77-3191-47D1C39F61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6" y="2119148"/>
            <a:ext cx="3947796" cy="23593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BFC85F7-0439-8706-F6DB-7D47B27E75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62" y="0"/>
            <a:ext cx="9015684" cy="171309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8D90A4C-307A-4FCB-1437-E81581434E8F}"/>
              </a:ext>
            </a:extLst>
          </p:cNvPr>
          <p:cNvSpPr txBox="1"/>
          <p:nvPr/>
        </p:nvSpPr>
        <p:spPr>
          <a:xfrm>
            <a:off x="5260489" y="2964256"/>
            <a:ext cx="3625327" cy="3000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	Solved during internship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49137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B7DCB-9BE7-AAF9-4D4E-ABFDFC00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7F8D4-52BE-C91E-8845-DB204891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6</a:t>
            </a:fld>
            <a:endParaRPr lang="en-GB" dirty="0"/>
          </a:p>
        </p:txBody>
      </p:sp>
      <p:pic>
        <p:nvPicPr>
          <p:cNvPr id="8" name="Picture 7" descr="basal ganglia 1">
            <a:extLst>
              <a:ext uri="{FF2B5EF4-FFF2-40B4-BE49-F238E27FC236}">
                <a16:creationId xmlns:a16="http://schemas.microsoft.com/office/drawing/2014/main" id="{89FA51F9-CFAF-E275-A92E-F03A67380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0" y="-36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81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27F09-7ADD-49F1-8361-533ABEBA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E8028-3BC6-AFEA-87A8-4EEF49AB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D0091-5977-7310-9162-19942171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7</a:t>
            </a:fld>
            <a:endParaRPr lang="en-GB" dirty="0"/>
          </a:p>
        </p:txBody>
      </p:sp>
      <p:pic>
        <p:nvPicPr>
          <p:cNvPr id="8" name="Picture 7" descr="basal ganglia 1">
            <a:extLst>
              <a:ext uri="{FF2B5EF4-FFF2-40B4-BE49-F238E27FC236}">
                <a16:creationId xmlns:a16="http://schemas.microsoft.com/office/drawing/2014/main" id="{A76B679E-E28B-96E0-5E0D-752CBF9D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18" t="40198" r="27239" b="33833"/>
          <a:stretch>
            <a:fillRect/>
          </a:stretch>
        </p:blipFill>
        <p:spPr>
          <a:xfrm>
            <a:off x="0" y="0"/>
            <a:ext cx="9143998" cy="513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970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4FF13-72DA-8A91-3497-927C848DB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68D8F-D606-F686-A7E2-DC9C2DCC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8</a:t>
            </a:fld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2275AF-475C-8088-3DD8-744DBC78D8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730" y="0"/>
            <a:ext cx="3319826" cy="41327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40AB9D-19FD-6C78-D5E8-40A0CB8B9631}"/>
              </a:ext>
            </a:extLst>
          </p:cNvPr>
          <p:cNvSpPr txBox="1"/>
          <p:nvPr/>
        </p:nvSpPr>
        <p:spPr>
          <a:xfrm>
            <a:off x="2736730" y="4132712"/>
            <a:ext cx="315272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[1] beta oscillatory activity in basal ganglia</a:t>
            </a:r>
            <a:endParaRPr lang="en-N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F45872-814F-5DFF-46B3-563E22BDF6BD}"/>
              </a:ext>
            </a:extLst>
          </p:cNvPr>
          <p:cNvSpPr/>
          <p:nvPr/>
        </p:nvSpPr>
        <p:spPr>
          <a:xfrm>
            <a:off x="3485478" y="1882588"/>
            <a:ext cx="1957890" cy="114031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83375-9871-5280-E4BF-17CD4BA6A67E}"/>
              </a:ext>
            </a:extLst>
          </p:cNvPr>
          <p:cNvSpPr/>
          <p:nvPr/>
        </p:nvSpPr>
        <p:spPr>
          <a:xfrm>
            <a:off x="2736730" y="3022900"/>
            <a:ext cx="1361934" cy="110981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A5A353CB-8FCF-5451-37B1-5E85D08ACF38}"/>
              </a:ext>
            </a:extLst>
          </p:cNvPr>
          <p:cNvSpPr/>
          <p:nvPr/>
        </p:nvSpPr>
        <p:spPr>
          <a:xfrm>
            <a:off x="4173967" y="2248348"/>
            <a:ext cx="398033" cy="40879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1447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2D981-2788-8F17-2E6A-6D4E48D3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E6148-A048-4C8B-9875-DE0EB0D95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F1DB4-4AFC-1680-36DE-7347B42A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9</a:t>
            </a:fld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C7EF67-BB4A-F683-C28D-D5A8BAFBA5AD}"/>
                  </a:ext>
                </a:extLst>
              </p:cNvPr>
              <p:cNvSpPr txBox="1"/>
              <p:nvPr/>
            </p:nvSpPr>
            <p:spPr>
              <a:xfrm>
                <a:off x="-3872" y="2764593"/>
                <a:ext cx="5781907" cy="806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/>
                        <m:e/>
                      </m:eqAr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C7EF67-BB4A-F683-C28D-D5A8BAFBA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72" y="2764593"/>
                <a:ext cx="5781907" cy="806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D55E98-9D19-4C86-FAFE-5E1AC73F146C}"/>
                  </a:ext>
                </a:extLst>
              </p:cNvPr>
              <p:cNvSpPr txBox="1"/>
              <p:nvPr/>
            </p:nvSpPr>
            <p:spPr>
              <a:xfrm>
                <a:off x="-3873" y="2764593"/>
                <a:ext cx="5781907" cy="806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SG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GG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/>
                        <m:e/>
                      </m:eqAr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D55E98-9D19-4C86-FAFE-5E1AC73F1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73" y="2764593"/>
                <a:ext cx="5781907" cy="806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EA4E13B-D65C-4F93-08F7-A77D18F6681B}"/>
                  </a:ext>
                </a:extLst>
              </p:cNvPr>
              <p:cNvSpPr txBox="1"/>
              <p:nvPr/>
            </p:nvSpPr>
            <p:spPr>
              <a:xfrm>
                <a:off x="291010" y="2766358"/>
                <a:ext cx="5781907" cy="806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GS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GG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/>
                        <m:e/>
                      </m:eqAr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EA4E13B-D65C-4F93-08F7-A77D18F66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0" y="2766358"/>
                <a:ext cx="5781907" cy="806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B74D79A-5656-C6E4-5507-C6A41446797A}"/>
                  </a:ext>
                </a:extLst>
              </p:cNvPr>
              <p:cNvSpPr txBox="1"/>
              <p:nvPr/>
            </p:nvSpPr>
            <p:spPr>
              <a:xfrm>
                <a:off x="195961" y="2768110"/>
                <a:ext cx="5781907" cy="9419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GS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B74D79A-5656-C6E4-5507-C6A414467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61" y="2768110"/>
                <a:ext cx="5781907" cy="9419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926C627-9E23-2EDD-F91F-30B0EF9B97BE}"/>
                  </a:ext>
                </a:extLst>
              </p:cNvPr>
              <p:cNvSpPr txBox="1"/>
              <p:nvPr/>
            </p:nvSpPr>
            <p:spPr>
              <a:xfrm>
                <a:off x="195961" y="2764396"/>
                <a:ext cx="5781907" cy="9419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GS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926C627-9E23-2EDD-F91F-30B0EF9B9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61" y="2764396"/>
                <a:ext cx="5781907" cy="9419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Picture 53">
            <a:extLst>
              <a:ext uri="{FF2B5EF4-FFF2-40B4-BE49-F238E27FC236}">
                <a16:creationId xmlns:a16="http://schemas.microsoft.com/office/drawing/2014/main" id="{BF35C9FF-9988-E0C7-FA0A-D263F9A46A4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75" y="0"/>
            <a:ext cx="5477073" cy="27385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0437D6B-690D-B962-050A-C998FB5BECB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95" y="1676"/>
            <a:ext cx="5477073" cy="273853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101D39B-E912-2D21-F890-7BB31C6B45F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70"/>
            <a:ext cx="5477073" cy="273853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9CD20A1-6BEB-6EA2-2BBF-9A6F621E6D1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5" y="6570"/>
            <a:ext cx="5477073" cy="273853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17FFABE-4965-400E-98AE-95B556B0044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" y="6920"/>
            <a:ext cx="5477073" cy="2738537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59AD37A-5B1C-8D86-8F6F-A1804936A36C}"/>
              </a:ext>
            </a:extLst>
          </p:cNvPr>
          <p:cNvSpPr txBox="1"/>
          <p:nvPr/>
        </p:nvSpPr>
        <p:spPr>
          <a:xfrm>
            <a:off x="0" y="4264604"/>
            <a:ext cx="172778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[2] Firing rate models</a:t>
            </a:r>
            <a:endParaRPr lang="en-NL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3520ACB8-69C3-62CF-3EBF-E1398D6F2C2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" y="10590"/>
            <a:ext cx="5477075" cy="273853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031C1F21-C0EF-60F6-448F-D767FC8EF65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222" y="2056104"/>
            <a:ext cx="4108345" cy="2508582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76AFA2A-1AA1-503D-3645-5495058CF83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315" y="2431227"/>
            <a:ext cx="4141723" cy="1983417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B0A62C5A-1170-6901-11F2-FB8E93EE57E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" y="1586"/>
            <a:ext cx="5473201" cy="2736601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B047B88-FD1C-8DA5-3449-A3624FB9C737}"/>
              </a:ext>
            </a:extLst>
          </p:cNvPr>
          <p:cNvSpPr txBox="1"/>
          <p:nvPr/>
        </p:nvSpPr>
        <p:spPr>
          <a:xfrm>
            <a:off x="602348" y="3833596"/>
            <a:ext cx="426462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contains delays and nonlinear activation </a:t>
            </a:r>
            <a:r>
              <a:rPr lang="en-US" b="1" dirty="0" err="1"/>
              <a:t>funtions</a:t>
            </a:r>
            <a:r>
              <a:rPr lang="en-US" b="1" dirty="0"/>
              <a:t>!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1612386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40" grpId="1"/>
      <p:bldP spid="42" grpId="0"/>
      <p:bldP spid="42" grpId="1"/>
      <p:bldP spid="44" grpId="0"/>
      <p:bldP spid="44" grpId="1"/>
      <p:bldP spid="46" grpId="0"/>
      <p:bldP spid="46" grpId="1"/>
      <p:bldP spid="81" grpId="0"/>
      <p:bldP spid="8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C03C-E0C2-AA71-B56E-C5F6E50F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216FE-1616-EAFF-5A25-B622EDF5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1EC61-7051-8567-933E-6E1E8877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10</a:t>
            </a:fld>
            <a:endParaRPr lang="en-GB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56FBEB17-FCF5-5E3C-717F-0FC5DA591BCD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r>
              <a:rPr lang="en-US" dirty="0"/>
              <a:t>[1] </a:t>
            </a:r>
            <a:r>
              <a:rPr lang="en-US" dirty="0" err="1"/>
              <a:t>B.De</a:t>
            </a:r>
            <a:r>
              <a:rPr lang="en-US" dirty="0"/>
              <a:t> la </a:t>
            </a:r>
            <a:r>
              <a:rPr lang="en-US" dirty="0" err="1"/>
              <a:t>Crompe</a:t>
            </a:r>
            <a:r>
              <a:rPr lang="en-US" dirty="0"/>
              <a:t>, </a:t>
            </a:r>
            <a:r>
              <a:rPr lang="en-US" dirty="0" err="1"/>
              <a:t>M.Deffains</a:t>
            </a:r>
            <a:r>
              <a:rPr lang="en-US" dirty="0"/>
              <a:t>, </a:t>
            </a:r>
            <a:r>
              <a:rPr lang="en-US" dirty="0" err="1"/>
              <a:t>A.Leblois</a:t>
            </a:r>
            <a:r>
              <a:rPr lang="en-US" dirty="0"/>
              <a:t>, </a:t>
            </a:r>
            <a:r>
              <a:rPr lang="en-US" dirty="0" err="1"/>
              <a:t>N.Mallet</a:t>
            </a:r>
            <a:r>
              <a:rPr lang="en-US" dirty="0"/>
              <a:t>, “Reevaluating the role of the STN-</a:t>
            </a:r>
            <a:r>
              <a:rPr lang="en-US" dirty="0" err="1"/>
              <a:t>Gpe</a:t>
            </a:r>
            <a:r>
              <a:rPr lang="en-US" dirty="0"/>
              <a:t> network in generating beta synchronized oscillatory activity in parkinsonism.”</a:t>
            </a:r>
          </a:p>
          <a:p>
            <a:r>
              <a:rPr lang="en-US" dirty="0"/>
              <a:t>[2]A.J. Nevado </a:t>
            </a:r>
            <a:r>
              <a:rPr lang="en-US" dirty="0" err="1"/>
              <a:t>Holgade</a:t>
            </a:r>
            <a:r>
              <a:rPr lang="en-US" dirty="0"/>
              <a:t>, </a:t>
            </a:r>
            <a:r>
              <a:rPr lang="en-US" dirty="0" err="1"/>
              <a:t>J.R.Terry,R.Bogacz</a:t>
            </a:r>
            <a:r>
              <a:rPr lang="en-US" dirty="0"/>
              <a:t>, “Conditions for the Generation of Beta Oscillations in the Subthalamic Nucleus-Globus Pallidus Network”</a:t>
            </a:r>
          </a:p>
        </p:txBody>
      </p:sp>
    </p:spTree>
    <p:extLst>
      <p:ext uri="{BB962C8B-B14F-4D97-AF65-F5344CB8AC3E}">
        <p14:creationId xmlns:p14="http://schemas.microsoft.com/office/powerpoint/2010/main" val="392268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43478-F45C-80B7-2251-EC11E771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D1B14-A167-D265-A63A-58DCB603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11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2D5D6-0185-91C2-2A41-6C3B78B8A65C}"/>
              </a:ext>
            </a:extLst>
          </p:cNvPr>
          <p:cNvSpPr txBox="1"/>
          <p:nvPr/>
        </p:nvSpPr>
        <p:spPr>
          <a:xfrm>
            <a:off x="986980" y="817582"/>
            <a:ext cx="71700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Goal: Can we find a single tool to </a:t>
            </a:r>
            <a:r>
              <a:rPr lang="en-US" dirty="0" err="1"/>
              <a:t>analyse</a:t>
            </a:r>
            <a:r>
              <a:rPr lang="en-US" dirty="0"/>
              <a:t> and control a large class of Partial Integral Equations(PIE)?</a:t>
            </a:r>
            <a:endParaRPr lang="en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39C8E-BE40-063E-7661-6AADA38550E1}"/>
              </a:ext>
            </a:extLst>
          </p:cNvPr>
          <p:cNvSpPr txBox="1"/>
          <p:nvPr/>
        </p:nvSpPr>
        <p:spPr>
          <a:xfrm>
            <a:off x="2786231" y="1430767"/>
            <a:ext cx="272574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Duality argument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Convex state feedback synthesis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7373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Lenssen, Thijs</dc:creator>
  <cp:lastModifiedBy>Lenssen, Thijs</cp:lastModifiedBy>
  <cp:revision>1</cp:revision>
  <dcterms:created xsi:type="dcterms:W3CDTF">2026-09-23T15:50:21Z</dcterms:created>
  <dcterms:modified xsi:type="dcterms:W3CDTF">2026-09-23T15:50:21Z</dcterms:modified>
</cp:coreProperties>
</file>