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theme/sectorNotesTheme.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SectorNotes"/>
  </p:notesMasterIdLst>
  <p:sldIdLst>
    <p:sldId id="256" r:id="rIdZF1"/>
    <p:sldId id="257" r:id="rIdZF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Theme" Type="http://schemas.openxmlformats.org/officeDocument/2006/relationships/theme" Target="theme/theme1.xml"/><Relationship Id="rIdSectorNotes" Type="http://schemas.openxmlformats.org/officeDocument/2006/relationships/notesMaster" Target="notesMasters/notesMaster1.xml"/><Relationship Id="rIdZF1" Type="http://schemas.openxmlformats.org/officeDocument/2006/relationships/slide" Target="slides/slide1.xml"/><Relationship Id="rIdZF2" Type="http://schemas.openxmlformats.org/officeDocument/2006/relationships/slide" Target="slides/slide2.xml"/></Relationships>
</file>

<file path=ppt/notesMasters/_rels/notesMaster1.xml.rels><?xml version="1.0" encoding="utf-8"?><Relationships xmlns="http://schemas.openxmlformats.org/package/2006/relationships"><Relationship Id="rId1" Type="http://schemas.openxmlformats.org/officeDocument/2006/relationships/theme" Target="../theme/sectorNotesTheme.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24/09/2026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Blue = STN; red = GPe. Click the video to play. Labels and math are editable native PowerPoint shapes.</a:t>
            </a:r>
            <a:endParaRPr sz="1200"/>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Blue = STN; red = GPe. Click the video to play. Labels and math are editable native PowerPoint shapes.</a:t>
            </a:r>
            <a:endParaRPr sz="12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CleanLogo" Type="http://schemas.openxmlformats.org/officeDocument/2006/relationships/image" Target="../media/image2.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CleanLogo" Type="http://schemas.openxmlformats.org/officeDocument/2006/relationships/image" Target="../media/image2.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CleanLogo" Type="http://schemas.openxmlformats.org/officeDocument/2006/relationships/image" Target="../media/image2.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showMasterSp="0">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idx="0"/>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CleanLogo"/>
          <a:stretch>
            <a:fillRect/>
          </a:stretch>
        </p:blipFill>
        <p:spPr>
          <a:xfrm>
            <a:off x="457200" y="4523742"/>
            <a:ext cx="1587500" cy="507490"/>
          </a:xfrm>
          <a:prstGeom prst="rect">
            <a:avLst/>
          </a:prstGeom>
        </p:spPr>
      </p:pic>
    </p:spTree>
  </p:cSld>
  <p:clrMapOvr>
    <a:masterClrMapping/>
  </p:clrMapOvr>
  <p:hf hdr="0" dt="0" ftr="0" sldNum="0"/>
</p:sldLayout>
</file>

<file path=ppt/slideLayouts/slideLayout2.xml><?xml version="1.0" encoding="utf-8"?>
<p:sldLayout xmlns:p="http://schemas.openxmlformats.org/presentationml/2006/main" xmlns:a="http://schemas.openxmlformats.org/drawingml/2006/main" xmlns:r="http://schemas.openxmlformats.org/officeDocument/2006/relationships" type="secHead" preserve="1" showMasterSp="0">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idx="0"/>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CleanLogo"/>
          <a:stretch>
            <a:fillRect/>
          </a:stretch>
        </p:blipFill>
        <p:spPr>
          <a:xfrm>
            <a:off x="457200" y="4523742"/>
            <a:ext cx="1587500" cy="507490"/>
          </a:xfrm>
          <a:prstGeom prst="rect">
            <a:avLst/>
          </a:prstGeom>
        </p:spPr>
      </p:pic>
    </p:spTree>
  </p:cSld>
  <p:clrMapOvr>
    <a:masterClrMapping/>
  </p:clrMapOvr>
  <p:hf hdr="0" dt="0" ftr="0" sldNum="0"/>
</p:sldLayout>
</file>

<file path=ppt/slideLayouts/slideLayout3.xml><?xml version="1.0" encoding="utf-8"?>
<p:sldLayout xmlns:p="http://schemas.openxmlformats.org/presentationml/2006/main" xmlns:a="http://schemas.openxmlformats.org/drawingml/2006/main" xmlns:r="http://schemas.openxmlformats.org/officeDocument/2006/relationships" type="title" preserve="1" showMasterSp="0">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idx="0"/>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CleanLogo"/>
          <a:stretch>
            <a:fillRect/>
          </a:stretch>
        </p:blipFill>
        <p:spPr>
          <a:xfrm>
            <a:off x="457200" y="4523742"/>
            <a:ext cx="1587500" cy="507490"/>
          </a:xfrm>
          <a:prstGeom prst="rect">
            <a:avLst/>
          </a:prstGeom>
        </p:spPr>
      </p:pic>
    </p:spTree>
  </p:cSld>
  <p:clrMapOvr>
    <a:masterClrMapping/>
  </p:clrMapOvr>
  <p:hf hdr="0" dt="0" ftr="0" sldNum="0"/>
</p:sldLayout>
</file>

<file path=ppt/slideLayouts/slideLayout4.xml><?xml version="1.0" encoding="utf-8"?>
<p:sldLayout xmlns:p="http://schemas.openxmlformats.org/presentationml/2006/main" xmlns:a="http://schemas.openxmlformats.org/drawingml/2006/main" xmlns:r="http://schemas.openxmlformats.org/officeDocument/2006/relationships" type="obj" preserve="1" showMasterSp="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5.xml><?xml version="1.0" encoding="utf-8"?>
<p:sldLayout xmlns:p="http://schemas.openxmlformats.org/presentationml/2006/main" xmlns:a="http://schemas.openxmlformats.org/drawingml/2006/main" xmlns:r="http://schemas.openxmlformats.org/officeDocument/2006/relationships" type="twoObj" preserve="1" showMasterSp="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type="obj"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type="obj"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6.xml><?xml version="1.0" encoding="utf-8"?>
<p:sldLayout xmlns:p="http://schemas.openxmlformats.org/presentationml/2006/main" xmlns:a="http://schemas.openxmlformats.org/drawingml/2006/main" xmlns:r="http://schemas.openxmlformats.org/officeDocument/2006/relationships" type="objTx" preserve="1" showMasterSp="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7.xml><?xml version="1.0" encoding="utf-8"?>
<p:sldLayout xmlns:p="http://schemas.openxmlformats.org/presentationml/2006/main" xmlns:a="http://schemas.openxmlformats.org/drawingml/2006/main" xmlns:r="http://schemas.openxmlformats.org/officeDocument/2006/relationships" type="objTx" preserve="1" showMasterSp="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8.xml><?xml version="1.0" encoding="utf-8"?>
<p:sldLayout xmlns:p="http://schemas.openxmlformats.org/presentationml/2006/main" xmlns:a="http://schemas.openxmlformats.org/drawingml/2006/main" xmlns:r="http://schemas.openxmlformats.org/officeDocument/2006/relationships" type="obj" preserve="1" showMasterSp="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type="obj"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9.xml><?xml version="1.0" encoding="utf-8"?>
<p:sldLayout xmlns:p="http://schemas.openxmlformats.org/presentationml/2006/main" xmlns:a="http://schemas.openxmlformats.org/drawingml/2006/main" xmlns:r="http://schemas.openxmlformats.org/officeDocument/2006/relationships" type="cust" preserve="1" showMasterSp="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type="obj"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type="obj"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0.xml><?xml version="1.0" encoding="utf-8"?>
<p:sldLayout xmlns:p="http://schemas.openxmlformats.org/presentationml/2006/main" xmlns:a="http://schemas.openxmlformats.org/drawingml/2006/main" xmlns:r="http://schemas.openxmlformats.org/officeDocument/2006/relationships" type="cust" preserve="1" showMasterSp="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type="obj"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1.xml><?xml version="1.0" encoding="utf-8"?>
<p:sldLayout xmlns:p="http://schemas.openxmlformats.org/presentationml/2006/main" xmlns:a="http://schemas.openxmlformats.org/drawingml/2006/main" xmlns:r="http://schemas.openxmlformats.org/officeDocument/2006/relationships" type="cust" preserve="1" showMasterSp="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type="obj"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2.xml><?xml version="1.0" encoding="utf-8"?>
<p:sldLayout xmlns:p="http://schemas.openxmlformats.org/presentationml/2006/main" xmlns:a="http://schemas.openxmlformats.org/drawingml/2006/main" xmlns:r="http://schemas.openxmlformats.org/officeDocument/2006/relationships" type="titleOnly" preserve="1" showMasterSp="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3.xml><?xml version="1.0" encoding="utf-8"?>
<p:sldLayout xmlns:p="http://schemas.openxmlformats.org/presentationml/2006/main" xmlns:a="http://schemas.openxmlformats.org/drawingml/2006/main" xmlns:r="http://schemas.openxmlformats.org/officeDocument/2006/relationships" type="blank" preserve="1" showMasterSp="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4.xml><?xml version="1.0" encoding="utf-8"?>
<p:sldLayout xmlns:p="http://schemas.openxmlformats.org/presentationml/2006/main" xmlns:a="http://schemas.openxmlformats.org/drawingml/2006/main" xmlns:r="http://schemas.openxmlformats.org/officeDocument/2006/relationships" type="picTx" preserve="1" showMasterSp="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5.xml><?xml version="1.0" encoding="utf-8"?>
<p:sldLayout xmlns:p="http://schemas.openxmlformats.org/presentationml/2006/main" xmlns:a="http://schemas.openxmlformats.org/drawingml/2006/main" xmlns:r="http://schemas.openxmlformats.org/officeDocument/2006/relationships" type="twoObj" preserve="1" showMasterSp="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type="obj"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6.xml><?xml version="1.0" encoding="utf-8"?>
<p:sldLayout xmlns:p="http://schemas.openxmlformats.org/presentationml/2006/main" xmlns:a="http://schemas.openxmlformats.org/drawingml/2006/main" xmlns:r="http://schemas.openxmlformats.org/officeDocument/2006/relationships" type="tbl" preserve="1" showMasterSp="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type="obj"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7.xml><?xml version="1.0" encoding="utf-8"?>
<p:sldLayout xmlns:p="http://schemas.openxmlformats.org/presentationml/2006/main" xmlns:a="http://schemas.openxmlformats.org/drawingml/2006/main" xmlns:r="http://schemas.openxmlformats.org/officeDocument/2006/relationships" type="chart" preserve="1" showMasterSp="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ftr="1" sldNum="1"/>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Relationships xmlns="http://schemas.openxmlformats.org/package/2006/relationships"><Relationship Id="rIdLayout" Type="http://schemas.openxmlformats.org/officeDocument/2006/relationships/slideLayout" Target="../slideLayouts/slideLayout12.xml"/><Relationship Id="rIdPoster" Type="http://schemas.openxmlformats.org/officeDocument/2006/relationships/image" Target="../media/zf_integral.png"/><Relationship Id="rIdVideo" Type="http://schemas.openxmlformats.org/officeDocument/2006/relationships/video" Target="../media/zf_integral.mp4"/><Relationship Id="rIdMedia" Type="http://schemas.microsoft.com/office/2007/relationships/media" Target="../media/zf_integral.mp4"/><Relationship Id="rIdHeatNotes" Type="http://schemas.openxmlformats.org/officeDocument/2006/relationships/notesSlide" Target="../notesSlides/notesSlide1.xml"/></Relationships>
</file>

<file path=ppt/slides/_rels/slide2.xml.rels><?xml version="1.0" encoding="utf-8"?><Relationships xmlns="http://schemas.openxmlformats.org/package/2006/relationships"><Relationship Id="rIdLayout" Type="http://schemas.openxmlformats.org/officeDocument/2006/relationships/slideLayout" Target="../slideLayouts/slideLayout12.xml"/><Relationship Id="rIdPoster" Type="http://schemas.openxmlformats.org/officeDocument/2006/relationships/image" Target="../media/zf_rate.png"/><Relationship Id="rIdVideo" Type="http://schemas.openxmlformats.org/officeDocument/2006/relationships/video" Target="../media/zf_rate.mp4"/><Relationship Id="rIdMedia" Type="http://schemas.microsoft.com/office/2007/relationships/media" Target="../media/zf_rate.mp4"/><Relationship Id="rIdHeatNotes"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Video"/>
            <p:extLst>
              <p:ext uri="{DAA4B4D4-6D71-4841-9C94-3DE7FCFB9230}">
                <p14:media xmlns:p14="http://schemas.microsoft.com/office/powerpoint/2010/main" r:embed="rIdMedia"/>
              </p:ext>
            </p:extLst>
          </p:nvPr>
        </p:nvPicPr>
        <p:blipFill>
          <a:blip r:embed="rIdPoster"/>
          <a:stretch>
            <a:fillRect/>
          </a:stretch>
        </p:blipFill>
        <p:spPr>
          <a:xfrm>
            <a:off x="0" y="0"/>
            <a:ext cx="9144000" cy="5143500"/>
          </a:xfrm>
          <a:prstGeom prst="rect">
            <a:avLst/>
          </a:prstGeom>
        </p:spPr>
      </p:pic>
      <p:sp>
        <p:nvSpPr>
          <p:cNvPr id="101" name="Editable label STN nonlinearity"/>
          <p:cNvSpPr/>
          <p:nvPr/>
        </p:nvSpPr>
        <p:spPr>
          <a:xfrm>
            <a:off x="1558290" y="201295"/>
            <a:ext cx="164592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STN nonlinearity</a:t>
            </a:r>
            <a:endParaRPr sz="1350"/>
          </a:p>
        </p:txBody>
      </p:sp>
      <p:sp>
        <p:nvSpPr>
          <p:cNvPr id="102" name="Editable label -1150"/>
          <p:cNvSpPr/>
          <p:nvPr/>
        </p:nvSpPr>
        <p:spPr>
          <a:xfrm>
            <a:off x="4286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103" name="Editable label 0"/>
          <p:cNvSpPr/>
          <p:nvPr/>
        </p:nvSpPr>
        <p:spPr>
          <a:xfrm>
            <a:off x="217487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04" name="Editable label 1150"/>
          <p:cNvSpPr/>
          <p:nvPr/>
        </p:nvSpPr>
        <p:spPr>
          <a:xfrm>
            <a:off x="39211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105" name="Editable label -1150"/>
          <p:cNvSpPr/>
          <p:nvPr/>
        </p:nvSpPr>
        <p:spPr>
          <a:xfrm>
            <a:off x="-44450" y="19812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-1150</a:t>
            </a:r>
            <a:endParaRPr sz="1000"/>
          </a:p>
        </p:txBody>
      </p:sp>
      <p:sp>
        <p:nvSpPr>
          <p:cNvPr id="106" name="Editable label 0"/>
          <p:cNvSpPr/>
          <p:nvPr/>
        </p:nvSpPr>
        <p:spPr>
          <a:xfrm>
            <a:off x="-44450" y="120332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07" name="Editable label 1150"/>
          <p:cNvSpPr/>
          <p:nvPr/>
        </p:nvSpPr>
        <p:spPr>
          <a:xfrm>
            <a:off x="-44450" y="425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1150</a:t>
            </a:r>
            <a:endParaRPr sz="1000"/>
          </a:p>
        </p:txBody>
      </p:sp>
      <p:sp>
        <p:nvSpPr>
          <p:cNvPr id="108" name="Horizontal axis STN nonlinearity"/>
          <p:cNvSpPr/>
          <p:nvPr/>
        </p:nvSpPr>
        <p:spPr>
          <a:xfrm>
            <a:off x="1587500" y="218948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09" name="Vertical axis STN nonlinearity"/>
          <p:cNvSpPr/>
          <p:nvPr/>
        </p:nvSpPr>
        <p:spPr>
          <a:xfrm rot="16200000">
            <a:off x="-717550" y="104330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w</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0" name="Editable label GPe nonlinearity"/>
          <p:cNvSpPr/>
          <p:nvPr/>
        </p:nvSpPr>
        <p:spPr>
          <a:xfrm>
            <a:off x="6003290" y="201295"/>
            <a:ext cx="164592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GPe nonlinearity</a:t>
            </a:r>
            <a:endParaRPr sz="1350"/>
          </a:p>
        </p:txBody>
      </p:sp>
      <p:sp>
        <p:nvSpPr>
          <p:cNvPr id="111" name="Editable label -700"/>
          <p:cNvSpPr/>
          <p:nvPr/>
        </p:nvSpPr>
        <p:spPr>
          <a:xfrm>
            <a:off x="48736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112" name="Editable label 0"/>
          <p:cNvSpPr/>
          <p:nvPr/>
        </p:nvSpPr>
        <p:spPr>
          <a:xfrm>
            <a:off x="661987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13" name="Editable label 700"/>
          <p:cNvSpPr/>
          <p:nvPr/>
        </p:nvSpPr>
        <p:spPr>
          <a:xfrm>
            <a:off x="83661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114" name="Editable label -700"/>
          <p:cNvSpPr/>
          <p:nvPr/>
        </p:nvSpPr>
        <p:spPr>
          <a:xfrm>
            <a:off x="4400550" y="19812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-700</a:t>
            </a:r>
            <a:endParaRPr sz="1000"/>
          </a:p>
        </p:txBody>
      </p:sp>
      <p:sp>
        <p:nvSpPr>
          <p:cNvPr id="115" name="Editable label 0"/>
          <p:cNvSpPr/>
          <p:nvPr/>
        </p:nvSpPr>
        <p:spPr>
          <a:xfrm>
            <a:off x="4400550" y="120332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16" name="Editable label 700"/>
          <p:cNvSpPr/>
          <p:nvPr/>
        </p:nvSpPr>
        <p:spPr>
          <a:xfrm>
            <a:off x="4400550" y="425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700</a:t>
            </a:r>
            <a:endParaRPr sz="1000"/>
          </a:p>
        </p:txBody>
      </p:sp>
      <p:sp>
        <p:nvSpPr>
          <p:cNvPr id="117" name="Horizontal axis GPe nonlinearity"/>
          <p:cNvSpPr/>
          <p:nvPr/>
        </p:nvSpPr>
        <p:spPr>
          <a:xfrm>
            <a:off x="6032500" y="218948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8" name="Vertical axis GPe nonlinearity"/>
          <p:cNvSpPr/>
          <p:nvPr/>
        </p:nvSpPr>
        <p:spPr>
          <a:xfrm rot="16200000">
            <a:off x="3727450" y="104330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w</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100</a:t>
            </a:r>
            <a:endParaRPr sz="1000"/>
          </a:p>
        </p:txBody>
      </p:sp>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333333"/>
                      </a:solidFill>
                      <a:latin typeface="Cambria Math"/>
                    </a:rPr>
                    <m:t xml:space="preserve">t</m:t>
                  </m:r>
                  <m:r>
                    <m:rPr>
                      <m:sty m:val="p"/>
                    </m:rPr>
                    <a:rPr sz="1200">
                      <a:solidFill>
                        <a:srgbClr val="333333"/>
                      </a:solidFill>
                      <a:latin typeface="Cambria Math"/>
                    </a:rPr>
                    <m:t xml:space="preserve"> (s)</m:t>
                  </m:r>
                </m:oMath>
              </m:oMathPara>
            </a14:m>
            <a:endParaRPr sz="1200"/>
          </a:p>
        </p:txBody>
      </p:sp>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200">
                      <a:solidFill>
                        <a:srgbClr val="333333"/>
                      </a:solidFill>
                      <a:latin typeface="Cambria Math"/>
                    </a:rPr>
                    <m:t xml:space="preserve">spikes/s</m:t>
                  </m:r>
                </m:oMath>
              </m:oMathPara>
            </a14:m>
            <a:endParaRPr sz="1200"/>
          </a:p>
        </p:txBody>
      </p:sp>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S</m:t>
                      </m:r>
                    </m:sub>
                  </m:sSub>
                  <m:r>
                    <m:rPr>
                      <m:sty m:val="p"/>
                    </m:rPr>
                    <a:rPr sz="1000">
                      <a:solidFill>
                        <a:srgbClr val="333333"/>
                      </a:solidFill>
                      <a:latin typeface="Cambria Math"/>
                    </a:rPr>
                    <m:t xml:space="preserve"> (STN)</m:t>
                  </m:r>
                </m:oMath>
              </m:oMathPara>
            </a14:m>
            <a:endParaRPr sz="1000"/>
          </a:p>
        </p:txBody>
      </p:sp>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G</m:t>
                      </m:r>
                    </m:sub>
                  </m:sSub>
                  <m:r>
                    <m:rPr>
                      <m:sty m:val="p"/>
                    </m:rPr>
                    <a:rPr sz="1000">
                      <a:solidFill>
                        <a:srgbClr val="333333"/>
                      </a:solidFill>
                      <a:latin typeface="Cambria Math"/>
                    </a:rPr>
                    <m:t xml:space="preserve"> (GPe)</m:t>
                  </m:r>
                </m:oMath>
              </m:oMathPara>
            </a14:m>
            <a:endParaRPr sz="1000"/>
          </a:p>
        </p:txBody>
      </p:sp>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6000</a:t>
            </a:r>
            <a:endParaRPr sz="1000"/>
          </a:p>
        </p:txBody>
      </p:sp>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333333"/>
                      </a:solidFill>
                      <a:latin typeface="Cambria Math"/>
                    </a:rPr>
                    <m:t xml:space="preserve">T</m:t>
                  </m:r>
                  <m:r>
                    <m:rPr>
                      <m:sty m:val="p"/>
                    </m:rPr>
                    <a:rPr sz="1200">
                      <a:solidFill>
                        <a:srgbClr val="333333"/>
                      </a:solidFill>
                      <a:latin typeface="Cambria Math"/>
                    </a:rPr>
                    <m:t xml:space="preserve"> (s)</m:t>
                  </m:r>
                </m:oMath>
              </m:oMathPara>
            </a14:m>
            <a:endParaRPr sz="1200"/>
          </a:p>
        </p:txBody>
      </p:sp>
      <p:sp>
        <p:nvSpPr>
          <p:cNvPr id="151"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200">
                          <a:solidFill>
                            <a:srgbClr val="333333"/>
                          </a:solidFill>
                          <a:latin typeface="Cambria Math"/>
                        </a:rPr>
                      </m:ctrlPr>
                    </m:naryPr>
                    <m:sub>
                      <m:r>
                        <m:rPr>
                          <m:sty m:val="p"/>
                        </m:rPr>
                        <a:rPr sz="1200">
                          <a:solidFill>
                            <a:srgbClr val="333333"/>
                          </a:solidFill>
                          <a:latin typeface="Cambria Math"/>
                        </a:rPr>
                        <m:t xml:space="preserve">0</m:t>
                      </m:r>
                    </m:sub>
                    <m:sup>
                      <m:r>
                        <m:rPr>
                          <m:sty m:val="i"/>
                        </m:rPr>
                        <a:rPr sz="1200">
                          <a:solidFill>
                            <a:srgbClr val="333333"/>
                          </a:solidFill>
                          <a:latin typeface="Cambria Math"/>
                        </a:rPr>
                        <m:t xml:space="preserve">T</m:t>
                      </m:r>
                    </m:sup>
                    <m:e>
                      <m:sSub>
                        <m:sSubPr>
                          <m:ctrlPr>
                            <a:rPr sz="1200">
                              <a:solidFill>
                                <a:srgbClr val="333333"/>
                              </a:solidFill>
                              <a:latin typeface="Cambria Math"/>
                            </a:rPr>
                          </m:ctrlPr>
                        </m:sSubPr>
                        <m:e>
                          <m:r>
                            <m:rPr>
                              <m:sty m:val="p"/>
                            </m:rPr>
                            <a:rPr sz="1200">
                              <a:solidFill>
                                <a:srgbClr val="333333"/>
                              </a:solidFill>
                              <a:latin typeface="Cambria Math"/>
                            </a:rPr>
                            <m:t xml:space="preserve">σ</m:t>
                          </m:r>
                        </m:e>
                        <m:sub>
                          <m:r>
                            <m:rPr>
                              <m:sty m:val="i"/>
                            </m:rPr>
                            <a:rPr sz="1200">
                              <a:solidFill>
                                <a:srgbClr val="333333"/>
                              </a:solidFill>
                              <a:latin typeface="Cambria Math"/>
                            </a:rPr>
                            <m:t xml:space="preserve">i</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r>
                        <m:rPr>
                          <m:sty m:val="i"/>
                        </m:rPr>
                        <a:rPr sz="1200">
                          <a:solidFill>
                            <a:srgbClr val="333333"/>
                          </a:solidFill>
                          <a:latin typeface="Cambria Math"/>
                        </a:rPr>
                        <m:t xml:space="preserve"> dt</m:t>
                      </m:r>
                    </m:e>
                  </m:nary>
                </m:oMath>
              </m:oMathPara>
            </a14:m>
            <a:endParaRPr sz="1200"/>
          </a:p>
        </p:txBody>
      </p:sp>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GPe</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Video"/>
            <p:extLst>
              <p:ext uri="{DAA4B4D4-6D71-4841-9C94-3DE7FCFB9230}">
                <p14:media xmlns:p14="http://schemas.microsoft.com/office/powerpoint/2010/main" r:embed="rIdMedia"/>
              </p:ext>
            </p:extLst>
          </p:nvPr>
        </p:nvPicPr>
        <p:blipFill>
          <a:blip r:embed="rIdPoster"/>
          <a:stretch>
            <a:fillRect/>
          </a:stretch>
        </p:blipFill>
        <p:spPr>
          <a:xfrm>
            <a:off x="0" y="0"/>
            <a:ext cx="9144000" cy="5143500"/>
          </a:xfrm>
          <a:prstGeom prst="rect">
            <a:avLst/>
          </a:prstGeom>
        </p:spPr>
      </p:pic>
      <p:sp>
        <p:nvSpPr>
          <p:cNvPr id="101" name="Editable label STN nonlinearity"/>
          <p:cNvSpPr/>
          <p:nvPr/>
        </p:nvSpPr>
        <p:spPr>
          <a:xfrm>
            <a:off x="1558290" y="201295"/>
            <a:ext cx="164592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STN nonlinearity</a:t>
            </a:r>
            <a:endParaRPr sz="1350"/>
          </a:p>
        </p:txBody>
      </p:sp>
      <p:sp>
        <p:nvSpPr>
          <p:cNvPr id="102" name="Editable label -1150"/>
          <p:cNvSpPr/>
          <p:nvPr/>
        </p:nvSpPr>
        <p:spPr>
          <a:xfrm>
            <a:off x="4286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103" name="Editable label 0"/>
          <p:cNvSpPr/>
          <p:nvPr/>
        </p:nvSpPr>
        <p:spPr>
          <a:xfrm>
            <a:off x="217487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04" name="Editable label 1150"/>
          <p:cNvSpPr/>
          <p:nvPr/>
        </p:nvSpPr>
        <p:spPr>
          <a:xfrm>
            <a:off x="39211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105" name="Editable label -1150"/>
          <p:cNvSpPr/>
          <p:nvPr/>
        </p:nvSpPr>
        <p:spPr>
          <a:xfrm>
            <a:off x="-44450" y="19812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-1150</a:t>
            </a:r>
            <a:endParaRPr sz="1000"/>
          </a:p>
        </p:txBody>
      </p:sp>
      <p:sp>
        <p:nvSpPr>
          <p:cNvPr id="106" name="Editable label 0"/>
          <p:cNvSpPr/>
          <p:nvPr/>
        </p:nvSpPr>
        <p:spPr>
          <a:xfrm>
            <a:off x="-44450" y="120332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07" name="Editable label 1150"/>
          <p:cNvSpPr/>
          <p:nvPr/>
        </p:nvSpPr>
        <p:spPr>
          <a:xfrm>
            <a:off x="-44450" y="425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1150</a:t>
            </a:r>
            <a:endParaRPr sz="1000"/>
          </a:p>
        </p:txBody>
      </p:sp>
      <p:sp>
        <p:nvSpPr>
          <p:cNvPr id="108" name="Horizontal axis STN nonlinearity"/>
          <p:cNvSpPr/>
          <p:nvPr/>
        </p:nvSpPr>
        <p:spPr>
          <a:xfrm>
            <a:off x="1587500" y="218948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09" name="Vertical axis STN nonlinearity"/>
          <p:cNvSpPr/>
          <p:nvPr/>
        </p:nvSpPr>
        <p:spPr>
          <a:xfrm rot="16200000">
            <a:off x="-717550" y="104330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w</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0" name="Editable label GPe nonlinearity"/>
          <p:cNvSpPr/>
          <p:nvPr/>
        </p:nvSpPr>
        <p:spPr>
          <a:xfrm>
            <a:off x="6003290" y="201295"/>
            <a:ext cx="164592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GPe nonlinearity</a:t>
            </a:r>
            <a:endParaRPr sz="1350"/>
          </a:p>
        </p:txBody>
      </p:sp>
      <p:sp>
        <p:nvSpPr>
          <p:cNvPr id="111" name="Editable label -700"/>
          <p:cNvSpPr/>
          <p:nvPr/>
        </p:nvSpPr>
        <p:spPr>
          <a:xfrm>
            <a:off x="48736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112" name="Editable label 0"/>
          <p:cNvSpPr/>
          <p:nvPr/>
        </p:nvSpPr>
        <p:spPr>
          <a:xfrm>
            <a:off x="661987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13" name="Editable label 700"/>
          <p:cNvSpPr/>
          <p:nvPr/>
        </p:nvSpPr>
        <p:spPr>
          <a:xfrm>
            <a:off x="83661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114" name="Editable label -700"/>
          <p:cNvSpPr/>
          <p:nvPr/>
        </p:nvSpPr>
        <p:spPr>
          <a:xfrm>
            <a:off x="4400550" y="19812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-700</a:t>
            </a:r>
            <a:endParaRPr sz="1000"/>
          </a:p>
        </p:txBody>
      </p:sp>
      <p:sp>
        <p:nvSpPr>
          <p:cNvPr id="115" name="Editable label 0"/>
          <p:cNvSpPr/>
          <p:nvPr/>
        </p:nvSpPr>
        <p:spPr>
          <a:xfrm>
            <a:off x="4400550" y="120332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16" name="Editable label 700"/>
          <p:cNvSpPr/>
          <p:nvPr/>
        </p:nvSpPr>
        <p:spPr>
          <a:xfrm>
            <a:off x="4400550" y="425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700</a:t>
            </a:r>
            <a:endParaRPr sz="1000"/>
          </a:p>
        </p:txBody>
      </p:sp>
      <p:sp>
        <p:nvSpPr>
          <p:cNvPr id="117" name="Horizontal axis GPe nonlinearity"/>
          <p:cNvSpPr/>
          <p:nvPr/>
        </p:nvSpPr>
        <p:spPr>
          <a:xfrm>
            <a:off x="6032500" y="218948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8" name="Vertical axis GPe nonlinearity"/>
          <p:cNvSpPr/>
          <p:nvPr/>
        </p:nvSpPr>
        <p:spPr>
          <a:xfrm rot="16200000">
            <a:off x="3727450" y="104330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w</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100</a:t>
            </a:r>
            <a:endParaRPr sz="1000"/>
          </a:p>
        </p:txBody>
      </p:sp>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333333"/>
                      </a:solidFill>
                      <a:latin typeface="Cambria Math"/>
                    </a:rPr>
                    <m:t xml:space="preserve">t</m:t>
                  </m:r>
                  <m:r>
                    <m:rPr>
                      <m:sty m:val="p"/>
                    </m:rPr>
                    <a:rPr sz="1200">
                      <a:solidFill>
                        <a:srgbClr val="333333"/>
                      </a:solidFill>
                      <a:latin typeface="Cambria Math"/>
                    </a:rPr>
                    <m:t xml:space="preserve"> (s)</m:t>
                  </m:r>
                </m:oMath>
              </m:oMathPara>
            </a14:m>
            <a:endParaRPr sz="1200"/>
          </a:p>
        </p:txBody>
      </p:sp>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200">
                      <a:solidFill>
                        <a:srgbClr val="333333"/>
                      </a:solidFill>
                      <a:latin typeface="Cambria Math"/>
                    </a:rPr>
                    <m:t xml:space="preserve">spikes/s</m:t>
                  </m:r>
                </m:oMath>
              </m:oMathPara>
            </a14:m>
            <a:endParaRPr sz="1200"/>
          </a:p>
        </p:txBody>
      </p:sp>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S</m:t>
                      </m:r>
                    </m:sub>
                  </m:sSub>
                  <m:r>
                    <m:rPr>
                      <m:sty m:val="p"/>
                    </m:rPr>
                    <a:rPr sz="1000">
                      <a:solidFill>
                        <a:srgbClr val="333333"/>
                      </a:solidFill>
                      <a:latin typeface="Cambria Math"/>
                    </a:rPr>
                    <m:t xml:space="preserve"> (STN)</m:t>
                  </m:r>
                </m:oMath>
              </m:oMathPara>
            </a14:m>
            <a:endParaRPr sz="1000"/>
          </a:p>
        </p:txBody>
      </p:sp>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G</m:t>
                      </m:r>
                    </m:sub>
                  </m:sSub>
                  <m:r>
                    <m:rPr>
                      <m:sty m:val="p"/>
                    </m:rPr>
                    <a:rPr sz="1000">
                      <a:solidFill>
                        <a:srgbClr val="333333"/>
                      </a:solidFill>
                      <a:latin typeface="Cambria Math"/>
                    </a:rPr>
                    <m:t xml:space="preserve"> (GPe)</m:t>
                  </m:r>
                </m:oMath>
              </m:oMathPara>
            </a14:m>
            <a:endParaRPr sz="1000"/>
          </a:p>
        </p:txBody>
      </p:sp>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100000</a:t>
            </a:r>
            <a:endParaRPr sz="1000"/>
          </a:p>
        </p:txBody>
      </p:sp>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333333"/>
                      </a:solidFill>
                      <a:latin typeface="Cambria Math"/>
                    </a:rPr>
                    <m:t xml:space="preserve">t</m:t>
                  </m:r>
                  <m:r>
                    <m:rPr>
                      <m:sty m:val="p"/>
                    </m:rPr>
                    <a:rPr sz="1200">
                      <a:solidFill>
                        <a:srgbClr val="333333"/>
                      </a:solidFill>
                      <a:latin typeface="Cambria Math"/>
                    </a:rPr>
                    <m:t xml:space="preserve"> (s)</m:t>
                  </m:r>
                </m:oMath>
              </m:oMathPara>
            </a14:m>
            <a:endParaRPr sz="1200"/>
          </a:p>
        </p:txBody>
      </p:sp>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p"/>
                        </m:rPr>
                        <a:rPr sz="1200">
                          <a:solidFill>
                            <a:srgbClr val="333333"/>
                          </a:solidFill>
                          <a:latin typeface="Cambria Math"/>
                        </a:rPr>
                        <m:t xml:space="preserve">σ</m:t>
                      </m:r>
                    </m:e>
                    <m:sub>
                      <m:r>
                        <m:rPr>
                          <m:sty m:val="i"/>
                        </m:rPr>
                        <a:rPr sz="1200">
                          <a:solidFill>
                            <a:srgbClr val="333333"/>
                          </a:solidFill>
                          <a:latin typeface="Cambria Math"/>
                        </a:rPr>
                        <m:t xml:space="preserve">i</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GPe</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theme/sectorNotesTheme.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